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charts/chart1.xml" ContentType="application/vnd.openxmlformats-officedocument.drawingml.chart+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charts/chart2.xml" ContentType="application/vnd.openxmlformats-officedocument.drawingml.chart+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theme/theme2.xml" ContentType="application/vnd.openxmlformats-officedocument.them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C33"/>
                </a:solidFill>
                <a:latin typeface="Arial"/>
                <a:ea typeface="BIZ UDGothic" charset="-128"/>
                <a:cs typeface="Arial"/>
              </a:defRPr>
            </a:pPr>
            <a:r>
              <a:rPr sz="1300" b="0" i="0" u="none" strike="noStrike">
                <a:solidFill>
                  <a:srgbClr val="1E1C33"/>
                </a:solidFill>
                <a:latin typeface="Arial"/>
                <a:ea typeface="BIZ UDGothic" charset="-128"/>
                <a:cs typeface="Arial"/>
              </a:rPr>
              <a:t>推定誤差 RMSE（X・Y）[nm]</a:t>
            </a:r>
          </a:p>
        </c:rich>
      </c:tx>
      <c:layout/>
      <c:overlay val="0"/>
    </c:title>
    <c:autoTitleDeleted val="0"/>
    <c:plotArea>
      <c:layout/>
      <c:lineChart>
        <c:varyColors val="0"/>
        <c:ser>
          <c:idx val="0"/>
          <c:order val="0"/>
          <c:tx>
            <c:strRef>
              <c:f>Sheet1!$B$1</c:f>
              <c:strCache>
                <c:ptCount val="1"/>
                <c:pt idx="0">
                  <c:v>GPR</c:v>
                </c:pt>
              </c:strCache>
            </c:strRef>
          </c:tx>
          <c:spPr>
            <a:solidFill>
              <a:srgbClr val="2A78D6"/>
            </a:solidFill>
            <a:ln w="2794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Sheet1!$A$2:$A$8</c:f>
              <c:multiLvlStrCache>
                <c:ptCount val="7"/>
                <c:lvl>
                  <c:pt idx="0">
                    <c:v>10</c:v>
                  </c:pt>
                  <c:pt idx="1">
                    <c:v>15</c:v>
                  </c:pt>
                  <c:pt idx="2">
                    <c:v>20</c:v>
                  </c:pt>
                  <c:pt idx="3">
                    <c:v>25</c:v>
                  </c:pt>
                  <c:pt idx="4">
                    <c:v>30</c:v>
                  </c:pt>
                  <c:pt idx="5">
                    <c:v>35</c:v>
                  </c:pt>
                  <c:pt idx="6">
                    <c:v>40</c:v>
                  </c:pt>
                </c:lvl>
              </c:multiLvlStrCache>
            </c:multiLvlStrRef>
          </c:cat>
          <c:val>
            <c:numRef>
              <c:f>Sheet1!$B$2:$B$8</c:f>
              <c:numCache>
                <c:formatCode>General</c:formatCode>
                <c:ptCount val="7"/>
                <c:pt idx="0">
                  <c:v>3.9073</c:v>
                </c:pt>
                <c:pt idx="1">
                  <c:v>2.5532</c:v>
                </c:pt>
                <c:pt idx="2">
                  <c:v>1.6455</c:v>
                </c:pt>
                <c:pt idx="3">
                  <c:v>1.3392</c:v>
                </c:pt>
                <c:pt idx="4">
                  <c:v>1.0344</c:v>
                </c:pt>
                <c:pt idx="5">
                  <c:v>0.9094</c:v>
                </c:pt>
                <c:pt idx="6">
                  <c:v>0.7716</c:v>
                </c:pt>
              </c:numCache>
            </c:numRef>
          </c:val>
          <c:smooth val="0"/>
        </c:ser>
        <c:ser>
          <c:idx val="1"/>
          <c:order val="1"/>
          <c:tx>
            <c:strRef>
              <c:f>Sheet1!$C$1</c:f>
              <c:strCache>
                <c:ptCount val="1"/>
                <c:pt idx="0">
                  <c:v>TPS</c:v>
                </c:pt>
              </c:strCache>
            </c:strRef>
          </c:tx>
          <c:spPr>
            <a:solidFill>
              <a:srgbClr val="EB6834"/>
            </a:solidFill>
            <a:ln w="2794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Sheet1!$A$2:$A$8</c:f>
              <c:multiLvlStrCache>
                <c:ptCount val="7"/>
                <c:lvl>
                  <c:pt idx="0">
                    <c:v>10</c:v>
                  </c:pt>
                  <c:pt idx="1">
                    <c:v>15</c:v>
                  </c:pt>
                  <c:pt idx="2">
                    <c:v>20</c:v>
                  </c:pt>
                  <c:pt idx="3">
                    <c:v>25</c:v>
                  </c:pt>
                  <c:pt idx="4">
                    <c:v>30</c:v>
                  </c:pt>
                  <c:pt idx="5">
                    <c:v>35</c:v>
                  </c:pt>
                  <c:pt idx="6">
                    <c:v>40</c:v>
                  </c:pt>
                </c:lvl>
              </c:multiLvlStrCache>
            </c:multiLvlStrRef>
          </c:cat>
          <c:val>
            <c:numRef>
              <c:f>Sheet1!$C$2:$C$8</c:f>
              <c:numCache>
                <c:formatCode>General</c:formatCode>
                <c:ptCount val="7"/>
                <c:pt idx="0">
                  <c:v>3.7289</c:v>
                </c:pt>
                <c:pt idx="1">
                  <c:v>3.1485</c:v>
                </c:pt>
                <c:pt idx="2">
                  <c:v>2.8563</c:v>
                </c:pt>
                <c:pt idx="3">
                  <c:v>2.6445</c:v>
                </c:pt>
                <c:pt idx="4">
                  <c:v>2.5274</c:v>
                </c:pt>
                <c:pt idx="5">
                  <c:v>2.4947</c:v>
                </c:pt>
                <c:pt idx="6">
                  <c:v>2.4354</c:v>
                </c:pt>
              </c:numCache>
            </c:numRef>
          </c:val>
          <c:smooth val="0"/>
        </c:ser>
        <c:ser>
          <c:idx val="2"/>
          <c:order val="2"/>
          <c:tx>
            <c:strRef>
              <c:f>Sheet1!$D$1</c:f>
              <c:strCache>
                <c:ptCount val="1"/>
                <c:pt idx="0">
                  <c:v>Kriging</c:v>
                </c:pt>
              </c:strCache>
            </c:strRef>
          </c:tx>
          <c:spPr>
            <a:solidFill>
              <a:srgbClr val="1BAF7A"/>
            </a:solidFill>
            <a:ln w="2794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Sheet1!$A$2:$A$8</c:f>
              <c:multiLvlStrCache>
                <c:ptCount val="7"/>
                <c:lvl>
                  <c:pt idx="0">
                    <c:v>10</c:v>
                  </c:pt>
                  <c:pt idx="1">
                    <c:v>15</c:v>
                  </c:pt>
                  <c:pt idx="2">
                    <c:v>20</c:v>
                  </c:pt>
                  <c:pt idx="3">
                    <c:v>25</c:v>
                  </c:pt>
                  <c:pt idx="4">
                    <c:v>30</c:v>
                  </c:pt>
                  <c:pt idx="5">
                    <c:v>35</c:v>
                  </c:pt>
                  <c:pt idx="6">
                    <c:v>40</c:v>
                  </c:pt>
                </c:lvl>
              </c:multiLvlStrCache>
            </c:multiLvlStrRef>
          </c:cat>
          <c:val>
            <c:numRef>
              <c:f>Sheet1!$D$2:$D$8</c:f>
              <c:numCache>
                <c:formatCode>General</c:formatCode>
                <c:ptCount val="7"/>
                <c:pt idx="0">
                  <c:v>4.3203</c:v>
                </c:pt>
                <c:pt idx="1">
                  <c:v>3.5378</c:v>
                </c:pt>
                <c:pt idx="2">
                  <c:v>3.0938</c:v>
                </c:pt>
                <c:pt idx="3">
                  <c:v>2.9133</c:v>
                </c:pt>
                <c:pt idx="4">
                  <c:v>2.7985</c:v>
                </c:pt>
                <c:pt idx="5">
                  <c:v>2.7816</c:v>
                </c:pt>
                <c:pt idx="6">
                  <c:v>2.7401</c:v>
                </c:pt>
              </c:numCache>
            </c:numRef>
          </c:val>
          <c:smooth val="0"/>
        </c:ser>
        <c:ser>
          <c:idx val="3"/>
          <c:order val="3"/>
          <c:tx>
            <c:strRef>
              <c:f>Sheet1!$E$1</c:f>
              <c:strCache>
                <c:ptCount val="1"/>
                <c:pt idx="0">
                  <c:v>Universal Kriging</c:v>
                </c:pt>
              </c:strCache>
            </c:strRef>
          </c:tx>
          <c:spPr>
            <a:solidFill>
              <a:srgbClr val="EDA100"/>
            </a:solidFill>
            <a:ln w="27940" cap="flat">
              <a:solidFill>
                <a:srgbClr val="EDA100"/>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EDA100"/>
              </a:solidFill>
              <a:ln w="9525" cap="flat">
                <a:solidFill>
                  <a:srgbClr val="EDA100"/>
                </a:solidFill>
                <a:prstDash val="solid"/>
                <a:round/>
              </a:ln>
              <a:effectLst/>
            </c:spPr>
          </c:marker>
          <c:cat>
            <c:multiLvlStrRef>
              <c:f>Sheet1!$A$2:$A$8</c:f>
              <c:multiLvlStrCache>
                <c:ptCount val="7"/>
                <c:lvl>
                  <c:pt idx="0">
                    <c:v>10</c:v>
                  </c:pt>
                  <c:pt idx="1">
                    <c:v>15</c:v>
                  </c:pt>
                  <c:pt idx="2">
                    <c:v>20</c:v>
                  </c:pt>
                  <c:pt idx="3">
                    <c:v>25</c:v>
                  </c:pt>
                  <c:pt idx="4">
                    <c:v>30</c:v>
                  </c:pt>
                  <c:pt idx="5">
                    <c:v>35</c:v>
                  </c:pt>
                  <c:pt idx="6">
                    <c:v>40</c:v>
                  </c:pt>
                </c:lvl>
              </c:multiLvlStrCache>
            </c:multiLvlStrRef>
          </c:cat>
          <c:val>
            <c:numRef>
              <c:f>Sheet1!$E$2:$E$8</c:f>
              <c:numCache>
                <c:formatCode>General</c:formatCode>
                <c:ptCount val="7"/>
                <c:pt idx="0">
                  <c:v>4.6108</c:v>
                </c:pt>
                <c:pt idx="1">
                  <c:v>3.7313</c:v>
                </c:pt>
                <c:pt idx="2">
                  <c:v>3.2274</c:v>
                </c:pt>
                <c:pt idx="3">
                  <c:v>2.9264</c:v>
                </c:pt>
                <c:pt idx="4">
                  <c:v>2.8013</c:v>
                </c:pt>
                <c:pt idx="5">
                  <c:v>2.7817</c:v>
                </c:pt>
                <c:pt idx="6">
                  <c:v>2.714</c:v>
                </c:pt>
              </c:numCache>
            </c:numRef>
          </c:val>
          <c:smooth val="0"/>
        </c:ser>
        <c:ser>
          <c:idx val="4"/>
          <c:order val="4"/>
          <c:tx>
            <c:strRef>
              <c:f>Sheet1!$F$1</c:f>
              <c:strCache>
                <c:ptCount val="1"/>
                <c:pt idx="0">
                  <c:v>GAM</c:v>
                </c:pt>
              </c:strCache>
            </c:strRef>
          </c:tx>
          <c:spPr>
            <a:solidFill>
              <a:srgbClr val="E87BA4"/>
            </a:solidFill>
            <a:ln w="27940" cap="flat">
              <a:solidFill>
                <a:srgbClr val="E87BA4"/>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E87BA4"/>
              </a:solidFill>
              <a:ln w="9525" cap="flat">
                <a:solidFill>
                  <a:srgbClr val="E87BA4"/>
                </a:solidFill>
                <a:prstDash val="solid"/>
                <a:round/>
              </a:ln>
              <a:effectLst/>
            </c:spPr>
          </c:marker>
          <c:cat>
            <c:multiLvlStrRef>
              <c:f>Sheet1!$A$2:$A$8</c:f>
              <c:multiLvlStrCache>
                <c:ptCount val="7"/>
                <c:lvl>
                  <c:pt idx="0">
                    <c:v>10</c:v>
                  </c:pt>
                  <c:pt idx="1">
                    <c:v>15</c:v>
                  </c:pt>
                  <c:pt idx="2">
                    <c:v>20</c:v>
                  </c:pt>
                  <c:pt idx="3">
                    <c:v>25</c:v>
                  </c:pt>
                  <c:pt idx="4">
                    <c:v>30</c:v>
                  </c:pt>
                  <c:pt idx="5">
                    <c:v>35</c:v>
                  </c:pt>
                  <c:pt idx="6">
                    <c:v>40</c:v>
                  </c:pt>
                </c:lvl>
              </c:multiLvlStrCache>
            </c:multiLvlStrRef>
          </c:cat>
          <c:val>
            <c:numRef>
              <c:f>Sheet1!$F$2:$F$8</c:f>
              <c:numCache>
                <c:formatCode>General</c:formatCode>
                <c:ptCount val="7"/>
                <c:pt idx="0">
                  <c:v>4.9045</c:v>
                </c:pt>
                <c:pt idx="1">
                  <c:v>3.5359</c:v>
                </c:pt>
                <c:pt idx="2">
                  <c:v>2.5527</c:v>
                </c:pt>
                <c:pt idx="3">
                  <c:v>2.0358</c:v>
                </c:pt>
                <c:pt idx="4">
                  <c:v>1.6413</c:v>
                </c:pt>
                <c:pt idx="5">
                  <c:v>1.5794</c:v>
                </c:pt>
                <c:pt idx="6">
                  <c:v>1.254</c:v>
                </c:pt>
              </c:numCache>
            </c:numRef>
          </c:val>
          <c:smooth val="0"/>
        </c:ser>
        <c:ser>
          <c:idx val="5"/>
          <c:order val="5"/>
          <c:tx>
            <c:strRef>
              <c:f>Sheet1!$G$1</c:f>
              <c:strCache>
                <c:ptCount val="1"/>
                <c:pt idx="0">
                  <c:v>XY5次多項式</c:v>
                </c:pt>
              </c:strCache>
            </c:strRef>
          </c:tx>
          <c:spPr>
            <a:solidFill>
              <a:srgbClr val="008300"/>
            </a:solidFill>
            <a:ln w="27940" cap="flat">
              <a:solidFill>
                <a:srgbClr val="008300"/>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008300"/>
              </a:solidFill>
              <a:ln w="9525" cap="flat">
                <a:solidFill>
                  <a:srgbClr val="008300"/>
                </a:solidFill>
                <a:prstDash val="solid"/>
                <a:round/>
              </a:ln>
              <a:effectLst/>
            </c:spPr>
          </c:marker>
          <c:cat>
            <c:multiLvlStrRef>
              <c:f>Sheet1!$A$2:$A$8</c:f>
              <c:multiLvlStrCache>
                <c:ptCount val="7"/>
                <c:lvl>
                  <c:pt idx="0">
                    <c:v>10</c:v>
                  </c:pt>
                  <c:pt idx="1">
                    <c:v>15</c:v>
                  </c:pt>
                  <c:pt idx="2">
                    <c:v>20</c:v>
                  </c:pt>
                  <c:pt idx="3">
                    <c:v>25</c:v>
                  </c:pt>
                  <c:pt idx="4">
                    <c:v>30</c:v>
                  </c:pt>
                  <c:pt idx="5">
                    <c:v>35</c:v>
                  </c:pt>
                  <c:pt idx="6">
                    <c:v>40</c:v>
                  </c:pt>
                </c:lvl>
              </c:multiLvlStrCache>
            </c:multiLvlStrRef>
          </c:cat>
          <c:val>
            <c:numRef>
              <c:f>Sheet1!$G$2:$G$8</c:f>
              <c:numCache>
                <c:formatCode>General</c:formatCode>
                <c:ptCount val="7"/>
                <c:pt idx="0">
                  <c:v>4.7522</c:v>
                </c:pt>
                <c:pt idx="1">
                  <c:v>3.8528</c:v>
                </c:pt>
                <c:pt idx="2">
                  <c:v>3.6616</c:v>
                </c:pt>
                <c:pt idx="3">
                  <c:v>3.489</c:v>
                </c:pt>
                <c:pt idx="4">
                  <c:v>3.394</c:v>
                </c:pt>
                <c:pt idx="5">
                  <c:v>3.3182</c:v>
                </c:pt>
                <c:pt idx="6">
                  <c:v>3.245</c:v>
                </c:pt>
              </c:numCache>
            </c:numRef>
          </c:val>
          <c:smooth val="0"/>
        </c:ser>
        <c:ser>
          <c:idx val="6"/>
          <c:order val="6"/>
          <c:tx>
            <c:strRef>
              <c:f>Sheet1!$H$1</c:f>
              <c:strCache>
                <c:ptCount val="1"/>
                <c:pt idx="0">
                  <c:v>RTモデル</c:v>
                </c:pt>
              </c:strCache>
            </c:strRef>
          </c:tx>
          <c:spPr>
            <a:solidFill>
              <a:srgbClr val="4A3AA7"/>
            </a:solidFill>
            <a:ln w="27940" cap="flat">
              <a:solidFill>
                <a:srgbClr val="4A3AA7"/>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4A3AA7"/>
              </a:solidFill>
              <a:ln w="9525" cap="flat">
                <a:solidFill>
                  <a:srgbClr val="4A3AA7"/>
                </a:solidFill>
                <a:prstDash val="solid"/>
                <a:round/>
              </a:ln>
              <a:effectLst/>
            </c:spPr>
          </c:marker>
          <c:cat>
            <c:multiLvlStrRef>
              <c:f>Sheet1!$A$2:$A$8</c:f>
              <c:multiLvlStrCache>
                <c:ptCount val="7"/>
                <c:lvl>
                  <c:pt idx="0">
                    <c:v>10</c:v>
                  </c:pt>
                  <c:pt idx="1">
                    <c:v>15</c:v>
                  </c:pt>
                  <c:pt idx="2">
                    <c:v>20</c:v>
                  </c:pt>
                  <c:pt idx="3">
                    <c:v>25</c:v>
                  </c:pt>
                  <c:pt idx="4">
                    <c:v>30</c:v>
                  </c:pt>
                  <c:pt idx="5">
                    <c:v>35</c:v>
                  </c:pt>
                  <c:pt idx="6">
                    <c:v>40</c:v>
                  </c:pt>
                </c:lvl>
              </c:multiLvlStrCache>
            </c:multiLvlStrRef>
          </c:cat>
          <c:val>
            <c:numRef>
              <c:f>Sheet1!$H$2:$H$8</c:f>
              <c:numCache>
                <c:formatCode>General</c:formatCode>
                <c:ptCount val="7"/>
                <c:pt idx="0">
                  <c:v>4.941</c:v>
                </c:pt>
                <c:pt idx="1">
                  <c:v>4.0654</c:v>
                </c:pt>
                <c:pt idx="2">
                  <c:v>3.7332</c:v>
                </c:pt>
                <c:pt idx="3">
                  <c:v>3.5546</c:v>
                </c:pt>
                <c:pt idx="4">
                  <c:v>3.4464</c:v>
                </c:pt>
                <c:pt idx="5">
                  <c:v>3.3702</c:v>
                </c:pt>
                <c:pt idx="6">
                  <c:v>3.3138</c:v>
                </c:pt>
              </c:numCache>
            </c:numRef>
          </c:val>
          <c:smooth val="0"/>
        </c:ser>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E6275"/>
                    </a:solidFill>
                    <a:latin typeface="Arial"/>
                    <a:ea typeface="BIZ UDGothic" charset="-128"/>
                    <a:cs typeface="Arial"/>
                  </a:defRPr>
                </a:pPr>
                <a:r>
                  <a:rPr sz="1100" b="0" i="0" u="none" strike="noStrike">
                    <a:solidFill>
                      <a:srgbClr val="5E6275"/>
                    </a:solidFill>
                    <a:latin typeface="Arial"/>
                    <a:ea typeface="BIZ UDGothic" charset="-128"/>
                    <a:cs typeface="Arial"/>
                  </a:rPr>
                  <a:t>計測 Shot 数</a:t>
                </a:r>
              </a:p>
            </c:rich>
          </c:tx>
          <c:layout/>
          <c:overlay val="0"/>
        </c:title>
        <c:numFmt formatCode="General" sourceLinked="1"/>
        <c:majorTickMark val="out"/>
        <c:minorTickMark val="none"/>
        <c:tickLblPos val="low"/>
        <c:spPr>
          <a:ln w="12700" cap="flat">
            <a:solidFill>
              <a:srgbClr val="B9BDD0"/>
            </a:solidFill>
            <a:prstDash val="solid"/>
            <a:round/>
          </a:ln>
        </c:spPr>
        <c:txPr>
          <a:bodyPr/>
          <a:lstStyle/>
          <a:p>
            <a:pPr>
              <a:defRPr sz="1100" b="0" i="0" u="none" strike="noStrike">
                <a:solidFill>
                  <a:srgbClr val="5E6275"/>
                </a:solidFill>
                <a:latin typeface="Arial"/>
                <a:ea typeface="BIZ UDGothic" charset="-128"/>
                <a:cs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4E6EF"/>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E6275"/>
                </a:solidFill>
                <a:latin typeface="Arial"/>
                <a:ea typeface="BIZ UDGothic" charset="-128"/>
                <a:cs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E1C33"/>
              </a:solidFill>
              <a:latin typeface="Arial"/>
              <a:ea typeface="BIZ UDGothic" charset="-128"/>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1C33"/>
                </a:solidFill>
                <a:latin typeface="Arial"/>
                <a:ea typeface="BIZ UDGothic" charset="-128"/>
                <a:cs typeface="Arial"/>
              </a:defRPr>
            </a:pPr>
            <a:r>
              <a:rPr sz="1300" b="0" i="0" u="none" strike="noStrike">
                <a:solidFill>
                  <a:srgbClr val="1E1C33"/>
                </a:solidFill>
                <a:latin typeface="Arial"/>
                <a:ea typeface="BIZ UDGothic" charset="-128"/>
                <a:cs typeface="Arial"/>
              </a:rPr>
              <a:t>GPR の RMSE（X・Y）[nm]、30 設定の平均</a:t>
            </a:r>
          </a:p>
        </c:rich>
      </c:tx>
      <c:layout/>
      <c:overlay val="0"/>
    </c:title>
    <c:autoTitleDeleted val="0"/>
    <c:plotArea>
      <c:layout/>
      <c:lineChart>
        <c:varyColors val="0"/>
        <c:ser>
          <c:idx val="0"/>
          <c:order val="0"/>
          <c:tx>
            <c:strRef>
              <c:f>Sheet1!$B$1</c:f>
              <c:strCache>
                <c:ptCount val="1"/>
                <c:pt idx="0">
                  <c:v>質的変数なし</c:v>
                </c:pt>
              </c:strCache>
            </c:strRef>
          </c:tx>
          <c:spPr>
            <a:solidFill>
              <a:srgbClr val="898781"/>
            </a:solidFill>
            <a:ln w="27940" cap="flat">
              <a:solidFill>
                <a:srgbClr val="898781"/>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898781"/>
              </a:solidFill>
              <a:ln w="9525" cap="flat">
                <a:solidFill>
                  <a:srgbClr val="898781"/>
                </a:solidFill>
                <a:prstDash val="solid"/>
                <a:round/>
              </a:ln>
              <a:effectLst/>
            </c:spPr>
          </c:marker>
          <c:cat>
            <c:multiLvlStrRef>
              <c:f>Sheet1!$A$2:$A$8</c:f>
              <c:multiLvlStrCache>
                <c:ptCount val="7"/>
                <c:lvl>
                  <c:pt idx="0">
                    <c:v>10</c:v>
                  </c:pt>
                  <c:pt idx="1">
                    <c:v>15</c:v>
                  </c:pt>
                  <c:pt idx="2">
                    <c:v>20</c:v>
                  </c:pt>
                  <c:pt idx="3">
                    <c:v>25</c:v>
                  </c:pt>
                  <c:pt idx="4">
                    <c:v>30</c:v>
                  </c:pt>
                  <c:pt idx="5">
                    <c:v>35</c:v>
                  </c:pt>
                  <c:pt idx="6">
                    <c:v>40</c:v>
                  </c:pt>
                </c:lvl>
              </c:multiLvlStrCache>
            </c:multiLvlStrRef>
          </c:cat>
          <c:val>
            <c:numRef>
              <c:f>Sheet1!$B$2:$B$8</c:f>
              <c:numCache>
                <c:formatCode>General</c:formatCode>
                <c:ptCount val="7"/>
                <c:pt idx="0">
                  <c:v>4.1474</c:v>
                </c:pt>
                <c:pt idx="1">
                  <c:v>3.3526</c:v>
                </c:pt>
                <c:pt idx="2">
                  <c:v>2.9295</c:v>
                </c:pt>
                <c:pt idx="3">
                  <c:v>2.7257</c:v>
                </c:pt>
                <c:pt idx="4">
                  <c:v>2.5857</c:v>
                </c:pt>
                <c:pt idx="5">
                  <c:v>2.5426</c:v>
                </c:pt>
                <c:pt idx="6">
                  <c:v>2.4554</c:v>
                </c:pt>
              </c:numCache>
            </c:numRef>
          </c:val>
          <c:smooth val="0"/>
        </c:ser>
        <c:ser>
          <c:idx val="1"/>
          <c:order val="1"/>
          <c:tx>
            <c:strRef>
              <c:f>Sheet1!$C$1</c:f>
              <c:strCache>
                <c:ptCount val="1"/>
                <c:pt idx="0">
                  <c:v>基底関数で同時推定</c:v>
                </c:pt>
              </c:strCache>
            </c:strRef>
          </c:tx>
          <c:spPr>
            <a:solidFill>
              <a:srgbClr val="2A78D6"/>
            </a:solidFill>
            <a:ln w="2794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Sheet1!$A$2:$A$8</c:f>
              <c:multiLvlStrCache>
                <c:ptCount val="7"/>
                <c:lvl>
                  <c:pt idx="0">
                    <c:v>10</c:v>
                  </c:pt>
                  <c:pt idx="1">
                    <c:v>15</c:v>
                  </c:pt>
                  <c:pt idx="2">
                    <c:v>20</c:v>
                  </c:pt>
                  <c:pt idx="3">
                    <c:v>25</c:v>
                  </c:pt>
                  <c:pt idx="4">
                    <c:v>30</c:v>
                  </c:pt>
                  <c:pt idx="5">
                    <c:v>35</c:v>
                  </c:pt>
                  <c:pt idx="6">
                    <c:v>40</c:v>
                  </c:pt>
                </c:lvl>
              </c:multiLvlStrCache>
            </c:multiLvlStrRef>
          </c:cat>
          <c:val>
            <c:numRef>
              <c:f>Sheet1!$C$2:$C$8</c:f>
              <c:numCache>
                <c:formatCode>General</c:formatCode>
                <c:ptCount val="7"/>
                <c:pt idx="0">
                  <c:v>4.4024</c:v>
                </c:pt>
                <c:pt idx="1">
                  <c:v>2.9734</c:v>
                </c:pt>
                <c:pt idx="2">
                  <c:v>1.9825</c:v>
                </c:pt>
                <c:pt idx="3">
                  <c:v>1.5401</c:v>
                </c:pt>
                <c:pt idx="4">
                  <c:v>1.174</c:v>
                </c:pt>
                <c:pt idx="5">
                  <c:v>1.0444</c:v>
                </c:pt>
                <c:pt idx="6">
                  <c:v>0.8729</c:v>
                </c:pt>
              </c:numCache>
            </c:numRef>
          </c:val>
          <c:smooth val="0"/>
        </c:ser>
        <c:ser>
          <c:idx val="2"/>
          <c:order val="2"/>
          <c:tx>
            <c:strRef>
              <c:f>Sheet1!$D$1</c:f>
              <c:strCache>
                <c:ptCount val="1"/>
                <c:pt idx="0">
                  <c:v>Backfitting</c:v>
                </c:pt>
              </c:strCache>
            </c:strRef>
          </c:tx>
          <c:spPr>
            <a:solidFill>
              <a:srgbClr val="EB6834"/>
            </a:solidFill>
            <a:ln w="2794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Sheet1!$A$2:$A$8</c:f>
              <c:multiLvlStrCache>
                <c:ptCount val="7"/>
                <c:lvl>
                  <c:pt idx="0">
                    <c:v>10</c:v>
                  </c:pt>
                  <c:pt idx="1">
                    <c:v>15</c:v>
                  </c:pt>
                  <c:pt idx="2">
                    <c:v>20</c:v>
                  </c:pt>
                  <c:pt idx="3">
                    <c:v>25</c:v>
                  </c:pt>
                  <c:pt idx="4">
                    <c:v>30</c:v>
                  </c:pt>
                  <c:pt idx="5">
                    <c:v>35</c:v>
                  </c:pt>
                  <c:pt idx="6">
                    <c:v>40</c:v>
                  </c:pt>
                </c:lvl>
              </c:multiLvlStrCache>
            </c:multiLvlStrRef>
          </c:cat>
          <c:val>
            <c:numRef>
              <c:f>Sheet1!$D$2:$D$8</c:f>
              <c:numCache>
                <c:formatCode>General</c:formatCode>
                <c:ptCount val="7"/>
                <c:pt idx="0">
                  <c:v>4.3962</c:v>
                </c:pt>
                <c:pt idx="1">
                  <c:v>2.9725</c:v>
                </c:pt>
                <c:pt idx="2">
                  <c:v>1.9807</c:v>
                </c:pt>
                <c:pt idx="3">
                  <c:v>1.5348</c:v>
                </c:pt>
                <c:pt idx="4">
                  <c:v>1.1748</c:v>
                </c:pt>
                <c:pt idx="5">
                  <c:v>1.0448</c:v>
                </c:pt>
                <c:pt idx="6">
                  <c:v>0.8748</c:v>
                </c:pt>
              </c:numCache>
            </c:numRef>
          </c:val>
          <c:smooth val="0"/>
        </c:ser>
        <c:dLbls>
          <c:numFmt formatCode="#,##0" sourceLinked="0"/>
          <c:txPr>
            <a:bodyPr/>
            <a:lstStyle/>
            <a:p>
              <a:pPr>
                <a:defRPr b="0" i="0" strike="noStrike" sz="1200" u="none">
                  <a:solidFill>
                    <a:srgbClr val="000000"/>
                  </a:solidFill>
                  <a:latin typeface="Arial"/>
                  <a:ea typeface="BIZ UDGothic" charset="-128"/>
                  <a:cs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E6275"/>
                    </a:solidFill>
                    <a:latin typeface="Arial"/>
                    <a:ea typeface="BIZ UDGothic" charset="-128"/>
                    <a:cs typeface="Arial"/>
                  </a:defRPr>
                </a:pPr>
                <a:r>
                  <a:rPr sz="1100" b="0" i="0" u="none" strike="noStrike">
                    <a:solidFill>
                      <a:srgbClr val="5E6275"/>
                    </a:solidFill>
                    <a:latin typeface="Arial"/>
                    <a:ea typeface="BIZ UDGothic" charset="-128"/>
                    <a:cs typeface="Arial"/>
                  </a:rPr>
                  <a:t>計測 Shot 数</a:t>
                </a:r>
              </a:p>
            </c:rich>
          </c:tx>
          <c:layout/>
          <c:overlay val="0"/>
        </c:title>
        <c:numFmt formatCode="General" sourceLinked="1"/>
        <c:majorTickMark val="out"/>
        <c:minorTickMark val="none"/>
        <c:tickLblPos val="low"/>
        <c:spPr>
          <a:ln w="12700" cap="flat">
            <a:solidFill>
              <a:srgbClr val="B9BDD0"/>
            </a:solidFill>
            <a:prstDash val="solid"/>
            <a:round/>
          </a:ln>
        </c:spPr>
        <c:txPr>
          <a:bodyPr/>
          <a:lstStyle/>
          <a:p>
            <a:pPr>
              <a:defRPr sz="1100" b="0" i="0" u="none" strike="noStrike">
                <a:solidFill>
                  <a:srgbClr val="5E6275"/>
                </a:solidFill>
                <a:latin typeface="Arial"/>
                <a:ea typeface="BIZ UDGothic" charset="-128"/>
                <a:cs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4E6EF"/>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E6275"/>
                </a:solidFill>
                <a:latin typeface="Arial"/>
                <a:ea typeface="BIZ UDGothic" charset="-128"/>
                <a:cs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E1C33"/>
              </a:solidFill>
              <a:latin typeface="Arial"/>
              <a:ea typeface="BIZ UDGothic" charset="-128"/>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endParaRPr lang="ja-JP"/>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この資料では、アライメント計測値の面内推定について、どの手法とどの説明変数を選べばよいかを評価した結果を説明します。
乱数で作った1,000枚の模擬Waferに対し、制約付きI最適計画で10から40ショットを選んで学習データとし、残りのショットの全マークを推定しました。
比べたのはGPR、TPS、Kriging、Universal Kriging、GAM、XY5次多項式、RTモデルの7系統で、カーネルやバリオグラム、説明変数の組み合わせを含めて123通りです。
右の棒は20ショット計測時の、系統ごとの最良の推定誤差です。数値はすべて模擬データで、実データではありません。</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全体は4つのパートです。
まず、なぜ未計測ショットの推定が必要か、アライメント計測値にどんな特徴があるかを確認します。
次に、模擬データの作り方、サンプリング、比べた手法と説明変数、評価指標を説明します。
そのあと結果として、手法と説明変数の比較、質的変数とBackfittingの効果、カーネルやバリオグラムの違い、4つの指標の違い、外周での精度を見ます。
最後に、手法と説明変数の選び方と、この評価の前提と限界をまとめます。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結論を先にお伝えします。
全体で最も良かったのは、GPR matern52｜X, Y, 半径｜同時推定でした。推定誤差のRMSEは、20ショットで1.65、40ショットで0.77ナノメートルです。
Scan方向とMark番号を質的変数として入れると、GPRの誤差は40ショットで平均64パーセント小さくなりました。ただし10ショットでは逆に6.2パーセント悪くなりました。点が少ないと、質的変数の効果を面内の傾向と区別できないためです。10ショットでは、TPSが最も良く、質的変数なしのGPRが続きました。
Backfittingで追い込んでも、基底関数として同時に推定した場合とほぼ同じ結果でした。差が0.01ナノメートル未満の場合が91パーセントです。両者は同じ尤度を最大化しているためです。
説明変数は、半径を足すとGPRで数パーセント良くなり、接線方向の位置Tを足すと悪くなりました。ARDカーネルでは、Tが多くの場合に無視されました。
Kriging、XY5次、RTモデルは、GPRより大きく劣りました。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アライメント計測では、計測時間の制約から、全ショットではなく一部のショットだけを計測します。
補正や監視には計測していないショットの値も必要になるため、計測した値からWafer全体の値を推定します。これを面内推定と呼びます。
アライメント計測値には、推定を難しくする特徴が3つあります。
1つ目は、ショットの形のばらつきによる、マーク番号ごとの共通のずれです。2つ目は、スキャン方向による差です。3つ目は、Waferの外周ほど計測誤差が大きいことです。
これらを、説明変数や質的変数としてどう扱うかが、手法選びのポイントになります。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今回の評価で答えたい問いは3つです。
1つ目は、どの推定手法が良いか。GPR、TPS、Kriging、Universal Kriging、GAM、XY5次多項式、RTモデルを比べます。
2つ目は、どの説明変数を使うか。X, Yだけ、半径を加える、さらに接線方向の位置Tを加える、の3通りです。
3つ目は、Scan方向とMark番号の質的変数をどう扱うか。GPRでは、使わない、基底関数として同時に推定する、Backfittingで追い込む、の3通りを比べます。
評価は1,000枚の模擬Waferで、7通りのショット数ごとに、未計測ショットの推定精度を4つの指標で測りました。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模擬データは、4つの成分の和として作りました。
1つ目は面内傾向で、動径次数10次までのZernike多項式66項から、10から30項をランダムに選びます。係数は高次ほど小さくしました。Wafer全体のRMSは平均8.6ナノメートルです。
2つ目はMark番号ごとのOffsetで、全ショット共通のずれです。基準のパターンにWaferごとの乱数を足し、RMSは平均1.58ナノメートルです。
3つ目はScan方向の差で、Waferごとの差の半分をそれぞれの方向に足します。RMSは平均0.95ナノメートルです。
4つ目は計測ノイズで、一様分布です。幅は中心でプラスマイナス1ナノメートル、最外周のマークでプラスマイナス3ナノメートルになるよう、半径の3乗で広げました。
図は1枚目のWaferのX方向の値です。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模擬データとWaferの設定値です。
ショットは22×26ミリ、マークはショット中心からプラスマイナス10、プラスマイナス12ミリの4点で、全マークが半径147ミリより内側にある99ショット、396マークを使いました。スキャン方向は列ごとに交互です。
Zernikeの係数の標準偏差は、動径次数nに対して8かける0.75のn乗ナノメートルとしました。高次ほど小さくするという方針は確認済みですが、具体的な値は仮定です。
Mark OffsetとScan方向の差の大きさ、ノイズの幅を半径の何乗で広げるかも仮定です。
表の右の列に、確認した項目と仮定した項目を分けて示しました。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学習データにするショットは、制約付きのI最適計画で選びました。
I最適計画は、Wafer全体での平均の予測分散を最小にするショットの組を選ぶ方法です。基準のモデルはXY5次多項式で、XとYの21項です。
制約として、同心円の3つの区画、4つの象限、2つのスキャン方向のそれぞれで、選ぶショット数を全ショットに占める割合のプラスマイナス1に収めました。スキャン方向の制約は、質的変数としてのスキャン方向を推定するために、両方向を必ず含める役割もあります。
選んだショットの全マークを計測します。計画は面内傾向の値によらないので、ショット数ごとに1つ作り、全Waferに共通で使いました。
図は10、20、30、40ショットの計画で、青と橙が計測するショット、白が推定するショットです。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比べた手法の一覧です。7つの系統に、カーネルやバリオグラム、説明変数の組み合わせを掛けて、123通りになります。
GPRは、MATLABのfitrgp関数で使える10種類のカーネルと、3つの説明変数の組、3つの質的変数の扱いを掛けた90通りです。
TPSは平滑化つきの薄板スプライン、KrigingとUniversal Krigingは4つのバリオグラム、GAMはScan方向とMark番号を質的変数として加えます。
XY5次多項式とRTモデルは基底が座標の式で決まっているので、説明変数の組や質的変数は使いません。RTモデルは、XYに換算して5次になるK=4と、K=5の2つを比べました。
ハイパーパラメータの決め方は手法ごとの標準的な方法に合わせました。GPRは周辺尤度の最大化、TPSは一般化交差検証、Krigingは経験バリオグラムへの当てはめ、GAMは制限付き最尤です。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GPRの設定です。
カーネルは、MATLABのfitrgp関数で指定できる10種類です。指数、2乗指数、Matern 3/2、Matern 5/2、有理2次の5種類と、それぞれの説明変数ごとに長さスケールを持つARD版です。
fitrgpの既定と同じく、平均の基底関数の係数は一般化最小二乗で求め、ハイパーパラメータは対数周辺尤度の最大化で決めました。初期値の決め方もfitrgpに合わせています。
質的変数の扱いは3通りです。使わない、効果コードを基底関数に加えて同時に推定する、Backfittingで追い込む、の3つです。
Backfittingは、質的変数の効果を除いた残差でGPRを当てはめ直すことと、GPRの推定を除いた残差で質的変数の効果を求め直すことを、変わらなくなるまで繰り返します。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GPR以外の手法です。
TPSは、薄板スプラインに平滑化を加えたもので、平滑化の強さを一般化交差検証で選びます。3次元以上の説明変数にも同じ基底を使いました。
Krigingは、通常のKrigingとUniversal Krigingの2つです。バリオグラムは線形、ガウス、べき、指数の4種類で、式と当てはめ方はPyKrigeの既定に合わせました。経験バリオグラムを6つの距離区間で求め、最小二乗で当てはめます。
GAMは、XとYの2次元の平滑項に、半径の平滑項と、方位角の周期的な平滑項を加え、Scan方向とMark番号を質的変数として入れました。平滑化パラメータは制限付き最尤で選びます。
RTモデルは、変位を半径方向と接線方向に分け、それぞれ局所倍率と局所回転のマップをZernike多項式で表すモデルです。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説明変数は3通りです。X, Yだけ、X, Yに半径を加えたもの、さらに接線方向の位置Tを加えたものです。
Tは、ASMLのR&amp;Tモデルの接線方向の位置で、方位角thetaとして座標から計算しました。
ただし角度はプラスマイナス180度でつながっているので、距離を使うGPR、TPS、Krigingでは、cos thetaとsin thetaの2列に展開しました。ARDカーネルでは、この2列に1つの長さスケールを共有させています。GAMでは周期的なスプラインで扱いました。
評価は、未計測ショットの全マークで、ノイズを含まない真値と推定値を比べました。
自由度調整済み決定係数のpには、学習点での平滑化行列のトレースから切片の1を引いた値を使いました。平滑化の強い手法ほどpが小さくなり、柔らかいモデルほど罰を受けます。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結果の全体像です。系統ごとに、全ショット数を通して平均の誤差が最も小さい設定を1つ選び、ショット数との関係を描きました。
GPRは15ショット以上で最も良く、RMSEは20ショットで1.65、40ショットで0.77ナノメートルです。
10ショットでは、この設定のGPRは3.91ナノメートルで、TPSの3.73と同程度かやや劣ります。10ショットで最も良かったGPRは質的変数を入れない設定で、3.78ナノメートルでした。
質的変数を含むGAMは、ショット数が増えるとGPRに近づき、40ショットで1.25ナノメートルでした。
質的変数を使わないTPSとKrigingは、ショット数を増やしても2.4ナノメートル前後で頭打ちになります。Mark番号ごとのOffsetを表せないためです。
XY5次とRTモデルは、高次のZernike成分を表せず、40ショットでも3.2から3.3ナノメートルが残りました。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手法の系統、説明変数、GPRの質的変数の扱いの組み合わせごとに、平均のRMSEを並べました。各行は、その組み合わせの中で最も良いカーネルやバリオグラムです。
色が濃いほど誤差が大きいことを表します。
大きな差を生んでいるのは、質的変数を入れるかどうかと、手法の系統です。GPRで質的変数を入れた行は、20ショット以上でほかの行より明らかに小さくなっています。
説明変数の違い、つまり同じ系統の3行の違いは、質的変数や系統の違いに比べると小さいです。
10ショットでは、質的変数を入れたGPRより、入れないGPRやTPSの方が良い場合があります。点が少ないと、質的変数の効果をうまく推定できないためです。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ショット数ごとに、平均のRMSEが最も小さい設定と、それと統計的に差がない設定の数を示します。
差がないかどうかは、同じWaferどうしの差の95パーセント信頼区間がゼロを含むかで判定しました。
最良の設定はショット数によって入れ替わりますが、40ショットまで、ほぼGPRで質的変数を入れたものです。
上位は、カーネルの違いより、質的変数を入れるかどうかで決まっています。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説明変数を足した効果です。同じWaferで、X, Yだけの場合とのRMSEの比を、系統ごとの設定の平均で示しました。マイナスが改善です。
GPRでは、半径を足すと20ショットで−4.3パーセントと良くなりましたが、さらにTを足すと+7.2パーセントと、X, Yだけより悪くなりました。
TPSとKrigingでも、Tを足すと悪化しました。TPSの20ショットで+10.6パーセントです。値の変化に関係の薄い次元が距離に加わると、近さの判断がずれるためと考えられます。
GAMでは、Tを周期的なスプラインとして入れ、不要なら罰則で抑えられるため悪化しませんでした。40ショットでは−9.1パーセントと、わずかに良くなりました。
右の表は、半径を足したとき有意に良くなった設定、悪くなった設定、差がなかった設定の数です。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Tが効かない理由を、ARDカーネルの長さスケールから見ます。
ARDカーネルは、説明変数ごとに長さスケールを推定します。長さスケールが上限に張り付くと、その変数は推定にほとんど使われていないことになります。
X, Y, 半径, Tの組では、Tの長さスケールが上限になった割合が、10ショットで59パーセント、40ショットで80パーセントでした。
一方、半径が上限になった割合は7から3パーセントで、半径は多くの場合に使われています。
X, Yがあれば方位角はすでに表せるので、Tを加えても新しい情報はありません。また、今回の模擬データには、方位方向にだけ急に変わるような成分はありません。</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GPRで、Scan方向とMark番号を質的変数として入れた効果です。
30通りの設定の平均で見ると、質的変数を基底関数で同時に推定すると、40ショットでRMSEが2.46から0.87ナノメートルに下がりました。−63.6パーセントです。
質的変数を入れないと、Mark番号ごとのOffsetがそのまま誤差として残るため、ショット数を増やしても下がり方が止まります。
一方、10ショットでは+6.2パーセントで、かえって悪くなりました。点が40個しかないと、スキャン方向の差やマークごとの差を、面内の傾向と区別しにくいためです。
外周では、内側よりも誤差が大きく、質的変数の効果も外周の方が小さくなります。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Backfittingで追い込んだ場合と、基底関数として同時に推定した場合の比較です。
同じWafer、同じ設定で比べると、RMSEの差が0.01ナノメートル未満の場合が91パーセント、0.1ナノメートル未満が95パーセントでした。反復は平均4.8回で収束しました。
理由は、Backfittingが、同じ尤度をハイパーパラメータと平均の係数について交互に最大化する方法だからです。収束すれば、同時に最大化した解と同じ点に着きます。ハイパーパラメータを固定した場合、交互の当てはめの極限が一般化最小二乗の解に一致することも、テストで確かめました。
補足として、1回の反復でGPRと質的変数を1回ずつ当てはめ直す、教科書どおりのBackfittingを50枚で試しました。10ショットと20ショットでは収束が遅く、平均76から96回かかり、上限の300回でも6から25パーセントが収束しませんでした。収束しなかったWaferは誤差が大きく、平均のRMSEも悪くなりました。GPRがMark番号ごとの差の一部を面内の傾向として表せてしまうため、交互の当てはめが少しずつしか進まないと考えられます。40ショットでは約15回で収束し、同時推定と同じ結果でした。
本計算のBackfittingは、ハイパーパラメータを固定したときの交互の当てはめの収束値を直接計算しているので、数回で収束します。
実務では、Backfittingを使う必要はなく、基底関数として同時に推定すれば十分です。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GPRのカーネルの比較です。質的変数を同時に推定した場合について、カーネルと説明変数の組ごとに、全ショット数の平均RMSEを示しました。
X, Y, 半径の組では、等方のmatern52が1.737ナノメートルで最も良く、Matern系と有理2次が続きました。
指数カーネルは最も悪く、ardexponentialで2.162ナノメートルでした。関数がなめらかでないため、Zernikeのようななめらかな面内傾向に対して、ノイズまで追いかけやすくなります。
ARD版は、X, Y, 半径では等方版よりわずかに悪くなりました。長さスケールが増える分、推定がぶれるためと考えられます。一方、Tを加えた組では、等方版が大きく悪化するのに対し、ARD版はTの長さスケールを大きくしてTを無視するので、ほとんど悪化しませんでした。たとえばardmatern52は1.830から1.829ナノメートル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KrigingとUniversal Krigingの、バリオグラムごとの比較です。
最も良かったのはKrigingのexponentialバリオグラムでしたが、それでもGPRより大きく劣りました。
Krigingの予測式は、共分散を与えればGPRと同じです。違いはパラメータの決め方で、Krigingは距離の区間ごとの経験バリオグラムに曲線を当てはめるのに対し、GPRは周辺尤度を最大化します。
PyKrigeの既定の6区間では、最初の区間の幅が45から49ミリと広く、その中の面内傾向の変化までナゲット、つまりノイズにあたる値として推定されました。ナゲットの中央値は40ショットで7.7平方ナノメートルで、GPRが推定したノイズの分散0.96平方ナノメートルより大きく、推定が平らになりすぎます。
ガウス型のバリオグラムは、23パーセントの当てはめでナゲットがほぼゼロになり、計算が不安定になりました。RMSEが20ナノメートルを超えたWaferが211件あり、すべてガウス型でした。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決定係数、自由度調整済み決定係数、RMSE、MAEの4つの指標の比較です。
どの指標でも、系統の順序はほぼ同じでした。
RMSEの順位との順位相関は、MAEで1.000、決定係数で0.999、自由度調整済み決定係数で0.993でした（20ショット）。
自由度調整済み決定係数は、有効自由度の大きい手法、たとえば指数カーネルのGPRや指数バリオグラムのKrigingに厳しくなります。40ショットでは、これらの有効自由度は学習点320個のうち300前後で、ほぼ補間に近い当てはめです。同じ精度なら、より単純なモデルを選ぶための指標として使えます。
ただし、推定精度そのものを比べるならRMSEかMAEを、ばらつきの何割を説明できたかを見るなら決定係数を使うのが分かりやすいです。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外周、半径120ミリ以上のマークと、内側のマークに分けた誤差です。
どの手法も外周の方が誤差が大きく、GPRの20ショットで外周2.62、内側1.34ナノメートルでした。
外周では、計測ノイズが大きいことに加えて、推定が計測点の外側への外挿になるためです。
XY5次多項式とRTモデルは、外周で特に大きく外れます。高次の多項式は端で大きく振れるためです。
外周の精度を上げるには、外周の計測ショットを増やす制約や、外周の計測誤差を重みとして入れる方法が考えられます。今回は評価していません。</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1枚目のWaferで、X方向の推定誤差を地図にしました。上の段が10ショット、下の段が40ショットです。左端は真値で、丸が計測したマークです。各手法は系統ごとの代表の設定です。
40ショットでは、質的変数を入れたGPRとGAMの誤差がほぼ一様に小さくなります。TPSとXY5次には、マークごとのOffsetを表せないため、同じショットの中でマークごとに色が変わる誤差が残ります。
10ショットでは逆に、質的変数を入れたGPRとGAMで、マークごとに正負が入れ替わる強い縞が出ています。点が少ないとマークごとのOffsetを誤って推定し、その誤りが全ショットに同じように広がるためです。この1枚では、質的変数を使わないTPSの方が誤差が小さくなりました。</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Waferごとの誤差の分布です。箱は25から75パーセント点、線は中央値、ひげは箱の端から箱の長さの1.5倍までです。
GPRの20ショットでは、中央値が1.61、90パーセント点が2.03ナノメートルで、ほかの系統と重なりません。
10ショットでは、質的変数を入れたGPRの中央値は3.73ナノメートルとTPSに近い一方、90パーセント点は5.18ナノメートルと悪い側が広がりました。マークごとのOffsetを誤って推定するWaferがあるためです。
面内傾向の大きさや形はWaferごとに違うので、どの手法の誤差にも幅があります。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1枚のWaferの推定にかかった時間です。XとYの合計で、Pythonでの計測値です。
GPRは、40ショットで、質的変数なしが93ミリ秒、同時推定が100ミリ秒、Backfittingが253ミリ秒でした。
Backfittingはハイパーパラメータの推定を繰り返すので、同時推定より時間がかかります。同じ結果になるので、同時推定で十分です。
XY5次、RT、TPSは線形の計算なので1ミリ秒未満です。
この時間は、M1のパソコンで6つの計算を並べて動かしたときの値で、1つだけ動かすともっと短くなります。装置側の計算機での時間は確認していません。</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結果をもとに、選び方をまとめます。
基本はGPRで、カーネルはmatern52、説明変数はX, Yと半径、Scan方向とMark番号は基底関数として同時に推定する設定です。
計測ショットが10ショット程度と少ない場合は、質的変数を入れると逆に悪くなるので、質的変数を入れないGPRかTPSを使います。境目のショット数は、実データで確認してください。
Backfittingは同時推定と同じ結果になるので、実装を簡単にするなら同時推定で十分です。
Tは加えません。Krigingを使う場合は、バリオグラムの当てはめを最尤法に変えるか、GPRとして実装する方が良いです。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この評価の前提と限界です。
数値はすべて模擬データによるもので、Zernikeの係数の大きさ、Mark OffsetとScan方向の差の大きさ、ノイズの広がり方は仮定した値です。実データでは成分の大きさの比が違い、手法の差も変わります。
Scan方向の差は、マークによらない一定の差としました。Scan方向によってショットの形が変わる、つまりScan方向とMark番号の交互作用は含めていません。
外周の欠けたショットや、Waferの端だけの急な変化も含めていません。
サンプリング計画はXY5次を基準にしたI最適計画で、GPRにとって最適な配置ではありません。
次に、実データでの検証、Scan方向とMark番号の交互作用、外周の重み付けを確かめる価値があります。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
手法は、GPRが全ショット数で最も良く、カーネルはmatern52でした。GAMが続き、Kriging、XY5次、RTモデルは大きく劣りました。
説明変数は、半径を加えるとGPRで数パーセント良くなり、接線方向の位置Tを加えると悪くなりました。ARDカーネルではTが多くの場合に無視されました。
Scan方向とMark番号を質的変数として入れると、40ショットで誤差が64パーセント小さくなりました。10ショットでは逆に悪くなるので、質的変数なしのGPRかTPSを使います。
Backfittingで追い込んでも、基底関数として同時に推定した場合と同じ解になるので、同時推定で十分です。
4つの指標の順位はほぼ同じで、自由度調整済み決定係数は、有効自由度の大きいモデルに厳しい指標でした。
実データで成分の大きさを確かめてから採用することをお勧めします。</a:t>
            </a:r>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手法の定義と、ハイパーパラメータの決め方の出典です。
GPRのカーネルと初期値はMATLABのfitrgpのドキュメント、バリオグラムの式と当てはめ方はPyKrigeのドキュメントに合わせました。</a:t>
            </a:r>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8-1.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B3A"/>
        </a:solidFill>
      </p:bgPr>
    </p:bg>
    <p:spTree>
      <p:nvGrpSpPr>
        <p:cNvPr id="1" name=""/>
        <p:cNvGrpSpPr/>
        <p:nvPr/>
      </p:nvGrpSpPr>
      <p:grpSpPr>
        <a:xfrm>
          <a:off x="0" y="0"/>
          <a:ext cx="0" cy="0"/>
          <a:chOff x="0" y="0"/>
          <a:chExt cx="0" cy="0"/>
        </a:xfrm>
      </p:grpSpPr>
      <p:sp>
        <p:nvSpPr>
          <p:cNvPr id="2" name="Text 0"/>
          <p:cNvSpPr txBox="1"/>
          <p:nvPr/>
        </p:nvSpPr>
        <p:spPr>
          <a:xfrm>
            <a:off x="731520" y="1188720"/>
            <a:ext cx="6400800" cy="365760"/>
          </a:xfrm>
          <a:prstGeom prst="rect">
            <a:avLst/>
          </a:prstGeom>
          <a:noFill/>
          <a:ln/>
        </p:spPr>
        <p:txBody>
          <a:bodyPr wrap="square" lIns="0" tIns="0" rIns="0" bIns="0" rtlCol="0" anchor="t"/>
          <a:lstStyle/>
          <a:p>
            <a:pPr indent="0" marL="0">
              <a:buNone/>
            </a:pPr>
            <a:r>
              <a:rPr lang="ja-JP" altLang="en-US" sz="1500" b="1" spc="200" kern="0" dirty="0">
                <a:solidFill>
                  <a:srgbClr val="9EA5E0"/>
                </a:solidFill>
                <a:latin typeface="Arial"/>
                <a:ea typeface="BIZ UDGothic" charset="-128"/>
                <a:cs typeface="Arial"/>
              </a:rPr>
              <a:t>技術レポート ｜ アライメント・面内推定</a:t>
            </a:r>
            <a:endParaRPr lang="ja-JP" sz="1500" dirty="0"/>
          </a:p>
        </p:txBody>
      </p:sp>
      <p:sp>
        <p:nvSpPr>
          <p:cNvPr id="3" name="Text 1"/>
          <p:cNvSpPr txBox="1"/>
          <p:nvPr/>
        </p:nvSpPr>
        <p:spPr>
          <a:xfrm>
            <a:off x="731520" y="1645920"/>
            <a:ext cx="7223760" cy="1600200"/>
          </a:xfrm>
          <a:prstGeom prst="rect">
            <a:avLst/>
          </a:prstGeom>
          <a:noFill/>
          <a:ln/>
        </p:spPr>
        <p:txBody>
          <a:bodyPr wrap="square" lIns="0" tIns="0" rIns="0" bIns="0" rtlCol="0" anchor="ctr"/>
          <a:lstStyle/>
          <a:p>
            <a:pPr indent="0" marL="0">
              <a:lnSpc>
                <a:spcPct val="105000"/>
              </a:lnSpc>
              <a:buNone/>
            </a:pPr>
            <a:r>
              <a:rPr lang="ja-JP" altLang="en-US" sz="3400" b="1" dirty="0">
                <a:solidFill>
                  <a:srgbClr val="FFFFFF"/>
                </a:solidFill>
                <a:latin typeface="Arial"/>
                <a:ea typeface="BIZ UDGothic" charset="-128"/>
                <a:cs typeface="Arial"/>
              </a:rPr>
              <a:t>アライメント計測値の面内推定</a:t>
            </a:r>
            <a:endParaRPr lang="ja-JP" sz="3400" dirty="0"/>
          </a:p>
          <a:p>
            <a:pPr indent="0" marL="0">
              <a:lnSpc>
                <a:spcPct val="105000"/>
              </a:lnSpc>
              <a:buNone/>
            </a:pPr>
            <a:r>
              <a:rPr lang="ja-JP" altLang="en-US" sz="3400" b="1" dirty="0">
                <a:solidFill>
                  <a:srgbClr val="FFFFFF"/>
                </a:solidFill>
                <a:latin typeface="Arial"/>
                <a:ea typeface="BIZ UDGothic" charset="-128"/>
                <a:cs typeface="Arial"/>
              </a:rPr>
              <a:t>説明変数と手法の比較</a:t>
            </a:r>
            <a:endParaRPr lang="ja-JP" sz="3400" dirty="0"/>
          </a:p>
        </p:txBody>
      </p:sp>
      <p:sp>
        <p:nvSpPr>
          <p:cNvPr id="4" name="Text 2"/>
          <p:cNvSpPr txBox="1"/>
          <p:nvPr/>
        </p:nvSpPr>
        <p:spPr>
          <a:xfrm>
            <a:off x="731520" y="3429000"/>
            <a:ext cx="7132320" cy="457200"/>
          </a:xfrm>
          <a:prstGeom prst="rect">
            <a:avLst/>
          </a:prstGeom>
          <a:noFill/>
          <a:ln/>
        </p:spPr>
        <p:txBody>
          <a:bodyPr wrap="square" lIns="0" tIns="0" rIns="0" bIns="0" rtlCol="0" anchor="t"/>
          <a:lstStyle/>
          <a:p>
            <a:pPr indent="0" marL="0">
              <a:buNone/>
            </a:pPr>
            <a:r>
              <a:rPr lang="ja-JP" altLang="en-US" sz="1800" dirty="0">
                <a:solidFill>
                  <a:srgbClr val="CDD0EA"/>
                </a:solidFill>
                <a:latin typeface="Arial"/>
                <a:ea typeface="BIZ UDGothic" charset="-128"/>
                <a:cs typeface="Arial"/>
              </a:rPr>
              <a:t>GPR・TPS・Kriging・GAM・XY5・RT の123設定を、模擬Wafer 1,000枚で比較</a:t>
            </a:r>
            <a:endParaRPr lang="ja-JP" sz="1800" dirty="0"/>
          </a:p>
        </p:txBody>
      </p:sp>
      <p:sp>
        <p:nvSpPr>
          <p:cNvPr id="5" name="Text 3"/>
          <p:cNvSpPr txBox="1"/>
          <p:nvPr/>
        </p:nvSpPr>
        <p:spPr>
          <a:xfrm>
            <a:off x="731520" y="4069080"/>
            <a:ext cx="6583680" cy="1188720"/>
          </a:xfrm>
          <a:prstGeom prst="rect">
            <a:avLst/>
          </a:prstGeom>
          <a:noFill/>
          <a:ln/>
        </p:spPr>
        <p:txBody>
          <a:bodyPr wrap="square" lIns="0" tIns="0" rIns="0" bIns="0" rtlCol="0" anchor="t"/>
          <a:lstStyle/>
          <a:p>
            <a:pPr indent="0" marL="0">
              <a:buNone/>
            </a:pPr>
            <a:r>
              <a:rPr lang="ja-JP" altLang="en-US" sz="1350" dirty="0">
                <a:solidFill>
                  <a:srgbClr val="9EA5E0"/>
                </a:solidFill>
                <a:latin typeface="Arial"/>
                <a:ea typeface="BIZ UDGothic" charset="-128"/>
                <a:cs typeface="Arial"/>
              </a:rPr>
              <a:t>制約付きI最適計画で選んだ10〜40 Shotを学習データとし、未計測Shotの全Markを推定。説明変数（X, Y／半径／T）と、Scan方向・Mark番号を質的変数として扱う効果（Backfittingを含む）を、決定係数・自由度調整済み決定係数・RMSE・MAEで評価した</a:t>
            </a:r>
            <a:endParaRPr lang="ja-JP" sz="1350" dirty="0"/>
          </a:p>
        </p:txBody>
      </p:sp>
      <p:sp>
        <p:nvSpPr>
          <p:cNvPr id="6" name="Text 4"/>
          <p:cNvSpPr txBox="1"/>
          <p:nvPr/>
        </p:nvSpPr>
        <p:spPr>
          <a:xfrm>
            <a:off x="731520" y="5897880"/>
            <a:ext cx="3657600" cy="320040"/>
          </a:xfrm>
          <a:prstGeom prst="rect">
            <a:avLst/>
          </a:prstGeom>
          <a:noFill/>
          <a:ln/>
        </p:spPr>
        <p:txBody>
          <a:bodyPr wrap="square" lIns="0" tIns="0" rIns="0" bIns="0" rtlCol="0" anchor="t"/>
          <a:lstStyle/>
          <a:p>
            <a:pPr indent="0" marL="0">
              <a:buNone/>
            </a:pPr>
            <a:r>
              <a:rPr lang="ja-JP" altLang="en-US" sz="1300" dirty="0">
                <a:solidFill>
                  <a:srgbClr val="CDD0EA"/>
                </a:solidFill>
                <a:latin typeface="Arial"/>
                <a:ea typeface="BIZ UDGothic" charset="-128"/>
                <a:cs typeface="Arial"/>
              </a:rPr>
              <a:t>2026年10月12日</a:t>
            </a:r>
            <a:endParaRPr lang="ja-JP" sz="1300" dirty="0"/>
          </a:p>
        </p:txBody>
      </p:sp>
      <p:sp>
        <p:nvSpPr>
          <p:cNvPr id="7" name="Shape 5"/>
          <p:cNvSpPr/>
          <p:nvPr/>
        </p:nvSpPr>
        <p:spPr>
          <a:xfrm>
            <a:off x="8001000" y="3673827"/>
            <a:ext cx="384048" cy="1172493"/>
          </a:xfrm>
          <a:prstGeom prst="rect">
            <a:avLst/>
          </a:prstGeom>
          <a:solidFill>
            <a:srgbClr val="2A78D6"/>
          </a:solidFill>
          <a:ln w="6350">
            <a:solidFill>
              <a:srgbClr val="2A78D6"/>
            </a:solidFill>
            <a:prstDash val="solid"/>
          </a:ln>
        </p:spPr>
      </p:sp>
      <p:sp>
        <p:nvSpPr>
          <p:cNvPr id="8" name="Text 6"/>
          <p:cNvSpPr txBox="1"/>
          <p:nvPr/>
        </p:nvSpPr>
        <p:spPr>
          <a:xfrm>
            <a:off x="7818120" y="3362931"/>
            <a:ext cx="749808" cy="274320"/>
          </a:xfrm>
          <a:prstGeom prst="rect">
            <a:avLst/>
          </a:prstGeom>
          <a:noFill/>
          <a:ln/>
        </p:spPr>
        <p:txBody>
          <a:bodyPr wrap="square" lIns="0" tIns="0" rIns="0" bIns="0" rtlCol="0" anchor="t"/>
          <a:lstStyle/>
          <a:p>
            <a:pPr algn="ctr" indent="0" marL="0">
              <a:buNone/>
            </a:pPr>
            <a:r>
              <a:rPr lang="ja-JP" altLang="en-US" sz="1150" b="1" dirty="0">
                <a:solidFill>
                  <a:srgbClr val="FFFFFF"/>
                </a:solidFill>
                <a:latin typeface="Arial"/>
                <a:ea typeface="BIZ UDGothic" charset="-128"/>
                <a:cs typeface="Arial"/>
              </a:rPr>
              <a:t>1.6</a:t>
            </a:r>
            <a:endParaRPr lang="ja-JP" sz="1150" dirty="0"/>
          </a:p>
        </p:txBody>
      </p:sp>
      <p:sp>
        <p:nvSpPr>
          <p:cNvPr id="9" name="Text 7"/>
          <p:cNvSpPr txBox="1"/>
          <p:nvPr/>
        </p:nvSpPr>
        <p:spPr>
          <a:xfrm>
            <a:off x="7818120" y="4901184"/>
            <a:ext cx="749808" cy="274320"/>
          </a:xfrm>
          <a:prstGeom prst="rect">
            <a:avLst/>
          </a:prstGeom>
          <a:noFill/>
          <a:ln/>
        </p:spPr>
        <p:txBody>
          <a:bodyPr wrap="square" lIns="0" tIns="0" rIns="0" bIns="0" rtlCol="0" anchor="t"/>
          <a:lstStyle/>
          <a:p>
            <a:pPr algn="ctr" indent="0" marL="0">
              <a:buNone/>
            </a:pPr>
            <a:r>
              <a:rPr lang="ja-JP" altLang="en-US" sz="1000" dirty="0">
                <a:solidFill>
                  <a:srgbClr val="CDD0EA"/>
                </a:solidFill>
                <a:latin typeface="Arial"/>
                <a:ea typeface="BIZ UDGothic" charset="-128"/>
                <a:cs typeface="Arial"/>
              </a:rPr>
              <a:t>GPR</a:t>
            </a:r>
            <a:endParaRPr lang="ja-JP" sz="1000" dirty="0"/>
          </a:p>
        </p:txBody>
      </p:sp>
      <p:sp>
        <p:nvSpPr>
          <p:cNvPr id="10" name="Shape 8"/>
          <p:cNvSpPr/>
          <p:nvPr/>
        </p:nvSpPr>
        <p:spPr>
          <a:xfrm>
            <a:off x="8531352" y="2811078"/>
            <a:ext cx="384048" cy="2035242"/>
          </a:xfrm>
          <a:prstGeom prst="rect">
            <a:avLst/>
          </a:prstGeom>
          <a:solidFill>
            <a:srgbClr val="EB6834"/>
          </a:solidFill>
          <a:ln w="6350">
            <a:solidFill>
              <a:srgbClr val="EB6834"/>
            </a:solidFill>
            <a:prstDash val="solid"/>
          </a:ln>
        </p:spPr>
      </p:sp>
      <p:sp>
        <p:nvSpPr>
          <p:cNvPr id="11" name="Text 9"/>
          <p:cNvSpPr txBox="1"/>
          <p:nvPr/>
        </p:nvSpPr>
        <p:spPr>
          <a:xfrm>
            <a:off x="8348472" y="2500182"/>
            <a:ext cx="749808" cy="274320"/>
          </a:xfrm>
          <a:prstGeom prst="rect">
            <a:avLst/>
          </a:prstGeom>
          <a:noFill/>
          <a:ln/>
        </p:spPr>
        <p:txBody>
          <a:bodyPr wrap="square" lIns="0" tIns="0" rIns="0" bIns="0" rtlCol="0" anchor="t"/>
          <a:lstStyle/>
          <a:p>
            <a:pPr algn="ctr" indent="0" marL="0">
              <a:buNone/>
            </a:pPr>
            <a:r>
              <a:rPr lang="ja-JP" altLang="en-US" sz="1150" b="1" dirty="0">
                <a:solidFill>
                  <a:srgbClr val="FFFFFF"/>
                </a:solidFill>
                <a:latin typeface="Arial"/>
                <a:ea typeface="BIZ UDGothic" charset="-128"/>
                <a:cs typeface="Arial"/>
              </a:rPr>
              <a:t>2.9</a:t>
            </a:r>
            <a:endParaRPr lang="ja-JP" sz="1150" dirty="0"/>
          </a:p>
        </p:txBody>
      </p:sp>
      <p:sp>
        <p:nvSpPr>
          <p:cNvPr id="12" name="Text 10"/>
          <p:cNvSpPr txBox="1"/>
          <p:nvPr/>
        </p:nvSpPr>
        <p:spPr>
          <a:xfrm>
            <a:off x="8348472" y="4901184"/>
            <a:ext cx="749808" cy="274320"/>
          </a:xfrm>
          <a:prstGeom prst="rect">
            <a:avLst/>
          </a:prstGeom>
          <a:noFill/>
          <a:ln/>
        </p:spPr>
        <p:txBody>
          <a:bodyPr wrap="square" lIns="0" tIns="0" rIns="0" bIns="0" rtlCol="0" anchor="t"/>
          <a:lstStyle/>
          <a:p>
            <a:pPr algn="ctr" indent="0" marL="0">
              <a:buNone/>
            </a:pPr>
            <a:r>
              <a:rPr lang="ja-JP" altLang="en-US" sz="1000" dirty="0">
                <a:solidFill>
                  <a:srgbClr val="CDD0EA"/>
                </a:solidFill>
                <a:latin typeface="Arial"/>
                <a:ea typeface="BIZ UDGothic" charset="-128"/>
                <a:cs typeface="Arial"/>
              </a:rPr>
              <a:t>TPS</a:t>
            </a:r>
            <a:endParaRPr lang="ja-JP" sz="1000" dirty="0"/>
          </a:p>
        </p:txBody>
      </p:sp>
      <p:sp>
        <p:nvSpPr>
          <p:cNvPr id="13" name="Shape 11"/>
          <p:cNvSpPr/>
          <p:nvPr/>
        </p:nvSpPr>
        <p:spPr>
          <a:xfrm>
            <a:off x="9061704" y="2641849"/>
            <a:ext cx="384048" cy="2204471"/>
          </a:xfrm>
          <a:prstGeom prst="rect">
            <a:avLst/>
          </a:prstGeom>
          <a:solidFill>
            <a:srgbClr val="1BAF7A"/>
          </a:solidFill>
          <a:ln w="6350">
            <a:solidFill>
              <a:srgbClr val="1BAF7A"/>
            </a:solidFill>
            <a:prstDash val="solid"/>
          </a:ln>
        </p:spPr>
      </p:sp>
      <p:sp>
        <p:nvSpPr>
          <p:cNvPr id="14" name="Text 12"/>
          <p:cNvSpPr txBox="1"/>
          <p:nvPr/>
        </p:nvSpPr>
        <p:spPr>
          <a:xfrm>
            <a:off x="8878824" y="2330953"/>
            <a:ext cx="749808" cy="274320"/>
          </a:xfrm>
          <a:prstGeom prst="rect">
            <a:avLst/>
          </a:prstGeom>
          <a:noFill/>
          <a:ln/>
        </p:spPr>
        <p:txBody>
          <a:bodyPr wrap="square" lIns="0" tIns="0" rIns="0" bIns="0" rtlCol="0" anchor="t"/>
          <a:lstStyle/>
          <a:p>
            <a:pPr algn="ctr" indent="0" marL="0">
              <a:buNone/>
            </a:pPr>
            <a:r>
              <a:rPr lang="ja-JP" altLang="en-US" sz="1150" b="1" dirty="0">
                <a:solidFill>
                  <a:srgbClr val="FFFFFF"/>
                </a:solidFill>
                <a:latin typeface="Arial"/>
                <a:ea typeface="BIZ UDGothic" charset="-128"/>
                <a:cs typeface="Arial"/>
              </a:rPr>
              <a:t>3.1</a:t>
            </a:r>
            <a:endParaRPr lang="ja-JP" sz="1150" dirty="0"/>
          </a:p>
        </p:txBody>
      </p:sp>
      <p:sp>
        <p:nvSpPr>
          <p:cNvPr id="15" name="Text 13"/>
          <p:cNvSpPr txBox="1"/>
          <p:nvPr/>
        </p:nvSpPr>
        <p:spPr>
          <a:xfrm>
            <a:off x="8878824" y="4901184"/>
            <a:ext cx="749808" cy="274320"/>
          </a:xfrm>
          <a:prstGeom prst="rect">
            <a:avLst/>
          </a:prstGeom>
          <a:noFill/>
          <a:ln/>
        </p:spPr>
        <p:txBody>
          <a:bodyPr wrap="square" lIns="0" tIns="0" rIns="0" bIns="0" rtlCol="0" anchor="t"/>
          <a:lstStyle/>
          <a:p>
            <a:pPr algn="ctr" indent="0" marL="0">
              <a:buNone/>
            </a:pPr>
            <a:r>
              <a:rPr lang="ja-JP" altLang="en-US" sz="1000" dirty="0">
                <a:solidFill>
                  <a:srgbClr val="CDD0EA"/>
                </a:solidFill>
                <a:latin typeface="Arial"/>
                <a:ea typeface="BIZ UDGothic" charset="-128"/>
                <a:cs typeface="Arial"/>
              </a:rPr>
              <a:t>Kriging</a:t>
            </a:r>
            <a:endParaRPr lang="ja-JP" sz="1000" dirty="0"/>
          </a:p>
        </p:txBody>
      </p:sp>
      <p:sp>
        <p:nvSpPr>
          <p:cNvPr id="16" name="Shape 14"/>
          <p:cNvSpPr/>
          <p:nvPr/>
        </p:nvSpPr>
        <p:spPr>
          <a:xfrm>
            <a:off x="9592056" y="2546652"/>
            <a:ext cx="384048" cy="2299668"/>
          </a:xfrm>
          <a:prstGeom prst="rect">
            <a:avLst/>
          </a:prstGeom>
          <a:solidFill>
            <a:srgbClr val="EDA100"/>
          </a:solidFill>
          <a:ln w="6350">
            <a:solidFill>
              <a:srgbClr val="EDA100"/>
            </a:solidFill>
            <a:prstDash val="solid"/>
          </a:ln>
        </p:spPr>
      </p:sp>
      <p:sp>
        <p:nvSpPr>
          <p:cNvPr id="17" name="Text 15"/>
          <p:cNvSpPr txBox="1"/>
          <p:nvPr/>
        </p:nvSpPr>
        <p:spPr>
          <a:xfrm>
            <a:off x="9409176" y="2235756"/>
            <a:ext cx="749808" cy="274320"/>
          </a:xfrm>
          <a:prstGeom prst="rect">
            <a:avLst/>
          </a:prstGeom>
          <a:noFill/>
          <a:ln/>
        </p:spPr>
        <p:txBody>
          <a:bodyPr wrap="square" lIns="0" tIns="0" rIns="0" bIns="0" rtlCol="0" anchor="t"/>
          <a:lstStyle/>
          <a:p>
            <a:pPr algn="ctr" indent="0" marL="0">
              <a:buNone/>
            </a:pPr>
            <a:r>
              <a:rPr lang="ja-JP" altLang="en-US" sz="1150" b="1" dirty="0">
                <a:solidFill>
                  <a:srgbClr val="FFFFFF"/>
                </a:solidFill>
                <a:latin typeface="Arial"/>
                <a:ea typeface="BIZ UDGothic" charset="-128"/>
                <a:cs typeface="Arial"/>
              </a:rPr>
              <a:t>3.2</a:t>
            </a:r>
            <a:endParaRPr lang="ja-JP" sz="1150" dirty="0"/>
          </a:p>
        </p:txBody>
      </p:sp>
      <p:sp>
        <p:nvSpPr>
          <p:cNvPr id="18" name="Text 16"/>
          <p:cNvSpPr txBox="1"/>
          <p:nvPr/>
        </p:nvSpPr>
        <p:spPr>
          <a:xfrm>
            <a:off x="9409176" y="4901184"/>
            <a:ext cx="749808" cy="274320"/>
          </a:xfrm>
          <a:prstGeom prst="rect">
            <a:avLst/>
          </a:prstGeom>
          <a:noFill/>
          <a:ln/>
        </p:spPr>
        <p:txBody>
          <a:bodyPr wrap="square" lIns="0" tIns="0" rIns="0" bIns="0" rtlCol="0" anchor="t"/>
          <a:lstStyle/>
          <a:p>
            <a:pPr algn="ctr" indent="0" marL="0">
              <a:buNone/>
            </a:pPr>
            <a:r>
              <a:rPr lang="ja-JP" altLang="en-US" sz="1000" dirty="0">
                <a:solidFill>
                  <a:srgbClr val="CDD0EA"/>
                </a:solidFill>
                <a:latin typeface="Arial"/>
                <a:ea typeface="BIZ UDGothic" charset="-128"/>
                <a:cs typeface="Arial"/>
              </a:rPr>
              <a:t>UK</a:t>
            </a:r>
            <a:endParaRPr lang="ja-JP" sz="1000" dirty="0"/>
          </a:p>
        </p:txBody>
      </p:sp>
      <p:sp>
        <p:nvSpPr>
          <p:cNvPr id="19" name="Shape 17"/>
          <p:cNvSpPr/>
          <p:nvPr/>
        </p:nvSpPr>
        <p:spPr>
          <a:xfrm>
            <a:off x="10122408" y="3027407"/>
            <a:ext cx="384048" cy="1818913"/>
          </a:xfrm>
          <a:prstGeom prst="rect">
            <a:avLst/>
          </a:prstGeom>
          <a:solidFill>
            <a:srgbClr val="E87BA4"/>
          </a:solidFill>
          <a:ln w="6350">
            <a:solidFill>
              <a:srgbClr val="E87BA4"/>
            </a:solidFill>
            <a:prstDash val="solid"/>
          </a:ln>
        </p:spPr>
      </p:sp>
      <p:sp>
        <p:nvSpPr>
          <p:cNvPr id="20" name="Text 18"/>
          <p:cNvSpPr txBox="1"/>
          <p:nvPr/>
        </p:nvSpPr>
        <p:spPr>
          <a:xfrm>
            <a:off x="9939528" y="2716511"/>
            <a:ext cx="749808" cy="274320"/>
          </a:xfrm>
          <a:prstGeom prst="rect">
            <a:avLst/>
          </a:prstGeom>
          <a:noFill/>
          <a:ln/>
        </p:spPr>
        <p:txBody>
          <a:bodyPr wrap="square" lIns="0" tIns="0" rIns="0" bIns="0" rtlCol="0" anchor="t"/>
          <a:lstStyle/>
          <a:p>
            <a:pPr algn="ctr" indent="0" marL="0">
              <a:buNone/>
            </a:pPr>
            <a:r>
              <a:rPr lang="ja-JP" altLang="en-US" sz="1150" b="1" dirty="0">
                <a:solidFill>
                  <a:srgbClr val="FFFFFF"/>
                </a:solidFill>
                <a:latin typeface="Arial"/>
                <a:ea typeface="BIZ UDGothic" charset="-128"/>
                <a:cs typeface="Arial"/>
              </a:rPr>
              <a:t>2.6</a:t>
            </a:r>
            <a:endParaRPr lang="ja-JP" sz="1150" dirty="0"/>
          </a:p>
        </p:txBody>
      </p:sp>
      <p:sp>
        <p:nvSpPr>
          <p:cNvPr id="21" name="Text 19"/>
          <p:cNvSpPr txBox="1"/>
          <p:nvPr/>
        </p:nvSpPr>
        <p:spPr>
          <a:xfrm>
            <a:off x="9939528" y="4901184"/>
            <a:ext cx="749808" cy="274320"/>
          </a:xfrm>
          <a:prstGeom prst="rect">
            <a:avLst/>
          </a:prstGeom>
          <a:noFill/>
          <a:ln/>
        </p:spPr>
        <p:txBody>
          <a:bodyPr wrap="square" lIns="0" tIns="0" rIns="0" bIns="0" rtlCol="0" anchor="t"/>
          <a:lstStyle/>
          <a:p>
            <a:pPr algn="ctr" indent="0" marL="0">
              <a:buNone/>
            </a:pPr>
            <a:r>
              <a:rPr lang="ja-JP" altLang="en-US" sz="1000" dirty="0">
                <a:solidFill>
                  <a:srgbClr val="CDD0EA"/>
                </a:solidFill>
                <a:latin typeface="Arial"/>
                <a:ea typeface="BIZ UDGothic" charset="-128"/>
                <a:cs typeface="Arial"/>
              </a:rPr>
              <a:t>GAM</a:t>
            </a:r>
            <a:endParaRPr lang="ja-JP" sz="1000" dirty="0"/>
          </a:p>
        </p:txBody>
      </p:sp>
      <p:sp>
        <p:nvSpPr>
          <p:cNvPr id="22" name="Shape 20"/>
          <p:cNvSpPr/>
          <p:nvPr/>
        </p:nvSpPr>
        <p:spPr>
          <a:xfrm>
            <a:off x="10652760" y="2237265"/>
            <a:ext cx="384048" cy="2609055"/>
          </a:xfrm>
          <a:prstGeom prst="rect">
            <a:avLst/>
          </a:prstGeom>
          <a:solidFill>
            <a:srgbClr val="008300"/>
          </a:solidFill>
          <a:ln w="6350">
            <a:solidFill>
              <a:srgbClr val="008300"/>
            </a:solidFill>
            <a:prstDash val="solid"/>
          </a:ln>
        </p:spPr>
      </p:sp>
      <p:sp>
        <p:nvSpPr>
          <p:cNvPr id="23" name="Text 21"/>
          <p:cNvSpPr txBox="1"/>
          <p:nvPr/>
        </p:nvSpPr>
        <p:spPr>
          <a:xfrm>
            <a:off x="10469880" y="1926369"/>
            <a:ext cx="749808" cy="274320"/>
          </a:xfrm>
          <a:prstGeom prst="rect">
            <a:avLst/>
          </a:prstGeom>
          <a:noFill/>
          <a:ln/>
        </p:spPr>
        <p:txBody>
          <a:bodyPr wrap="square" lIns="0" tIns="0" rIns="0" bIns="0" rtlCol="0" anchor="t"/>
          <a:lstStyle/>
          <a:p>
            <a:pPr algn="ctr" indent="0" marL="0">
              <a:buNone/>
            </a:pPr>
            <a:r>
              <a:rPr lang="ja-JP" altLang="en-US" sz="1150" b="1" dirty="0">
                <a:solidFill>
                  <a:srgbClr val="FFFFFF"/>
                </a:solidFill>
                <a:latin typeface="Arial"/>
                <a:ea typeface="BIZ UDGothic" charset="-128"/>
                <a:cs typeface="Arial"/>
              </a:rPr>
              <a:t>3.7</a:t>
            </a:r>
            <a:endParaRPr lang="ja-JP" sz="1150" dirty="0"/>
          </a:p>
        </p:txBody>
      </p:sp>
      <p:sp>
        <p:nvSpPr>
          <p:cNvPr id="24" name="Text 22"/>
          <p:cNvSpPr txBox="1"/>
          <p:nvPr/>
        </p:nvSpPr>
        <p:spPr>
          <a:xfrm>
            <a:off x="10469880" y="4901184"/>
            <a:ext cx="749808" cy="274320"/>
          </a:xfrm>
          <a:prstGeom prst="rect">
            <a:avLst/>
          </a:prstGeom>
          <a:noFill/>
          <a:ln/>
        </p:spPr>
        <p:txBody>
          <a:bodyPr wrap="square" lIns="0" tIns="0" rIns="0" bIns="0" rtlCol="0" anchor="t"/>
          <a:lstStyle/>
          <a:p>
            <a:pPr algn="ctr" indent="0" marL="0">
              <a:buNone/>
            </a:pPr>
            <a:r>
              <a:rPr lang="ja-JP" altLang="en-US" sz="1000" dirty="0">
                <a:solidFill>
                  <a:srgbClr val="CDD0EA"/>
                </a:solidFill>
                <a:latin typeface="Arial"/>
                <a:ea typeface="BIZ UDGothic" charset="-128"/>
                <a:cs typeface="Arial"/>
              </a:rPr>
              <a:t>XY5</a:t>
            </a:r>
            <a:endParaRPr lang="ja-JP" sz="1000" dirty="0"/>
          </a:p>
        </p:txBody>
      </p:sp>
      <p:sp>
        <p:nvSpPr>
          <p:cNvPr id="25" name="Shape 23"/>
          <p:cNvSpPr/>
          <p:nvPr/>
        </p:nvSpPr>
        <p:spPr>
          <a:xfrm>
            <a:off x="11183112" y="2186247"/>
            <a:ext cx="384048" cy="2660073"/>
          </a:xfrm>
          <a:prstGeom prst="rect">
            <a:avLst/>
          </a:prstGeom>
          <a:solidFill>
            <a:srgbClr val="4A3AA7"/>
          </a:solidFill>
          <a:ln w="6350">
            <a:solidFill>
              <a:srgbClr val="4A3AA7"/>
            </a:solidFill>
            <a:prstDash val="solid"/>
          </a:ln>
        </p:spPr>
      </p:sp>
      <p:sp>
        <p:nvSpPr>
          <p:cNvPr id="26" name="Text 24"/>
          <p:cNvSpPr txBox="1"/>
          <p:nvPr/>
        </p:nvSpPr>
        <p:spPr>
          <a:xfrm>
            <a:off x="11000232" y="1875351"/>
            <a:ext cx="749808" cy="274320"/>
          </a:xfrm>
          <a:prstGeom prst="rect">
            <a:avLst/>
          </a:prstGeom>
          <a:noFill/>
          <a:ln/>
        </p:spPr>
        <p:txBody>
          <a:bodyPr wrap="square" lIns="0" tIns="0" rIns="0" bIns="0" rtlCol="0" anchor="t"/>
          <a:lstStyle/>
          <a:p>
            <a:pPr algn="ctr" indent="0" marL="0">
              <a:buNone/>
            </a:pPr>
            <a:r>
              <a:rPr lang="ja-JP" altLang="en-US" sz="1150" b="1" dirty="0">
                <a:solidFill>
                  <a:srgbClr val="FFFFFF"/>
                </a:solidFill>
                <a:latin typeface="Arial"/>
                <a:ea typeface="BIZ UDGothic" charset="-128"/>
                <a:cs typeface="Arial"/>
              </a:rPr>
              <a:t>3.7</a:t>
            </a:r>
            <a:endParaRPr lang="ja-JP" sz="1150" dirty="0"/>
          </a:p>
        </p:txBody>
      </p:sp>
      <p:sp>
        <p:nvSpPr>
          <p:cNvPr id="27" name="Text 25"/>
          <p:cNvSpPr txBox="1"/>
          <p:nvPr/>
        </p:nvSpPr>
        <p:spPr>
          <a:xfrm>
            <a:off x="11000232" y="4901184"/>
            <a:ext cx="749808" cy="274320"/>
          </a:xfrm>
          <a:prstGeom prst="rect">
            <a:avLst/>
          </a:prstGeom>
          <a:noFill/>
          <a:ln/>
        </p:spPr>
        <p:txBody>
          <a:bodyPr wrap="square" lIns="0" tIns="0" rIns="0" bIns="0" rtlCol="0" anchor="t"/>
          <a:lstStyle/>
          <a:p>
            <a:pPr algn="ctr" indent="0" marL="0">
              <a:buNone/>
            </a:pPr>
            <a:r>
              <a:rPr lang="ja-JP" altLang="en-US" sz="1000" dirty="0">
                <a:solidFill>
                  <a:srgbClr val="CDD0EA"/>
                </a:solidFill>
                <a:latin typeface="Arial"/>
                <a:ea typeface="BIZ UDGothic" charset="-128"/>
                <a:cs typeface="Arial"/>
              </a:rPr>
              <a:t>RT</a:t>
            </a:r>
            <a:endParaRPr lang="ja-JP" sz="1000" dirty="0"/>
          </a:p>
        </p:txBody>
      </p:sp>
      <p:sp>
        <p:nvSpPr>
          <p:cNvPr id="28" name="Shape 26"/>
          <p:cNvSpPr/>
          <p:nvPr/>
        </p:nvSpPr>
        <p:spPr>
          <a:xfrm>
            <a:off x="7891272" y="4846320"/>
            <a:ext cx="3785616" cy="0"/>
          </a:xfrm>
          <a:prstGeom prst="line">
            <a:avLst/>
          </a:prstGeom>
          <a:noFill/>
          <a:ln w="12700">
            <a:solidFill>
              <a:srgbClr val="CDD0EA"/>
            </a:solidFill>
            <a:prstDash val="solid"/>
          </a:ln>
        </p:spPr>
      </p:sp>
      <p:sp>
        <p:nvSpPr>
          <p:cNvPr id="29" name="Text 27"/>
          <p:cNvSpPr txBox="1"/>
          <p:nvPr/>
        </p:nvSpPr>
        <p:spPr>
          <a:xfrm>
            <a:off x="7680960" y="5257800"/>
            <a:ext cx="4023360" cy="548640"/>
          </a:xfrm>
          <a:prstGeom prst="rect">
            <a:avLst/>
          </a:prstGeom>
          <a:noFill/>
          <a:ln/>
        </p:spPr>
        <p:txBody>
          <a:bodyPr wrap="square" lIns="0" tIns="0" rIns="0" bIns="0" rtlCol="0" anchor="t"/>
          <a:lstStyle/>
          <a:p>
            <a:pPr algn="ctr" indent="0" marL="0">
              <a:buNone/>
            </a:pPr>
            <a:r>
              <a:rPr lang="ja-JP" altLang="en-US" sz="1150" dirty="0">
                <a:solidFill>
                  <a:srgbClr val="CDD0EA"/>
                </a:solidFill>
                <a:latin typeface="Arial"/>
                <a:ea typeface="BIZ UDGothic" charset="-128"/>
                <a:cs typeface="Arial"/>
              </a:rPr>
              <a:t>20 Shot計測時の推定誤差 RMSE [nm]（系統ごとの最良の設定、1,000枚の平均）</a:t>
            </a:r>
            <a:endParaRPr lang="ja-JP"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INTRODUCTION</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この資料で分かること</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アライメント計測値の面内推定 ― 説明変数と手法の比較</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a:t>
            </a:r>
            <a:endParaRPr lang="ja-JP" sz="1000" dirty="0"/>
          </a:p>
        </p:txBody>
      </p:sp>
      <p:sp>
        <p:nvSpPr>
          <p:cNvPr id="6" name="Shape 4"/>
          <p:cNvSpPr/>
          <p:nvPr/>
        </p:nvSpPr>
        <p:spPr>
          <a:xfrm>
            <a:off x="548640" y="1417320"/>
            <a:ext cx="11094415" cy="640080"/>
          </a:xfrm>
          <a:prstGeom prst="roundRect">
            <a:avLst>
              <a:gd name="adj" fmla="val 14286"/>
            </a:avLst>
          </a:prstGeom>
          <a:solidFill>
            <a:srgbClr val="EEEFF7"/>
          </a:solidFill>
          <a:ln w="6350">
            <a:solidFill>
              <a:srgbClr val="EEEFF7"/>
            </a:solidFill>
            <a:prstDash val="solid"/>
          </a:ln>
        </p:spPr>
      </p:sp>
      <p:sp>
        <p:nvSpPr>
          <p:cNvPr id="7" name="Shape 5"/>
          <p:cNvSpPr/>
          <p:nvPr/>
        </p:nvSpPr>
        <p:spPr>
          <a:xfrm>
            <a:off x="768096" y="1545336"/>
            <a:ext cx="384048" cy="384048"/>
          </a:xfrm>
          <a:prstGeom prst="ellipse">
            <a:avLst/>
          </a:prstGeom>
          <a:solidFill>
            <a:srgbClr val="2F3470"/>
          </a:solidFill>
          <a:ln w="6350">
            <a:solidFill>
              <a:srgbClr val="2F3470"/>
            </a:solidFill>
            <a:prstDash val="solid"/>
          </a:ln>
        </p:spPr>
      </p:sp>
      <p:sp>
        <p:nvSpPr>
          <p:cNvPr id="8" name="Text 6"/>
          <p:cNvSpPr txBox="1"/>
          <p:nvPr/>
        </p:nvSpPr>
        <p:spPr>
          <a:xfrm>
            <a:off x="768096" y="1545336"/>
            <a:ext cx="384048" cy="384048"/>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Arial"/>
                <a:ea typeface="BIZ UDGothic" charset="-128"/>
                <a:cs typeface="Arial"/>
              </a:rPr>
              <a:t>✓</a:t>
            </a:r>
            <a:endParaRPr lang="ja-JP" sz="1400" dirty="0"/>
          </a:p>
        </p:txBody>
      </p:sp>
      <p:sp>
        <p:nvSpPr>
          <p:cNvPr id="9" name="Text 7"/>
          <p:cNvSpPr txBox="1"/>
          <p:nvPr/>
        </p:nvSpPr>
        <p:spPr>
          <a:xfrm>
            <a:off x="1325880" y="1417320"/>
            <a:ext cx="10088575" cy="640080"/>
          </a:xfrm>
          <a:prstGeom prst="rect">
            <a:avLst/>
          </a:prstGeom>
          <a:noFill/>
          <a:ln/>
        </p:spPr>
        <p:txBody>
          <a:bodyPr wrap="square" lIns="0" tIns="0" rIns="0" bIns="0" rtlCol="0" anchor="ctr"/>
          <a:lstStyle/>
          <a:p>
            <a:pPr indent="0" marL="0">
              <a:buNone/>
            </a:pPr>
            <a:r>
              <a:rPr lang="ja-JP" altLang="en-US" sz="1500" b="1" dirty="0">
                <a:solidFill>
                  <a:srgbClr val="1E1C33"/>
                </a:solidFill>
                <a:latin typeface="Arial"/>
                <a:ea typeface="BIZ UDGothic" charset="-128"/>
                <a:cs typeface="Arial"/>
              </a:rPr>
              <a:t>ゴール：計測Shot数に応じて、面内推定の手法・説明変数・質的変数の扱いを数値の根拠で選べるようになる</a:t>
            </a:r>
            <a:endParaRPr lang="ja-JP" sz="1500" dirty="0"/>
          </a:p>
        </p:txBody>
      </p:sp>
      <p:sp>
        <p:nvSpPr>
          <p:cNvPr id="10" name="Shape 8"/>
          <p:cNvSpPr/>
          <p:nvPr/>
        </p:nvSpPr>
        <p:spPr>
          <a:xfrm>
            <a:off x="548640" y="2377440"/>
            <a:ext cx="2567864" cy="3291840"/>
          </a:xfrm>
          <a:prstGeom prst="roundRect">
            <a:avLst>
              <a:gd name="adj" fmla="val 3561"/>
            </a:avLst>
          </a:prstGeom>
          <a:solidFill>
            <a:srgbClr val="F2F3F7"/>
          </a:solidFill>
          <a:ln w="6350">
            <a:solidFill>
              <a:srgbClr val="F2F3F7"/>
            </a:solidFill>
            <a:prstDash val="solid"/>
          </a:ln>
        </p:spPr>
      </p:sp>
      <p:sp>
        <p:nvSpPr>
          <p:cNvPr id="11" name="Shape 9"/>
          <p:cNvSpPr/>
          <p:nvPr/>
        </p:nvSpPr>
        <p:spPr>
          <a:xfrm>
            <a:off x="749808" y="2624328"/>
            <a:ext cx="603504" cy="603504"/>
          </a:xfrm>
          <a:prstGeom prst="ellipse">
            <a:avLst/>
          </a:prstGeom>
          <a:solidFill>
            <a:srgbClr val="2A78D6"/>
          </a:solidFill>
          <a:ln w="6350">
            <a:solidFill>
              <a:srgbClr val="2A78D6"/>
            </a:solidFill>
            <a:prstDash val="solid"/>
          </a:ln>
        </p:spPr>
      </p:sp>
      <p:sp>
        <p:nvSpPr>
          <p:cNvPr id="12" name="Text 10"/>
          <p:cNvSpPr txBox="1"/>
          <p:nvPr/>
        </p:nvSpPr>
        <p:spPr>
          <a:xfrm>
            <a:off x="749808" y="2624328"/>
            <a:ext cx="603504" cy="603504"/>
          </a:xfrm>
          <a:prstGeom prst="rect">
            <a:avLst/>
          </a:prstGeom>
          <a:noFill/>
          <a:ln/>
        </p:spPr>
        <p:txBody>
          <a:bodyPr wrap="square" lIns="0" tIns="0" rIns="0" bIns="0" rtlCol="0" anchor="ctr"/>
          <a:lstStyle/>
          <a:p>
            <a:pPr algn="ctr" indent="0" marL="0">
              <a:buNone/>
            </a:pPr>
            <a:r>
              <a:rPr lang="ja-JP" altLang="en-US" sz="1800" b="1" dirty="0">
                <a:solidFill>
                  <a:srgbClr val="FFFFFF"/>
                </a:solidFill>
                <a:latin typeface="Arial"/>
                <a:ea typeface="BIZ UDGothic" charset="-128"/>
                <a:cs typeface="Arial"/>
              </a:rPr>
              <a:t>01</a:t>
            </a:r>
            <a:endParaRPr lang="ja-JP" sz="1800" dirty="0"/>
          </a:p>
        </p:txBody>
      </p:sp>
      <p:sp>
        <p:nvSpPr>
          <p:cNvPr id="13" name="Text 11"/>
          <p:cNvSpPr txBox="1"/>
          <p:nvPr/>
        </p:nvSpPr>
        <p:spPr>
          <a:xfrm>
            <a:off x="777240" y="3429000"/>
            <a:ext cx="2156384" cy="548640"/>
          </a:xfrm>
          <a:prstGeom prst="rect">
            <a:avLst/>
          </a:prstGeom>
          <a:noFill/>
          <a:ln/>
        </p:spPr>
        <p:txBody>
          <a:bodyPr wrap="square" lIns="0" tIns="0" rIns="0" bIns="0" rtlCol="0" anchor="t"/>
          <a:lstStyle/>
          <a:p>
            <a:pPr indent="0" marL="0">
              <a:buNone/>
            </a:pPr>
            <a:r>
              <a:rPr lang="ja-JP" altLang="en-US" sz="1700" b="1" dirty="0">
                <a:solidFill>
                  <a:srgbClr val="1E1C33"/>
                </a:solidFill>
                <a:latin typeface="Arial"/>
                <a:ea typeface="BIZ UDGothic" charset="-128"/>
                <a:cs typeface="Arial"/>
              </a:rPr>
              <a:t>背景と目的</a:t>
            </a:r>
            <a:endParaRPr lang="ja-JP" sz="1700" dirty="0"/>
          </a:p>
        </p:txBody>
      </p:sp>
      <p:sp>
        <p:nvSpPr>
          <p:cNvPr id="14" name="Text 12"/>
          <p:cNvSpPr txBox="1"/>
          <p:nvPr/>
        </p:nvSpPr>
        <p:spPr>
          <a:xfrm>
            <a:off x="777240" y="4023360"/>
            <a:ext cx="2156384" cy="1188720"/>
          </a:xfrm>
          <a:prstGeom prst="rect">
            <a:avLst/>
          </a:prstGeom>
          <a:noFill/>
          <a:ln/>
        </p:spPr>
        <p:txBody>
          <a:bodyPr wrap="square" lIns="0" tIns="0" rIns="0" bIns="0" rtlCol="0" anchor="t"/>
          <a:lstStyle/>
          <a:p>
            <a:pPr indent="0" marL="0">
              <a:buNone/>
            </a:pPr>
            <a:r>
              <a:rPr lang="ja-JP" altLang="en-US" sz="1300" dirty="0">
                <a:solidFill>
                  <a:srgbClr val="5E6275"/>
                </a:solidFill>
                <a:latin typeface="Arial"/>
                <a:ea typeface="BIZ UDGothic" charset="-128"/>
                <a:cs typeface="Arial"/>
              </a:rPr>
              <a:t>未計測Shotの推定と、計測値の3つの特徴（Shot形状・Scan方向・外周のノイズ）</a:t>
            </a:r>
            <a:endParaRPr lang="ja-JP" sz="1300" dirty="0"/>
          </a:p>
        </p:txBody>
      </p:sp>
      <p:sp>
        <p:nvSpPr>
          <p:cNvPr id="15" name="Text 13"/>
          <p:cNvSpPr txBox="1"/>
          <p:nvPr/>
        </p:nvSpPr>
        <p:spPr>
          <a:xfrm>
            <a:off x="777240" y="5212080"/>
            <a:ext cx="2156384" cy="274320"/>
          </a:xfrm>
          <a:prstGeom prst="rect">
            <a:avLst/>
          </a:prstGeom>
          <a:noFill/>
          <a:ln/>
        </p:spPr>
        <p:txBody>
          <a:bodyPr wrap="square" lIns="0" tIns="0" rIns="0" bIns="0" rtlCol="0" anchor="t"/>
          <a:lstStyle/>
          <a:p>
            <a:pPr indent="0" marL="0">
              <a:buNone/>
            </a:pPr>
            <a:r>
              <a:rPr lang="ja-JP" altLang="en-US" sz="1100" dirty="0">
                <a:solidFill>
                  <a:srgbClr val="5E6275"/>
                </a:solidFill>
                <a:latin typeface="Arial"/>
                <a:ea typeface="BIZ UDGothic" charset="-128"/>
                <a:cs typeface="Arial"/>
              </a:rPr>
              <a:t>p.4–5</a:t>
            </a:r>
            <a:endParaRPr lang="ja-JP" sz="1100" dirty="0"/>
          </a:p>
        </p:txBody>
      </p:sp>
      <p:sp>
        <p:nvSpPr>
          <p:cNvPr id="16" name="Shape 14"/>
          <p:cNvSpPr/>
          <p:nvPr/>
        </p:nvSpPr>
        <p:spPr>
          <a:xfrm>
            <a:off x="3390824" y="2377440"/>
            <a:ext cx="2567864" cy="3291840"/>
          </a:xfrm>
          <a:prstGeom prst="roundRect">
            <a:avLst>
              <a:gd name="adj" fmla="val 3561"/>
            </a:avLst>
          </a:prstGeom>
          <a:solidFill>
            <a:srgbClr val="F2F3F7"/>
          </a:solidFill>
          <a:ln w="6350">
            <a:solidFill>
              <a:srgbClr val="F2F3F7"/>
            </a:solidFill>
            <a:prstDash val="solid"/>
          </a:ln>
        </p:spPr>
      </p:sp>
      <p:sp>
        <p:nvSpPr>
          <p:cNvPr id="17" name="Shape 15"/>
          <p:cNvSpPr/>
          <p:nvPr/>
        </p:nvSpPr>
        <p:spPr>
          <a:xfrm>
            <a:off x="3591992" y="2624328"/>
            <a:ext cx="603504" cy="603504"/>
          </a:xfrm>
          <a:prstGeom prst="ellipse">
            <a:avLst/>
          </a:prstGeom>
          <a:solidFill>
            <a:srgbClr val="EB6834"/>
          </a:solidFill>
          <a:ln w="6350">
            <a:solidFill>
              <a:srgbClr val="EB6834"/>
            </a:solidFill>
            <a:prstDash val="solid"/>
          </a:ln>
        </p:spPr>
      </p:sp>
      <p:sp>
        <p:nvSpPr>
          <p:cNvPr id="18" name="Text 16"/>
          <p:cNvSpPr txBox="1"/>
          <p:nvPr/>
        </p:nvSpPr>
        <p:spPr>
          <a:xfrm>
            <a:off x="3591992" y="2624328"/>
            <a:ext cx="603504" cy="603504"/>
          </a:xfrm>
          <a:prstGeom prst="rect">
            <a:avLst/>
          </a:prstGeom>
          <a:noFill/>
          <a:ln/>
        </p:spPr>
        <p:txBody>
          <a:bodyPr wrap="square" lIns="0" tIns="0" rIns="0" bIns="0" rtlCol="0" anchor="ctr"/>
          <a:lstStyle/>
          <a:p>
            <a:pPr algn="ctr" indent="0" marL="0">
              <a:buNone/>
            </a:pPr>
            <a:r>
              <a:rPr lang="ja-JP" altLang="en-US" sz="1800" b="1" dirty="0">
                <a:solidFill>
                  <a:srgbClr val="FFFFFF"/>
                </a:solidFill>
                <a:latin typeface="Arial"/>
                <a:ea typeface="BIZ UDGothic" charset="-128"/>
                <a:cs typeface="Arial"/>
              </a:rPr>
              <a:t>02</a:t>
            </a:r>
            <a:endParaRPr lang="ja-JP" sz="1800" dirty="0"/>
          </a:p>
        </p:txBody>
      </p:sp>
      <p:sp>
        <p:nvSpPr>
          <p:cNvPr id="19" name="Text 17"/>
          <p:cNvSpPr txBox="1"/>
          <p:nvPr/>
        </p:nvSpPr>
        <p:spPr>
          <a:xfrm>
            <a:off x="3619424" y="3429000"/>
            <a:ext cx="2156384" cy="548640"/>
          </a:xfrm>
          <a:prstGeom prst="rect">
            <a:avLst/>
          </a:prstGeom>
          <a:noFill/>
          <a:ln/>
        </p:spPr>
        <p:txBody>
          <a:bodyPr wrap="square" lIns="0" tIns="0" rIns="0" bIns="0" rtlCol="0" anchor="t"/>
          <a:lstStyle/>
          <a:p>
            <a:pPr indent="0" marL="0">
              <a:buNone/>
            </a:pPr>
            <a:r>
              <a:rPr lang="ja-JP" altLang="en-US" sz="1700" b="1" dirty="0">
                <a:solidFill>
                  <a:srgbClr val="1E1C33"/>
                </a:solidFill>
                <a:latin typeface="Arial"/>
                <a:ea typeface="BIZ UDGothic" charset="-128"/>
                <a:cs typeface="Arial"/>
              </a:rPr>
              <a:t>評価の方法</a:t>
            </a:r>
            <a:endParaRPr lang="ja-JP" sz="1700" dirty="0"/>
          </a:p>
        </p:txBody>
      </p:sp>
      <p:sp>
        <p:nvSpPr>
          <p:cNvPr id="20" name="Text 18"/>
          <p:cNvSpPr txBox="1"/>
          <p:nvPr/>
        </p:nvSpPr>
        <p:spPr>
          <a:xfrm>
            <a:off x="3619424" y="4023360"/>
            <a:ext cx="2156384" cy="1188720"/>
          </a:xfrm>
          <a:prstGeom prst="rect">
            <a:avLst/>
          </a:prstGeom>
          <a:noFill/>
          <a:ln/>
        </p:spPr>
        <p:txBody>
          <a:bodyPr wrap="square" lIns="0" tIns="0" rIns="0" bIns="0" rtlCol="0" anchor="t"/>
          <a:lstStyle/>
          <a:p>
            <a:pPr indent="0" marL="0">
              <a:buNone/>
            </a:pPr>
            <a:r>
              <a:rPr lang="ja-JP" altLang="en-US" sz="1300" dirty="0">
                <a:solidFill>
                  <a:srgbClr val="5E6275"/>
                </a:solidFill>
                <a:latin typeface="Arial"/>
                <a:ea typeface="BIZ UDGothic" charset="-128"/>
                <a:cs typeface="Arial"/>
              </a:rPr>
              <a:t>模擬データ、制約付きI最適計画、7系統123設定の手法、説明変数、4指標</a:t>
            </a:r>
            <a:endParaRPr lang="ja-JP" sz="1300" dirty="0"/>
          </a:p>
        </p:txBody>
      </p:sp>
      <p:sp>
        <p:nvSpPr>
          <p:cNvPr id="21" name="Text 19"/>
          <p:cNvSpPr txBox="1"/>
          <p:nvPr/>
        </p:nvSpPr>
        <p:spPr>
          <a:xfrm>
            <a:off x="3619424" y="5212080"/>
            <a:ext cx="2156384" cy="274320"/>
          </a:xfrm>
          <a:prstGeom prst="rect">
            <a:avLst/>
          </a:prstGeom>
          <a:noFill/>
          <a:ln/>
        </p:spPr>
        <p:txBody>
          <a:bodyPr wrap="square" lIns="0" tIns="0" rIns="0" bIns="0" rtlCol="0" anchor="t"/>
          <a:lstStyle/>
          <a:p>
            <a:pPr indent="0" marL="0">
              <a:buNone/>
            </a:pPr>
            <a:r>
              <a:rPr lang="ja-JP" altLang="en-US" sz="1100" dirty="0">
                <a:solidFill>
                  <a:srgbClr val="5E6275"/>
                </a:solidFill>
                <a:latin typeface="Arial"/>
                <a:ea typeface="BIZ UDGothic" charset="-128"/>
                <a:cs typeface="Arial"/>
              </a:rPr>
              <a:t>p.6–12</a:t>
            </a:r>
            <a:endParaRPr lang="ja-JP" sz="1100" dirty="0"/>
          </a:p>
        </p:txBody>
      </p:sp>
      <p:sp>
        <p:nvSpPr>
          <p:cNvPr id="22" name="Shape 20"/>
          <p:cNvSpPr/>
          <p:nvPr/>
        </p:nvSpPr>
        <p:spPr>
          <a:xfrm>
            <a:off x="6233008" y="2377440"/>
            <a:ext cx="2567864" cy="3291840"/>
          </a:xfrm>
          <a:prstGeom prst="roundRect">
            <a:avLst>
              <a:gd name="adj" fmla="val 3561"/>
            </a:avLst>
          </a:prstGeom>
          <a:solidFill>
            <a:srgbClr val="F2F3F7"/>
          </a:solidFill>
          <a:ln w="6350">
            <a:solidFill>
              <a:srgbClr val="F2F3F7"/>
            </a:solidFill>
            <a:prstDash val="solid"/>
          </a:ln>
        </p:spPr>
      </p:sp>
      <p:sp>
        <p:nvSpPr>
          <p:cNvPr id="23" name="Shape 21"/>
          <p:cNvSpPr/>
          <p:nvPr/>
        </p:nvSpPr>
        <p:spPr>
          <a:xfrm>
            <a:off x="6434176" y="2624328"/>
            <a:ext cx="603504" cy="603504"/>
          </a:xfrm>
          <a:prstGeom prst="ellipse">
            <a:avLst/>
          </a:prstGeom>
          <a:solidFill>
            <a:srgbClr val="1BAF7A"/>
          </a:solidFill>
          <a:ln w="6350">
            <a:solidFill>
              <a:srgbClr val="1BAF7A"/>
            </a:solidFill>
            <a:prstDash val="solid"/>
          </a:ln>
        </p:spPr>
      </p:sp>
      <p:sp>
        <p:nvSpPr>
          <p:cNvPr id="24" name="Text 22"/>
          <p:cNvSpPr txBox="1"/>
          <p:nvPr/>
        </p:nvSpPr>
        <p:spPr>
          <a:xfrm>
            <a:off x="6434176" y="2624328"/>
            <a:ext cx="603504" cy="603504"/>
          </a:xfrm>
          <a:prstGeom prst="rect">
            <a:avLst/>
          </a:prstGeom>
          <a:noFill/>
          <a:ln/>
        </p:spPr>
        <p:txBody>
          <a:bodyPr wrap="square" lIns="0" tIns="0" rIns="0" bIns="0" rtlCol="0" anchor="ctr"/>
          <a:lstStyle/>
          <a:p>
            <a:pPr algn="ctr" indent="0" marL="0">
              <a:buNone/>
            </a:pPr>
            <a:r>
              <a:rPr lang="ja-JP" altLang="en-US" sz="1800" b="1" dirty="0">
                <a:solidFill>
                  <a:srgbClr val="FFFFFF"/>
                </a:solidFill>
                <a:latin typeface="Arial"/>
                <a:ea typeface="BIZ UDGothic" charset="-128"/>
                <a:cs typeface="Arial"/>
              </a:rPr>
              <a:t>03</a:t>
            </a:r>
            <a:endParaRPr lang="ja-JP" sz="1800" dirty="0"/>
          </a:p>
        </p:txBody>
      </p:sp>
      <p:sp>
        <p:nvSpPr>
          <p:cNvPr id="25" name="Text 23"/>
          <p:cNvSpPr txBox="1"/>
          <p:nvPr/>
        </p:nvSpPr>
        <p:spPr>
          <a:xfrm>
            <a:off x="6461608" y="3429000"/>
            <a:ext cx="2156384" cy="548640"/>
          </a:xfrm>
          <a:prstGeom prst="rect">
            <a:avLst/>
          </a:prstGeom>
          <a:noFill/>
          <a:ln/>
        </p:spPr>
        <p:txBody>
          <a:bodyPr wrap="square" lIns="0" tIns="0" rIns="0" bIns="0" rtlCol="0" anchor="t"/>
          <a:lstStyle/>
          <a:p>
            <a:pPr indent="0" marL="0">
              <a:buNone/>
            </a:pPr>
            <a:r>
              <a:rPr lang="ja-JP" altLang="en-US" sz="1700" b="1" dirty="0">
                <a:solidFill>
                  <a:srgbClr val="1E1C33"/>
                </a:solidFill>
                <a:latin typeface="Arial"/>
                <a:ea typeface="BIZ UDGothic" charset="-128"/>
                <a:cs typeface="Arial"/>
              </a:rPr>
              <a:t>結果</a:t>
            </a:r>
            <a:endParaRPr lang="ja-JP" sz="1700" dirty="0"/>
          </a:p>
        </p:txBody>
      </p:sp>
      <p:sp>
        <p:nvSpPr>
          <p:cNvPr id="26" name="Text 24"/>
          <p:cNvSpPr txBox="1"/>
          <p:nvPr/>
        </p:nvSpPr>
        <p:spPr>
          <a:xfrm>
            <a:off x="6461608" y="4023360"/>
            <a:ext cx="2156384" cy="1188720"/>
          </a:xfrm>
          <a:prstGeom prst="rect">
            <a:avLst/>
          </a:prstGeom>
          <a:noFill/>
          <a:ln/>
        </p:spPr>
        <p:txBody>
          <a:bodyPr wrap="square" lIns="0" tIns="0" rIns="0" bIns="0" rtlCol="0" anchor="t"/>
          <a:lstStyle/>
          <a:p>
            <a:pPr indent="0" marL="0">
              <a:buNone/>
            </a:pPr>
            <a:r>
              <a:rPr lang="ja-JP" altLang="en-US" sz="1300" dirty="0">
                <a:solidFill>
                  <a:srgbClr val="5E6275"/>
                </a:solidFill>
                <a:latin typeface="Arial"/>
                <a:ea typeface="BIZ UDGothic" charset="-128"/>
                <a:cs typeface="Arial"/>
              </a:rPr>
              <a:t>手法×説明変数の比較、質的変数とBackfitting、カーネル、指標、外周</a:t>
            </a:r>
            <a:endParaRPr lang="ja-JP" sz="1300" dirty="0"/>
          </a:p>
        </p:txBody>
      </p:sp>
      <p:sp>
        <p:nvSpPr>
          <p:cNvPr id="27" name="Text 25"/>
          <p:cNvSpPr txBox="1"/>
          <p:nvPr/>
        </p:nvSpPr>
        <p:spPr>
          <a:xfrm>
            <a:off x="6461608" y="5212080"/>
            <a:ext cx="2156384" cy="274320"/>
          </a:xfrm>
          <a:prstGeom prst="rect">
            <a:avLst/>
          </a:prstGeom>
          <a:noFill/>
          <a:ln/>
        </p:spPr>
        <p:txBody>
          <a:bodyPr wrap="square" lIns="0" tIns="0" rIns="0" bIns="0" rtlCol="0" anchor="t"/>
          <a:lstStyle/>
          <a:p>
            <a:pPr indent="0" marL="0">
              <a:buNone/>
            </a:pPr>
            <a:r>
              <a:rPr lang="ja-JP" altLang="en-US" sz="1100" dirty="0">
                <a:solidFill>
                  <a:srgbClr val="5E6275"/>
                </a:solidFill>
                <a:latin typeface="Arial"/>
                <a:ea typeface="BIZ UDGothic" charset="-128"/>
                <a:cs typeface="Arial"/>
              </a:rPr>
              <a:t>p.13–26</a:t>
            </a:r>
            <a:endParaRPr lang="ja-JP" sz="1100" dirty="0"/>
          </a:p>
        </p:txBody>
      </p:sp>
      <p:sp>
        <p:nvSpPr>
          <p:cNvPr id="28" name="Shape 26"/>
          <p:cNvSpPr/>
          <p:nvPr/>
        </p:nvSpPr>
        <p:spPr>
          <a:xfrm>
            <a:off x="9075191" y="2377440"/>
            <a:ext cx="2567864" cy="3291840"/>
          </a:xfrm>
          <a:prstGeom prst="roundRect">
            <a:avLst>
              <a:gd name="adj" fmla="val 3561"/>
            </a:avLst>
          </a:prstGeom>
          <a:solidFill>
            <a:srgbClr val="F2F3F7"/>
          </a:solidFill>
          <a:ln w="6350">
            <a:solidFill>
              <a:srgbClr val="F2F3F7"/>
            </a:solidFill>
            <a:prstDash val="solid"/>
          </a:ln>
        </p:spPr>
      </p:sp>
      <p:sp>
        <p:nvSpPr>
          <p:cNvPr id="29" name="Shape 27"/>
          <p:cNvSpPr/>
          <p:nvPr/>
        </p:nvSpPr>
        <p:spPr>
          <a:xfrm>
            <a:off x="9276359" y="2624328"/>
            <a:ext cx="603504" cy="603504"/>
          </a:xfrm>
          <a:prstGeom prst="ellipse">
            <a:avLst/>
          </a:prstGeom>
          <a:solidFill>
            <a:srgbClr val="4A3AA7"/>
          </a:solidFill>
          <a:ln w="6350">
            <a:solidFill>
              <a:srgbClr val="4A3AA7"/>
            </a:solidFill>
            <a:prstDash val="solid"/>
          </a:ln>
        </p:spPr>
      </p:sp>
      <p:sp>
        <p:nvSpPr>
          <p:cNvPr id="30" name="Text 28"/>
          <p:cNvSpPr txBox="1"/>
          <p:nvPr/>
        </p:nvSpPr>
        <p:spPr>
          <a:xfrm>
            <a:off x="9276359" y="2624328"/>
            <a:ext cx="603504" cy="603504"/>
          </a:xfrm>
          <a:prstGeom prst="rect">
            <a:avLst/>
          </a:prstGeom>
          <a:noFill/>
          <a:ln/>
        </p:spPr>
        <p:txBody>
          <a:bodyPr wrap="square" lIns="0" tIns="0" rIns="0" bIns="0" rtlCol="0" anchor="ctr"/>
          <a:lstStyle/>
          <a:p>
            <a:pPr algn="ctr" indent="0" marL="0">
              <a:buNone/>
            </a:pPr>
            <a:r>
              <a:rPr lang="ja-JP" altLang="en-US" sz="1800" b="1" dirty="0">
                <a:solidFill>
                  <a:srgbClr val="FFFFFF"/>
                </a:solidFill>
                <a:latin typeface="Arial"/>
                <a:ea typeface="BIZ UDGothic" charset="-128"/>
                <a:cs typeface="Arial"/>
              </a:rPr>
              <a:t>04</a:t>
            </a:r>
            <a:endParaRPr lang="ja-JP" sz="1800" dirty="0"/>
          </a:p>
        </p:txBody>
      </p:sp>
      <p:sp>
        <p:nvSpPr>
          <p:cNvPr id="31" name="Text 29"/>
          <p:cNvSpPr txBox="1"/>
          <p:nvPr/>
        </p:nvSpPr>
        <p:spPr>
          <a:xfrm>
            <a:off x="9303791" y="3429000"/>
            <a:ext cx="2156384" cy="548640"/>
          </a:xfrm>
          <a:prstGeom prst="rect">
            <a:avLst/>
          </a:prstGeom>
          <a:noFill/>
          <a:ln/>
        </p:spPr>
        <p:txBody>
          <a:bodyPr wrap="square" lIns="0" tIns="0" rIns="0" bIns="0" rtlCol="0" anchor="t"/>
          <a:lstStyle/>
          <a:p>
            <a:pPr indent="0" marL="0">
              <a:buNone/>
            </a:pPr>
            <a:r>
              <a:rPr lang="ja-JP" altLang="en-US" sz="1700" b="1" dirty="0">
                <a:solidFill>
                  <a:srgbClr val="1E1C33"/>
                </a:solidFill>
                <a:latin typeface="Arial"/>
                <a:ea typeface="BIZ UDGothic" charset="-128"/>
                <a:cs typeface="Arial"/>
              </a:rPr>
              <a:t>考察とまとめ</a:t>
            </a:r>
            <a:endParaRPr lang="ja-JP" sz="1700" dirty="0"/>
          </a:p>
        </p:txBody>
      </p:sp>
      <p:sp>
        <p:nvSpPr>
          <p:cNvPr id="32" name="Text 30"/>
          <p:cNvSpPr txBox="1"/>
          <p:nvPr/>
        </p:nvSpPr>
        <p:spPr>
          <a:xfrm>
            <a:off x="9303791" y="4023360"/>
            <a:ext cx="2156384" cy="1188720"/>
          </a:xfrm>
          <a:prstGeom prst="rect">
            <a:avLst/>
          </a:prstGeom>
          <a:noFill/>
          <a:ln/>
        </p:spPr>
        <p:txBody>
          <a:bodyPr wrap="square" lIns="0" tIns="0" rIns="0" bIns="0" rtlCol="0" anchor="t"/>
          <a:lstStyle/>
          <a:p>
            <a:pPr indent="0" marL="0">
              <a:buNone/>
            </a:pPr>
            <a:r>
              <a:rPr lang="ja-JP" altLang="en-US" sz="1300" dirty="0">
                <a:solidFill>
                  <a:srgbClr val="5E6275"/>
                </a:solidFill>
                <a:latin typeface="Arial"/>
                <a:ea typeface="BIZ UDGothic" charset="-128"/>
                <a:cs typeface="Arial"/>
              </a:rPr>
              <a:t>選び方のガイド、前提と限界、まとめ</a:t>
            </a:r>
            <a:endParaRPr lang="ja-JP" sz="1300" dirty="0"/>
          </a:p>
        </p:txBody>
      </p:sp>
      <p:sp>
        <p:nvSpPr>
          <p:cNvPr id="33" name="Text 31"/>
          <p:cNvSpPr txBox="1"/>
          <p:nvPr/>
        </p:nvSpPr>
        <p:spPr>
          <a:xfrm>
            <a:off x="9303791" y="5212080"/>
            <a:ext cx="2156384" cy="274320"/>
          </a:xfrm>
          <a:prstGeom prst="rect">
            <a:avLst/>
          </a:prstGeom>
          <a:noFill/>
          <a:ln/>
        </p:spPr>
        <p:txBody>
          <a:bodyPr wrap="square" lIns="0" tIns="0" rIns="0" bIns="0" rtlCol="0" anchor="t"/>
          <a:lstStyle/>
          <a:p>
            <a:pPr indent="0" marL="0">
              <a:buNone/>
            </a:pPr>
            <a:r>
              <a:rPr lang="ja-JP" altLang="en-US" sz="1100" dirty="0">
                <a:solidFill>
                  <a:srgbClr val="5E6275"/>
                </a:solidFill>
                <a:latin typeface="Arial"/>
                <a:ea typeface="BIZ UDGothic" charset="-128"/>
                <a:cs typeface="Arial"/>
              </a:rPr>
              <a:t>p.27–30</a:t>
            </a:r>
            <a:endParaRPr lang="ja-JP" sz="1100" dirty="0"/>
          </a:p>
        </p:txBody>
      </p:sp>
      <p:sp>
        <p:nvSpPr>
          <p:cNvPr id="34" name="Text 32"/>
          <p:cNvSpPr txBox="1"/>
          <p:nvPr/>
        </p:nvSpPr>
        <p:spPr>
          <a:xfrm>
            <a:off x="548640" y="5897880"/>
            <a:ext cx="11094415" cy="365760"/>
          </a:xfrm>
          <a:prstGeom prst="rect">
            <a:avLst/>
          </a:prstGeom>
          <a:noFill/>
          <a:ln/>
        </p:spPr>
        <p:txBody>
          <a:bodyPr wrap="square" lIns="0" tIns="0" rIns="0" bIns="0" rtlCol="0" anchor="t"/>
          <a:lstStyle/>
          <a:p>
            <a:pPr indent="0" marL="0">
              <a:buNone/>
            </a:pPr>
            <a:r>
              <a:rPr lang="ja-JP" altLang="en-US" sz="1300" dirty="0">
                <a:solidFill>
                  <a:srgbClr val="5E6275"/>
                </a:solidFill>
                <a:latin typeface="Arial"/>
                <a:ea typeface="BIZ UDGothic" charset="-128"/>
                <a:cs typeface="Arial"/>
              </a:rPr>
              <a:t>想定する読者：アライメント・重ね合わせ補正の担当者。数式は「何を表すか」が分かる粒度で示します。</a:t>
            </a:r>
            <a:endParaRPr lang="ja-JP"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INTRODUCTION</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結論を先に ― 15 Shot 以上は GPR＋質的変数＋半径。T は加えない</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アライメント計測値の面内推定 ― 説明変数と手法の比較</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3</a:t>
            </a:r>
            <a:endParaRPr lang="ja-JP" sz="1000" dirty="0"/>
          </a:p>
        </p:txBody>
      </p:sp>
      <p:sp>
        <p:nvSpPr>
          <p:cNvPr id="6" name="Shape 4"/>
          <p:cNvSpPr/>
          <p:nvPr/>
        </p:nvSpPr>
        <p:spPr>
          <a:xfrm>
            <a:off x="548640" y="1417320"/>
            <a:ext cx="3484778" cy="2468880"/>
          </a:xfrm>
          <a:prstGeom prst="roundRect">
            <a:avLst>
              <a:gd name="adj" fmla="val 3704"/>
            </a:avLst>
          </a:prstGeom>
          <a:solidFill>
            <a:srgbClr val="DFEAF8"/>
          </a:solidFill>
          <a:ln w="6350">
            <a:solidFill>
              <a:srgbClr val="DFEAF8"/>
            </a:solidFill>
            <a:prstDash val="solid"/>
          </a:ln>
        </p:spPr>
      </p:sp>
      <p:sp>
        <p:nvSpPr>
          <p:cNvPr id="7" name="Text 5"/>
          <p:cNvSpPr txBox="1"/>
          <p:nvPr/>
        </p:nvSpPr>
        <p:spPr>
          <a:xfrm>
            <a:off x="822960" y="1600200"/>
            <a:ext cx="2936138" cy="822960"/>
          </a:xfrm>
          <a:prstGeom prst="rect">
            <a:avLst/>
          </a:prstGeom>
          <a:noFill/>
          <a:ln/>
        </p:spPr>
        <p:txBody>
          <a:bodyPr wrap="square" lIns="0" tIns="0" rIns="0" bIns="0" rtlCol="0" anchor="ctr"/>
          <a:lstStyle/>
          <a:p>
            <a:pPr indent="0" marL="0">
              <a:buNone/>
            </a:pPr>
            <a:r>
              <a:rPr lang="ja-JP" altLang="en-US" sz="4000" b="1" dirty="0">
                <a:solidFill>
                  <a:srgbClr val="2A78D6"/>
                </a:solidFill>
                <a:latin typeface="Arial"/>
                <a:ea typeface="BIZ UDGothic" charset="-128"/>
                <a:cs typeface="Arial"/>
              </a:rPr>
              <a:t>1.65 nm</a:t>
            </a:r>
            <a:endParaRPr lang="ja-JP" sz="4000" dirty="0"/>
          </a:p>
        </p:txBody>
      </p:sp>
      <p:sp>
        <p:nvSpPr>
          <p:cNvPr id="8" name="Text 6"/>
          <p:cNvSpPr txBox="1"/>
          <p:nvPr/>
        </p:nvSpPr>
        <p:spPr>
          <a:xfrm>
            <a:off x="822960" y="2468880"/>
            <a:ext cx="2936138" cy="411480"/>
          </a:xfrm>
          <a:prstGeom prst="rect">
            <a:avLst/>
          </a:prstGeom>
          <a:noFill/>
          <a:ln/>
        </p:spPr>
        <p:txBody>
          <a:bodyPr wrap="square" lIns="0" tIns="0" rIns="0" bIns="0" rtlCol="0" anchor="t"/>
          <a:lstStyle/>
          <a:p>
            <a:pPr indent="0" marL="0">
              <a:buNone/>
            </a:pPr>
            <a:r>
              <a:rPr lang="ja-JP" altLang="en-US" sz="1450" b="1" dirty="0">
                <a:solidFill>
                  <a:srgbClr val="1E1C33"/>
                </a:solidFill>
                <a:latin typeface="Arial"/>
                <a:ea typeface="BIZ UDGothic" charset="-128"/>
                <a:cs typeface="Arial"/>
              </a:rPr>
              <a:t>最良：GPR（20 Shot）</a:t>
            </a:r>
            <a:endParaRPr lang="ja-JP" sz="1450" dirty="0"/>
          </a:p>
        </p:txBody>
      </p:sp>
      <p:sp>
        <p:nvSpPr>
          <p:cNvPr id="9" name="Text 7"/>
          <p:cNvSpPr txBox="1"/>
          <p:nvPr/>
        </p:nvSpPr>
        <p:spPr>
          <a:xfrm>
            <a:off x="822960" y="2898648"/>
            <a:ext cx="2936138" cy="89611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matern52・X, Y, 半径・基底関数で同時推定。10 Shot 3.91 → 40 Shot 0.77 nm</a:t>
            </a:r>
            <a:endParaRPr lang="ja-JP" sz="1250" dirty="0"/>
          </a:p>
        </p:txBody>
      </p:sp>
      <p:sp>
        <p:nvSpPr>
          <p:cNvPr id="10" name="Shape 8"/>
          <p:cNvSpPr/>
          <p:nvPr/>
        </p:nvSpPr>
        <p:spPr>
          <a:xfrm>
            <a:off x="4353458" y="1417320"/>
            <a:ext cx="3484778" cy="2468880"/>
          </a:xfrm>
          <a:prstGeom prst="roundRect">
            <a:avLst>
              <a:gd name="adj" fmla="val 3704"/>
            </a:avLst>
          </a:prstGeom>
          <a:solidFill>
            <a:srgbClr val="EEEFF7"/>
          </a:solidFill>
          <a:ln w="6350">
            <a:solidFill>
              <a:srgbClr val="EEEFF7"/>
            </a:solidFill>
            <a:prstDash val="solid"/>
          </a:ln>
        </p:spPr>
      </p:sp>
      <p:sp>
        <p:nvSpPr>
          <p:cNvPr id="11" name="Text 9"/>
          <p:cNvSpPr txBox="1"/>
          <p:nvPr/>
        </p:nvSpPr>
        <p:spPr>
          <a:xfrm>
            <a:off x="4627778" y="1600200"/>
            <a:ext cx="2936138" cy="822960"/>
          </a:xfrm>
          <a:prstGeom prst="rect">
            <a:avLst/>
          </a:prstGeom>
          <a:noFill/>
          <a:ln/>
        </p:spPr>
        <p:txBody>
          <a:bodyPr wrap="square" lIns="0" tIns="0" rIns="0" bIns="0" rtlCol="0" anchor="ctr"/>
          <a:lstStyle/>
          <a:p>
            <a:pPr indent="0" marL="0">
              <a:buNone/>
            </a:pPr>
            <a:r>
              <a:rPr lang="ja-JP" altLang="en-US" sz="4000" b="1" dirty="0">
                <a:solidFill>
                  <a:srgbClr val="178F6C"/>
                </a:solidFill>
                <a:latin typeface="Arial"/>
                <a:ea typeface="BIZ UDGothic" charset="-128"/>
                <a:cs typeface="Arial"/>
              </a:rPr>
              <a:t>−64%</a:t>
            </a:r>
            <a:endParaRPr lang="ja-JP" sz="4000" dirty="0"/>
          </a:p>
        </p:txBody>
      </p:sp>
      <p:sp>
        <p:nvSpPr>
          <p:cNvPr id="12" name="Text 10"/>
          <p:cNvSpPr txBox="1"/>
          <p:nvPr/>
        </p:nvSpPr>
        <p:spPr>
          <a:xfrm>
            <a:off x="4627778" y="2468880"/>
            <a:ext cx="2936138" cy="411480"/>
          </a:xfrm>
          <a:prstGeom prst="rect">
            <a:avLst/>
          </a:prstGeom>
          <a:noFill/>
          <a:ln/>
        </p:spPr>
        <p:txBody>
          <a:bodyPr wrap="square" lIns="0" tIns="0" rIns="0" bIns="0" rtlCol="0" anchor="t"/>
          <a:lstStyle/>
          <a:p>
            <a:pPr indent="0" marL="0">
              <a:buNone/>
            </a:pPr>
            <a:r>
              <a:rPr lang="ja-JP" altLang="en-US" sz="1450" b="1" dirty="0">
                <a:solidFill>
                  <a:srgbClr val="1E1C33"/>
                </a:solidFill>
                <a:latin typeface="Arial"/>
                <a:ea typeface="BIZ UDGothic" charset="-128"/>
                <a:cs typeface="Arial"/>
              </a:rPr>
              <a:t>質的変数の効果（40 Shot）</a:t>
            </a:r>
            <a:endParaRPr lang="ja-JP" sz="1450" dirty="0"/>
          </a:p>
        </p:txBody>
      </p:sp>
      <p:sp>
        <p:nvSpPr>
          <p:cNvPr id="13" name="Text 11"/>
          <p:cNvSpPr txBox="1"/>
          <p:nvPr/>
        </p:nvSpPr>
        <p:spPr>
          <a:xfrm>
            <a:off x="4627778" y="2898648"/>
            <a:ext cx="2936138" cy="89611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Scan方向・Mark番号の効果コードを基底関数に追加。15 Shot 以上で有意に改善、10 Shot では +6.2%</a:t>
            </a:r>
            <a:endParaRPr lang="ja-JP" sz="1250" dirty="0"/>
          </a:p>
        </p:txBody>
      </p:sp>
      <p:sp>
        <p:nvSpPr>
          <p:cNvPr id="14" name="Shape 12"/>
          <p:cNvSpPr/>
          <p:nvPr/>
        </p:nvSpPr>
        <p:spPr>
          <a:xfrm>
            <a:off x="8158277" y="1417320"/>
            <a:ext cx="3484778" cy="2468880"/>
          </a:xfrm>
          <a:prstGeom prst="roundRect">
            <a:avLst>
              <a:gd name="adj" fmla="val 3704"/>
            </a:avLst>
          </a:prstGeom>
          <a:solidFill>
            <a:srgbClr val="F2F3F7"/>
          </a:solidFill>
          <a:ln w="6350">
            <a:solidFill>
              <a:srgbClr val="F2F3F7"/>
            </a:solidFill>
            <a:prstDash val="solid"/>
          </a:ln>
        </p:spPr>
      </p:sp>
      <p:sp>
        <p:nvSpPr>
          <p:cNvPr id="15" name="Text 13"/>
          <p:cNvSpPr txBox="1"/>
          <p:nvPr/>
        </p:nvSpPr>
        <p:spPr>
          <a:xfrm>
            <a:off x="8432597" y="1600200"/>
            <a:ext cx="2936138" cy="822960"/>
          </a:xfrm>
          <a:prstGeom prst="rect">
            <a:avLst/>
          </a:prstGeom>
          <a:noFill/>
          <a:ln/>
        </p:spPr>
        <p:txBody>
          <a:bodyPr wrap="square" lIns="0" tIns="0" rIns="0" bIns="0" rtlCol="0" anchor="ctr"/>
          <a:lstStyle/>
          <a:p>
            <a:pPr indent="0" marL="0">
              <a:buNone/>
            </a:pPr>
            <a:r>
              <a:rPr lang="ja-JP" altLang="en-US" sz="4000" b="1" dirty="0">
                <a:solidFill>
                  <a:srgbClr val="2F3470"/>
                </a:solidFill>
                <a:latin typeface="Arial"/>
                <a:ea typeface="BIZ UDGothic" charset="-128"/>
                <a:cs typeface="Arial"/>
              </a:rPr>
              <a:t>91%</a:t>
            </a:r>
            <a:endParaRPr lang="ja-JP" sz="4000" dirty="0"/>
          </a:p>
        </p:txBody>
      </p:sp>
      <p:sp>
        <p:nvSpPr>
          <p:cNvPr id="16" name="Text 14"/>
          <p:cNvSpPr txBox="1"/>
          <p:nvPr/>
        </p:nvSpPr>
        <p:spPr>
          <a:xfrm>
            <a:off x="8432597" y="2468880"/>
            <a:ext cx="2936138" cy="411480"/>
          </a:xfrm>
          <a:prstGeom prst="rect">
            <a:avLst/>
          </a:prstGeom>
          <a:noFill/>
          <a:ln/>
        </p:spPr>
        <p:txBody>
          <a:bodyPr wrap="square" lIns="0" tIns="0" rIns="0" bIns="0" rtlCol="0" anchor="t"/>
          <a:lstStyle/>
          <a:p>
            <a:pPr indent="0" marL="0">
              <a:buNone/>
            </a:pPr>
            <a:r>
              <a:rPr lang="ja-JP" altLang="en-US" sz="1450" b="1" dirty="0">
                <a:solidFill>
                  <a:srgbClr val="1E1C33"/>
                </a:solidFill>
                <a:latin typeface="Arial"/>
                <a:ea typeface="BIZ UDGothic" charset="-128"/>
                <a:cs typeface="Arial"/>
              </a:rPr>
              <a:t>Backfitting ≒ 同時推定</a:t>
            </a:r>
            <a:endParaRPr lang="ja-JP" sz="1450" dirty="0"/>
          </a:p>
        </p:txBody>
      </p:sp>
      <p:sp>
        <p:nvSpPr>
          <p:cNvPr id="17" name="Text 15"/>
          <p:cNvSpPr txBox="1"/>
          <p:nvPr/>
        </p:nvSpPr>
        <p:spPr>
          <a:xfrm>
            <a:off x="8432597" y="2898648"/>
            <a:ext cx="2936138" cy="89611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RMSE の差が 0.01 nm 未満の割合。同じ尤度の座標上昇法なので同じ解に収束する（反復は平均 4.8 回）</a:t>
            </a:r>
            <a:endParaRPr lang="ja-JP" sz="1250" dirty="0"/>
          </a:p>
        </p:txBody>
      </p:sp>
      <p:sp>
        <p:nvSpPr>
          <p:cNvPr id="18" name="Shape 16"/>
          <p:cNvSpPr/>
          <p:nvPr/>
        </p:nvSpPr>
        <p:spPr>
          <a:xfrm>
            <a:off x="548640" y="4069080"/>
            <a:ext cx="11094415" cy="1325880"/>
          </a:xfrm>
          <a:prstGeom prst="roundRect">
            <a:avLst>
              <a:gd name="adj" fmla="val 6897"/>
            </a:avLst>
          </a:prstGeom>
          <a:solidFill>
            <a:srgbClr val="1C1B3A"/>
          </a:solidFill>
          <a:ln w="6350">
            <a:solidFill>
              <a:srgbClr val="1C1B3A"/>
            </a:solidFill>
            <a:prstDash val="solid"/>
          </a:ln>
        </p:spPr>
      </p:sp>
      <p:sp>
        <p:nvSpPr>
          <p:cNvPr id="19" name="Text 17"/>
          <p:cNvSpPr txBox="1"/>
          <p:nvPr/>
        </p:nvSpPr>
        <p:spPr>
          <a:xfrm>
            <a:off x="914400" y="4160520"/>
            <a:ext cx="1828800" cy="365760"/>
          </a:xfrm>
          <a:prstGeom prst="rect">
            <a:avLst/>
          </a:prstGeom>
          <a:noFill/>
          <a:ln/>
        </p:spPr>
        <p:txBody>
          <a:bodyPr wrap="square" lIns="0" tIns="0" rIns="0" bIns="0" rtlCol="0" anchor="t"/>
          <a:lstStyle/>
          <a:p>
            <a:pPr indent="0" marL="0">
              <a:buNone/>
            </a:pPr>
            <a:r>
              <a:rPr lang="ja-JP" altLang="en-US" sz="1400" b="1" dirty="0">
                <a:solidFill>
                  <a:srgbClr val="9EA5E0"/>
                </a:solidFill>
                <a:latin typeface="Arial"/>
                <a:ea typeface="BIZ UDGothic" charset="-128"/>
                <a:cs typeface="Arial"/>
              </a:rPr>
              <a:t>選び方</a:t>
            </a:r>
            <a:endParaRPr lang="ja-JP" sz="1400" dirty="0"/>
          </a:p>
        </p:txBody>
      </p:sp>
      <p:sp>
        <p:nvSpPr>
          <p:cNvPr id="20" name="Text 18"/>
          <p:cNvSpPr txBox="1"/>
          <p:nvPr/>
        </p:nvSpPr>
        <p:spPr>
          <a:xfrm>
            <a:off x="914400" y="4526280"/>
            <a:ext cx="10362895" cy="822960"/>
          </a:xfrm>
          <a:prstGeom prst="rect">
            <a:avLst/>
          </a:prstGeom>
          <a:noFill/>
          <a:ln/>
        </p:spPr>
        <p:txBody>
          <a:bodyPr wrap="square" lIns="0" tIns="0" rIns="0" bIns="0" rtlCol="0" anchor="t"/>
          <a:lstStyle/>
          <a:p>
            <a:pPr indent="0" marL="0">
              <a:buNone/>
            </a:pPr>
            <a:r>
              <a:rPr lang="ja-JP" altLang="en-US" sz="1500" b="1" dirty="0">
                <a:solidFill>
                  <a:srgbClr val="FFFFFF"/>
                </a:solidFill>
                <a:latin typeface="Arial"/>
                <a:ea typeface="BIZ UDGothic" charset="-128"/>
                <a:cs typeface="Arial"/>
              </a:rPr>
              <a:t>15 Shot 以上：GPR（matern52）＋ X, Y, 半径 ＋ Scan 方向・Mark 番号を基底関数で同時推定。10 Shot 前後：質的変数を入れない GPR か TPS（X, Y, 半径）。T（方位角）は加えない。Backfitting は同時推定と同じ結果</a:t>
            </a:r>
            <a:endParaRPr lang="ja-JP" sz="1500" dirty="0"/>
          </a:p>
        </p:txBody>
      </p:sp>
      <p:sp>
        <p:nvSpPr>
          <p:cNvPr id="21" name="Shape 19"/>
          <p:cNvSpPr/>
          <p:nvPr/>
        </p:nvSpPr>
        <p:spPr>
          <a:xfrm>
            <a:off x="548640" y="5532120"/>
            <a:ext cx="11094415" cy="731520"/>
          </a:xfrm>
          <a:prstGeom prst="roundRect">
            <a:avLst>
              <a:gd name="adj" fmla="val 12500"/>
            </a:avLst>
          </a:prstGeom>
          <a:solidFill>
            <a:srgbClr val="F2F3F7"/>
          </a:solidFill>
          <a:ln w="6350">
            <a:solidFill>
              <a:srgbClr val="F2F3F7"/>
            </a:solidFill>
            <a:prstDash val="solid"/>
          </a:ln>
        </p:spPr>
      </p:sp>
      <p:sp>
        <p:nvSpPr>
          <p:cNvPr id="22" name="Text 20"/>
          <p:cNvSpPr txBox="1"/>
          <p:nvPr/>
        </p:nvSpPr>
        <p:spPr>
          <a:xfrm>
            <a:off x="822960" y="5532120"/>
            <a:ext cx="10545775" cy="731520"/>
          </a:xfrm>
          <a:prstGeom prst="rect">
            <a:avLst/>
          </a:prstGeom>
          <a:noFill/>
          <a:ln/>
        </p:spPr>
        <p:txBody>
          <a:bodyPr wrap="square" lIns="0" tIns="0" rIns="0" bIns="0" rtlCol="0" anchor="ctr"/>
          <a:lstStyle/>
          <a:p>
            <a:pPr indent="0" marL="0">
              <a:buNone/>
            </a:pPr>
            <a:r>
              <a:rPr lang="ja-JP" altLang="en-US" sz="1300" dirty="0">
                <a:solidFill>
                  <a:srgbClr val="1E1C33"/>
                </a:solidFill>
                <a:latin typeface="Arial"/>
                <a:ea typeface="BIZ UDGothic" charset="-128"/>
                <a:cs typeface="Arial"/>
              </a:rPr>
              <a:t>劣った手法：Kriging（バリオグラムの当てはめが粗く、ナゲットを過大に推定）、XY5次・RT（66項のZernikeとMarkのOffsetを表せない）。GAM（質的変数あり）は40 Shot で GPR に次ぐ</a:t>
            </a:r>
            <a:endParaRPr lang="ja-JP"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01  背景と目的</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背景 ― 少ないShotの計測値から、Wafer全体の値を推定したい</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アライメント計測値の面内推定 ― 説明変数と手法の比較</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4</a:t>
            </a:r>
            <a:endParaRPr lang="ja-JP" sz="1000" dirty="0"/>
          </a:p>
        </p:txBody>
      </p:sp>
      <p:sp>
        <p:nvSpPr>
          <p:cNvPr id="6" name="Shape 4"/>
          <p:cNvSpPr/>
          <p:nvPr/>
        </p:nvSpPr>
        <p:spPr>
          <a:xfrm>
            <a:off x="548640" y="1463040"/>
            <a:ext cx="5120640" cy="1261872"/>
          </a:xfrm>
          <a:prstGeom prst="roundRect">
            <a:avLst>
              <a:gd name="adj" fmla="val 7246"/>
            </a:avLst>
          </a:prstGeom>
          <a:solidFill>
            <a:srgbClr val="F2F3F7"/>
          </a:solidFill>
          <a:ln w="6350">
            <a:solidFill>
              <a:srgbClr val="F2F3F7"/>
            </a:solidFill>
            <a:prstDash val="solid"/>
          </a:ln>
        </p:spPr>
      </p:sp>
      <p:sp>
        <p:nvSpPr>
          <p:cNvPr id="7" name="Shape 5"/>
          <p:cNvSpPr/>
          <p:nvPr/>
        </p:nvSpPr>
        <p:spPr>
          <a:xfrm>
            <a:off x="722376" y="1636776"/>
            <a:ext cx="420624" cy="420624"/>
          </a:xfrm>
          <a:prstGeom prst="ellipse">
            <a:avLst/>
          </a:prstGeom>
          <a:solidFill>
            <a:srgbClr val="2A78D6"/>
          </a:solidFill>
          <a:ln w="6350">
            <a:solidFill>
              <a:srgbClr val="2A78D6"/>
            </a:solidFill>
            <a:prstDash val="solid"/>
          </a:ln>
        </p:spPr>
      </p:sp>
      <p:sp>
        <p:nvSpPr>
          <p:cNvPr id="8" name="Text 6"/>
          <p:cNvSpPr txBox="1"/>
          <p:nvPr/>
        </p:nvSpPr>
        <p:spPr>
          <a:xfrm>
            <a:off x="722376" y="1636776"/>
            <a:ext cx="420624" cy="420624"/>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1</a:t>
            </a:r>
            <a:endParaRPr lang="ja-JP" sz="1500" dirty="0"/>
          </a:p>
        </p:txBody>
      </p:sp>
      <p:sp>
        <p:nvSpPr>
          <p:cNvPr id="9" name="Text 7"/>
          <p:cNvSpPr txBox="1"/>
          <p:nvPr/>
        </p:nvSpPr>
        <p:spPr>
          <a:xfrm>
            <a:off x="1280160" y="1618488"/>
            <a:ext cx="4251960" cy="457200"/>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一部の Shot を計測</a:t>
            </a:r>
            <a:endParaRPr lang="ja-JP" sz="1550" dirty="0"/>
          </a:p>
        </p:txBody>
      </p:sp>
      <p:sp>
        <p:nvSpPr>
          <p:cNvPr id="10" name="Text 8"/>
          <p:cNvSpPr txBox="1"/>
          <p:nvPr/>
        </p:nvSpPr>
        <p:spPr>
          <a:xfrm>
            <a:off x="822960" y="2194560"/>
            <a:ext cx="4617720" cy="438912"/>
          </a:xfrm>
          <a:prstGeom prst="rect">
            <a:avLst/>
          </a:prstGeom>
          <a:noFill/>
          <a:ln/>
        </p:spPr>
        <p:txBody>
          <a:bodyPr wrap="square" lIns="0" tIns="0" rIns="0" bIns="0" rtlCol="0" anchor="t"/>
          <a:lstStyle/>
          <a:p>
            <a:pPr indent="0" marL="0">
              <a:buNone/>
            </a:pPr>
            <a:r>
              <a:rPr lang="ja-JP" altLang="en-US" sz="1350" dirty="0">
                <a:solidFill>
                  <a:srgbClr val="1E1C33"/>
                </a:solidFill>
                <a:latin typeface="Arial"/>
                <a:ea typeface="BIZ UDGothic" charset="-128"/>
                <a:cs typeface="Arial"/>
              </a:rPr>
              <a:t>制約付き I 最適計画で選んだ 10〜40 Shot の全 Mark を計測する</a:t>
            </a:r>
            <a:endParaRPr lang="ja-JP" sz="1350" dirty="0"/>
          </a:p>
        </p:txBody>
      </p:sp>
      <p:sp>
        <p:nvSpPr>
          <p:cNvPr id="11" name="Shape 9"/>
          <p:cNvSpPr/>
          <p:nvPr/>
        </p:nvSpPr>
        <p:spPr>
          <a:xfrm rot="5400000">
            <a:off x="822960" y="2834640"/>
            <a:ext cx="219456" cy="0"/>
          </a:xfrm>
          <a:prstGeom prst="line">
            <a:avLst/>
          </a:prstGeom>
          <a:noFill/>
          <a:ln w="19050">
            <a:solidFill>
              <a:srgbClr val="B9BDD0"/>
            </a:solidFill>
            <a:prstDash val="solid"/>
            <a:tailEnd type="triangle"/>
          </a:ln>
        </p:spPr>
      </p:sp>
      <p:sp>
        <p:nvSpPr>
          <p:cNvPr id="12" name="Shape 10"/>
          <p:cNvSpPr/>
          <p:nvPr/>
        </p:nvSpPr>
        <p:spPr>
          <a:xfrm>
            <a:off x="548640" y="2944368"/>
            <a:ext cx="5120640" cy="1261872"/>
          </a:xfrm>
          <a:prstGeom prst="roundRect">
            <a:avLst>
              <a:gd name="adj" fmla="val 7246"/>
            </a:avLst>
          </a:prstGeom>
          <a:solidFill>
            <a:srgbClr val="F2F3F7"/>
          </a:solidFill>
          <a:ln w="6350">
            <a:solidFill>
              <a:srgbClr val="F2F3F7"/>
            </a:solidFill>
            <a:prstDash val="solid"/>
          </a:ln>
        </p:spPr>
      </p:sp>
      <p:sp>
        <p:nvSpPr>
          <p:cNvPr id="13" name="Shape 11"/>
          <p:cNvSpPr/>
          <p:nvPr/>
        </p:nvSpPr>
        <p:spPr>
          <a:xfrm>
            <a:off x="722376" y="3118104"/>
            <a:ext cx="420624" cy="420624"/>
          </a:xfrm>
          <a:prstGeom prst="ellipse">
            <a:avLst/>
          </a:prstGeom>
          <a:solidFill>
            <a:srgbClr val="2A78D6"/>
          </a:solidFill>
          <a:ln w="6350">
            <a:solidFill>
              <a:srgbClr val="2A78D6"/>
            </a:solidFill>
            <a:prstDash val="solid"/>
          </a:ln>
        </p:spPr>
      </p:sp>
      <p:sp>
        <p:nvSpPr>
          <p:cNvPr id="14" name="Text 12"/>
          <p:cNvSpPr txBox="1"/>
          <p:nvPr/>
        </p:nvSpPr>
        <p:spPr>
          <a:xfrm>
            <a:off x="722376" y="3118104"/>
            <a:ext cx="420624" cy="420624"/>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2</a:t>
            </a:r>
            <a:endParaRPr lang="ja-JP" sz="1500" dirty="0"/>
          </a:p>
        </p:txBody>
      </p:sp>
      <p:sp>
        <p:nvSpPr>
          <p:cNvPr id="15" name="Text 13"/>
          <p:cNvSpPr txBox="1"/>
          <p:nvPr/>
        </p:nvSpPr>
        <p:spPr>
          <a:xfrm>
            <a:off x="1280160" y="3099816"/>
            <a:ext cx="4251960" cy="457200"/>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面内の傾向を推定</a:t>
            </a:r>
            <a:endParaRPr lang="ja-JP" sz="1550" dirty="0"/>
          </a:p>
        </p:txBody>
      </p:sp>
      <p:sp>
        <p:nvSpPr>
          <p:cNvPr id="16" name="Text 14"/>
          <p:cNvSpPr txBox="1"/>
          <p:nvPr/>
        </p:nvSpPr>
        <p:spPr>
          <a:xfrm>
            <a:off x="822960" y="3675888"/>
            <a:ext cx="4617720" cy="438912"/>
          </a:xfrm>
          <a:prstGeom prst="rect">
            <a:avLst/>
          </a:prstGeom>
          <a:noFill/>
          <a:ln/>
        </p:spPr>
        <p:txBody>
          <a:bodyPr wrap="square" lIns="0" tIns="0" rIns="0" bIns="0" rtlCol="0" anchor="t"/>
          <a:lstStyle/>
          <a:p>
            <a:pPr indent="0" marL="0">
              <a:buNone/>
            </a:pPr>
            <a:r>
              <a:rPr lang="ja-JP" altLang="en-US" sz="1350" dirty="0">
                <a:solidFill>
                  <a:srgbClr val="1E1C33"/>
                </a:solidFill>
                <a:latin typeface="Arial"/>
                <a:ea typeface="BIZ UDGothic" charset="-128"/>
                <a:cs typeface="Arial"/>
              </a:rPr>
              <a:t>計測値から、Wafer 全体で連続な関数（＋質的変数の効果）を当てはめる</a:t>
            </a:r>
            <a:endParaRPr lang="ja-JP" sz="1350" dirty="0"/>
          </a:p>
        </p:txBody>
      </p:sp>
      <p:sp>
        <p:nvSpPr>
          <p:cNvPr id="17" name="Shape 15"/>
          <p:cNvSpPr/>
          <p:nvPr/>
        </p:nvSpPr>
        <p:spPr>
          <a:xfrm rot="5400000">
            <a:off x="822960" y="4315968"/>
            <a:ext cx="219456" cy="0"/>
          </a:xfrm>
          <a:prstGeom prst="line">
            <a:avLst/>
          </a:prstGeom>
          <a:noFill/>
          <a:ln w="19050">
            <a:solidFill>
              <a:srgbClr val="B9BDD0"/>
            </a:solidFill>
            <a:prstDash val="solid"/>
            <a:tailEnd type="triangle"/>
          </a:ln>
        </p:spPr>
      </p:sp>
      <p:sp>
        <p:nvSpPr>
          <p:cNvPr id="18" name="Shape 16"/>
          <p:cNvSpPr/>
          <p:nvPr/>
        </p:nvSpPr>
        <p:spPr>
          <a:xfrm>
            <a:off x="548640" y="4425696"/>
            <a:ext cx="5120640" cy="1261872"/>
          </a:xfrm>
          <a:prstGeom prst="roundRect">
            <a:avLst>
              <a:gd name="adj" fmla="val 7246"/>
            </a:avLst>
          </a:prstGeom>
          <a:solidFill>
            <a:srgbClr val="F2F3F7"/>
          </a:solidFill>
          <a:ln w="6350">
            <a:solidFill>
              <a:srgbClr val="F2F3F7"/>
            </a:solidFill>
            <a:prstDash val="solid"/>
          </a:ln>
        </p:spPr>
      </p:sp>
      <p:sp>
        <p:nvSpPr>
          <p:cNvPr id="19" name="Shape 17"/>
          <p:cNvSpPr/>
          <p:nvPr/>
        </p:nvSpPr>
        <p:spPr>
          <a:xfrm>
            <a:off x="722376" y="4599432"/>
            <a:ext cx="420624" cy="420624"/>
          </a:xfrm>
          <a:prstGeom prst="ellipse">
            <a:avLst/>
          </a:prstGeom>
          <a:solidFill>
            <a:srgbClr val="2A78D6"/>
          </a:solidFill>
          <a:ln w="6350">
            <a:solidFill>
              <a:srgbClr val="2A78D6"/>
            </a:solidFill>
            <a:prstDash val="solid"/>
          </a:ln>
        </p:spPr>
      </p:sp>
      <p:sp>
        <p:nvSpPr>
          <p:cNvPr id="20" name="Text 18"/>
          <p:cNvSpPr txBox="1"/>
          <p:nvPr/>
        </p:nvSpPr>
        <p:spPr>
          <a:xfrm>
            <a:off x="722376" y="4599432"/>
            <a:ext cx="420624" cy="420624"/>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3</a:t>
            </a:r>
            <a:endParaRPr lang="ja-JP" sz="1500" dirty="0"/>
          </a:p>
        </p:txBody>
      </p:sp>
      <p:sp>
        <p:nvSpPr>
          <p:cNvPr id="21" name="Text 19"/>
          <p:cNvSpPr txBox="1"/>
          <p:nvPr/>
        </p:nvSpPr>
        <p:spPr>
          <a:xfrm>
            <a:off x="1280160" y="4581144"/>
            <a:ext cx="4251960" cy="457200"/>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未計測 Shot を推定</a:t>
            </a:r>
            <a:endParaRPr lang="ja-JP" sz="1550" dirty="0"/>
          </a:p>
        </p:txBody>
      </p:sp>
      <p:sp>
        <p:nvSpPr>
          <p:cNvPr id="22" name="Text 20"/>
          <p:cNvSpPr txBox="1"/>
          <p:nvPr/>
        </p:nvSpPr>
        <p:spPr>
          <a:xfrm>
            <a:off x="822960" y="5157216"/>
            <a:ext cx="4617720" cy="438912"/>
          </a:xfrm>
          <a:prstGeom prst="rect">
            <a:avLst/>
          </a:prstGeom>
          <a:noFill/>
          <a:ln/>
        </p:spPr>
        <p:txBody>
          <a:bodyPr wrap="square" lIns="0" tIns="0" rIns="0" bIns="0" rtlCol="0" anchor="t"/>
          <a:lstStyle/>
          <a:p>
            <a:pPr indent="0" marL="0">
              <a:buNone/>
            </a:pPr>
            <a:r>
              <a:rPr lang="ja-JP" altLang="en-US" sz="1350" dirty="0">
                <a:solidFill>
                  <a:srgbClr val="1E1C33"/>
                </a:solidFill>
                <a:latin typeface="Arial"/>
                <a:ea typeface="BIZ UDGothic" charset="-128"/>
                <a:cs typeface="Arial"/>
              </a:rPr>
              <a:t>当てはめた関数で、計測していない Shot の全 Mark の値を求める</a:t>
            </a:r>
            <a:endParaRPr lang="ja-JP" sz="1350" dirty="0"/>
          </a:p>
        </p:txBody>
      </p:sp>
      <p:sp>
        <p:nvSpPr>
          <p:cNvPr id="23" name="Text 21"/>
          <p:cNvSpPr txBox="1"/>
          <p:nvPr/>
        </p:nvSpPr>
        <p:spPr>
          <a:xfrm>
            <a:off x="6035040" y="1463040"/>
            <a:ext cx="5608015" cy="365760"/>
          </a:xfrm>
          <a:prstGeom prst="rect">
            <a:avLst/>
          </a:prstGeom>
          <a:noFill/>
          <a:ln/>
        </p:spPr>
        <p:txBody>
          <a:bodyPr wrap="square" lIns="0" tIns="0" rIns="0" bIns="0" rtlCol="0" anchor="t"/>
          <a:lstStyle/>
          <a:p>
            <a:pPr indent="0" marL="0">
              <a:buNone/>
            </a:pPr>
            <a:r>
              <a:rPr lang="ja-JP" altLang="en-US" sz="1600" b="1" dirty="0">
                <a:solidFill>
                  <a:srgbClr val="2F3470"/>
                </a:solidFill>
                <a:latin typeface="Arial"/>
                <a:ea typeface="BIZ UDGothic" charset="-128"/>
                <a:cs typeface="Arial"/>
              </a:rPr>
              <a:t>アライメント計測値の3つの特徴</a:t>
            </a:r>
            <a:endParaRPr lang="ja-JP" sz="1600" dirty="0"/>
          </a:p>
        </p:txBody>
      </p:sp>
      <p:sp>
        <p:nvSpPr>
          <p:cNvPr id="24" name="Shape 22"/>
          <p:cNvSpPr/>
          <p:nvPr/>
        </p:nvSpPr>
        <p:spPr>
          <a:xfrm>
            <a:off x="6035040" y="1965960"/>
            <a:ext cx="5608015" cy="1188720"/>
          </a:xfrm>
          <a:prstGeom prst="roundRect">
            <a:avLst>
              <a:gd name="adj" fmla="val 7692"/>
            </a:avLst>
          </a:prstGeom>
          <a:solidFill>
            <a:srgbClr val="F2F3F7"/>
          </a:solidFill>
          <a:ln w="6350">
            <a:solidFill>
              <a:srgbClr val="F2F3F7"/>
            </a:solidFill>
            <a:prstDash val="solid"/>
          </a:ln>
        </p:spPr>
      </p:sp>
      <p:sp>
        <p:nvSpPr>
          <p:cNvPr id="25" name="Shape 23"/>
          <p:cNvSpPr/>
          <p:nvPr/>
        </p:nvSpPr>
        <p:spPr>
          <a:xfrm>
            <a:off x="6217920" y="2331720"/>
            <a:ext cx="457200" cy="457200"/>
          </a:xfrm>
          <a:prstGeom prst="ellipse">
            <a:avLst/>
          </a:prstGeom>
          <a:solidFill>
            <a:srgbClr val="E87BA4"/>
          </a:solidFill>
          <a:ln w="6350">
            <a:solidFill>
              <a:srgbClr val="E87BA4"/>
            </a:solidFill>
            <a:prstDash val="solid"/>
          </a:ln>
        </p:spPr>
      </p:sp>
      <p:sp>
        <p:nvSpPr>
          <p:cNvPr id="26" name="Text 24"/>
          <p:cNvSpPr txBox="1"/>
          <p:nvPr/>
        </p:nvSpPr>
        <p:spPr>
          <a:xfrm>
            <a:off x="6217920" y="2331720"/>
            <a:ext cx="457200" cy="457200"/>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1</a:t>
            </a:r>
            <a:endParaRPr lang="ja-JP" sz="1500" dirty="0"/>
          </a:p>
        </p:txBody>
      </p:sp>
      <p:sp>
        <p:nvSpPr>
          <p:cNvPr id="27" name="Text 25"/>
          <p:cNvSpPr txBox="1"/>
          <p:nvPr/>
        </p:nvSpPr>
        <p:spPr>
          <a:xfrm>
            <a:off x="6858000" y="2084832"/>
            <a:ext cx="4602175" cy="384048"/>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Shot 形状のばらつき</a:t>
            </a:r>
            <a:endParaRPr lang="ja-JP" sz="1550" dirty="0"/>
          </a:p>
        </p:txBody>
      </p:sp>
      <p:sp>
        <p:nvSpPr>
          <p:cNvPr id="28" name="Text 26"/>
          <p:cNvSpPr txBox="1"/>
          <p:nvPr/>
        </p:nvSpPr>
        <p:spPr>
          <a:xfrm>
            <a:off x="6858000" y="2468880"/>
            <a:ext cx="4602175" cy="640080"/>
          </a:xfrm>
          <a:prstGeom prst="rect">
            <a:avLst/>
          </a:prstGeom>
          <a:noFill/>
          <a:ln/>
        </p:spPr>
        <p:txBody>
          <a:bodyPr wrap="square" lIns="0" tIns="0" rIns="0" bIns="0" rtlCol="0" anchor="t"/>
          <a:lstStyle/>
          <a:p>
            <a:pPr indent="0" marL="0">
              <a:buNone/>
            </a:pPr>
            <a:r>
              <a:rPr lang="ja-JP" altLang="en-US" sz="1300" dirty="0">
                <a:solidFill>
                  <a:srgbClr val="1E1C33"/>
                </a:solidFill>
                <a:latin typeface="Arial"/>
                <a:ea typeface="BIZ UDGothic" charset="-128"/>
                <a:cs typeface="Arial"/>
              </a:rPr>
              <a:t>Mark 番号ごとに、全 Shot 共通のずれ（Offset）がのる。Wafer ごとに大きさが変わる</a:t>
            </a:r>
            <a:endParaRPr lang="ja-JP" sz="1300" dirty="0"/>
          </a:p>
        </p:txBody>
      </p:sp>
      <p:sp>
        <p:nvSpPr>
          <p:cNvPr id="29" name="Shape 27"/>
          <p:cNvSpPr/>
          <p:nvPr/>
        </p:nvSpPr>
        <p:spPr>
          <a:xfrm>
            <a:off x="6035040" y="3337560"/>
            <a:ext cx="5608015" cy="1188720"/>
          </a:xfrm>
          <a:prstGeom prst="roundRect">
            <a:avLst>
              <a:gd name="adj" fmla="val 7692"/>
            </a:avLst>
          </a:prstGeom>
          <a:solidFill>
            <a:srgbClr val="F2F3F7"/>
          </a:solidFill>
          <a:ln w="6350">
            <a:solidFill>
              <a:srgbClr val="F2F3F7"/>
            </a:solidFill>
            <a:prstDash val="solid"/>
          </a:ln>
        </p:spPr>
      </p:sp>
      <p:sp>
        <p:nvSpPr>
          <p:cNvPr id="30" name="Shape 28"/>
          <p:cNvSpPr/>
          <p:nvPr/>
        </p:nvSpPr>
        <p:spPr>
          <a:xfrm>
            <a:off x="6217920" y="3703320"/>
            <a:ext cx="457200" cy="457200"/>
          </a:xfrm>
          <a:prstGeom prst="ellipse">
            <a:avLst/>
          </a:prstGeom>
          <a:solidFill>
            <a:srgbClr val="EDA100"/>
          </a:solidFill>
          <a:ln w="6350">
            <a:solidFill>
              <a:srgbClr val="EDA100"/>
            </a:solidFill>
            <a:prstDash val="solid"/>
          </a:ln>
        </p:spPr>
      </p:sp>
      <p:sp>
        <p:nvSpPr>
          <p:cNvPr id="31" name="Text 29"/>
          <p:cNvSpPr txBox="1"/>
          <p:nvPr/>
        </p:nvSpPr>
        <p:spPr>
          <a:xfrm>
            <a:off x="6217920" y="3703320"/>
            <a:ext cx="457200" cy="457200"/>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2</a:t>
            </a:r>
            <a:endParaRPr lang="ja-JP" sz="1500" dirty="0"/>
          </a:p>
        </p:txBody>
      </p:sp>
      <p:sp>
        <p:nvSpPr>
          <p:cNvPr id="32" name="Text 30"/>
          <p:cNvSpPr txBox="1"/>
          <p:nvPr/>
        </p:nvSpPr>
        <p:spPr>
          <a:xfrm>
            <a:off x="6858000" y="3456432"/>
            <a:ext cx="4602175" cy="384048"/>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Scan 方向の差</a:t>
            </a:r>
            <a:endParaRPr lang="ja-JP" sz="1550" dirty="0"/>
          </a:p>
        </p:txBody>
      </p:sp>
      <p:sp>
        <p:nvSpPr>
          <p:cNvPr id="33" name="Text 31"/>
          <p:cNvSpPr txBox="1"/>
          <p:nvPr/>
        </p:nvSpPr>
        <p:spPr>
          <a:xfrm>
            <a:off x="6858000" y="3840480"/>
            <a:ext cx="4602175" cy="640080"/>
          </a:xfrm>
          <a:prstGeom prst="rect">
            <a:avLst/>
          </a:prstGeom>
          <a:noFill/>
          <a:ln/>
        </p:spPr>
        <p:txBody>
          <a:bodyPr wrap="square" lIns="0" tIns="0" rIns="0" bIns="0" rtlCol="0" anchor="t"/>
          <a:lstStyle/>
          <a:p>
            <a:pPr indent="0" marL="0">
              <a:buNone/>
            </a:pPr>
            <a:r>
              <a:rPr lang="ja-JP" altLang="en-US" sz="1300" dirty="0">
                <a:solidFill>
                  <a:srgbClr val="1E1C33"/>
                </a:solidFill>
                <a:latin typeface="Arial"/>
                <a:ea typeface="BIZ UDGothic" charset="-128"/>
                <a:cs typeface="Arial"/>
              </a:rPr>
              <a:t>Scan 方向（上向き・下向き）で値に差がある。Shot の列ごとに方向が入れ替わる</a:t>
            </a:r>
            <a:endParaRPr lang="ja-JP" sz="1300" dirty="0"/>
          </a:p>
        </p:txBody>
      </p:sp>
      <p:sp>
        <p:nvSpPr>
          <p:cNvPr id="34" name="Shape 32"/>
          <p:cNvSpPr/>
          <p:nvPr/>
        </p:nvSpPr>
        <p:spPr>
          <a:xfrm>
            <a:off x="6035040" y="4709160"/>
            <a:ext cx="5608015" cy="1188720"/>
          </a:xfrm>
          <a:prstGeom prst="roundRect">
            <a:avLst>
              <a:gd name="adj" fmla="val 7692"/>
            </a:avLst>
          </a:prstGeom>
          <a:solidFill>
            <a:srgbClr val="F2F3F7"/>
          </a:solidFill>
          <a:ln w="6350">
            <a:solidFill>
              <a:srgbClr val="F2F3F7"/>
            </a:solidFill>
            <a:prstDash val="solid"/>
          </a:ln>
        </p:spPr>
      </p:sp>
      <p:sp>
        <p:nvSpPr>
          <p:cNvPr id="35" name="Shape 33"/>
          <p:cNvSpPr/>
          <p:nvPr/>
        </p:nvSpPr>
        <p:spPr>
          <a:xfrm>
            <a:off x="6217920" y="5074920"/>
            <a:ext cx="457200" cy="457200"/>
          </a:xfrm>
          <a:prstGeom prst="ellipse">
            <a:avLst/>
          </a:prstGeom>
          <a:solidFill>
            <a:srgbClr val="EB6834"/>
          </a:solidFill>
          <a:ln w="6350">
            <a:solidFill>
              <a:srgbClr val="EB6834"/>
            </a:solidFill>
            <a:prstDash val="solid"/>
          </a:ln>
        </p:spPr>
      </p:sp>
      <p:sp>
        <p:nvSpPr>
          <p:cNvPr id="36" name="Text 34"/>
          <p:cNvSpPr txBox="1"/>
          <p:nvPr/>
        </p:nvSpPr>
        <p:spPr>
          <a:xfrm>
            <a:off x="6217920" y="5074920"/>
            <a:ext cx="457200" cy="457200"/>
          </a:xfrm>
          <a:prstGeom prst="rect">
            <a:avLst/>
          </a:prstGeom>
          <a:noFill/>
          <a:ln/>
        </p:spPr>
        <p:txBody>
          <a:bodyPr wrap="square" lIns="0" tIns="0" rIns="0" bIns="0" rtlCol="0" anchor="ctr"/>
          <a:lstStyle/>
          <a:p>
            <a:pPr algn="ctr" indent="0" marL="0">
              <a:buNone/>
            </a:pPr>
            <a:r>
              <a:rPr lang="ja-JP" altLang="en-US" sz="1500" b="1" dirty="0">
                <a:solidFill>
                  <a:srgbClr val="FFFFFF"/>
                </a:solidFill>
                <a:latin typeface="Arial"/>
                <a:ea typeface="BIZ UDGothic" charset="-128"/>
                <a:cs typeface="Arial"/>
              </a:rPr>
              <a:t>3</a:t>
            </a:r>
            <a:endParaRPr lang="ja-JP" sz="1500" dirty="0"/>
          </a:p>
        </p:txBody>
      </p:sp>
      <p:sp>
        <p:nvSpPr>
          <p:cNvPr id="37" name="Text 35"/>
          <p:cNvSpPr txBox="1"/>
          <p:nvPr/>
        </p:nvSpPr>
        <p:spPr>
          <a:xfrm>
            <a:off x="6858000" y="4828032"/>
            <a:ext cx="4602175" cy="384048"/>
          </a:xfrm>
          <a:prstGeom prst="rect">
            <a:avLst/>
          </a:prstGeom>
          <a:noFill/>
          <a:ln/>
        </p:spPr>
        <p:txBody>
          <a:bodyPr wrap="square" lIns="0" tIns="0" rIns="0" bIns="0" rtlCol="0" anchor="ctr"/>
          <a:lstStyle/>
          <a:p>
            <a:pPr indent="0" marL="0">
              <a:buNone/>
            </a:pPr>
            <a:r>
              <a:rPr lang="ja-JP" altLang="en-US" sz="1550" b="1" dirty="0">
                <a:solidFill>
                  <a:srgbClr val="1E1C33"/>
                </a:solidFill>
                <a:latin typeface="Arial"/>
                <a:ea typeface="BIZ UDGothic" charset="-128"/>
                <a:cs typeface="Arial"/>
              </a:rPr>
              <a:t>外周ほど大きい計測誤差</a:t>
            </a:r>
            <a:endParaRPr lang="ja-JP" sz="1550" dirty="0"/>
          </a:p>
        </p:txBody>
      </p:sp>
      <p:sp>
        <p:nvSpPr>
          <p:cNvPr id="38" name="Text 36"/>
          <p:cNvSpPr txBox="1"/>
          <p:nvPr/>
        </p:nvSpPr>
        <p:spPr>
          <a:xfrm>
            <a:off x="6858000" y="5212080"/>
            <a:ext cx="4602175" cy="640080"/>
          </a:xfrm>
          <a:prstGeom prst="rect">
            <a:avLst/>
          </a:prstGeom>
          <a:noFill/>
          <a:ln/>
        </p:spPr>
        <p:txBody>
          <a:bodyPr wrap="square" lIns="0" tIns="0" rIns="0" bIns="0" rtlCol="0" anchor="t"/>
          <a:lstStyle/>
          <a:p>
            <a:pPr indent="0" marL="0">
              <a:buNone/>
            </a:pPr>
            <a:r>
              <a:rPr lang="ja-JP" altLang="en-US" sz="1300" dirty="0">
                <a:solidFill>
                  <a:srgbClr val="1E1C33"/>
                </a:solidFill>
                <a:latin typeface="Arial"/>
                <a:ea typeface="BIZ UDGothic" charset="-128"/>
                <a:cs typeface="Arial"/>
              </a:rPr>
              <a:t>Wafer の外周ほど計測ノイズが大きい。外周の推定は外挿にもなる</a:t>
            </a:r>
            <a:endParaRPr lang="ja-JP"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01  背景と目的</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評価の問い ― 手法・説明変数・質的変数の扱いをどう選ぶか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アライメント計測値の面内推定 ― 説明変数と手法の比較</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5</a:t>
            </a:r>
            <a:endParaRPr lang="ja-JP" sz="1000" dirty="0"/>
          </a:p>
        </p:txBody>
      </p:sp>
      <p:sp>
        <p:nvSpPr>
          <p:cNvPr id="6" name="Shape 4"/>
          <p:cNvSpPr/>
          <p:nvPr/>
        </p:nvSpPr>
        <p:spPr>
          <a:xfrm>
            <a:off x="548640" y="1463040"/>
            <a:ext cx="3515258" cy="1783080"/>
          </a:xfrm>
          <a:prstGeom prst="roundRect">
            <a:avLst>
              <a:gd name="adj" fmla="val 5128"/>
            </a:avLst>
          </a:prstGeom>
          <a:solidFill>
            <a:srgbClr val="F2F3F7"/>
          </a:solidFill>
          <a:ln w="6350">
            <a:solidFill>
              <a:srgbClr val="F2F3F7"/>
            </a:solidFill>
            <a:prstDash val="solid"/>
          </a:ln>
        </p:spPr>
      </p:sp>
      <p:sp>
        <p:nvSpPr>
          <p:cNvPr id="7" name="Shape 5"/>
          <p:cNvSpPr/>
          <p:nvPr/>
        </p:nvSpPr>
        <p:spPr>
          <a:xfrm>
            <a:off x="749808" y="1618488"/>
            <a:ext cx="512064" cy="512064"/>
          </a:xfrm>
          <a:prstGeom prst="ellipse">
            <a:avLst/>
          </a:prstGeom>
          <a:solidFill>
            <a:srgbClr val="2A78D6"/>
          </a:solidFill>
          <a:ln w="6350">
            <a:solidFill>
              <a:srgbClr val="2A78D6"/>
            </a:solidFill>
            <a:prstDash val="solid"/>
          </a:ln>
        </p:spPr>
      </p:sp>
      <p:sp>
        <p:nvSpPr>
          <p:cNvPr id="8" name="Text 6"/>
          <p:cNvSpPr txBox="1"/>
          <p:nvPr/>
        </p:nvSpPr>
        <p:spPr>
          <a:xfrm>
            <a:off x="749808" y="1618488"/>
            <a:ext cx="512064" cy="512064"/>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Arial"/>
                <a:ea typeface="BIZ UDGothic" charset="-128"/>
                <a:cs typeface="Arial"/>
              </a:rPr>
              <a:t>Q1</a:t>
            </a:r>
            <a:endParaRPr lang="ja-JP" sz="1400" dirty="0"/>
          </a:p>
        </p:txBody>
      </p:sp>
      <p:sp>
        <p:nvSpPr>
          <p:cNvPr id="9" name="Text 7"/>
          <p:cNvSpPr txBox="1"/>
          <p:nvPr/>
        </p:nvSpPr>
        <p:spPr>
          <a:xfrm>
            <a:off x="1417320" y="1645920"/>
            <a:ext cx="2509418" cy="457200"/>
          </a:xfrm>
          <a:prstGeom prst="rect">
            <a:avLst/>
          </a:prstGeom>
          <a:noFill/>
          <a:ln/>
        </p:spPr>
        <p:txBody>
          <a:bodyPr wrap="square" lIns="0" tIns="0" rIns="0" bIns="0" rtlCol="0" anchor="ctr"/>
          <a:lstStyle/>
          <a:p>
            <a:pPr indent="0" marL="0">
              <a:buNone/>
            </a:pPr>
            <a:r>
              <a:rPr lang="ja-JP" altLang="en-US" sz="1700" b="1" dirty="0">
                <a:solidFill>
                  <a:srgbClr val="1E1C33"/>
                </a:solidFill>
                <a:latin typeface="Arial"/>
                <a:ea typeface="BIZ UDGothic" charset="-128"/>
                <a:cs typeface="Arial"/>
              </a:rPr>
              <a:t>どの手法か</a:t>
            </a:r>
            <a:endParaRPr lang="ja-JP" sz="1700" dirty="0"/>
          </a:p>
        </p:txBody>
      </p:sp>
      <p:sp>
        <p:nvSpPr>
          <p:cNvPr id="10" name="Text 8"/>
          <p:cNvSpPr txBox="1"/>
          <p:nvPr/>
        </p:nvSpPr>
        <p:spPr>
          <a:xfrm>
            <a:off x="822960" y="2286000"/>
            <a:ext cx="3012338" cy="914400"/>
          </a:xfrm>
          <a:prstGeom prst="rect">
            <a:avLst/>
          </a:prstGeom>
          <a:noFill/>
          <a:ln/>
        </p:spPr>
        <p:txBody>
          <a:bodyPr wrap="square" lIns="0" tIns="0" rIns="0" bIns="0" rtlCol="0" anchor="t"/>
          <a:lstStyle/>
          <a:p>
            <a:pPr indent="0" marL="0">
              <a:buNone/>
            </a:pPr>
            <a:r>
              <a:rPr lang="ja-JP" altLang="en-US" sz="1300" dirty="0">
                <a:solidFill>
                  <a:srgbClr val="1E1C33"/>
                </a:solidFill>
                <a:latin typeface="Arial"/>
                <a:ea typeface="BIZ UDGothic" charset="-128"/>
                <a:cs typeface="Arial"/>
              </a:rPr>
              <a:t>GPR（10カーネル）、TPS、Kriging・Universal Kriging（4バリオグラム）、GAM、XY5次、RT</a:t>
            </a:r>
            <a:endParaRPr lang="ja-JP" sz="1300" dirty="0"/>
          </a:p>
        </p:txBody>
      </p:sp>
      <p:sp>
        <p:nvSpPr>
          <p:cNvPr id="11" name="Shape 9"/>
          <p:cNvSpPr/>
          <p:nvPr/>
        </p:nvSpPr>
        <p:spPr>
          <a:xfrm>
            <a:off x="4338218" y="1463040"/>
            <a:ext cx="3515258" cy="1783080"/>
          </a:xfrm>
          <a:prstGeom prst="roundRect">
            <a:avLst>
              <a:gd name="adj" fmla="val 5128"/>
            </a:avLst>
          </a:prstGeom>
          <a:solidFill>
            <a:srgbClr val="F2F3F7"/>
          </a:solidFill>
          <a:ln w="6350">
            <a:solidFill>
              <a:srgbClr val="F2F3F7"/>
            </a:solidFill>
            <a:prstDash val="solid"/>
          </a:ln>
        </p:spPr>
      </p:sp>
      <p:sp>
        <p:nvSpPr>
          <p:cNvPr id="12" name="Shape 10"/>
          <p:cNvSpPr/>
          <p:nvPr/>
        </p:nvSpPr>
        <p:spPr>
          <a:xfrm>
            <a:off x="4539386" y="1618488"/>
            <a:ext cx="512064" cy="512064"/>
          </a:xfrm>
          <a:prstGeom prst="ellipse">
            <a:avLst/>
          </a:prstGeom>
          <a:solidFill>
            <a:srgbClr val="EB6834"/>
          </a:solidFill>
          <a:ln w="6350">
            <a:solidFill>
              <a:srgbClr val="EB6834"/>
            </a:solidFill>
            <a:prstDash val="solid"/>
          </a:ln>
        </p:spPr>
      </p:sp>
      <p:sp>
        <p:nvSpPr>
          <p:cNvPr id="13" name="Text 11"/>
          <p:cNvSpPr txBox="1"/>
          <p:nvPr/>
        </p:nvSpPr>
        <p:spPr>
          <a:xfrm>
            <a:off x="4539386" y="1618488"/>
            <a:ext cx="512064" cy="512064"/>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Arial"/>
                <a:ea typeface="BIZ UDGothic" charset="-128"/>
                <a:cs typeface="Arial"/>
              </a:rPr>
              <a:t>Q2</a:t>
            </a:r>
            <a:endParaRPr lang="ja-JP" sz="1400" dirty="0"/>
          </a:p>
        </p:txBody>
      </p:sp>
      <p:sp>
        <p:nvSpPr>
          <p:cNvPr id="14" name="Text 12"/>
          <p:cNvSpPr txBox="1"/>
          <p:nvPr/>
        </p:nvSpPr>
        <p:spPr>
          <a:xfrm>
            <a:off x="5206898" y="1645920"/>
            <a:ext cx="2509418" cy="457200"/>
          </a:xfrm>
          <a:prstGeom prst="rect">
            <a:avLst/>
          </a:prstGeom>
          <a:noFill/>
          <a:ln/>
        </p:spPr>
        <p:txBody>
          <a:bodyPr wrap="square" lIns="0" tIns="0" rIns="0" bIns="0" rtlCol="0" anchor="ctr"/>
          <a:lstStyle/>
          <a:p>
            <a:pPr indent="0" marL="0">
              <a:buNone/>
            </a:pPr>
            <a:r>
              <a:rPr lang="ja-JP" altLang="en-US" sz="1700" b="1" dirty="0">
                <a:solidFill>
                  <a:srgbClr val="1E1C33"/>
                </a:solidFill>
                <a:latin typeface="Arial"/>
                <a:ea typeface="BIZ UDGothic" charset="-128"/>
                <a:cs typeface="Arial"/>
              </a:rPr>
              <a:t>どの説明変数か</a:t>
            </a:r>
            <a:endParaRPr lang="ja-JP" sz="1700" dirty="0"/>
          </a:p>
        </p:txBody>
      </p:sp>
      <p:sp>
        <p:nvSpPr>
          <p:cNvPr id="15" name="Text 13"/>
          <p:cNvSpPr txBox="1"/>
          <p:nvPr/>
        </p:nvSpPr>
        <p:spPr>
          <a:xfrm>
            <a:off x="4612538" y="2286000"/>
            <a:ext cx="3012338" cy="914400"/>
          </a:xfrm>
          <a:prstGeom prst="rect">
            <a:avLst/>
          </a:prstGeom>
          <a:noFill/>
          <a:ln/>
        </p:spPr>
        <p:txBody>
          <a:bodyPr wrap="square" lIns="0" tIns="0" rIns="0" bIns="0" rtlCol="0" anchor="t"/>
          <a:lstStyle/>
          <a:p>
            <a:pPr indent="0" marL="0">
              <a:buNone/>
            </a:pPr>
            <a:r>
              <a:rPr lang="ja-JP" altLang="en-US" sz="1300" dirty="0">
                <a:solidFill>
                  <a:srgbClr val="1E1C33"/>
                </a:solidFill>
                <a:latin typeface="Arial"/>
                <a:ea typeface="BIZ UDGothic" charset="-128"/>
                <a:cs typeface="Arial"/>
              </a:rPr>
              <a:t>X, Y ／ X, Y, 半径 ／ X, Y, 半径, T（T = 方位角 θ）</a:t>
            </a:r>
            <a:endParaRPr lang="ja-JP" sz="1300" dirty="0"/>
          </a:p>
        </p:txBody>
      </p:sp>
      <p:sp>
        <p:nvSpPr>
          <p:cNvPr id="16" name="Shape 14"/>
          <p:cNvSpPr/>
          <p:nvPr/>
        </p:nvSpPr>
        <p:spPr>
          <a:xfrm>
            <a:off x="8127797" y="1463040"/>
            <a:ext cx="3515258" cy="1783080"/>
          </a:xfrm>
          <a:prstGeom prst="roundRect">
            <a:avLst>
              <a:gd name="adj" fmla="val 5128"/>
            </a:avLst>
          </a:prstGeom>
          <a:solidFill>
            <a:srgbClr val="F2F3F7"/>
          </a:solidFill>
          <a:ln w="6350">
            <a:solidFill>
              <a:srgbClr val="F2F3F7"/>
            </a:solidFill>
            <a:prstDash val="solid"/>
          </a:ln>
        </p:spPr>
      </p:sp>
      <p:sp>
        <p:nvSpPr>
          <p:cNvPr id="17" name="Shape 15"/>
          <p:cNvSpPr/>
          <p:nvPr/>
        </p:nvSpPr>
        <p:spPr>
          <a:xfrm>
            <a:off x="8328965" y="1618488"/>
            <a:ext cx="512064" cy="512064"/>
          </a:xfrm>
          <a:prstGeom prst="ellipse">
            <a:avLst/>
          </a:prstGeom>
          <a:solidFill>
            <a:srgbClr val="E87BA4"/>
          </a:solidFill>
          <a:ln w="6350">
            <a:solidFill>
              <a:srgbClr val="E87BA4"/>
            </a:solidFill>
            <a:prstDash val="solid"/>
          </a:ln>
        </p:spPr>
      </p:sp>
      <p:sp>
        <p:nvSpPr>
          <p:cNvPr id="18" name="Text 16"/>
          <p:cNvSpPr txBox="1"/>
          <p:nvPr/>
        </p:nvSpPr>
        <p:spPr>
          <a:xfrm>
            <a:off x="8328965" y="1618488"/>
            <a:ext cx="512064" cy="512064"/>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Arial"/>
                <a:ea typeface="BIZ UDGothic" charset="-128"/>
                <a:cs typeface="Arial"/>
              </a:rPr>
              <a:t>Q3</a:t>
            </a:r>
            <a:endParaRPr lang="ja-JP" sz="1400" dirty="0"/>
          </a:p>
        </p:txBody>
      </p:sp>
      <p:sp>
        <p:nvSpPr>
          <p:cNvPr id="19" name="Text 17"/>
          <p:cNvSpPr txBox="1"/>
          <p:nvPr/>
        </p:nvSpPr>
        <p:spPr>
          <a:xfrm>
            <a:off x="8996477" y="1645920"/>
            <a:ext cx="2509418" cy="457200"/>
          </a:xfrm>
          <a:prstGeom prst="rect">
            <a:avLst/>
          </a:prstGeom>
          <a:noFill/>
          <a:ln/>
        </p:spPr>
        <p:txBody>
          <a:bodyPr wrap="square" lIns="0" tIns="0" rIns="0" bIns="0" rtlCol="0" anchor="ctr"/>
          <a:lstStyle/>
          <a:p>
            <a:pPr indent="0" marL="0">
              <a:buNone/>
            </a:pPr>
            <a:r>
              <a:rPr lang="ja-JP" altLang="en-US" sz="1700" b="1" dirty="0">
                <a:solidFill>
                  <a:srgbClr val="1E1C33"/>
                </a:solidFill>
                <a:latin typeface="Arial"/>
                <a:ea typeface="BIZ UDGothic" charset="-128"/>
                <a:cs typeface="Arial"/>
              </a:rPr>
              <a:t>質的変数の扱い</a:t>
            </a:r>
            <a:endParaRPr lang="ja-JP" sz="1700" dirty="0"/>
          </a:p>
        </p:txBody>
      </p:sp>
      <p:sp>
        <p:nvSpPr>
          <p:cNvPr id="20" name="Text 18"/>
          <p:cNvSpPr txBox="1"/>
          <p:nvPr/>
        </p:nvSpPr>
        <p:spPr>
          <a:xfrm>
            <a:off x="8402117" y="2286000"/>
            <a:ext cx="3012338" cy="914400"/>
          </a:xfrm>
          <a:prstGeom prst="rect">
            <a:avLst/>
          </a:prstGeom>
          <a:noFill/>
          <a:ln/>
        </p:spPr>
        <p:txBody>
          <a:bodyPr wrap="square" lIns="0" tIns="0" rIns="0" bIns="0" rtlCol="0" anchor="t"/>
          <a:lstStyle/>
          <a:p>
            <a:pPr indent="0" marL="0">
              <a:buNone/>
            </a:pPr>
            <a:r>
              <a:rPr lang="ja-JP" altLang="en-US" sz="1300" dirty="0">
                <a:solidFill>
                  <a:srgbClr val="1E1C33"/>
                </a:solidFill>
                <a:latin typeface="Arial"/>
                <a:ea typeface="BIZ UDGothic" charset="-128"/>
                <a:cs typeface="Arial"/>
              </a:rPr>
              <a:t>Scan 方向・Mark 番号を GPR では「なし／同時推定／Backfitting」、GAM では説明変数に追加</a:t>
            </a:r>
            <a:endParaRPr lang="ja-JP" sz="1300" dirty="0"/>
          </a:p>
        </p:txBody>
      </p:sp>
      <p:sp>
        <p:nvSpPr>
          <p:cNvPr id="21" name="Shape 19"/>
          <p:cNvSpPr/>
          <p:nvPr/>
        </p:nvSpPr>
        <p:spPr>
          <a:xfrm>
            <a:off x="548640" y="3657600"/>
            <a:ext cx="2464994" cy="2103120"/>
          </a:xfrm>
          <a:prstGeom prst="roundRect">
            <a:avLst>
              <a:gd name="adj" fmla="val 4348"/>
            </a:avLst>
          </a:prstGeom>
          <a:solidFill>
            <a:srgbClr val="EEEFF7"/>
          </a:solidFill>
          <a:ln w="6350">
            <a:solidFill>
              <a:srgbClr val="EEEFF7"/>
            </a:solidFill>
            <a:prstDash val="solid"/>
          </a:ln>
        </p:spPr>
      </p:sp>
      <p:sp>
        <p:nvSpPr>
          <p:cNvPr id="22" name="Text 20"/>
          <p:cNvSpPr txBox="1"/>
          <p:nvPr/>
        </p:nvSpPr>
        <p:spPr>
          <a:xfrm>
            <a:off x="777240" y="3794760"/>
            <a:ext cx="2007794" cy="274320"/>
          </a:xfrm>
          <a:prstGeom prst="rect">
            <a:avLst/>
          </a:prstGeom>
          <a:noFill/>
          <a:ln/>
        </p:spPr>
        <p:txBody>
          <a:bodyPr wrap="square" lIns="0" tIns="0" rIns="0" bIns="0" rtlCol="0" anchor="t"/>
          <a:lstStyle/>
          <a:p>
            <a:pPr indent="0" marL="0">
              <a:buNone/>
            </a:pPr>
            <a:r>
              <a:rPr lang="ja-JP" altLang="en-US" sz="1100" b="1" spc="100" kern="0" dirty="0">
                <a:solidFill>
                  <a:srgbClr val="2F3470"/>
                </a:solidFill>
                <a:latin typeface="Arial"/>
                <a:ea typeface="BIZ UDGothic" charset="-128"/>
                <a:cs typeface="Arial"/>
              </a:rPr>
              <a:t>STEP 1</a:t>
            </a:r>
            <a:endParaRPr lang="ja-JP" sz="1100" dirty="0"/>
          </a:p>
        </p:txBody>
      </p:sp>
      <p:sp>
        <p:nvSpPr>
          <p:cNvPr id="23" name="Text 21"/>
          <p:cNvSpPr txBox="1"/>
          <p:nvPr/>
        </p:nvSpPr>
        <p:spPr>
          <a:xfrm>
            <a:off x="777240" y="4114800"/>
            <a:ext cx="2007794" cy="457200"/>
          </a:xfrm>
          <a:prstGeom prst="rect">
            <a:avLst/>
          </a:prstGeom>
          <a:noFill/>
          <a:ln/>
        </p:spPr>
        <p:txBody>
          <a:bodyPr wrap="square" lIns="0" tIns="0" rIns="0" bIns="0" rtlCol="0" anchor="t"/>
          <a:lstStyle/>
          <a:p>
            <a:pPr indent="0" marL="0">
              <a:buNone/>
            </a:pPr>
            <a:r>
              <a:rPr lang="ja-JP" altLang="en-US" sz="1600" b="1" dirty="0">
                <a:solidFill>
                  <a:srgbClr val="1E1C33"/>
                </a:solidFill>
                <a:latin typeface="Arial"/>
                <a:ea typeface="BIZ UDGothic" charset="-128"/>
                <a:cs typeface="Arial"/>
              </a:rPr>
              <a:t>模擬 Wafer を作る</a:t>
            </a:r>
            <a:endParaRPr lang="ja-JP" sz="1600" dirty="0"/>
          </a:p>
        </p:txBody>
      </p:sp>
      <p:sp>
        <p:nvSpPr>
          <p:cNvPr id="24" name="Text 22"/>
          <p:cNvSpPr txBox="1"/>
          <p:nvPr/>
        </p:nvSpPr>
        <p:spPr>
          <a:xfrm>
            <a:off x="777240" y="4663440"/>
            <a:ext cx="2007794" cy="1005840"/>
          </a:xfrm>
          <a:prstGeom prst="rect">
            <a:avLst/>
          </a:prstGeom>
          <a:noFill/>
          <a:ln/>
        </p:spPr>
        <p:txBody>
          <a:bodyPr wrap="square" lIns="0" tIns="0" rIns="0" bIns="0" rtlCol="0" anchor="t"/>
          <a:lstStyle/>
          <a:p>
            <a:pPr indent="0" marL="0">
              <a:buNone/>
            </a:pPr>
            <a:r>
              <a:rPr lang="ja-JP" altLang="en-US" sz="1300" dirty="0">
                <a:solidFill>
                  <a:srgbClr val="5E6275"/>
                </a:solidFill>
                <a:latin typeface="Arial"/>
                <a:ea typeface="BIZ UDGothic" charset="-128"/>
                <a:cs typeface="Arial"/>
              </a:rPr>
              <a:t>1,000 枚。Zernike＋Mark Offset＋Scan差＋ノイズ</a:t>
            </a:r>
            <a:endParaRPr lang="ja-JP" sz="1300" dirty="0"/>
          </a:p>
        </p:txBody>
      </p:sp>
      <p:sp>
        <p:nvSpPr>
          <p:cNvPr id="25" name="Shape 23"/>
          <p:cNvSpPr/>
          <p:nvPr/>
        </p:nvSpPr>
        <p:spPr>
          <a:xfrm>
            <a:off x="3077642" y="4709160"/>
            <a:ext cx="283464" cy="0"/>
          </a:xfrm>
          <a:prstGeom prst="line">
            <a:avLst/>
          </a:prstGeom>
          <a:noFill/>
          <a:ln w="25400">
            <a:solidFill>
              <a:srgbClr val="2F3470"/>
            </a:solidFill>
            <a:prstDash val="solid"/>
            <a:tailEnd type="triangle"/>
          </a:ln>
        </p:spPr>
      </p:sp>
      <p:sp>
        <p:nvSpPr>
          <p:cNvPr id="26" name="Shape 24"/>
          <p:cNvSpPr/>
          <p:nvPr/>
        </p:nvSpPr>
        <p:spPr>
          <a:xfrm>
            <a:off x="3425114" y="3657600"/>
            <a:ext cx="2464994" cy="2103120"/>
          </a:xfrm>
          <a:prstGeom prst="roundRect">
            <a:avLst>
              <a:gd name="adj" fmla="val 4348"/>
            </a:avLst>
          </a:prstGeom>
          <a:solidFill>
            <a:srgbClr val="EEEFF7"/>
          </a:solidFill>
          <a:ln w="6350">
            <a:solidFill>
              <a:srgbClr val="EEEFF7"/>
            </a:solidFill>
            <a:prstDash val="solid"/>
          </a:ln>
        </p:spPr>
      </p:sp>
      <p:sp>
        <p:nvSpPr>
          <p:cNvPr id="27" name="Text 25"/>
          <p:cNvSpPr txBox="1"/>
          <p:nvPr/>
        </p:nvSpPr>
        <p:spPr>
          <a:xfrm>
            <a:off x="3653714" y="3794760"/>
            <a:ext cx="2007794" cy="274320"/>
          </a:xfrm>
          <a:prstGeom prst="rect">
            <a:avLst/>
          </a:prstGeom>
          <a:noFill/>
          <a:ln/>
        </p:spPr>
        <p:txBody>
          <a:bodyPr wrap="square" lIns="0" tIns="0" rIns="0" bIns="0" rtlCol="0" anchor="t"/>
          <a:lstStyle/>
          <a:p>
            <a:pPr indent="0" marL="0">
              <a:buNone/>
            </a:pPr>
            <a:r>
              <a:rPr lang="ja-JP" altLang="en-US" sz="1100" b="1" spc="100" kern="0" dirty="0">
                <a:solidFill>
                  <a:srgbClr val="2F3470"/>
                </a:solidFill>
                <a:latin typeface="Arial"/>
                <a:ea typeface="BIZ UDGothic" charset="-128"/>
                <a:cs typeface="Arial"/>
              </a:rPr>
              <a:t>STEP 2</a:t>
            </a:r>
            <a:endParaRPr lang="ja-JP" sz="1100" dirty="0"/>
          </a:p>
        </p:txBody>
      </p:sp>
      <p:sp>
        <p:nvSpPr>
          <p:cNvPr id="28" name="Text 26"/>
          <p:cNvSpPr txBox="1"/>
          <p:nvPr/>
        </p:nvSpPr>
        <p:spPr>
          <a:xfrm>
            <a:off x="3653714" y="4114800"/>
            <a:ext cx="2007794" cy="457200"/>
          </a:xfrm>
          <a:prstGeom prst="rect">
            <a:avLst/>
          </a:prstGeom>
          <a:noFill/>
          <a:ln/>
        </p:spPr>
        <p:txBody>
          <a:bodyPr wrap="square" lIns="0" tIns="0" rIns="0" bIns="0" rtlCol="0" anchor="t"/>
          <a:lstStyle/>
          <a:p>
            <a:pPr indent="0" marL="0">
              <a:buNone/>
            </a:pPr>
            <a:r>
              <a:rPr lang="ja-JP" altLang="en-US" sz="1600" b="1" dirty="0">
                <a:solidFill>
                  <a:srgbClr val="1E1C33"/>
                </a:solidFill>
                <a:latin typeface="Arial"/>
                <a:ea typeface="BIZ UDGothic" charset="-128"/>
                <a:cs typeface="Arial"/>
              </a:rPr>
              <a:t>Shot を選ぶ</a:t>
            </a:r>
            <a:endParaRPr lang="ja-JP" sz="1600" dirty="0"/>
          </a:p>
        </p:txBody>
      </p:sp>
      <p:sp>
        <p:nvSpPr>
          <p:cNvPr id="29" name="Text 27"/>
          <p:cNvSpPr txBox="1"/>
          <p:nvPr/>
        </p:nvSpPr>
        <p:spPr>
          <a:xfrm>
            <a:off x="3653714" y="4663440"/>
            <a:ext cx="2007794" cy="1005840"/>
          </a:xfrm>
          <a:prstGeom prst="rect">
            <a:avLst/>
          </a:prstGeom>
          <a:noFill/>
          <a:ln/>
        </p:spPr>
        <p:txBody>
          <a:bodyPr wrap="square" lIns="0" tIns="0" rIns="0" bIns="0" rtlCol="0" anchor="t"/>
          <a:lstStyle/>
          <a:p>
            <a:pPr indent="0" marL="0">
              <a:buNone/>
            </a:pPr>
            <a:r>
              <a:rPr lang="ja-JP" altLang="en-US" sz="1300" dirty="0">
                <a:solidFill>
                  <a:srgbClr val="5E6275"/>
                </a:solidFill>
                <a:latin typeface="Arial"/>
                <a:ea typeface="BIZ UDGothic" charset="-128"/>
                <a:cs typeface="Arial"/>
              </a:rPr>
              <a:t>制約付き I 最適計画、10〜40 Shot（5刻み）</a:t>
            </a:r>
            <a:endParaRPr lang="ja-JP" sz="1300" dirty="0"/>
          </a:p>
        </p:txBody>
      </p:sp>
      <p:sp>
        <p:nvSpPr>
          <p:cNvPr id="30" name="Shape 28"/>
          <p:cNvSpPr/>
          <p:nvPr/>
        </p:nvSpPr>
        <p:spPr>
          <a:xfrm>
            <a:off x="5954116" y="4709160"/>
            <a:ext cx="283464" cy="0"/>
          </a:xfrm>
          <a:prstGeom prst="line">
            <a:avLst/>
          </a:prstGeom>
          <a:noFill/>
          <a:ln w="25400">
            <a:solidFill>
              <a:srgbClr val="2F3470"/>
            </a:solidFill>
            <a:prstDash val="solid"/>
            <a:tailEnd type="triangle"/>
          </a:ln>
        </p:spPr>
      </p:sp>
      <p:sp>
        <p:nvSpPr>
          <p:cNvPr id="31" name="Shape 29"/>
          <p:cNvSpPr/>
          <p:nvPr/>
        </p:nvSpPr>
        <p:spPr>
          <a:xfrm>
            <a:off x="6301588" y="3657600"/>
            <a:ext cx="2464994" cy="2103120"/>
          </a:xfrm>
          <a:prstGeom prst="roundRect">
            <a:avLst>
              <a:gd name="adj" fmla="val 4348"/>
            </a:avLst>
          </a:prstGeom>
          <a:solidFill>
            <a:srgbClr val="EEEFF7"/>
          </a:solidFill>
          <a:ln w="6350">
            <a:solidFill>
              <a:srgbClr val="EEEFF7"/>
            </a:solidFill>
            <a:prstDash val="solid"/>
          </a:ln>
        </p:spPr>
      </p:sp>
      <p:sp>
        <p:nvSpPr>
          <p:cNvPr id="32" name="Text 30"/>
          <p:cNvSpPr txBox="1"/>
          <p:nvPr/>
        </p:nvSpPr>
        <p:spPr>
          <a:xfrm>
            <a:off x="6530188" y="3794760"/>
            <a:ext cx="2007794" cy="274320"/>
          </a:xfrm>
          <a:prstGeom prst="rect">
            <a:avLst/>
          </a:prstGeom>
          <a:noFill/>
          <a:ln/>
        </p:spPr>
        <p:txBody>
          <a:bodyPr wrap="square" lIns="0" tIns="0" rIns="0" bIns="0" rtlCol="0" anchor="t"/>
          <a:lstStyle/>
          <a:p>
            <a:pPr indent="0" marL="0">
              <a:buNone/>
            </a:pPr>
            <a:r>
              <a:rPr lang="ja-JP" altLang="en-US" sz="1100" b="1" spc="100" kern="0" dirty="0">
                <a:solidFill>
                  <a:srgbClr val="2F3470"/>
                </a:solidFill>
                <a:latin typeface="Arial"/>
                <a:ea typeface="BIZ UDGothic" charset="-128"/>
                <a:cs typeface="Arial"/>
              </a:rPr>
              <a:t>STEP 3</a:t>
            </a:r>
            <a:endParaRPr lang="ja-JP" sz="1100" dirty="0"/>
          </a:p>
        </p:txBody>
      </p:sp>
      <p:sp>
        <p:nvSpPr>
          <p:cNvPr id="33" name="Text 31"/>
          <p:cNvSpPr txBox="1"/>
          <p:nvPr/>
        </p:nvSpPr>
        <p:spPr>
          <a:xfrm>
            <a:off x="6530188" y="4114800"/>
            <a:ext cx="2007794" cy="457200"/>
          </a:xfrm>
          <a:prstGeom prst="rect">
            <a:avLst/>
          </a:prstGeom>
          <a:noFill/>
          <a:ln/>
        </p:spPr>
        <p:txBody>
          <a:bodyPr wrap="square" lIns="0" tIns="0" rIns="0" bIns="0" rtlCol="0" anchor="t"/>
          <a:lstStyle/>
          <a:p>
            <a:pPr indent="0" marL="0">
              <a:buNone/>
            </a:pPr>
            <a:r>
              <a:rPr lang="ja-JP" altLang="en-US" sz="1600" b="1" dirty="0">
                <a:solidFill>
                  <a:srgbClr val="1E1C33"/>
                </a:solidFill>
                <a:latin typeface="Arial"/>
                <a:ea typeface="BIZ UDGothic" charset="-128"/>
                <a:cs typeface="Arial"/>
              </a:rPr>
              <a:t>推定する</a:t>
            </a:r>
            <a:endParaRPr lang="ja-JP" sz="1600" dirty="0"/>
          </a:p>
        </p:txBody>
      </p:sp>
      <p:sp>
        <p:nvSpPr>
          <p:cNvPr id="34" name="Text 32"/>
          <p:cNvSpPr txBox="1"/>
          <p:nvPr/>
        </p:nvSpPr>
        <p:spPr>
          <a:xfrm>
            <a:off x="6530188" y="4663440"/>
            <a:ext cx="2007794" cy="1005840"/>
          </a:xfrm>
          <a:prstGeom prst="rect">
            <a:avLst/>
          </a:prstGeom>
          <a:noFill/>
          <a:ln/>
        </p:spPr>
        <p:txBody>
          <a:bodyPr wrap="square" lIns="0" tIns="0" rIns="0" bIns="0" rtlCol="0" anchor="t"/>
          <a:lstStyle/>
          <a:p>
            <a:pPr indent="0" marL="0">
              <a:buNone/>
            </a:pPr>
            <a:r>
              <a:rPr lang="ja-JP" altLang="en-US" sz="1300" dirty="0">
                <a:solidFill>
                  <a:srgbClr val="5E6275"/>
                </a:solidFill>
                <a:latin typeface="Arial"/>
                <a:ea typeface="BIZ UDGothic" charset="-128"/>
                <a:cs typeface="Arial"/>
              </a:rPr>
              <a:t>123 設定の手法で未計測 Shot の全 Mark</a:t>
            </a:r>
            <a:endParaRPr lang="ja-JP" sz="1300" dirty="0"/>
          </a:p>
        </p:txBody>
      </p:sp>
      <p:sp>
        <p:nvSpPr>
          <p:cNvPr id="35" name="Shape 33"/>
          <p:cNvSpPr/>
          <p:nvPr/>
        </p:nvSpPr>
        <p:spPr>
          <a:xfrm>
            <a:off x="8830589" y="4709160"/>
            <a:ext cx="283464" cy="0"/>
          </a:xfrm>
          <a:prstGeom prst="line">
            <a:avLst/>
          </a:prstGeom>
          <a:noFill/>
          <a:ln w="25400">
            <a:solidFill>
              <a:srgbClr val="2F3470"/>
            </a:solidFill>
            <a:prstDash val="solid"/>
            <a:tailEnd type="triangle"/>
          </a:ln>
        </p:spPr>
      </p:sp>
      <p:sp>
        <p:nvSpPr>
          <p:cNvPr id="36" name="Shape 34"/>
          <p:cNvSpPr/>
          <p:nvPr/>
        </p:nvSpPr>
        <p:spPr>
          <a:xfrm>
            <a:off x="9178061" y="3657600"/>
            <a:ext cx="2464994" cy="2103120"/>
          </a:xfrm>
          <a:prstGeom prst="roundRect">
            <a:avLst>
              <a:gd name="adj" fmla="val 4348"/>
            </a:avLst>
          </a:prstGeom>
          <a:solidFill>
            <a:srgbClr val="EEEFF7"/>
          </a:solidFill>
          <a:ln w="6350">
            <a:solidFill>
              <a:srgbClr val="EEEFF7"/>
            </a:solidFill>
            <a:prstDash val="solid"/>
          </a:ln>
        </p:spPr>
      </p:sp>
      <p:sp>
        <p:nvSpPr>
          <p:cNvPr id="37" name="Text 35"/>
          <p:cNvSpPr txBox="1"/>
          <p:nvPr/>
        </p:nvSpPr>
        <p:spPr>
          <a:xfrm>
            <a:off x="9406661" y="3794760"/>
            <a:ext cx="2007794" cy="274320"/>
          </a:xfrm>
          <a:prstGeom prst="rect">
            <a:avLst/>
          </a:prstGeom>
          <a:noFill/>
          <a:ln/>
        </p:spPr>
        <p:txBody>
          <a:bodyPr wrap="square" lIns="0" tIns="0" rIns="0" bIns="0" rtlCol="0" anchor="t"/>
          <a:lstStyle/>
          <a:p>
            <a:pPr indent="0" marL="0">
              <a:buNone/>
            </a:pPr>
            <a:r>
              <a:rPr lang="ja-JP" altLang="en-US" sz="1100" b="1" spc="100" kern="0" dirty="0">
                <a:solidFill>
                  <a:srgbClr val="2F3470"/>
                </a:solidFill>
                <a:latin typeface="Arial"/>
                <a:ea typeface="BIZ UDGothic" charset="-128"/>
                <a:cs typeface="Arial"/>
              </a:rPr>
              <a:t>STEP 4</a:t>
            </a:r>
            <a:endParaRPr lang="ja-JP" sz="1100" dirty="0"/>
          </a:p>
        </p:txBody>
      </p:sp>
      <p:sp>
        <p:nvSpPr>
          <p:cNvPr id="38" name="Text 36"/>
          <p:cNvSpPr txBox="1"/>
          <p:nvPr/>
        </p:nvSpPr>
        <p:spPr>
          <a:xfrm>
            <a:off x="9406661" y="4114800"/>
            <a:ext cx="2007794" cy="457200"/>
          </a:xfrm>
          <a:prstGeom prst="rect">
            <a:avLst/>
          </a:prstGeom>
          <a:noFill/>
          <a:ln/>
        </p:spPr>
        <p:txBody>
          <a:bodyPr wrap="square" lIns="0" tIns="0" rIns="0" bIns="0" rtlCol="0" anchor="t"/>
          <a:lstStyle/>
          <a:p>
            <a:pPr indent="0" marL="0">
              <a:buNone/>
            </a:pPr>
            <a:r>
              <a:rPr lang="ja-JP" altLang="en-US" sz="1600" b="1" dirty="0">
                <a:solidFill>
                  <a:srgbClr val="1E1C33"/>
                </a:solidFill>
                <a:latin typeface="Arial"/>
                <a:ea typeface="BIZ UDGothic" charset="-128"/>
                <a:cs typeface="Arial"/>
              </a:rPr>
              <a:t>評価する</a:t>
            </a:r>
            <a:endParaRPr lang="ja-JP" sz="1600" dirty="0"/>
          </a:p>
        </p:txBody>
      </p:sp>
      <p:sp>
        <p:nvSpPr>
          <p:cNvPr id="39" name="Text 37"/>
          <p:cNvSpPr txBox="1"/>
          <p:nvPr/>
        </p:nvSpPr>
        <p:spPr>
          <a:xfrm>
            <a:off x="9406661" y="4663440"/>
            <a:ext cx="2007794" cy="1005840"/>
          </a:xfrm>
          <a:prstGeom prst="rect">
            <a:avLst/>
          </a:prstGeom>
          <a:noFill/>
          <a:ln/>
        </p:spPr>
        <p:txBody>
          <a:bodyPr wrap="square" lIns="0" tIns="0" rIns="0" bIns="0" rtlCol="0" anchor="t"/>
          <a:lstStyle/>
          <a:p>
            <a:pPr indent="0" marL="0">
              <a:buNone/>
            </a:pPr>
            <a:r>
              <a:rPr lang="ja-JP" altLang="en-US" sz="1300" dirty="0">
                <a:solidFill>
                  <a:srgbClr val="5E6275"/>
                </a:solidFill>
                <a:latin typeface="Arial"/>
                <a:ea typeface="BIZ UDGothic" charset="-128"/>
                <a:cs typeface="Arial"/>
              </a:rPr>
              <a:t>ノイズなしの真値と比べ R²・調整済み R²・RMSE・MAE</a:t>
            </a:r>
            <a:endParaRPr lang="ja-JP" sz="1300" dirty="0"/>
          </a:p>
        </p:txBody>
      </p:sp>
      <p:sp>
        <p:nvSpPr>
          <p:cNvPr id="40" name="Text 38"/>
          <p:cNvSpPr txBox="1"/>
          <p:nvPr/>
        </p:nvSpPr>
        <p:spPr>
          <a:xfrm>
            <a:off x="548640" y="5943600"/>
            <a:ext cx="11094415" cy="320040"/>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評価対象は「未計測 Shot の全 Mark」。計測ノイズを含まない真値（面内傾向＋Mark Offset＋Scan差）と比べる</a:t>
            </a:r>
            <a:endParaRPr lang="ja-JP"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評価の方法</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模擬データ ― 4つの成分を足してWaferごとの計測値を作る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図：Wafer 0 の X 成分。各点が Mark（99 Shot × 4 Mark）。右端はノイズの幅（線）と実際のノイズ（点）</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6</a:t>
            </a:r>
            <a:endParaRPr lang="ja-JP" sz="1000" dirty="0"/>
          </a:p>
        </p:txBody>
      </p:sp>
      <p:sp>
        <p:nvSpPr>
          <p:cNvPr id="6" name="Shape 4"/>
          <p:cNvSpPr/>
          <p:nvPr/>
        </p:nvSpPr>
        <p:spPr>
          <a:xfrm>
            <a:off x="548640" y="1371600"/>
            <a:ext cx="5120640" cy="685800"/>
          </a:xfrm>
          <a:prstGeom prst="roundRect">
            <a:avLst>
              <a:gd name="adj" fmla="val 13333"/>
            </a:avLst>
          </a:prstGeom>
          <a:solidFill>
            <a:srgbClr val="EEEFF7"/>
          </a:solidFill>
          <a:ln w="6350">
            <a:solidFill>
              <a:srgbClr val="EEEFF7"/>
            </a:solidFill>
            <a:prstDash val="solid"/>
          </a:ln>
        </p:spPr>
      </p:sp>
      <p:pic>
        <p:nvPicPr>
          <p:cNvPr id="7" name="Image 0" descr="m = f + o + s δ/2 + ε">    </p:cNvPr>
          <p:cNvPicPr>
            <a:picLocks noChangeAspect="1"/>
          </p:cNvPicPr>
          <p:nvPr/>
        </p:nvPicPr>
        <p:blipFill>
          <a:blip r:embed="rId1"/>
          <a:stretch>
            <a:fillRect/>
          </a:stretch>
        </p:blipFill>
        <p:spPr>
          <a:xfrm>
            <a:off x="1572768" y="1521104"/>
            <a:ext cx="3072384" cy="386791"/>
          </a:xfrm>
          <a:prstGeom prst="rect">
            <a:avLst/>
          </a:prstGeom>
        </p:spPr>
      </p:pic>
      <p:sp>
        <p:nvSpPr>
          <p:cNvPr id="8" name="Text 5"/>
          <p:cNvSpPr txBox="1"/>
          <p:nvPr/>
        </p:nvSpPr>
        <p:spPr>
          <a:xfrm>
            <a:off x="5897880" y="1481328"/>
            <a:ext cx="5745175" cy="502920"/>
          </a:xfrm>
          <a:prstGeom prst="rect">
            <a:avLst/>
          </a:prstGeom>
          <a:noFill/>
          <a:ln/>
        </p:spPr>
        <p:txBody>
          <a:bodyPr wrap="square" lIns="0" tIns="0" rIns="0" bIns="0" rtlCol="0" anchor="ctr"/>
          <a:lstStyle/>
          <a:p>
            <a:pPr indent="0" marL="0">
              <a:buNone/>
            </a:pPr>
            <a:r>
              <a:rPr lang="ja-JP" altLang="en-US" sz="1250" dirty="0">
                <a:solidFill>
                  <a:srgbClr val="5E6275"/>
                </a:solidFill>
                <a:latin typeface="Arial"/>
                <a:ea typeface="BIZ UDGothic" charset="-128"/>
                <a:cs typeface="Arial"/>
              </a:rPr>
              <a:t>k(i)：Mark 番号、s(i) = ±1：Scan 方向、δ：Wafer ごとの Scan 差</a:t>
            </a:r>
            <a:endParaRPr lang="ja-JP" sz="1250" dirty="0"/>
          </a:p>
        </p:txBody>
      </p:sp>
      <p:pic>
        <p:nvPicPr>
          <p:cNvPr id="9" name="Image 1" descr="模擬データの4成分">    </p:cNvPr>
          <p:cNvPicPr>
            <a:picLocks noChangeAspect="1"/>
          </p:cNvPicPr>
          <p:nvPr/>
        </p:nvPicPr>
        <p:blipFill>
          <a:blip r:embed="rId2"/>
          <a:stretch>
            <a:fillRect/>
          </a:stretch>
        </p:blipFill>
        <p:spPr>
          <a:xfrm>
            <a:off x="548640" y="2240280"/>
            <a:ext cx="11094415" cy="2282668"/>
          </a:xfrm>
          <a:prstGeom prst="rect">
            <a:avLst/>
          </a:prstGeom>
        </p:spPr>
      </p:pic>
      <p:sp>
        <p:nvSpPr>
          <p:cNvPr id="10" name="Shape 6"/>
          <p:cNvSpPr/>
          <p:nvPr/>
        </p:nvSpPr>
        <p:spPr>
          <a:xfrm>
            <a:off x="548640" y="4937760"/>
            <a:ext cx="2602154" cy="1325880"/>
          </a:xfrm>
          <a:prstGeom prst="roundRect">
            <a:avLst>
              <a:gd name="adj" fmla="val 6897"/>
            </a:avLst>
          </a:prstGeom>
          <a:solidFill>
            <a:srgbClr val="F2F3F7"/>
          </a:solidFill>
          <a:ln w="6350">
            <a:solidFill>
              <a:srgbClr val="F2F3F7"/>
            </a:solidFill>
            <a:prstDash val="solid"/>
          </a:ln>
        </p:spPr>
      </p:sp>
      <p:sp>
        <p:nvSpPr>
          <p:cNvPr id="11" name="Shape 7"/>
          <p:cNvSpPr/>
          <p:nvPr/>
        </p:nvSpPr>
        <p:spPr>
          <a:xfrm>
            <a:off x="731520" y="5084064"/>
            <a:ext cx="201168" cy="201168"/>
          </a:xfrm>
          <a:prstGeom prst="roundRect">
            <a:avLst>
              <a:gd name="adj" fmla="val 18182"/>
            </a:avLst>
          </a:prstGeom>
          <a:solidFill>
            <a:srgbClr val="2A78D6"/>
          </a:solidFill>
          <a:ln w="6350">
            <a:solidFill>
              <a:srgbClr val="2A78D6"/>
            </a:solidFill>
            <a:prstDash val="solid"/>
          </a:ln>
        </p:spPr>
      </p:sp>
      <p:sp>
        <p:nvSpPr>
          <p:cNvPr id="12" name="Text 8"/>
          <p:cNvSpPr txBox="1"/>
          <p:nvPr/>
        </p:nvSpPr>
        <p:spPr>
          <a:xfrm>
            <a:off x="1024128" y="5029200"/>
            <a:ext cx="2035226" cy="310896"/>
          </a:xfrm>
          <a:prstGeom prst="rect">
            <a:avLst/>
          </a:prstGeom>
          <a:noFill/>
          <a:ln/>
        </p:spPr>
        <p:txBody>
          <a:bodyPr wrap="square" lIns="0" tIns="0" rIns="0" bIns="0" rtlCol="0" anchor="ctr"/>
          <a:lstStyle/>
          <a:p>
            <a:pPr indent="0" marL="0">
              <a:buNone/>
            </a:pPr>
            <a:r>
              <a:rPr lang="ja-JP" altLang="en-US" sz="1350" dirty="0">
                <a:solidFill>
                  <a:srgbClr val="1E1C33"/>
                </a:solidFill>
                <a:latin typeface="Arial"/>
                <a:ea typeface="BIZ UDGothic" charset="-128"/>
                <a:cs typeface="Arial"/>
              </a:rPr>
              <a:t>面内傾向</a:t>
            </a:r>
            <a:endParaRPr lang="ja-JP" sz="1350" dirty="0"/>
          </a:p>
        </p:txBody>
      </p:sp>
      <p:sp>
        <p:nvSpPr>
          <p:cNvPr id="13" name="Text 9"/>
          <p:cNvSpPr txBox="1"/>
          <p:nvPr/>
        </p:nvSpPr>
        <p:spPr>
          <a:xfrm>
            <a:off x="777240" y="5440680"/>
            <a:ext cx="2190674" cy="777240"/>
          </a:xfrm>
          <a:prstGeom prst="rect">
            <a:avLst/>
          </a:prstGeom>
          <a:noFill/>
          <a:ln/>
        </p:spPr>
        <p:txBody>
          <a:bodyPr wrap="square" lIns="0" tIns="0" rIns="0" bIns="0" rtlCol="0" anchor="t"/>
          <a:lstStyle/>
          <a:p>
            <a:pPr indent="0" marL="0">
              <a:buNone/>
            </a:pPr>
            <a:r>
              <a:rPr lang="ja-JP" altLang="en-US" sz="1200" dirty="0">
                <a:solidFill>
                  <a:srgbClr val="1E1C33"/>
                </a:solidFill>
                <a:latin typeface="Arial"/>
                <a:ea typeface="BIZ UDGothic" charset="-128"/>
                <a:cs typeface="Arial"/>
              </a:rPr>
              <a:t>Zernike 66項から10〜30項。RMS 平均 8.6 nm（10〜90%点 5.3〜12.7）</a:t>
            </a:r>
            <a:endParaRPr lang="ja-JP" sz="1200" dirty="0"/>
          </a:p>
        </p:txBody>
      </p:sp>
      <p:sp>
        <p:nvSpPr>
          <p:cNvPr id="14" name="Shape 10"/>
          <p:cNvSpPr/>
          <p:nvPr/>
        </p:nvSpPr>
        <p:spPr>
          <a:xfrm>
            <a:off x="3379394" y="4937760"/>
            <a:ext cx="2602154" cy="1325880"/>
          </a:xfrm>
          <a:prstGeom prst="roundRect">
            <a:avLst>
              <a:gd name="adj" fmla="val 6897"/>
            </a:avLst>
          </a:prstGeom>
          <a:solidFill>
            <a:srgbClr val="F2F3F7"/>
          </a:solidFill>
          <a:ln w="6350">
            <a:solidFill>
              <a:srgbClr val="F2F3F7"/>
            </a:solidFill>
            <a:prstDash val="solid"/>
          </a:ln>
        </p:spPr>
      </p:sp>
      <p:sp>
        <p:nvSpPr>
          <p:cNvPr id="15" name="Shape 11"/>
          <p:cNvSpPr/>
          <p:nvPr/>
        </p:nvSpPr>
        <p:spPr>
          <a:xfrm>
            <a:off x="3562274" y="5084064"/>
            <a:ext cx="201168" cy="201168"/>
          </a:xfrm>
          <a:prstGeom prst="roundRect">
            <a:avLst>
              <a:gd name="adj" fmla="val 18182"/>
            </a:avLst>
          </a:prstGeom>
          <a:solidFill>
            <a:srgbClr val="E87BA4"/>
          </a:solidFill>
          <a:ln w="6350">
            <a:solidFill>
              <a:srgbClr val="E87BA4"/>
            </a:solidFill>
            <a:prstDash val="solid"/>
          </a:ln>
        </p:spPr>
      </p:sp>
      <p:sp>
        <p:nvSpPr>
          <p:cNvPr id="16" name="Text 12"/>
          <p:cNvSpPr txBox="1"/>
          <p:nvPr/>
        </p:nvSpPr>
        <p:spPr>
          <a:xfrm>
            <a:off x="3854882" y="5029200"/>
            <a:ext cx="2035226" cy="310896"/>
          </a:xfrm>
          <a:prstGeom prst="rect">
            <a:avLst/>
          </a:prstGeom>
          <a:noFill/>
          <a:ln/>
        </p:spPr>
        <p:txBody>
          <a:bodyPr wrap="square" lIns="0" tIns="0" rIns="0" bIns="0" rtlCol="0" anchor="ctr"/>
          <a:lstStyle/>
          <a:p>
            <a:pPr indent="0" marL="0">
              <a:buNone/>
            </a:pPr>
            <a:r>
              <a:rPr lang="ja-JP" altLang="en-US" sz="1350" dirty="0">
                <a:solidFill>
                  <a:srgbClr val="1E1C33"/>
                </a:solidFill>
                <a:latin typeface="Arial"/>
                <a:ea typeface="BIZ UDGothic" charset="-128"/>
                <a:cs typeface="Arial"/>
              </a:rPr>
              <a:t>Mark Offset</a:t>
            </a:r>
            <a:endParaRPr lang="ja-JP" sz="1350" dirty="0"/>
          </a:p>
        </p:txBody>
      </p:sp>
      <p:sp>
        <p:nvSpPr>
          <p:cNvPr id="17" name="Text 13"/>
          <p:cNvSpPr txBox="1"/>
          <p:nvPr/>
        </p:nvSpPr>
        <p:spPr>
          <a:xfrm>
            <a:off x="3607994" y="5440680"/>
            <a:ext cx="2190674" cy="777240"/>
          </a:xfrm>
          <a:prstGeom prst="rect">
            <a:avLst/>
          </a:prstGeom>
          <a:noFill/>
          <a:ln/>
        </p:spPr>
        <p:txBody>
          <a:bodyPr wrap="square" lIns="0" tIns="0" rIns="0" bIns="0" rtlCol="0" anchor="t"/>
          <a:lstStyle/>
          <a:p>
            <a:pPr indent="0" marL="0">
              <a:buNone/>
            </a:pPr>
            <a:r>
              <a:rPr lang="ja-JP" altLang="en-US" sz="1200" dirty="0">
                <a:solidFill>
                  <a:srgbClr val="1E1C33"/>
                </a:solidFill>
                <a:latin typeface="Arial"/>
                <a:ea typeface="BIZ UDGothic" charset="-128"/>
                <a:cs typeface="Arial"/>
              </a:rPr>
              <a:t>Mark 番号ごと・全 Shot 共通。RMS 平均 1.58 nm</a:t>
            </a:r>
            <a:endParaRPr lang="ja-JP" sz="1200" dirty="0"/>
          </a:p>
        </p:txBody>
      </p:sp>
      <p:sp>
        <p:nvSpPr>
          <p:cNvPr id="18" name="Shape 14"/>
          <p:cNvSpPr/>
          <p:nvPr/>
        </p:nvSpPr>
        <p:spPr>
          <a:xfrm>
            <a:off x="6210148" y="4937760"/>
            <a:ext cx="2602154" cy="1325880"/>
          </a:xfrm>
          <a:prstGeom prst="roundRect">
            <a:avLst>
              <a:gd name="adj" fmla="val 6897"/>
            </a:avLst>
          </a:prstGeom>
          <a:solidFill>
            <a:srgbClr val="F2F3F7"/>
          </a:solidFill>
          <a:ln w="6350">
            <a:solidFill>
              <a:srgbClr val="F2F3F7"/>
            </a:solidFill>
            <a:prstDash val="solid"/>
          </a:ln>
        </p:spPr>
      </p:sp>
      <p:sp>
        <p:nvSpPr>
          <p:cNvPr id="19" name="Shape 15"/>
          <p:cNvSpPr/>
          <p:nvPr/>
        </p:nvSpPr>
        <p:spPr>
          <a:xfrm>
            <a:off x="6393028" y="5084064"/>
            <a:ext cx="201168" cy="201168"/>
          </a:xfrm>
          <a:prstGeom prst="roundRect">
            <a:avLst>
              <a:gd name="adj" fmla="val 18182"/>
            </a:avLst>
          </a:prstGeom>
          <a:solidFill>
            <a:srgbClr val="EDA100"/>
          </a:solidFill>
          <a:ln w="6350">
            <a:solidFill>
              <a:srgbClr val="EDA100"/>
            </a:solidFill>
            <a:prstDash val="solid"/>
          </a:ln>
        </p:spPr>
      </p:sp>
      <p:sp>
        <p:nvSpPr>
          <p:cNvPr id="20" name="Text 16"/>
          <p:cNvSpPr txBox="1"/>
          <p:nvPr/>
        </p:nvSpPr>
        <p:spPr>
          <a:xfrm>
            <a:off x="6685636" y="5029200"/>
            <a:ext cx="2035226" cy="310896"/>
          </a:xfrm>
          <a:prstGeom prst="rect">
            <a:avLst/>
          </a:prstGeom>
          <a:noFill/>
          <a:ln/>
        </p:spPr>
        <p:txBody>
          <a:bodyPr wrap="square" lIns="0" tIns="0" rIns="0" bIns="0" rtlCol="0" anchor="ctr"/>
          <a:lstStyle/>
          <a:p>
            <a:pPr indent="0" marL="0">
              <a:buNone/>
            </a:pPr>
            <a:r>
              <a:rPr lang="ja-JP" altLang="en-US" sz="1350" dirty="0">
                <a:solidFill>
                  <a:srgbClr val="1E1C33"/>
                </a:solidFill>
                <a:latin typeface="Arial"/>
                <a:ea typeface="BIZ UDGothic" charset="-128"/>
                <a:cs typeface="Arial"/>
              </a:rPr>
              <a:t>Scan 方向の差</a:t>
            </a:r>
            <a:endParaRPr lang="ja-JP" sz="1350" dirty="0"/>
          </a:p>
        </p:txBody>
      </p:sp>
      <p:sp>
        <p:nvSpPr>
          <p:cNvPr id="21" name="Text 17"/>
          <p:cNvSpPr txBox="1"/>
          <p:nvPr/>
        </p:nvSpPr>
        <p:spPr>
          <a:xfrm>
            <a:off x="6438748" y="5440680"/>
            <a:ext cx="2190674" cy="777240"/>
          </a:xfrm>
          <a:prstGeom prst="rect">
            <a:avLst/>
          </a:prstGeom>
          <a:noFill/>
          <a:ln/>
        </p:spPr>
        <p:txBody>
          <a:bodyPr wrap="square" lIns="0" tIns="0" rIns="0" bIns="0" rtlCol="0" anchor="t"/>
          <a:lstStyle/>
          <a:p>
            <a:pPr indent="0" marL="0">
              <a:buNone/>
            </a:pPr>
            <a:r>
              <a:rPr lang="ja-JP" altLang="en-US" sz="1200" dirty="0">
                <a:solidFill>
                  <a:srgbClr val="1E1C33"/>
                </a:solidFill>
                <a:latin typeface="Arial"/>
                <a:ea typeface="BIZ UDGothic" charset="-128"/>
                <a:cs typeface="Arial"/>
              </a:rPr>
              <a:t>方向1に +δ/2、方向2に −δ/2。RMS 平均 0.95 nm</a:t>
            </a:r>
            <a:endParaRPr lang="ja-JP" sz="1200" dirty="0"/>
          </a:p>
        </p:txBody>
      </p:sp>
      <p:sp>
        <p:nvSpPr>
          <p:cNvPr id="22" name="Shape 18"/>
          <p:cNvSpPr/>
          <p:nvPr/>
        </p:nvSpPr>
        <p:spPr>
          <a:xfrm>
            <a:off x="9040901" y="4937760"/>
            <a:ext cx="2602154" cy="1325880"/>
          </a:xfrm>
          <a:prstGeom prst="roundRect">
            <a:avLst>
              <a:gd name="adj" fmla="val 6897"/>
            </a:avLst>
          </a:prstGeom>
          <a:solidFill>
            <a:srgbClr val="F2F3F7"/>
          </a:solidFill>
          <a:ln w="6350">
            <a:solidFill>
              <a:srgbClr val="F2F3F7"/>
            </a:solidFill>
            <a:prstDash val="solid"/>
          </a:ln>
        </p:spPr>
      </p:sp>
      <p:sp>
        <p:nvSpPr>
          <p:cNvPr id="23" name="Shape 19"/>
          <p:cNvSpPr/>
          <p:nvPr/>
        </p:nvSpPr>
        <p:spPr>
          <a:xfrm>
            <a:off x="9223781" y="5084064"/>
            <a:ext cx="201168" cy="201168"/>
          </a:xfrm>
          <a:prstGeom prst="roundRect">
            <a:avLst>
              <a:gd name="adj" fmla="val 18182"/>
            </a:avLst>
          </a:prstGeom>
          <a:solidFill>
            <a:srgbClr val="EB6834"/>
          </a:solidFill>
          <a:ln w="6350">
            <a:solidFill>
              <a:srgbClr val="EB6834"/>
            </a:solidFill>
            <a:prstDash val="solid"/>
          </a:ln>
        </p:spPr>
      </p:sp>
      <p:sp>
        <p:nvSpPr>
          <p:cNvPr id="24" name="Text 20"/>
          <p:cNvSpPr txBox="1"/>
          <p:nvPr/>
        </p:nvSpPr>
        <p:spPr>
          <a:xfrm>
            <a:off x="9516389" y="5029200"/>
            <a:ext cx="2035226" cy="310896"/>
          </a:xfrm>
          <a:prstGeom prst="rect">
            <a:avLst/>
          </a:prstGeom>
          <a:noFill/>
          <a:ln/>
        </p:spPr>
        <p:txBody>
          <a:bodyPr wrap="square" lIns="0" tIns="0" rIns="0" bIns="0" rtlCol="0" anchor="ctr"/>
          <a:lstStyle/>
          <a:p>
            <a:pPr indent="0" marL="0">
              <a:buNone/>
            </a:pPr>
            <a:r>
              <a:rPr lang="ja-JP" altLang="en-US" sz="1350" dirty="0">
                <a:solidFill>
                  <a:srgbClr val="1E1C33"/>
                </a:solidFill>
                <a:latin typeface="Arial"/>
                <a:ea typeface="BIZ UDGothic" charset="-128"/>
                <a:cs typeface="Arial"/>
              </a:rPr>
              <a:t>計測ノイズ</a:t>
            </a:r>
            <a:endParaRPr lang="ja-JP" sz="1350" dirty="0"/>
          </a:p>
        </p:txBody>
      </p:sp>
      <p:sp>
        <p:nvSpPr>
          <p:cNvPr id="25" name="Text 21"/>
          <p:cNvSpPr txBox="1"/>
          <p:nvPr/>
        </p:nvSpPr>
        <p:spPr>
          <a:xfrm>
            <a:off x="9269501" y="5440680"/>
            <a:ext cx="2190674" cy="777240"/>
          </a:xfrm>
          <a:prstGeom prst="rect">
            <a:avLst/>
          </a:prstGeom>
          <a:noFill/>
          <a:ln/>
        </p:spPr>
        <p:txBody>
          <a:bodyPr wrap="square" lIns="0" tIns="0" rIns="0" bIns="0" rtlCol="0" anchor="t"/>
          <a:lstStyle/>
          <a:p>
            <a:pPr indent="0" marL="0">
              <a:buNone/>
            </a:pPr>
            <a:r>
              <a:rPr lang="ja-JP" altLang="en-US" sz="1200" dirty="0">
                <a:solidFill>
                  <a:srgbClr val="1E1C33"/>
                </a:solidFill>
                <a:latin typeface="Arial"/>
                <a:ea typeface="BIZ UDGothic" charset="-128"/>
                <a:cs typeface="Arial"/>
              </a:rPr>
              <a:t>一様分布。中心 ±1 → 最外周 ±3 nm。RMS 平均 1.00 nm</a:t>
            </a:r>
            <a:endParaRPr lang="ja-JP"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評価の方法</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設定値 ― 確認して決めた値と、仮定した値</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アライメント計測値の面内推定 ― 説明変数と手法の比較</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7</a:t>
            </a:r>
            <a:endParaRPr lang="ja-JP"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03120"/>
                <a:gridCol w="7436815"/>
                <a:gridCol w="1554480"/>
              </a:tblGrid>
              <a:tr h="512064">
                <a:tc>
                  <a:txBody>
                    <a:bodyPr/>
                    <a:lstStyle/>
                    <a:p>
                      <a:pPr algn="ctr" indent="0" marL="0">
                        <a:buNone/>
                      </a:pPr>
                      <a:r>
                        <a:rPr lang="en-US" sz="1300" b="1" dirty="0">
                          <a:solidFill>
                            <a:srgbClr val="FFFFFF"/>
                          </a:solidFill>
                          <a:latin typeface="Arial"/>
                          <a:ea typeface="BIZ UDGothic" charset="-128"/>
                          <a:cs typeface="Arial"/>
                        </a:rPr>
                        <a:t>項目</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b="1" dirty="0">
                          <a:solidFill>
                            <a:srgbClr val="FFFFFF"/>
                          </a:solidFill>
                          <a:latin typeface="Arial"/>
                          <a:ea typeface="BIZ UDGothic" charset="-128"/>
                          <a:cs typeface="Arial"/>
                        </a:rPr>
                        <a:t>設定</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b="1" dirty="0">
                          <a:solidFill>
                            <a:srgbClr val="FFFFFF"/>
                          </a:solidFill>
                          <a:latin typeface="Arial"/>
                          <a:ea typeface="BIZ UDGothic" charset="-128"/>
                          <a:cs typeface="Arial"/>
                        </a:rPr>
                        <a:t>根拠</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512064">
                <a:tc>
                  <a:txBody>
                    <a:bodyPr/>
                    <a:lstStyle/>
                    <a:p>
                      <a:pPr algn="l" indent="0" marL="0">
                        <a:buNone/>
                      </a:pPr>
                      <a:r>
                        <a:rPr lang="en-US" sz="1300" b="1" dirty="0">
                          <a:solidFill>
                            <a:srgbClr val="1E1C33"/>
                          </a:solidFill>
                          <a:latin typeface="Arial"/>
                          <a:ea typeface="BIZ UDGothic" charset="-128"/>
                          <a:cs typeface="Arial"/>
                        </a:rPr>
                        <a:t>Wafer・Shot</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300" dirty="0">
                          <a:solidFill>
                            <a:srgbClr val="1E1C33"/>
                          </a:solidFill>
                          <a:latin typeface="Arial"/>
                          <a:ea typeface="BIZ UDGothic" charset="-128"/>
                          <a:cs typeface="Arial"/>
                        </a:rPr>
                        <a:t>300 mm、端の除外 3 mm。Shot 22×26 mm、Mark (±10, ±12) mm。99 Shot・396 Mark、Scan 方向は列ごとに交互</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5E6275"/>
                          </a:solidFill>
                          <a:latin typeface="Arial"/>
                          <a:ea typeface="BIZ UDGothic" charset="-128"/>
                          <a:cs typeface="Arial"/>
                        </a:rPr>
                        <a:t>仮定</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12064">
                <a:tc>
                  <a:txBody>
                    <a:bodyPr/>
                    <a:lstStyle/>
                    <a:p>
                      <a:pPr algn="l" indent="0" marL="0">
                        <a:buNone/>
                      </a:pPr>
                      <a:r>
                        <a:rPr lang="en-US" sz="1300" b="1" dirty="0">
                          <a:solidFill>
                            <a:srgbClr val="1E1C33"/>
                          </a:solidFill>
                          <a:latin typeface="Arial"/>
                          <a:ea typeface="BIZ UDGothic" charset="-128"/>
                          <a:cs typeface="Arial"/>
                        </a:rPr>
                        <a:t>面内傾向</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300" dirty="0">
                          <a:solidFill>
                            <a:srgbClr val="1E1C33"/>
                          </a:solidFill>
                          <a:latin typeface="Arial"/>
                          <a:ea typeface="BIZ UDGothic" charset="-128"/>
                          <a:cs typeface="Arial"/>
                        </a:rPr>
                        <a:t>Zernike（RMS 正規化、動径次数 n ≤ 10 の66項）から10〜30項。X・Y 別々に選ぶ</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78F6C"/>
                          </a:solidFill>
                          <a:latin typeface="Arial"/>
                          <a:ea typeface="BIZ UDGothic" charset="-128"/>
                          <a:cs typeface="Arial"/>
                        </a:rPr>
                        <a:t>指定</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12064">
                <a:tc>
                  <a:txBody>
                    <a:bodyPr/>
                    <a:lstStyle/>
                    <a:p>
                      <a:pPr algn="l" indent="0" marL="0">
                        <a:buNone/>
                      </a:pPr>
                      <a:r>
                        <a:rPr lang="en-US" sz="1300" b="1" dirty="0">
                          <a:solidFill>
                            <a:srgbClr val="1E1C33"/>
                          </a:solidFill>
                          <a:latin typeface="Arial"/>
                          <a:ea typeface="BIZ UDGothic" charset="-128"/>
                          <a:cs typeface="Arial"/>
                        </a:rPr>
                        <a:t>係数の大きさ</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300" dirty="0">
                          <a:solidFill>
                            <a:srgbClr val="1E1C33"/>
                          </a:solidFill>
                          <a:latin typeface="Arial"/>
                          <a:ea typeface="BIZ UDGothic" charset="-128"/>
                          <a:cs typeface="Arial"/>
                        </a:rPr>
                        <a:t>標準偏差 σ</a:t>
                      </a:r>
                      <a:r>
                        <a:rPr lang="en-US" sz="1300" baseline="-40000" dirty="0">
                          <a:solidFill>
                            <a:srgbClr val="1E1C33"/>
                          </a:solidFill>
                          <a:latin typeface="Arial"/>
                          <a:ea typeface="BIZ UDGothic" charset="-128"/>
                          <a:cs typeface="Arial"/>
                        </a:rPr>
                        <a:t>n</a:t>
                      </a:r>
                      <a:r>
                        <a:rPr lang="en-US" sz="1300" dirty="0">
                          <a:solidFill>
                            <a:srgbClr val="1E1C33"/>
                          </a:solidFill>
                          <a:latin typeface="Arial"/>
                          <a:ea typeface="BIZ UDGothic" charset="-128"/>
                          <a:cs typeface="Arial"/>
                        </a:rPr>
                        <a:t> = 8 × 0.75</a:t>
                      </a:r>
                      <a:r>
                        <a:rPr lang="en-US" sz="1300" baseline="30000" dirty="0">
                          <a:solidFill>
                            <a:srgbClr val="1E1C33"/>
                          </a:solidFill>
                          <a:latin typeface="Arial"/>
                          <a:ea typeface="BIZ UDGothic" charset="-128"/>
                          <a:cs typeface="Arial"/>
                        </a:rPr>
                        <a:t>n</a:t>
                      </a:r>
                      <a:r>
                        <a:rPr lang="en-US" sz="1300" dirty="0">
                          <a:solidFill>
                            <a:srgbClr val="1E1C33"/>
                          </a:solidFill>
                          <a:latin typeface="Arial"/>
                          <a:ea typeface="BIZ UDGothic" charset="-128"/>
                          <a:cs typeface="Arial"/>
                        </a:rPr>
                        <a:t> nm（高次ほど小さく）</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5E6275"/>
                          </a:solidFill>
                          <a:latin typeface="Arial"/>
                          <a:ea typeface="BIZ UDGothic" charset="-128"/>
                          <a:cs typeface="Arial"/>
                        </a:rPr>
                        <a:t>確認＋仮定</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12064">
                <a:tc>
                  <a:txBody>
                    <a:bodyPr/>
                    <a:lstStyle/>
                    <a:p>
                      <a:pPr algn="l" indent="0" marL="0">
                        <a:buNone/>
                      </a:pPr>
                      <a:r>
                        <a:rPr lang="en-US" sz="1300" b="1" dirty="0">
                          <a:solidFill>
                            <a:srgbClr val="1E1C33"/>
                          </a:solidFill>
                          <a:latin typeface="Arial"/>
                          <a:ea typeface="BIZ UDGothic" charset="-128"/>
                          <a:cs typeface="Arial"/>
                        </a:rPr>
                        <a:t>Mark Offset</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300" dirty="0">
                          <a:solidFill>
                            <a:srgbClr val="1E1C33"/>
                          </a:solidFill>
                          <a:latin typeface="Arial"/>
                          <a:ea typeface="BIZ UDGothic" charset="-128"/>
                          <a:cs typeface="Arial"/>
                        </a:rPr>
                        <a:t>基準パターン（各 Mark ±1〜1.5 nm）＋ Wafer ごとの正規乱数 σ = 1 nm</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5E6275"/>
                          </a:solidFill>
                          <a:latin typeface="Arial"/>
                          <a:ea typeface="BIZ UDGothic" charset="-128"/>
                          <a:cs typeface="Arial"/>
                        </a:rPr>
                        <a:t>指定＋仮定</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12064">
                <a:tc>
                  <a:txBody>
                    <a:bodyPr/>
                    <a:lstStyle/>
                    <a:p>
                      <a:pPr algn="l" indent="0" marL="0">
                        <a:buNone/>
                      </a:pPr>
                      <a:r>
                        <a:rPr lang="en-US" sz="1300" b="1" dirty="0">
                          <a:solidFill>
                            <a:srgbClr val="1E1C33"/>
                          </a:solidFill>
                          <a:latin typeface="Arial"/>
                          <a:ea typeface="BIZ UDGothic" charset="-128"/>
                          <a:cs typeface="Arial"/>
                        </a:rPr>
                        <a:t>Scan 方向の差</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300" dirty="0">
                          <a:solidFill>
                            <a:srgbClr val="1E1C33"/>
                          </a:solidFill>
                          <a:latin typeface="Arial"/>
                          <a:ea typeface="BIZ UDGothic" charset="-128"/>
                          <a:cs typeface="Arial"/>
                        </a:rPr>
                        <a:t>δ = (2, -1.5) nm ＋ 正規乱数 σ = 1 nm。方向1 +δ/2、方向2 −δ/2</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5E6275"/>
                          </a:solidFill>
                          <a:latin typeface="Arial"/>
                          <a:ea typeface="BIZ UDGothic" charset="-128"/>
                          <a:cs typeface="Arial"/>
                        </a:rPr>
                        <a:t>指定＋仮定</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12064">
                <a:tc>
                  <a:txBody>
                    <a:bodyPr/>
                    <a:lstStyle/>
                    <a:p>
                      <a:pPr algn="l" indent="0" marL="0">
                        <a:buNone/>
                      </a:pPr>
                      <a:r>
                        <a:rPr lang="en-US" sz="1300" b="1" dirty="0">
                          <a:solidFill>
                            <a:srgbClr val="1E1C33"/>
                          </a:solidFill>
                          <a:latin typeface="Arial"/>
                          <a:ea typeface="BIZ UDGothic" charset="-128"/>
                          <a:cs typeface="Arial"/>
                        </a:rPr>
                        <a:t>計測ノイズ</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300" dirty="0">
                          <a:solidFill>
                            <a:srgbClr val="1E1C33"/>
                          </a:solidFill>
                          <a:latin typeface="Arial"/>
                          <a:ea typeface="BIZ UDGothic" charset="-128"/>
                          <a:cs typeface="Arial"/>
                        </a:rPr>
                        <a:t>一様分布、幅 a(r) = 1 + 2 (r / r</a:t>
                      </a:r>
                      <a:r>
                        <a:rPr lang="en-US" sz="1300" baseline="-40000" dirty="0">
                          <a:solidFill>
                            <a:srgbClr val="1E1C33"/>
                          </a:solidFill>
                          <a:latin typeface="Arial"/>
                          <a:ea typeface="BIZ UDGothic" charset="-128"/>
                          <a:cs typeface="Arial"/>
                        </a:rPr>
                        <a:t>max</a:t>
                      </a:r>
                      <a:r>
                        <a:rPr lang="en-US" sz="1300" dirty="0">
                          <a:solidFill>
                            <a:srgbClr val="1E1C33"/>
                          </a:solidFill>
                          <a:latin typeface="Arial"/>
                          <a:ea typeface="BIZ UDGothic" charset="-128"/>
                          <a:cs typeface="Arial"/>
                        </a:rPr>
                        <a:t>)</a:t>
                      </a:r>
                      <a:r>
                        <a:rPr lang="en-US" sz="1300" baseline="30000" dirty="0">
                          <a:solidFill>
                            <a:srgbClr val="1E1C33"/>
                          </a:solidFill>
                          <a:latin typeface="Arial"/>
                          <a:ea typeface="BIZ UDGothic" charset="-128"/>
                          <a:cs typeface="Arial"/>
                        </a:rPr>
                        <a:t>3</a:t>
                      </a:r>
                      <a:r>
                        <a:rPr lang="en-US" sz="1300" dirty="0">
                          <a:solidFill>
                            <a:srgbClr val="1E1C33"/>
                          </a:solidFill>
                          <a:latin typeface="Arial"/>
                          <a:ea typeface="BIZ UDGothic" charset="-128"/>
                          <a:cs typeface="Arial"/>
                        </a:rPr>
                        <a:t> nm（中心 ±1 → 最外周 ±3）</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5E6275"/>
                          </a:solidFill>
                          <a:latin typeface="Arial"/>
                          <a:ea typeface="BIZ UDGothic" charset="-128"/>
                          <a:cs typeface="Arial"/>
                        </a:rPr>
                        <a:t>確認＋仮定</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12064">
                <a:tc>
                  <a:txBody>
                    <a:bodyPr/>
                    <a:lstStyle/>
                    <a:p>
                      <a:pPr algn="l" indent="0" marL="0">
                        <a:buNone/>
                      </a:pPr>
                      <a:r>
                        <a:rPr lang="en-US" sz="1300" b="1" dirty="0">
                          <a:solidFill>
                            <a:srgbClr val="1E1C33"/>
                          </a:solidFill>
                          <a:latin typeface="Arial"/>
                          <a:ea typeface="BIZ UDGothic" charset="-128"/>
                          <a:cs typeface="Arial"/>
                        </a:rPr>
                        <a:t>Wafer 数・Shot 数</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300" dirty="0">
                          <a:solidFill>
                            <a:srgbClr val="1E1C33"/>
                          </a:solidFill>
                          <a:latin typeface="Arial"/>
                          <a:ea typeface="BIZ UDGothic" charset="-128"/>
                          <a:cs typeface="Arial"/>
                        </a:rPr>
                        <a:t>1,000 枚 × 7 水準（10, 15, 20, 25, 30, 35, 40 Shot）</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78F6C"/>
                          </a:solidFill>
                          <a:latin typeface="Arial"/>
                          <a:ea typeface="BIZ UDGothic" charset="-128"/>
                          <a:cs typeface="Arial"/>
                        </a:rPr>
                        <a:t>指定</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7" name="Shape 4"/>
          <p:cNvSpPr/>
          <p:nvPr/>
        </p:nvSpPr>
        <p:spPr>
          <a:xfrm>
            <a:off x="548640" y="5623560"/>
            <a:ext cx="6766560" cy="640080"/>
          </a:xfrm>
          <a:prstGeom prst="roundRect">
            <a:avLst>
              <a:gd name="adj" fmla="val 14286"/>
            </a:avLst>
          </a:prstGeom>
          <a:solidFill>
            <a:srgbClr val="EEEFF7"/>
          </a:solidFill>
          <a:ln w="6350">
            <a:solidFill>
              <a:srgbClr val="EEEFF7"/>
            </a:solidFill>
            <a:prstDash val="solid"/>
          </a:ln>
        </p:spPr>
      </p:sp>
      <p:pic>
        <p:nvPicPr>
          <p:cNvPr id="8" name="Image 0" descr="面内傾向の式">    </p:cNvPr>
          <p:cNvPicPr>
            <a:picLocks noChangeAspect="1"/>
          </p:cNvPicPr>
          <p:nvPr/>
        </p:nvPicPr>
        <p:blipFill>
          <a:blip r:embed="rId1"/>
          <a:stretch>
            <a:fillRect/>
          </a:stretch>
        </p:blipFill>
        <p:spPr>
          <a:xfrm>
            <a:off x="1798168" y="5740329"/>
            <a:ext cx="4267505" cy="406542"/>
          </a:xfrm>
          <a:prstGeom prst="rect">
            <a:avLst/>
          </a:prstGeom>
        </p:spPr>
      </p:pic>
      <p:sp>
        <p:nvSpPr>
          <p:cNvPr id="9" name="Shape 5"/>
          <p:cNvSpPr/>
          <p:nvPr/>
        </p:nvSpPr>
        <p:spPr>
          <a:xfrm>
            <a:off x="7543800" y="5623560"/>
            <a:ext cx="4099255" cy="640080"/>
          </a:xfrm>
          <a:prstGeom prst="roundRect">
            <a:avLst>
              <a:gd name="adj" fmla="val 14286"/>
            </a:avLst>
          </a:prstGeom>
          <a:solidFill>
            <a:srgbClr val="EEEFF7"/>
          </a:solidFill>
          <a:ln w="6350">
            <a:solidFill>
              <a:srgbClr val="EEEFF7"/>
            </a:solidFill>
            <a:prstDash val="solid"/>
          </a:ln>
        </p:spPr>
      </p:sp>
      <p:pic>
        <p:nvPicPr>
          <p:cNvPr id="10" name="Image 1" descr="ノイズの式">    </p:cNvPr>
          <p:cNvPicPr>
            <a:picLocks noChangeAspect="1"/>
          </p:cNvPicPr>
          <p:nvPr/>
        </p:nvPicPr>
        <p:blipFill>
          <a:blip r:embed="rId2"/>
          <a:stretch>
            <a:fillRect/>
          </a:stretch>
        </p:blipFill>
        <p:spPr>
          <a:xfrm>
            <a:off x="7911998" y="5802401"/>
            <a:ext cx="3362858" cy="2823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評価の方法</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サンプリング ― 制約付きI最適計画で10〜40 Shotを選ぶ</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計画の基準モデル：XY5次多項式（21項）。交換法（Fedorov型）、初期配置30通りから最良を採用</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8</a:t>
            </a:r>
            <a:endParaRPr lang="ja-JP" sz="1000" dirty="0"/>
          </a:p>
        </p:txBody>
      </p:sp>
      <p:pic>
        <p:nvPicPr>
          <p:cNvPr id="6" name="Image 0" descr="サンプリング計画">    </p:cNvPr>
          <p:cNvPicPr>
            <a:picLocks noChangeAspect="1"/>
          </p:cNvPicPr>
          <p:nvPr/>
        </p:nvPicPr>
        <p:blipFill>
          <a:blip r:embed="rId1"/>
          <a:stretch>
            <a:fillRect/>
          </a:stretch>
        </p:blipFill>
        <p:spPr>
          <a:xfrm>
            <a:off x="548640" y="1371600"/>
            <a:ext cx="7589520" cy="2451161"/>
          </a:xfrm>
          <a:prstGeom prst="rect">
            <a:avLst/>
          </a:prstGeom>
        </p:spPr>
      </p:pic>
      <p:sp>
        <p:nvSpPr>
          <p:cNvPr id="7" name="Shape 4"/>
          <p:cNvSpPr/>
          <p:nvPr/>
        </p:nvSpPr>
        <p:spPr>
          <a:xfrm>
            <a:off x="8366760" y="1417320"/>
            <a:ext cx="3276295" cy="777240"/>
          </a:xfrm>
          <a:prstGeom prst="roundRect">
            <a:avLst>
              <a:gd name="adj" fmla="val 11765"/>
            </a:avLst>
          </a:prstGeom>
          <a:solidFill>
            <a:srgbClr val="EEEFF7"/>
          </a:solidFill>
          <a:ln w="6350">
            <a:solidFill>
              <a:srgbClr val="EEEFF7"/>
            </a:solidFill>
            <a:prstDash val="solid"/>
          </a:ln>
        </p:spPr>
      </p:sp>
      <p:pic>
        <p:nvPicPr>
          <p:cNvPr id="8" name="Image 1" descr="I最適の基準">    </p:cNvPr>
          <p:cNvPicPr>
            <a:picLocks noChangeAspect="1"/>
          </p:cNvPicPr>
          <p:nvPr/>
        </p:nvPicPr>
        <p:blipFill>
          <a:blip r:embed="rId2"/>
          <a:stretch>
            <a:fillRect/>
          </a:stretch>
        </p:blipFill>
        <p:spPr>
          <a:xfrm>
            <a:off x="8589035" y="1577950"/>
            <a:ext cx="2831744" cy="455981"/>
          </a:xfrm>
          <a:prstGeom prst="rect">
            <a:avLst/>
          </a:prstGeom>
        </p:spPr>
      </p:pic>
      <p:sp>
        <p:nvSpPr>
          <p:cNvPr id="9" name="Text 5"/>
          <p:cNvSpPr txBox="1"/>
          <p:nvPr/>
        </p:nvSpPr>
        <p:spPr>
          <a:xfrm>
            <a:off x="8366760" y="2377440"/>
            <a:ext cx="3276295" cy="2194560"/>
          </a:xfrm>
          <a:prstGeom prst="rect">
            <a:avLst/>
          </a:prstGeom>
          <a:noFill/>
          <a:ln/>
        </p:spPr>
        <p:txBody>
          <a:bodyPr wrap="square" lIns="0" tIns="0" rIns="0" bIns="0" rtlCol="0" anchor="t"/>
          <a:lstStyle/>
          <a:p>
            <a:pPr marL="203200" indent="-203200">
              <a:spcAft>
                <a:spcPts val="800"/>
              </a:spcAft>
              <a:buSzPct val="100000"/>
              <a:buChar char="•"/>
            </a:pPr>
            <a:r>
              <a:rPr lang="ja-JP" altLang="en-US" sz="1300" dirty="0">
                <a:solidFill>
                  <a:srgbClr val="1E1C33"/>
                </a:solidFill>
                <a:latin typeface="Arial"/>
                <a:ea typeface="BIZ UDGothic" charset="-128"/>
                <a:cs typeface="Arial"/>
              </a:rPr>
              <a:t>B</a:t>
            </a:r>
            <a:r>
              <a:rPr lang="ja-JP" altLang="en-US" sz="1300" baseline="-40000" dirty="0">
                <a:solidFill>
                  <a:srgbClr val="1E1C33"/>
                </a:solidFill>
                <a:latin typeface="Arial"/>
                <a:ea typeface="BIZ UDGothic" charset="-128"/>
                <a:cs typeface="Arial"/>
              </a:rPr>
              <a:t>s</a:t>
            </a:r>
            <a:r>
              <a:rPr lang="ja-JP" altLang="en-US" sz="1300" dirty="0">
                <a:solidFill>
                  <a:srgbClr val="1E1C33"/>
                </a:solidFill>
                <a:latin typeface="Arial"/>
                <a:ea typeface="BIZ UDGothic" charset="-128"/>
                <a:cs typeface="Arial"/>
              </a:rPr>
              <a:t>：Shot s の Mark での XY5 多項式（全 Mark で正規直交化）</a:t>
            </a:r>
            <a:endParaRPr lang="ja-JP" sz="1300" dirty="0"/>
          </a:p>
          <a:p>
            <a:pPr marL="203200" indent="-203200">
              <a:spcAft>
                <a:spcPts val="800"/>
              </a:spcAft>
              <a:buSzPct val="100000"/>
              <a:buChar char="•"/>
            </a:pPr>
            <a:r>
              <a:rPr lang="ja-JP" altLang="en-US" sz="1300" dirty="0">
                <a:solidFill>
                  <a:srgbClr val="1E1C33"/>
                </a:solidFill>
                <a:latin typeface="Arial"/>
                <a:ea typeface="BIZ UDGothic" charset="-128"/>
                <a:cs typeface="Arial"/>
              </a:rPr>
              <a:t>同心円 0.45・0.7（半径比）で3区画</a:t>
            </a:r>
            <a:endParaRPr lang="ja-JP" sz="1300" dirty="0"/>
          </a:p>
          <a:p>
            <a:pPr marL="203200" indent="-203200">
              <a:spcAft>
                <a:spcPts val="800"/>
              </a:spcAft>
              <a:buSzPct val="100000"/>
              <a:buChar char="•"/>
            </a:pPr>
            <a:r>
              <a:rPr lang="ja-JP" altLang="en-US" sz="1300" dirty="0">
                <a:solidFill>
                  <a:srgbClr val="1E1C33"/>
                </a:solidFill>
                <a:latin typeface="Arial"/>
                <a:ea typeface="BIZ UDGothic" charset="-128"/>
                <a:cs typeface="Arial"/>
              </a:rPr>
              <a:t>4象限・Scan 方向2つ</a:t>
            </a:r>
            <a:endParaRPr lang="ja-JP" sz="1300" dirty="0"/>
          </a:p>
          <a:p>
            <a:pPr marL="203200" indent="-203200">
              <a:spcAft>
                <a:spcPts val="800"/>
              </a:spcAft>
              <a:buSzPct val="100000"/>
              <a:buChar char="•"/>
            </a:pPr>
            <a:r>
              <a:rPr lang="ja-JP" altLang="en-US" sz="1300" dirty="0">
                <a:solidFill>
                  <a:srgbClr val="1E1C33"/>
                </a:solidFill>
                <a:latin typeface="Arial"/>
                <a:ea typeface="BIZ UDGothic" charset="-128"/>
                <a:cs typeface="Arial"/>
              </a:rPr>
              <a:t>各区画の Shot 数 = 割合 × 選ぶ数 ± 1</a:t>
            </a:r>
            <a:endParaRPr lang="ja-JP"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4846320"/>
          <a:ext cx="7589520" cy="914400"/>
        </p:xfrm>
        <a:graphic>
          <a:graphicData uri="http://schemas.openxmlformats.org/drawingml/2006/table">
            <a:tbl>
              <a:tblPr/>
              <a:tblGrid>
                <a:gridCol w="1828800"/>
                <a:gridCol w="822960"/>
                <a:gridCol w="822960"/>
                <a:gridCol w="822960"/>
                <a:gridCol w="822960"/>
                <a:gridCol w="822960"/>
                <a:gridCol w="822960"/>
                <a:gridCol w="822960"/>
              </a:tblGrid>
              <a:tr h="384048">
                <a:tc>
                  <a:txBody>
                    <a:bodyPr/>
                    <a:lstStyle/>
                    <a:p>
                      <a:pPr algn="ctr" indent="0" marL="0">
                        <a:buNone/>
                      </a:pPr>
                      <a:r>
                        <a:rPr lang="en-US" sz="1200" b="1" dirty="0">
                          <a:solidFill>
                            <a:srgbClr val="FFFFFF"/>
                          </a:solidFill>
                          <a:latin typeface="Arial"/>
                          <a:ea typeface="BIZ UDGothic" charset="-128"/>
                          <a:cs typeface="Arial"/>
                        </a:rPr>
                        <a:t>計測 Shot 数</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10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15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20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25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30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35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40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84048">
                <a:tc>
                  <a:txBody>
                    <a:bodyPr/>
                    <a:lstStyle/>
                    <a:p>
                      <a:pPr algn="l" indent="0" marL="0">
                        <a:buNone/>
                      </a:pPr>
                      <a:r>
                        <a:rPr lang="en-US" sz="1200" b="1" dirty="0">
                          <a:solidFill>
                            <a:srgbClr val="1E1C33"/>
                          </a:solidFill>
                          <a:latin typeface="Arial"/>
                          <a:ea typeface="BIZ UDGothic" charset="-128"/>
                          <a:cs typeface="Arial"/>
                        </a:rPr>
                        <a:t>学習 Mark</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40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60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80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100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120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140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160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b="1" dirty="0">
                          <a:solidFill>
                            <a:srgbClr val="1E1C33"/>
                          </a:solidFill>
                          <a:latin typeface="Arial"/>
                          <a:ea typeface="BIZ UDGothic" charset="-128"/>
                          <a:cs typeface="Arial"/>
                        </a:rPr>
                        <a:t>推定する Mark</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356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336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316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296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276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256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236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11" name="Shape 6"/>
          <p:cNvSpPr/>
          <p:nvPr/>
        </p:nvSpPr>
        <p:spPr>
          <a:xfrm>
            <a:off x="8366760" y="4754880"/>
            <a:ext cx="3276295" cy="1508760"/>
          </a:xfrm>
          <a:prstGeom prst="roundRect">
            <a:avLst>
              <a:gd name="adj" fmla="val 6061"/>
            </a:avLst>
          </a:prstGeom>
          <a:solidFill>
            <a:srgbClr val="F2F3F7"/>
          </a:solidFill>
          <a:ln w="6350">
            <a:solidFill>
              <a:srgbClr val="F2F3F7"/>
            </a:solidFill>
            <a:prstDash val="solid"/>
          </a:ln>
        </p:spPr>
      </p:sp>
      <p:sp>
        <p:nvSpPr>
          <p:cNvPr id="12" name="Text 7"/>
          <p:cNvSpPr txBox="1"/>
          <p:nvPr/>
        </p:nvSpPr>
        <p:spPr>
          <a:xfrm>
            <a:off x="8595360" y="4754880"/>
            <a:ext cx="2819095" cy="1508760"/>
          </a:xfrm>
          <a:prstGeom prst="rect">
            <a:avLst/>
          </a:prstGeom>
          <a:noFill/>
          <a:ln/>
        </p:spPr>
        <p:txBody>
          <a:bodyPr wrap="square" lIns="0" tIns="0" rIns="0" bIns="0" rtlCol="0" anchor="ctr"/>
          <a:lstStyle/>
          <a:p>
            <a:pPr indent="0" marL="0">
              <a:buNone/>
            </a:pPr>
            <a:r>
              <a:rPr lang="ja-JP" altLang="en-US" sz="1250" dirty="0">
                <a:solidFill>
                  <a:srgbClr val="1E1C33"/>
                </a:solidFill>
                <a:latin typeface="Arial"/>
                <a:ea typeface="BIZ UDGothic" charset="-128"/>
                <a:cs typeface="Arial"/>
              </a:rPr>
              <a:t>計画は面内傾向の値に依存しないので、Shot 数ごとに1つ作り、全 Wafer で共通に使う（学習点と推定点が全 Wafer で同じ）</a:t>
            </a:r>
            <a:endParaRPr lang="ja-JP"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評価の方法</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比較した手法 ― 7系統・123設定</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アライメント計測値の面内推定 ― 説明変数と手法の比較</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9</a:t>
            </a:r>
            <a:endParaRPr lang="ja-JP"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28800"/>
                <a:gridCol w="2743200"/>
                <a:gridCol w="1005840"/>
                <a:gridCol w="2194560"/>
                <a:gridCol w="822960"/>
                <a:gridCol w="2499055"/>
              </a:tblGrid>
              <a:tr h="512064">
                <a:tc>
                  <a:txBody>
                    <a:bodyPr/>
                    <a:lstStyle/>
                    <a:p>
                      <a:pPr algn="ctr" indent="0" marL="0">
                        <a:buNone/>
                      </a:pPr>
                      <a:r>
                        <a:rPr lang="en-US" sz="1250" b="1" dirty="0">
                          <a:solidFill>
                            <a:srgbClr val="FFFFFF"/>
                          </a:solidFill>
                          <a:latin typeface="Arial"/>
                          <a:ea typeface="BIZ UDGothic" charset="-128"/>
                          <a:cs typeface="Arial"/>
                        </a:rPr>
                        <a:t>系統</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モデル</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説明変数</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質的変数（Scan・Mark）</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設定数</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ハイパーパラメータ</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512064">
                <a:tc>
                  <a:txBody>
                    <a:bodyPr/>
                    <a:lstStyle/>
                    <a:p>
                      <a:pPr algn="l" indent="0" marL="0">
                        <a:buNone/>
                      </a:pPr>
                      <a:r>
                        <a:rPr lang="en-US" sz="1250" b="1" dirty="0">
                          <a:solidFill>
                            <a:srgbClr val="2A78D6"/>
                          </a:solidFill>
                          <a:latin typeface="Arial"/>
                          <a:ea typeface="BIZ UDGothic" charset="-128"/>
                          <a:cs typeface="Arial"/>
                        </a:rPr>
                        <a:t>GPR</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fitrgp の10カーネル</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3組</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なし／同時推定／Backfitting</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b="1" dirty="0">
                          <a:solidFill>
                            <a:srgbClr val="1E1C33"/>
                          </a:solidFill>
                          <a:latin typeface="Arial"/>
                          <a:ea typeface="BIZ UDGothic" charset="-128"/>
                          <a:cs typeface="Arial"/>
                        </a:rPr>
                        <a:t>90</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対数周辺尤度の最大化（fitrgp と同じ）</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12064">
                <a:tc>
                  <a:txBody>
                    <a:bodyPr/>
                    <a:lstStyle/>
                    <a:p>
                      <a:pPr algn="l" indent="0" marL="0">
                        <a:buNone/>
                      </a:pPr>
                      <a:r>
                        <a:rPr lang="en-US" sz="1250" b="1" dirty="0">
                          <a:solidFill>
                            <a:srgbClr val="EB6834"/>
                          </a:solidFill>
                          <a:latin typeface="Arial"/>
                          <a:ea typeface="BIZ UDGothic" charset="-128"/>
                          <a:cs typeface="Arial"/>
                        </a:rPr>
                        <a:t>TPS</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平滑化つき薄板スプライン</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3組</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b="1" dirty="0">
                          <a:solidFill>
                            <a:srgbClr val="1E1C33"/>
                          </a:solidFill>
                          <a:latin typeface="Arial"/>
                          <a:ea typeface="BIZ UDGothic" charset="-128"/>
                          <a:cs typeface="Arial"/>
                        </a:rPr>
                        <a:t>3</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平滑化を GCV で選ぶ</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12064">
                <a:tc>
                  <a:txBody>
                    <a:bodyPr/>
                    <a:lstStyle/>
                    <a:p>
                      <a:pPr algn="l" indent="0" marL="0">
                        <a:buNone/>
                      </a:pPr>
                      <a:r>
                        <a:rPr lang="en-US" sz="1250" b="1" dirty="0">
                          <a:solidFill>
                            <a:srgbClr val="1BAF7A"/>
                          </a:solidFill>
                          <a:latin typeface="Arial"/>
                          <a:ea typeface="BIZ UDGothic" charset="-128"/>
                          <a:cs typeface="Arial"/>
                        </a:rPr>
                        <a:t>Kriging</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Ordinary、バリオグラム4種</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3組</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b="1" dirty="0">
                          <a:solidFill>
                            <a:srgbClr val="1E1C33"/>
                          </a:solidFill>
                          <a:latin typeface="Arial"/>
                          <a:ea typeface="BIZ UDGothic" charset="-128"/>
                          <a:cs typeface="Arial"/>
                        </a:rPr>
                        <a:t>12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経験バリオグラムへ最小二乗（PyKrige 既定）</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12064">
                <a:tc>
                  <a:txBody>
                    <a:bodyPr/>
                    <a:lstStyle/>
                    <a:p>
                      <a:pPr algn="l" indent="0" marL="0">
                        <a:buNone/>
                      </a:pPr>
                      <a:r>
                        <a:rPr lang="en-US" sz="1250" b="1" dirty="0">
                          <a:solidFill>
                            <a:srgbClr val="EDA100"/>
                          </a:solidFill>
                          <a:latin typeface="Arial"/>
                          <a:ea typeface="BIZ UDGothic" charset="-128"/>
                          <a:cs typeface="Arial"/>
                        </a:rPr>
                        <a:t>Universal Kriging</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ドリフト＝説明変数の1次式、4種</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3組</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b="1" dirty="0">
                          <a:solidFill>
                            <a:srgbClr val="1E1C33"/>
                          </a:solidFill>
                          <a:latin typeface="Arial"/>
                          <a:ea typeface="BIZ UDGothic" charset="-128"/>
                          <a:cs typeface="Arial"/>
                        </a:rPr>
                        <a:t>12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同上（ドリフトを除いた残差で）</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12064">
                <a:tc>
                  <a:txBody>
                    <a:bodyPr/>
                    <a:lstStyle/>
                    <a:p>
                      <a:pPr algn="l" indent="0" marL="0">
                        <a:buNone/>
                      </a:pPr>
                      <a:r>
                        <a:rPr lang="en-US" sz="1250" b="1" dirty="0">
                          <a:solidFill>
                            <a:srgbClr val="E87BA4"/>
                          </a:solidFill>
                          <a:latin typeface="Arial"/>
                          <a:ea typeface="BIZ UDGothic" charset="-128"/>
                          <a:cs typeface="Arial"/>
                        </a:rPr>
                        <a:t>GAM</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s(x,y)＋s(r)＋周期 s(T)</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3組</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説明変数に追加</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b="1" dirty="0">
                          <a:solidFill>
                            <a:srgbClr val="1E1C33"/>
                          </a:solidFill>
                          <a:latin typeface="Arial"/>
                          <a:ea typeface="BIZ UDGothic" charset="-128"/>
                          <a:cs typeface="Arial"/>
                        </a:rPr>
                        <a:t>3</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平滑化を REML で選ぶ</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12064">
                <a:tc>
                  <a:txBody>
                    <a:bodyPr/>
                    <a:lstStyle/>
                    <a:p>
                      <a:pPr algn="l" indent="0" marL="0">
                        <a:buNone/>
                      </a:pPr>
                      <a:r>
                        <a:rPr lang="en-US" sz="1250" b="1" dirty="0">
                          <a:solidFill>
                            <a:srgbClr val="008300"/>
                          </a:solidFill>
                          <a:latin typeface="Arial"/>
                          <a:ea typeface="BIZ UDGothic" charset="-128"/>
                          <a:cs typeface="Arial"/>
                        </a:rPr>
                        <a:t>XY5次多項式</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X・Y 各21項</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b="1" dirty="0">
                          <a:solidFill>
                            <a:srgbClr val="1E1C33"/>
                          </a:solidFill>
                          <a:latin typeface="Arial"/>
                          <a:ea typeface="BIZ UDGothic" charset="-128"/>
                          <a:cs typeface="Arial"/>
                        </a:rPr>
                        <a:t>1</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最小二乗</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12064">
                <a:tc>
                  <a:txBody>
                    <a:bodyPr/>
                    <a:lstStyle/>
                    <a:p>
                      <a:pPr algn="l" indent="0" marL="0">
                        <a:buNone/>
                      </a:pPr>
                      <a:r>
                        <a:rPr lang="en-US" sz="1250" b="1" dirty="0">
                          <a:solidFill>
                            <a:srgbClr val="4A3AA7"/>
                          </a:solidFill>
                          <a:latin typeface="Arial"/>
                          <a:ea typeface="BIZ UDGothic" charset="-128"/>
                          <a:cs typeface="Arial"/>
                        </a:rPr>
                        <a:t>RTモデル</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R = ρM、T = ρΘ（K = 4, 5）</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dirty="0">
                          <a:solidFill>
                            <a:srgbClr val="1E1C33"/>
                          </a:solidFill>
                          <a:latin typeface="Arial"/>
                          <a:ea typeface="BIZ UDGothic" charset="-128"/>
                          <a:cs typeface="Arial"/>
                        </a:rPr>
                        <a:t>－</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50" b="1" dirty="0">
                          <a:solidFill>
                            <a:srgbClr val="1E1C33"/>
                          </a:solidFill>
                          <a:latin typeface="Arial"/>
                          <a:ea typeface="BIZ UDGothic" charset="-128"/>
                          <a:cs typeface="Arial"/>
                        </a:rPr>
                        <a:t>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最小二乗（X・Y 同時）</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7" name="Shape 4"/>
          <p:cNvSpPr/>
          <p:nvPr/>
        </p:nvSpPr>
        <p:spPr>
          <a:xfrm>
            <a:off x="548640" y="5623560"/>
            <a:ext cx="11094415" cy="640080"/>
          </a:xfrm>
          <a:prstGeom prst="roundRect">
            <a:avLst>
              <a:gd name="adj" fmla="val 14286"/>
            </a:avLst>
          </a:prstGeom>
          <a:solidFill>
            <a:srgbClr val="EEEFF7"/>
          </a:solidFill>
          <a:ln w="6350">
            <a:solidFill>
              <a:srgbClr val="EEEFF7"/>
            </a:solidFill>
            <a:prstDash val="solid"/>
          </a:ln>
        </p:spPr>
      </p:sp>
      <p:sp>
        <p:nvSpPr>
          <p:cNvPr id="8" name="Text 5"/>
          <p:cNvSpPr txBox="1"/>
          <p:nvPr/>
        </p:nvSpPr>
        <p:spPr>
          <a:xfrm>
            <a:off x="822960" y="5623560"/>
            <a:ext cx="10545775" cy="640080"/>
          </a:xfrm>
          <a:prstGeom prst="rect">
            <a:avLst/>
          </a:prstGeom>
          <a:noFill/>
          <a:ln/>
        </p:spPr>
        <p:txBody>
          <a:bodyPr wrap="square" lIns="0" tIns="0" rIns="0" bIns="0" rtlCol="0" anchor="ctr"/>
          <a:lstStyle/>
          <a:p>
            <a:pPr indent="0" marL="0">
              <a:buNone/>
            </a:pPr>
            <a:r>
              <a:rPr lang="ja-JP" altLang="en-US" sz="1300" dirty="0">
                <a:solidFill>
                  <a:srgbClr val="1E1C33"/>
                </a:solidFill>
                <a:latin typeface="Arial"/>
                <a:ea typeface="BIZ UDGothic" charset="-128"/>
                <a:cs typeface="Arial"/>
              </a:rPr>
              <a:t>各手法は X と Y を別々に推定（RT モデルのみ X・Y を同時に当てはめ）。説明変数は Wafer 半径 150 mm で割って単位をそろえた</a:t>
            </a:r>
            <a:endParaRPr lang="ja-JP"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評価の方法</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GPR ― fitrgp の10カーネルと、質的変数の3つの扱い</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出典：MathWorks「fitrgp」「Kernel (Covariance) Function Options」、Rasmussen &amp; Williams (2006)</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10</a:t>
            </a:r>
            <a:endParaRPr lang="ja-JP"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669280" cy="914400"/>
        </p:xfrm>
        <a:graphic>
          <a:graphicData uri="http://schemas.openxmlformats.org/drawingml/2006/table">
            <a:tbl>
              <a:tblPr/>
              <a:tblGrid>
                <a:gridCol w="2377440"/>
                <a:gridCol w="3291840"/>
              </a:tblGrid>
              <a:tr h="393192">
                <a:tc>
                  <a:txBody>
                    <a:bodyPr/>
                    <a:lstStyle/>
                    <a:p>
                      <a:pPr algn="ctr" indent="0" marL="0">
                        <a:buNone/>
                      </a:pPr>
                      <a:r>
                        <a:rPr lang="en-US" sz="1250" b="1" dirty="0">
                          <a:solidFill>
                            <a:srgbClr val="FFFFFF"/>
                          </a:solidFill>
                          <a:latin typeface="Arial"/>
                          <a:ea typeface="BIZ UDGothic" charset="-128"/>
                          <a:cs typeface="Arial"/>
                        </a:rPr>
                        <a:t>カーネル（ARD 版あり）</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50" b="1" dirty="0">
                          <a:solidFill>
                            <a:srgbClr val="FFFFFF"/>
                          </a:solidFill>
                          <a:latin typeface="Arial"/>
                          <a:ea typeface="BIZ UDGothic" charset="-128"/>
                          <a:cs typeface="Arial"/>
                        </a:rPr>
                        <a:t>k(r)</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93192">
                <a:tc>
                  <a:txBody>
                    <a:bodyPr/>
                    <a:lstStyle/>
                    <a:p>
                      <a:pPr algn="l" indent="0" marL="0">
                        <a:buNone/>
                      </a:pPr>
                      <a:r>
                        <a:rPr lang="en-US" sz="1250" b="1" dirty="0">
                          <a:solidFill>
                            <a:srgbClr val="1E1C33"/>
                          </a:solidFill>
                          <a:latin typeface="Arial"/>
                          <a:ea typeface="BIZ UDGothic" charset="-128"/>
                          <a:cs typeface="Arial"/>
                        </a:rPr>
                        <a:t>exponential</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σ</a:t>
                      </a:r>
                      <a:r>
                        <a:rPr lang="en-US" sz="1250" baseline="-40000" dirty="0">
                          <a:solidFill>
                            <a:srgbClr val="1E1C33"/>
                          </a:solidFill>
                          <a:latin typeface="Arial"/>
                          <a:ea typeface="BIZ UDGothic" charset="-128"/>
                          <a:cs typeface="Arial"/>
                        </a:rPr>
                        <a:t>f</a:t>
                      </a:r>
                      <a:r>
                        <a:rPr lang="en-US" sz="1250" baseline="30000" dirty="0">
                          <a:solidFill>
                            <a:srgbClr val="1E1C33"/>
                          </a:solidFill>
                          <a:latin typeface="Arial"/>
                          <a:ea typeface="BIZ UDGothic" charset="-128"/>
                          <a:cs typeface="Arial"/>
                        </a:rPr>
                        <a:t>2</a:t>
                      </a:r>
                      <a:r>
                        <a:rPr lang="en-US" sz="1250" dirty="0">
                          <a:solidFill>
                            <a:srgbClr val="1E1C33"/>
                          </a:solidFill>
                          <a:latin typeface="Arial"/>
                          <a:ea typeface="BIZ UDGothic" charset="-128"/>
                          <a:cs typeface="Arial"/>
                        </a:rPr>
                        <a:t> exp(−r)</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93192">
                <a:tc>
                  <a:txBody>
                    <a:bodyPr/>
                    <a:lstStyle/>
                    <a:p>
                      <a:pPr algn="l" indent="0" marL="0">
                        <a:buNone/>
                      </a:pPr>
                      <a:r>
                        <a:rPr lang="en-US" sz="1250" b="1" dirty="0">
                          <a:solidFill>
                            <a:srgbClr val="1E1C33"/>
                          </a:solidFill>
                          <a:latin typeface="Arial"/>
                          <a:ea typeface="BIZ UDGothic" charset="-128"/>
                          <a:cs typeface="Arial"/>
                        </a:rPr>
                        <a:t>squaredexponential</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σ</a:t>
                      </a:r>
                      <a:r>
                        <a:rPr lang="en-US" sz="1250" baseline="-40000" dirty="0">
                          <a:solidFill>
                            <a:srgbClr val="1E1C33"/>
                          </a:solidFill>
                          <a:latin typeface="Arial"/>
                          <a:ea typeface="BIZ UDGothic" charset="-128"/>
                          <a:cs typeface="Arial"/>
                        </a:rPr>
                        <a:t>f</a:t>
                      </a:r>
                      <a:r>
                        <a:rPr lang="en-US" sz="1250" baseline="30000" dirty="0">
                          <a:solidFill>
                            <a:srgbClr val="1E1C33"/>
                          </a:solidFill>
                          <a:latin typeface="Arial"/>
                          <a:ea typeface="BIZ UDGothic" charset="-128"/>
                          <a:cs typeface="Arial"/>
                        </a:rPr>
                        <a:t>2</a:t>
                      </a:r>
                      <a:r>
                        <a:rPr lang="en-US" sz="1250" dirty="0">
                          <a:solidFill>
                            <a:srgbClr val="1E1C33"/>
                          </a:solidFill>
                          <a:latin typeface="Arial"/>
                          <a:ea typeface="BIZ UDGothic" charset="-128"/>
                          <a:cs typeface="Arial"/>
                        </a:rPr>
                        <a:t> exp(−r</a:t>
                      </a:r>
                      <a:r>
                        <a:rPr lang="en-US" sz="1250" baseline="30000" dirty="0">
                          <a:solidFill>
                            <a:srgbClr val="1E1C33"/>
                          </a:solidFill>
                          <a:latin typeface="Arial"/>
                          <a:ea typeface="BIZ UDGothic" charset="-128"/>
                          <a:cs typeface="Arial"/>
                        </a:rPr>
                        <a:t>2</a:t>
                      </a:r>
                      <a:r>
                        <a:rPr lang="en-US" sz="1250" dirty="0">
                          <a:solidFill>
                            <a:srgbClr val="1E1C33"/>
                          </a:solidFill>
                          <a:latin typeface="Arial"/>
                          <a:ea typeface="BIZ UDGothic" charset="-128"/>
                          <a:cs typeface="Arial"/>
                        </a:rPr>
                        <a:t>/2)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93192">
                <a:tc>
                  <a:txBody>
                    <a:bodyPr/>
                    <a:lstStyle/>
                    <a:p>
                      <a:pPr algn="l" indent="0" marL="0">
                        <a:buNone/>
                      </a:pPr>
                      <a:r>
                        <a:rPr lang="en-US" sz="1250" b="1" dirty="0">
                          <a:solidFill>
                            <a:srgbClr val="1E1C33"/>
                          </a:solidFill>
                          <a:latin typeface="Arial"/>
                          <a:ea typeface="BIZ UDGothic" charset="-128"/>
                          <a:cs typeface="Arial"/>
                        </a:rPr>
                        <a:t>matern32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σ</a:t>
                      </a:r>
                      <a:r>
                        <a:rPr lang="en-US" sz="1250" baseline="-40000" dirty="0">
                          <a:solidFill>
                            <a:srgbClr val="1E1C33"/>
                          </a:solidFill>
                          <a:latin typeface="Arial"/>
                          <a:ea typeface="BIZ UDGothic" charset="-128"/>
                          <a:cs typeface="Arial"/>
                        </a:rPr>
                        <a:t>f</a:t>
                      </a:r>
                      <a:r>
                        <a:rPr lang="en-US" sz="1250" baseline="30000" dirty="0">
                          <a:solidFill>
                            <a:srgbClr val="1E1C33"/>
                          </a:solidFill>
                          <a:latin typeface="Arial"/>
                          <a:ea typeface="BIZ UDGothic" charset="-128"/>
                          <a:cs typeface="Arial"/>
                        </a:rPr>
                        <a:t>2</a:t>
                      </a:r>
                      <a:r>
                        <a:rPr lang="en-US" sz="1250" dirty="0">
                          <a:solidFill>
                            <a:srgbClr val="1E1C33"/>
                          </a:solidFill>
                          <a:latin typeface="Arial"/>
                          <a:ea typeface="BIZ UDGothic" charset="-128"/>
                          <a:cs typeface="Arial"/>
                        </a:rPr>
                        <a:t> (1+√3 r) exp(−√3 r)</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93192">
                <a:tc>
                  <a:txBody>
                    <a:bodyPr/>
                    <a:lstStyle/>
                    <a:p>
                      <a:pPr algn="l" indent="0" marL="0">
                        <a:buNone/>
                      </a:pPr>
                      <a:r>
                        <a:rPr lang="en-US" sz="1250" b="1" dirty="0">
                          <a:solidFill>
                            <a:srgbClr val="1E1C33"/>
                          </a:solidFill>
                          <a:latin typeface="Arial"/>
                          <a:ea typeface="BIZ UDGothic" charset="-128"/>
                          <a:cs typeface="Arial"/>
                        </a:rPr>
                        <a:t>matern52</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σ</a:t>
                      </a:r>
                      <a:r>
                        <a:rPr lang="en-US" sz="1250" baseline="-40000" dirty="0">
                          <a:solidFill>
                            <a:srgbClr val="1E1C33"/>
                          </a:solidFill>
                          <a:latin typeface="Arial"/>
                          <a:ea typeface="BIZ UDGothic" charset="-128"/>
                          <a:cs typeface="Arial"/>
                        </a:rPr>
                        <a:t>f</a:t>
                      </a:r>
                      <a:r>
                        <a:rPr lang="en-US" sz="1250" baseline="30000" dirty="0">
                          <a:solidFill>
                            <a:srgbClr val="1E1C33"/>
                          </a:solidFill>
                          <a:latin typeface="Arial"/>
                          <a:ea typeface="BIZ UDGothic" charset="-128"/>
                          <a:cs typeface="Arial"/>
                        </a:rPr>
                        <a:t>2</a:t>
                      </a:r>
                      <a:r>
                        <a:rPr lang="en-US" sz="1250" dirty="0">
                          <a:solidFill>
                            <a:srgbClr val="1E1C33"/>
                          </a:solidFill>
                          <a:latin typeface="Arial"/>
                          <a:ea typeface="BIZ UDGothic" charset="-128"/>
                          <a:cs typeface="Arial"/>
                        </a:rPr>
                        <a:t> (1+√5 r+5r</a:t>
                      </a:r>
                      <a:r>
                        <a:rPr lang="en-US" sz="1250" baseline="30000" dirty="0">
                          <a:solidFill>
                            <a:srgbClr val="1E1C33"/>
                          </a:solidFill>
                          <a:latin typeface="Arial"/>
                          <a:ea typeface="BIZ UDGothic" charset="-128"/>
                          <a:cs typeface="Arial"/>
                        </a:rPr>
                        <a:t>2</a:t>
                      </a:r>
                      <a:r>
                        <a:rPr lang="en-US" sz="1250" dirty="0">
                          <a:solidFill>
                            <a:srgbClr val="1E1C33"/>
                          </a:solidFill>
                          <a:latin typeface="Arial"/>
                          <a:ea typeface="BIZ UDGothic" charset="-128"/>
                          <a:cs typeface="Arial"/>
                        </a:rPr>
                        <a:t>/3) exp(−√5 r)</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93192">
                <a:tc>
                  <a:txBody>
                    <a:bodyPr/>
                    <a:lstStyle/>
                    <a:p>
                      <a:pPr algn="l" indent="0" marL="0">
                        <a:buNone/>
                      </a:pPr>
                      <a:r>
                        <a:rPr lang="en-US" sz="1250" b="1" dirty="0">
                          <a:solidFill>
                            <a:srgbClr val="1E1C33"/>
                          </a:solidFill>
                          <a:latin typeface="Arial"/>
                          <a:ea typeface="BIZ UDGothic" charset="-128"/>
                          <a:cs typeface="Arial"/>
                        </a:rPr>
                        <a:t>rationalquadratic</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50" dirty="0">
                          <a:solidFill>
                            <a:srgbClr val="1E1C33"/>
                          </a:solidFill>
                          <a:latin typeface="Arial"/>
                          <a:ea typeface="BIZ UDGothic" charset="-128"/>
                          <a:cs typeface="Arial"/>
                        </a:rPr>
                        <a:t>σ</a:t>
                      </a:r>
                      <a:r>
                        <a:rPr lang="en-US" sz="1250" baseline="-40000" dirty="0">
                          <a:solidFill>
                            <a:srgbClr val="1E1C33"/>
                          </a:solidFill>
                          <a:latin typeface="Arial"/>
                          <a:ea typeface="BIZ UDGothic" charset="-128"/>
                          <a:cs typeface="Arial"/>
                        </a:rPr>
                        <a:t>f</a:t>
                      </a:r>
                      <a:r>
                        <a:rPr lang="en-US" sz="1250" baseline="30000" dirty="0">
                          <a:solidFill>
                            <a:srgbClr val="1E1C33"/>
                          </a:solidFill>
                          <a:latin typeface="Arial"/>
                          <a:ea typeface="BIZ UDGothic" charset="-128"/>
                          <a:cs typeface="Arial"/>
                        </a:rPr>
                        <a:t>2</a:t>
                      </a:r>
                      <a:r>
                        <a:rPr lang="en-US" sz="1250" dirty="0">
                          <a:solidFill>
                            <a:srgbClr val="1E1C33"/>
                          </a:solidFill>
                          <a:latin typeface="Arial"/>
                          <a:ea typeface="BIZ UDGothic" charset="-128"/>
                          <a:cs typeface="Arial"/>
                        </a:rPr>
                        <a:t> (1+r</a:t>
                      </a:r>
                      <a:r>
                        <a:rPr lang="en-US" sz="1250" baseline="30000" dirty="0">
                          <a:solidFill>
                            <a:srgbClr val="1E1C33"/>
                          </a:solidFill>
                          <a:latin typeface="Arial"/>
                          <a:ea typeface="BIZ UDGothic" charset="-128"/>
                          <a:cs typeface="Arial"/>
                        </a:rPr>
                        <a:t>2</a:t>
                      </a:r>
                      <a:r>
                        <a:rPr lang="en-US" sz="1250" dirty="0">
                          <a:solidFill>
                            <a:srgbClr val="1E1C33"/>
                          </a:solidFill>
                          <a:latin typeface="Arial"/>
                          <a:ea typeface="BIZ UDGothic" charset="-128"/>
                          <a:cs typeface="Arial"/>
                        </a:rPr>
                        <a:t>/(2α))</a:t>
                      </a:r>
                      <a:r>
                        <a:rPr lang="en-US" sz="1250" baseline="30000" dirty="0">
                          <a:solidFill>
                            <a:srgbClr val="1E1C33"/>
                          </a:solidFill>
                          <a:latin typeface="Arial"/>
                          <a:ea typeface="BIZ UDGothic" charset="-128"/>
                          <a:cs typeface="Arial"/>
                        </a:rPr>
                        <a:t>−α</a:t>
                      </a:r>
                      <a:endParaRPr lang="en-US" sz="12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7" name="Text 4"/>
          <p:cNvSpPr txBox="1"/>
          <p:nvPr/>
        </p:nvSpPr>
        <p:spPr>
          <a:xfrm>
            <a:off x="548640" y="3840480"/>
            <a:ext cx="5669280" cy="548640"/>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r：長さスケールで割った距離。等方版は長さスケール1つ、ARD 版は説明変数ごと（T の cos・sin は1つを共有）</a:t>
            </a:r>
            <a:endParaRPr lang="ja-JP" sz="1150" dirty="0"/>
          </a:p>
        </p:txBody>
      </p:sp>
      <p:sp>
        <p:nvSpPr>
          <p:cNvPr id="8" name="Shape 5"/>
          <p:cNvSpPr/>
          <p:nvPr/>
        </p:nvSpPr>
        <p:spPr>
          <a:xfrm>
            <a:off x="548640" y="4434840"/>
            <a:ext cx="5669280" cy="685800"/>
          </a:xfrm>
          <a:prstGeom prst="roundRect">
            <a:avLst>
              <a:gd name="adj" fmla="val 13333"/>
            </a:avLst>
          </a:prstGeom>
          <a:solidFill>
            <a:srgbClr val="EEEFF7"/>
          </a:solidFill>
          <a:ln w="6350">
            <a:solidFill>
              <a:srgbClr val="EEEFF7"/>
            </a:solidFill>
            <a:prstDash val="solid"/>
          </a:ln>
        </p:spPr>
      </p:sp>
      <p:pic>
        <p:nvPicPr>
          <p:cNvPr id="9" name="Image 0" descr="GPR のモデル">    </p:cNvPr>
          <p:cNvPicPr>
            <a:picLocks noChangeAspect="1"/>
          </p:cNvPicPr>
          <p:nvPr/>
        </p:nvPicPr>
        <p:blipFill>
          <a:blip r:embed="rId1"/>
          <a:stretch>
            <a:fillRect/>
          </a:stretch>
        </p:blipFill>
        <p:spPr>
          <a:xfrm>
            <a:off x="866699" y="4605985"/>
            <a:ext cx="5033162" cy="343510"/>
          </a:xfrm>
          <a:prstGeom prst="rect">
            <a:avLst/>
          </a:prstGeom>
        </p:spPr>
      </p:pic>
      <p:sp>
        <p:nvSpPr>
          <p:cNvPr id="10" name="Shape 6"/>
          <p:cNvSpPr/>
          <p:nvPr/>
        </p:nvSpPr>
        <p:spPr>
          <a:xfrm>
            <a:off x="548640" y="5257800"/>
            <a:ext cx="5669280" cy="868680"/>
          </a:xfrm>
          <a:prstGeom prst="roundRect">
            <a:avLst>
              <a:gd name="adj" fmla="val 10526"/>
            </a:avLst>
          </a:prstGeom>
          <a:solidFill>
            <a:srgbClr val="EEEFF7"/>
          </a:solidFill>
          <a:ln w="6350">
            <a:solidFill>
              <a:srgbClr val="EEEFF7"/>
            </a:solidFill>
            <a:prstDash val="solid"/>
          </a:ln>
        </p:spPr>
      </p:sp>
      <p:pic>
        <p:nvPicPr>
          <p:cNvPr id="11" name="Image 1" descr="プロファイル尤度">    </p:cNvPr>
          <p:cNvPicPr>
            <a:picLocks noChangeAspect="1"/>
          </p:cNvPicPr>
          <p:nvPr/>
        </p:nvPicPr>
        <p:blipFill>
          <a:blip r:embed="rId2"/>
          <a:stretch>
            <a:fillRect/>
          </a:stretch>
        </p:blipFill>
        <p:spPr>
          <a:xfrm>
            <a:off x="1903476" y="5449824"/>
            <a:ext cx="2959608" cy="484632"/>
          </a:xfrm>
          <a:prstGeom prst="rect">
            <a:avLst/>
          </a:prstGeom>
        </p:spPr>
      </p:pic>
      <p:sp>
        <p:nvSpPr>
          <p:cNvPr id="12" name="Shape 7"/>
          <p:cNvSpPr/>
          <p:nvPr/>
        </p:nvSpPr>
        <p:spPr>
          <a:xfrm>
            <a:off x="6492240" y="1417320"/>
            <a:ext cx="5150815" cy="1078992"/>
          </a:xfrm>
          <a:prstGeom prst="roundRect">
            <a:avLst>
              <a:gd name="adj" fmla="val 8475"/>
            </a:avLst>
          </a:prstGeom>
          <a:solidFill>
            <a:srgbClr val="F2F3F7"/>
          </a:solidFill>
          <a:ln w="6350">
            <a:solidFill>
              <a:srgbClr val="F2F3F7"/>
            </a:solidFill>
            <a:prstDash val="solid"/>
          </a:ln>
        </p:spPr>
      </p:sp>
      <p:sp>
        <p:nvSpPr>
          <p:cNvPr id="13" name="Shape 8"/>
          <p:cNvSpPr/>
          <p:nvPr/>
        </p:nvSpPr>
        <p:spPr>
          <a:xfrm>
            <a:off x="6675120" y="1755648"/>
            <a:ext cx="402336" cy="402336"/>
          </a:xfrm>
          <a:prstGeom prst="ellipse">
            <a:avLst/>
          </a:prstGeom>
          <a:solidFill>
            <a:srgbClr val="898781"/>
          </a:solidFill>
          <a:ln w="6350">
            <a:solidFill>
              <a:srgbClr val="898781"/>
            </a:solidFill>
            <a:prstDash val="solid"/>
          </a:ln>
        </p:spPr>
      </p:sp>
      <p:sp>
        <p:nvSpPr>
          <p:cNvPr id="14" name="Text 9"/>
          <p:cNvSpPr txBox="1"/>
          <p:nvPr/>
        </p:nvSpPr>
        <p:spPr>
          <a:xfrm>
            <a:off x="6675120" y="1755648"/>
            <a:ext cx="402336" cy="402336"/>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Arial"/>
                <a:ea typeface="BIZ UDGothic" charset="-128"/>
                <a:cs typeface="Arial"/>
              </a:rPr>
              <a:t>1</a:t>
            </a:r>
            <a:endParaRPr lang="ja-JP" sz="1400" dirty="0"/>
          </a:p>
        </p:txBody>
      </p:sp>
      <p:sp>
        <p:nvSpPr>
          <p:cNvPr id="15" name="Text 10"/>
          <p:cNvSpPr txBox="1"/>
          <p:nvPr/>
        </p:nvSpPr>
        <p:spPr>
          <a:xfrm>
            <a:off x="7269480" y="1508760"/>
            <a:ext cx="4236415" cy="365760"/>
          </a:xfrm>
          <a:prstGeom prst="rect">
            <a:avLst/>
          </a:prstGeom>
          <a:noFill/>
          <a:ln/>
        </p:spPr>
        <p:txBody>
          <a:bodyPr wrap="square" lIns="0" tIns="0" rIns="0" bIns="0" rtlCol="0" anchor="ctr"/>
          <a:lstStyle/>
          <a:p>
            <a:pPr indent="0" marL="0">
              <a:buNone/>
            </a:pPr>
            <a:r>
              <a:rPr lang="ja-JP" altLang="en-US" sz="1500" b="1" dirty="0">
                <a:solidFill>
                  <a:srgbClr val="1E1C33"/>
                </a:solidFill>
                <a:latin typeface="Arial"/>
                <a:ea typeface="BIZ UDGothic" charset="-128"/>
                <a:cs typeface="Arial"/>
              </a:rPr>
              <a:t>質的変数なし</a:t>
            </a:r>
            <a:endParaRPr lang="ja-JP" sz="1500" dirty="0"/>
          </a:p>
        </p:txBody>
      </p:sp>
      <p:sp>
        <p:nvSpPr>
          <p:cNvPr id="16" name="Text 11"/>
          <p:cNvSpPr txBox="1"/>
          <p:nvPr/>
        </p:nvSpPr>
        <p:spPr>
          <a:xfrm>
            <a:off x="7269480" y="1874520"/>
            <a:ext cx="4190695" cy="594360"/>
          </a:xfrm>
          <a:prstGeom prst="rect">
            <a:avLst/>
          </a:prstGeom>
          <a:noFill/>
          <a:ln/>
        </p:spPr>
        <p:txBody>
          <a:bodyPr wrap="square" lIns="0" tIns="0" rIns="0" bIns="0" rtlCol="0" anchor="t"/>
          <a:lstStyle/>
          <a:p>
            <a:pPr indent="0" marL="0">
              <a:buNone/>
            </a:pPr>
            <a:r>
              <a:rPr lang="ja-JP" altLang="en-US" sz="1200" dirty="0">
                <a:solidFill>
                  <a:srgbClr val="1E1C33"/>
                </a:solidFill>
                <a:latin typeface="Arial"/>
                <a:ea typeface="BIZ UDGothic" charset="-128"/>
                <a:cs typeface="Arial"/>
              </a:rPr>
              <a:t>H = 1（定数）。Scan・Mark の差は GPR かノイズに吸収される</a:t>
            </a:r>
            <a:endParaRPr lang="ja-JP" sz="1200" dirty="0"/>
          </a:p>
        </p:txBody>
      </p:sp>
      <p:sp>
        <p:nvSpPr>
          <p:cNvPr id="17" name="Shape 12"/>
          <p:cNvSpPr/>
          <p:nvPr/>
        </p:nvSpPr>
        <p:spPr>
          <a:xfrm>
            <a:off x="6492240" y="2624328"/>
            <a:ext cx="5150815" cy="1078992"/>
          </a:xfrm>
          <a:prstGeom prst="roundRect">
            <a:avLst>
              <a:gd name="adj" fmla="val 8475"/>
            </a:avLst>
          </a:prstGeom>
          <a:solidFill>
            <a:srgbClr val="F2F3F7"/>
          </a:solidFill>
          <a:ln w="6350">
            <a:solidFill>
              <a:srgbClr val="F2F3F7"/>
            </a:solidFill>
            <a:prstDash val="solid"/>
          </a:ln>
        </p:spPr>
      </p:sp>
      <p:sp>
        <p:nvSpPr>
          <p:cNvPr id="18" name="Shape 13"/>
          <p:cNvSpPr/>
          <p:nvPr/>
        </p:nvSpPr>
        <p:spPr>
          <a:xfrm>
            <a:off x="6675120" y="2962656"/>
            <a:ext cx="402336" cy="402336"/>
          </a:xfrm>
          <a:prstGeom prst="ellipse">
            <a:avLst/>
          </a:prstGeom>
          <a:solidFill>
            <a:srgbClr val="2A78D6"/>
          </a:solidFill>
          <a:ln w="6350">
            <a:solidFill>
              <a:srgbClr val="2A78D6"/>
            </a:solidFill>
            <a:prstDash val="solid"/>
          </a:ln>
        </p:spPr>
      </p:sp>
      <p:sp>
        <p:nvSpPr>
          <p:cNvPr id="19" name="Text 14"/>
          <p:cNvSpPr txBox="1"/>
          <p:nvPr/>
        </p:nvSpPr>
        <p:spPr>
          <a:xfrm>
            <a:off x="6675120" y="2962656"/>
            <a:ext cx="402336" cy="402336"/>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Arial"/>
                <a:ea typeface="BIZ UDGothic" charset="-128"/>
                <a:cs typeface="Arial"/>
              </a:rPr>
              <a:t>2</a:t>
            </a:r>
            <a:endParaRPr lang="ja-JP" sz="1400" dirty="0"/>
          </a:p>
        </p:txBody>
      </p:sp>
      <p:sp>
        <p:nvSpPr>
          <p:cNvPr id="20" name="Text 15"/>
          <p:cNvSpPr txBox="1"/>
          <p:nvPr/>
        </p:nvSpPr>
        <p:spPr>
          <a:xfrm>
            <a:off x="7269480" y="2715768"/>
            <a:ext cx="4236415" cy="365760"/>
          </a:xfrm>
          <a:prstGeom prst="rect">
            <a:avLst/>
          </a:prstGeom>
          <a:noFill/>
          <a:ln/>
        </p:spPr>
        <p:txBody>
          <a:bodyPr wrap="square" lIns="0" tIns="0" rIns="0" bIns="0" rtlCol="0" anchor="ctr"/>
          <a:lstStyle/>
          <a:p>
            <a:pPr indent="0" marL="0">
              <a:buNone/>
            </a:pPr>
            <a:r>
              <a:rPr lang="ja-JP" altLang="en-US" sz="1500" b="1" dirty="0">
                <a:solidFill>
                  <a:srgbClr val="1E1C33"/>
                </a:solidFill>
                <a:latin typeface="Arial"/>
                <a:ea typeface="BIZ UDGothic" charset="-128"/>
                <a:cs typeface="Arial"/>
              </a:rPr>
              <a:t>基底関数で同時推定</a:t>
            </a:r>
            <a:endParaRPr lang="ja-JP" sz="1500" dirty="0"/>
          </a:p>
        </p:txBody>
      </p:sp>
      <p:sp>
        <p:nvSpPr>
          <p:cNvPr id="21" name="Text 16"/>
          <p:cNvSpPr txBox="1"/>
          <p:nvPr/>
        </p:nvSpPr>
        <p:spPr>
          <a:xfrm>
            <a:off x="7269480" y="3081528"/>
            <a:ext cx="4190695" cy="594360"/>
          </a:xfrm>
          <a:prstGeom prst="rect">
            <a:avLst/>
          </a:prstGeom>
          <a:noFill/>
          <a:ln/>
        </p:spPr>
        <p:txBody>
          <a:bodyPr wrap="square" lIns="0" tIns="0" rIns="0" bIns="0" rtlCol="0" anchor="t"/>
          <a:lstStyle/>
          <a:p>
            <a:pPr indent="0" marL="0">
              <a:buNone/>
            </a:pPr>
            <a:r>
              <a:rPr lang="ja-JP" altLang="en-US" sz="1200" dirty="0">
                <a:solidFill>
                  <a:srgbClr val="1E1C33"/>
                </a:solidFill>
                <a:latin typeface="Arial"/>
                <a:ea typeface="BIZ UDGothic" charset="-128"/>
                <a:cs typeface="Arial"/>
              </a:rPr>
              <a:t>H = [1, Scan, Mark] の効果コード。β と超パラメータを同時に推定（fitrgp の BasisFunction に行列を渡すのと同じ）</a:t>
            </a:r>
            <a:endParaRPr lang="ja-JP" sz="1200" dirty="0"/>
          </a:p>
        </p:txBody>
      </p:sp>
      <p:sp>
        <p:nvSpPr>
          <p:cNvPr id="22" name="Shape 17"/>
          <p:cNvSpPr/>
          <p:nvPr/>
        </p:nvSpPr>
        <p:spPr>
          <a:xfrm>
            <a:off x="6492240" y="3831336"/>
            <a:ext cx="5150815" cy="1078992"/>
          </a:xfrm>
          <a:prstGeom prst="roundRect">
            <a:avLst>
              <a:gd name="adj" fmla="val 8475"/>
            </a:avLst>
          </a:prstGeom>
          <a:solidFill>
            <a:srgbClr val="F2F3F7"/>
          </a:solidFill>
          <a:ln w="6350">
            <a:solidFill>
              <a:srgbClr val="F2F3F7"/>
            </a:solidFill>
            <a:prstDash val="solid"/>
          </a:ln>
        </p:spPr>
      </p:sp>
      <p:sp>
        <p:nvSpPr>
          <p:cNvPr id="23" name="Shape 18"/>
          <p:cNvSpPr/>
          <p:nvPr/>
        </p:nvSpPr>
        <p:spPr>
          <a:xfrm>
            <a:off x="6675120" y="4169664"/>
            <a:ext cx="402336" cy="402336"/>
          </a:xfrm>
          <a:prstGeom prst="ellipse">
            <a:avLst/>
          </a:prstGeom>
          <a:solidFill>
            <a:srgbClr val="EB6834"/>
          </a:solidFill>
          <a:ln w="6350">
            <a:solidFill>
              <a:srgbClr val="EB6834"/>
            </a:solidFill>
            <a:prstDash val="solid"/>
          </a:ln>
        </p:spPr>
      </p:sp>
      <p:sp>
        <p:nvSpPr>
          <p:cNvPr id="24" name="Text 19"/>
          <p:cNvSpPr txBox="1"/>
          <p:nvPr/>
        </p:nvSpPr>
        <p:spPr>
          <a:xfrm>
            <a:off x="6675120" y="4169664"/>
            <a:ext cx="402336" cy="402336"/>
          </a:xfrm>
          <a:prstGeom prst="rect">
            <a:avLst/>
          </a:prstGeom>
          <a:noFill/>
          <a:ln/>
        </p:spPr>
        <p:txBody>
          <a:bodyPr wrap="square" lIns="0" tIns="0" rIns="0" bIns="0" rtlCol="0" anchor="ctr"/>
          <a:lstStyle/>
          <a:p>
            <a:pPr algn="ctr" indent="0" marL="0">
              <a:buNone/>
            </a:pPr>
            <a:r>
              <a:rPr lang="ja-JP" altLang="en-US" sz="1400" b="1" dirty="0">
                <a:solidFill>
                  <a:srgbClr val="FFFFFF"/>
                </a:solidFill>
                <a:latin typeface="Arial"/>
                <a:ea typeface="BIZ UDGothic" charset="-128"/>
                <a:cs typeface="Arial"/>
              </a:rPr>
              <a:t>3</a:t>
            </a:r>
            <a:endParaRPr lang="ja-JP" sz="1400" dirty="0"/>
          </a:p>
        </p:txBody>
      </p:sp>
      <p:sp>
        <p:nvSpPr>
          <p:cNvPr id="25" name="Text 20"/>
          <p:cNvSpPr txBox="1"/>
          <p:nvPr/>
        </p:nvSpPr>
        <p:spPr>
          <a:xfrm>
            <a:off x="7269480" y="3922776"/>
            <a:ext cx="4236415" cy="365760"/>
          </a:xfrm>
          <a:prstGeom prst="rect">
            <a:avLst/>
          </a:prstGeom>
          <a:noFill/>
          <a:ln/>
        </p:spPr>
        <p:txBody>
          <a:bodyPr wrap="square" lIns="0" tIns="0" rIns="0" bIns="0" rtlCol="0" anchor="ctr"/>
          <a:lstStyle/>
          <a:p>
            <a:pPr indent="0" marL="0">
              <a:buNone/>
            </a:pPr>
            <a:r>
              <a:rPr lang="ja-JP" altLang="en-US" sz="1500" b="1" dirty="0">
                <a:solidFill>
                  <a:srgbClr val="1E1C33"/>
                </a:solidFill>
                <a:latin typeface="Arial"/>
                <a:ea typeface="BIZ UDGothic" charset="-128"/>
                <a:cs typeface="Arial"/>
              </a:rPr>
              <a:t>Backfitting</a:t>
            </a:r>
            <a:endParaRPr lang="ja-JP" sz="1500" dirty="0"/>
          </a:p>
        </p:txBody>
      </p:sp>
      <p:sp>
        <p:nvSpPr>
          <p:cNvPr id="26" name="Text 21"/>
          <p:cNvSpPr txBox="1"/>
          <p:nvPr/>
        </p:nvSpPr>
        <p:spPr>
          <a:xfrm>
            <a:off x="7269480" y="4288536"/>
            <a:ext cx="4190695" cy="594360"/>
          </a:xfrm>
          <a:prstGeom prst="rect">
            <a:avLst/>
          </a:prstGeom>
          <a:noFill/>
          <a:ln/>
        </p:spPr>
        <p:txBody>
          <a:bodyPr wrap="square" lIns="0" tIns="0" rIns="0" bIns="0" rtlCol="0" anchor="t"/>
          <a:lstStyle/>
          <a:p>
            <a:pPr indent="0" marL="0">
              <a:buNone/>
            </a:pPr>
            <a:r>
              <a:rPr lang="ja-JP" altLang="en-US" sz="1200" dirty="0">
                <a:solidFill>
                  <a:srgbClr val="1E1C33"/>
                </a:solidFill>
                <a:latin typeface="Arial"/>
                <a:ea typeface="BIZ UDGothic" charset="-128"/>
                <a:cs typeface="Arial"/>
              </a:rPr>
              <a:t>効果を群平均で初期化 → ①残差で GPR（超パラメータも再推定）→ ②効果を求め直す、を収束まで</a:t>
            </a:r>
            <a:endParaRPr lang="ja-JP" sz="1200" dirty="0"/>
          </a:p>
        </p:txBody>
      </p:sp>
      <p:sp>
        <p:nvSpPr>
          <p:cNvPr id="27" name="Shape 22"/>
          <p:cNvSpPr/>
          <p:nvPr/>
        </p:nvSpPr>
        <p:spPr>
          <a:xfrm>
            <a:off x="6492240" y="5120640"/>
            <a:ext cx="5150815" cy="548640"/>
          </a:xfrm>
          <a:prstGeom prst="roundRect">
            <a:avLst>
              <a:gd name="adj" fmla="val 16667"/>
            </a:avLst>
          </a:prstGeom>
          <a:solidFill>
            <a:srgbClr val="EEEFF7"/>
          </a:solidFill>
          <a:ln w="6350">
            <a:solidFill>
              <a:srgbClr val="EEEFF7"/>
            </a:solidFill>
            <a:prstDash val="solid"/>
          </a:ln>
        </p:spPr>
      </p:sp>
      <p:pic>
        <p:nvPicPr>
          <p:cNvPr id="28" name="Image 2" descr="Backfitting の更新式">    </p:cNvPr>
          <p:cNvPicPr>
            <a:picLocks noChangeAspect="1"/>
          </p:cNvPicPr>
          <p:nvPr/>
        </p:nvPicPr>
        <p:blipFill>
          <a:blip r:embed="rId3"/>
          <a:stretch>
            <a:fillRect/>
          </a:stretch>
        </p:blipFill>
        <p:spPr>
          <a:xfrm>
            <a:off x="6894424" y="5233721"/>
            <a:ext cx="4346448" cy="322478"/>
          </a:xfrm>
          <a:prstGeom prst="rect">
            <a:avLst/>
          </a:prstGeom>
        </p:spPr>
      </p:pic>
      <p:sp>
        <p:nvSpPr>
          <p:cNvPr id="29" name="Text 23"/>
          <p:cNvSpPr txBox="1"/>
          <p:nvPr/>
        </p:nvSpPr>
        <p:spPr>
          <a:xfrm>
            <a:off x="6492240" y="5760720"/>
            <a:ext cx="5150815" cy="502920"/>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F：Scan・Mark の効果コード（学習点で中心化）。②の内側の交互当てはめは収束値（GLS 解）を直接計算</a:t>
            </a:r>
            <a:endParaRPr lang="ja-JP"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評価の方法</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TPS・Kriging・GAM・XY5・RT ― 定義とパラメータの決め方</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出典：Wahba (1990)、Cressie (1993)、PyKrige ドキュメント、Wood (2017)、Eilers &amp; Marx (1996)、ASML US10495990B2</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11</a:t>
            </a:r>
            <a:endParaRPr lang="ja-JP" sz="1000" dirty="0"/>
          </a:p>
        </p:txBody>
      </p:sp>
      <p:sp>
        <p:nvSpPr>
          <p:cNvPr id="6" name="Shape 4"/>
          <p:cNvSpPr/>
          <p:nvPr/>
        </p:nvSpPr>
        <p:spPr>
          <a:xfrm>
            <a:off x="548640" y="1417320"/>
            <a:ext cx="5387188" cy="2148840"/>
          </a:xfrm>
          <a:prstGeom prst="roundRect">
            <a:avLst>
              <a:gd name="adj" fmla="val 4255"/>
            </a:avLst>
          </a:prstGeom>
          <a:solidFill>
            <a:srgbClr val="F2F3F7"/>
          </a:solidFill>
          <a:ln w="6350">
            <a:solidFill>
              <a:srgbClr val="F2F3F7"/>
            </a:solidFill>
            <a:prstDash val="solid"/>
          </a:ln>
        </p:spPr>
      </p:sp>
      <p:sp>
        <p:nvSpPr>
          <p:cNvPr id="7" name="Shape 5"/>
          <p:cNvSpPr/>
          <p:nvPr/>
        </p:nvSpPr>
        <p:spPr>
          <a:xfrm>
            <a:off x="777240" y="1636776"/>
            <a:ext cx="201168" cy="201168"/>
          </a:xfrm>
          <a:prstGeom prst="roundRect">
            <a:avLst>
              <a:gd name="adj" fmla="val 18182"/>
            </a:avLst>
          </a:prstGeom>
          <a:solidFill>
            <a:srgbClr val="EB6834"/>
          </a:solidFill>
          <a:ln w="6350">
            <a:solidFill>
              <a:srgbClr val="EB6834"/>
            </a:solidFill>
            <a:prstDash val="solid"/>
          </a:ln>
        </p:spPr>
      </p:sp>
      <p:sp>
        <p:nvSpPr>
          <p:cNvPr id="8" name="Text 6"/>
          <p:cNvSpPr txBox="1"/>
          <p:nvPr/>
        </p:nvSpPr>
        <p:spPr>
          <a:xfrm>
            <a:off x="1069848" y="1581912"/>
            <a:ext cx="4637380" cy="310896"/>
          </a:xfrm>
          <a:prstGeom prst="rect">
            <a:avLst/>
          </a:prstGeom>
          <a:noFill/>
          <a:ln/>
        </p:spPr>
        <p:txBody>
          <a:bodyPr wrap="square" lIns="0" tIns="0" rIns="0" bIns="0" rtlCol="0" anchor="ctr"/>
          <a:lstStyle/>
          <a:p>
            <a:pPr indent="0" marL="0">
              <a:buNone/>
            </a:pPr>
            <a:r>
              <a:rPr lang="ja-JP" altLang="en-US" sz="1500" dirty="0">
                <a:solidFill>
                  <a:srgbClr val="1E1C33"/>
                </a:solidFill>
                <a:latin typeface="Arial"/>
                <a:ea typeface="BIZ UDGothic" charset="-128"/>
                <a:cs typeface="Arial"/>
              </a:rPr>
              <a:t>TPS</a:t>
            </a:r>
            <a:endParaRPr lang="ja-JP" sz="1500" dirty="0"/>
          </a:p>
        </p:txBody>
      </p:sp>
      <p:sp>
        <p:nvSpPr>
          <p:cNvPr id="9" name="Shape 7"/>
          <p:cNvSpPr/>
          <p:nvPr/>
        </p:nvSpPr>
        <p:spPr>
          <a:xfrm>
            <a:off x="777240" y="2011680"/>
            <a:ext cx="4929988" cy="777240"/>
          </a:xfrm>
          <a:prstGeom prst="roundRect">
            <a:avLst>
              <a:gd name="adj" fmla="val 11765"/>
            </a:avLst>
          </a:prstGeom>
          <a:solidFill>
            <a:srgbClr val="FBE5DA"/>
          </a:solidFill>
          <a:ln w="6350">
            <a:solidFill>
              <a:srgbClr val="FBE5DA"/>
            </a:solidFill>
            <a:prstDash val="solid"/>
          </a:ln>
        </p:spPr>
      </p:sp>
      <p:pic>
        <p:nvPicPr>
          <p:cNvPr id="10" name="Image 0" descr="TPS">    </p:cNvPr>
          <p:cNvPicPr>
            <a:picLocks noChangeAspect="1"/>
          </p:cNvPicPr>
          <p:nvPr/>
        </p:nvPicPr>
        <p:blipFill>
          <a:blip r:embed="rId1"/>
          <a:stretch>
            <a:fillRect/>
          </a:stretch>
        </p:blipFill>
        <p:spPr>
          <a:xfrm>
            <a:off x="1141918" y="2175967"/>
            <a:ext cx="4200632" cy="448666"/>
          </a:xfrm>
          <a:prstGeom prst="rect">
            <a:avLst/>
          </a:prstGeom>
        </p:spPr>
      </p:pic>
      <p:sp>
        <p:nvSpPr>
          <p:cNvPr id="11" name="Text 8"/>
          <p:cNvSpPr txBox="1"/>
          <p:nvPr/>
        </p:nvSpPr>
        <p:spPr>
          <a:xfrm>
            <a:off x="822960" y="2926080"/>
            <a:ext cx="4838548" cy="731520"/>
          </a:xfrm>
          <a:prstGeom prst="rect">
            <a:avLst/>
          </a:prstGeom>
          <a:noFill/>
          <a:ln/>
        </p:spPr>
        <p:txBody>
          <a:bodyPr wrap="square" lIns="0" tIns="0" rIns="0" bIns="0" rtlCol="0" anchor="t"/>
          <a:lstStyle/>
          <a:p>
            <a:pPr indent="0" marL="0">
              <a:buNone/>
            </a:pPr>
            <a:r>
              <a:rPr lang="ja-JP" altLang="en-US" sz="1250" dirty="0">
                <a:solidFill>
                  <a:srgbClr val="1E1C33"/>
                </a:solidFill>
                <a:latin typeface="Arial"/>
                <a:ea typeface="BIZ UDGothic" charset="-128"/>
                <a:cs typeface="Arial"/>
              </a:rPr>
              <a:t>平滑化 λ を GCV で選ぶ。多項式部分は説明変数の1次式</a:t>
            </a:r>
            <a:endParaRPr lang="ja-JP" sz="1250" dirty="0"/>
          </a:p>
        </p:txBody>
      </p:sp>
      <p:sp>
        <p:nvSpPr>
          <p:cNvPr id="12" name="Shape 9"/>
          <p:cNvSpPr/>
          <p:nvPr/>
        </p:nvSpPr>
        <p:spPr>
          <a:xfrm>
            <a:off x="6255868" y="1417320"/>
            <a:ext cx="5387188" cy="2148840"/>
          </a:xfrm>
          <a:prstGeom prst="roundRect">
            <a:avLst>
              <a:gd name="adj" fmla="val 4255"/>
            </a:avLst>
          </a:prstGeom>
          <a:solidFill>
            <a:srgbClr val="F2F3F7"/>
          </a:solidFill>
          <a:ln w="6350">
            <a:solidFill>
              <a:srgbClr val="F2F3F7"/>
            </a:solidFill>
            <a:prstDash val="solid"/>
          </a:ln>
        </p:spPr>
      </p:sp>
      <p:sp>
        <p:nvSpPr>
          <p:cNvPr id="13" name="Shape 10"/>
          <p:cNvSpPr/>
          <p:nvPr/>
        </p:nvSpPr>
        <p:spPr>
          <a:xfrm>
            <a:off x="6484468" y="1636776"/>
            <a:ext cx="201168" cy="201168"/>
          </a:xfrm>
          <a:prstGeom prst="roundRect">
            <a:avLst>
              <a:gd name="adj" fmla="val 18182"/>
            </a:avLst>
          </a:prstGeom>
          <a:solidFill>
            <a:srgbClr val="1BAF7A"/>
          </a:solidFill>
          <a:ln w="6350">
            <a:solidFill>
              <a:srgbClr val="1BAF7A"/>
            </a:solidFill>
            <a:prstDash val="solid"/>
          </a:ln>
        </p:spPr>
      </p:sp>
      <p:sp>
        <p:nvSpPr>
          <p:cNvPr id="14" name="Text 11"/>
          <p:cNvSpPr txBox="1"/>
          <p:nvPr/>
        </p:nvSpPr>
        <p:spPr>
          <a:xfrm>
            <a:off x="6777076" y="1581912"/>
            <a:ext cx="4637380" cy="310896"/>
          </a:xfrm>
          <a:prstGeom prst="rect">
            <a:avLst/>
          </a:prstGeom>
          <a:noFill/>
          <a:ln/>
        </p:spPr>
        <p:txBody>
          <a:bodyPr wrap="square" lIns="0" tIns="0" rIns="0" bIns="0" rtlCol="0" anchor="ctr"/>
          <a:lstStyle/>
          <a:p>
            <a:pPr indent="0" marL="0">
              <a:buNone/>
            </a:pPr>
            <a:r>
              <a:rPr lang="ja-JP" altLang="en-US" sz="1500" dirty="0">
                <a:solidFill>
                  <a:srgbClr val="1E1C33"/>
                </a:solidFill>
                <a:latin typeface="Arial"/>
                <a:ea typeface="BIZ UDGothic" charset="-128"/>
                <a:cs typeface="Arial"/>
              </a:rPr>
              <a:t>Kriging / Universal Kriging</a:t>
            </a:r>
            <a:endParaRPr lang="ja-JP" sz="1500" dirty="0"/>
          </a:p>
        </p:txBody>
      </p:sp>
      <p:sp>
        <p:nvSpPr>
          <p:cNvPr id="15" name="Shape 12"/>
          <p:cNvSpPr/>
          <p:nvPr/>
        </p:nvSpPr>
        <p:spPr>
          <a:xfrm>
            <a:off x="6484468" y="2011680"/>
            <a:ext cx="4929988" cy="777240"/>
          </a:xfrm>
          <a:prstGeom prst="roundRect">
            <a:avLst>
              <a:gd name="adj" fmla="val 11765"/>
            </a:avLst>
          </a:prstGeom>
          <a:solidFill>
            <a:srgbClr val="D8F0E7"/>
          </a:solidFill>
          <a:ln w="6350">
            <a:solidFill>
              <a:srgbClr val="D8F0E7"/>
            </a:solidFill>
            <a:prstDash val="solid"/>
          </a:ln>
        </p:spPr>
      </p:sp>
      <p:pic>
        <p:nvPicPr>
          <p:cNvPr id="16" name="Image 1" descr="Kriging / Universal Kriging">    </p:cNvPr>
          <p:cNvPicPr>
            <a:picLocks noChangeAspect="1"/>
          </p:cNvPicPr>
          <p:nvPr/>
        </p:nvPicPr>
        <p:blipFill>
          <a:blip r:embed="rId2"/>
          <a:stretch>
            <a:fillRect/>
          </a:stretch>
        </p:blipFill>
        <p:spPr>
          <a:xfrm>
            <a:off x="7696002" y="2188586"/>
            <a:ext cx="2506919" cy="423428"/>
          </a:xfrm>
          <a:prstGeom prst="rect">
            <a:avLst/>
          </a:prstGeom>
        </p:spPr>
      </p:pic>
      <p:sp>
        <p:nvSpPr>
          <p:cNvPr id="17" name="Text 13"/>
          <p:cNvSpPr txBox="1"/>
          <p:nvPr/>
        </p:nvSpPr>
        <p:spPr>
          <a:xfrm>
            <a:off x="6530188" y="2926080"/>
            <a:ext cx="4838548" cy="731520"/>
          </a:xfrm>
          <a:prstGeom prst="rect">
            <a:avLst/>
          </a:prstGeom>
          <a:noFill/>
          <a:ln/>
        </p:spPr>
        <p:txBody>
          <a:bodyPr wrap="square" lIns="0" tIns="0" rIns="0" bIns="0" rtlCol="0" anchor="t"/>
          <a:lstStyle/>
          <a:p>
            <a:pPr indent="0" marL="0">
              <a:buNone/>
            </a:pPr>
            <a:r>
              <a:rPr lang="ja-JP" altLang="en-US" sz="1250" dirty="0">
                <a:solidFill>
                  <a:srgbClr val="1E1C33"/>
                </a:solidFill>
                <a:latin typeface="Arial"/>
                <a:ea typeface="BIZ UDGothic" charset="-128"/>
                <a:cs typeface="Arial"/>
              </a:rPr>
              <a:t>f = 1（通常）または [1, z]（Universal）。バリオグラム：linear・gaussian・power・exponential（PyKrige の式）</a:t>
            </a:r>
            <a:endParaRPr lang="ja-JP" sz="1250" dirty="0"/>
          </a:p>
        </p:txBody>
      </p:sp>
      <p:sp>
        <p:nvSpPr>
          <p:cNvPr id="18" name="Shape 14"/>
          <p:cNvSpPr/>
          <p:nvPr/>
        </p:nvSpPr>
        <p:spPr>
          <a:xfrm>
            <a:off x="548640" y="3794760"/>
            <a:ext cx="5387188" cy="2148840"/>
          </a:xfrm>
          <a:prstGeom prst="roundRect">
            <a:avLst>
              <a:gd name="adj" fmla="val 4255"/>
            </a:avLst>
          </a:prstGeom>
          <a:solidFill>
            <a:srgbClr val="F2F3F7"/>
          </a:solidFill>
          <a:ln w="6350">
            <a:solidFill>
              <a:srgbClr val="F2F3F7"/>
            </a:solidFill>
            <a:prstDash val="solid"/>
          </a:ln>
        </p:spPr>
      </p:sp>
      <p:sp>
        <p:nvSpPr>
          <p:cNvPr id="19" name="Shape 15"/>
          <p:cNvSpPr/>
          <p:nvPr/>
        </p:nvSpPr>
        <p:spPr>
          <a:xfrm>
            <a:off x="777240" y="4014216"/>
            <a:ext cx="201168" cy="201168"/>
          </a:xfrm>
          <a:prstGeom prst="roundRect">
            <a:avLst>
              <a:gd name="adj" fmla="val 18182"/>
            </a:avLst>
          </a:prstGeom>
          <a:solidFill>
            <a:srgbClr val="E87BA4"/>
          </a:solidFill>
          <a:ln w="6350">
            <a:solidFill>
              <a:srgbClr val="E87BA4"/>
            </a:solidFill>
            <a:prstDash val="solid"/>
          </a:ln>
        </p:spPr>
      </p:sp>
      <p:sp>
        <p:nvSpPr>
          <p:cNvPr id="20" name="Text 16"/>
          <p:cNvSpPr txBox="1"/>
          <p:nvPr/>
        </p:nvSpPr>
        <p:spPr>
          <a:xfrm>
            <a:off x="1069848" y="3959352"/>
            <a:ext cx="4637380" cy="310896"/>
          </a:xfrm>
          <a:prstGeom prst="rect">
            <a:avLst/>
          </a:prstGeom>
          <a:noFill/>
          <a:ln/>
        </p:spPr>
        <p:txBody>
          <a:bodyPr wrap="square" lIns="0" tIns="0" rIns="0" bIns="0" rtlCol="0" anchor="ctr"/>
          <a:lstStyle/>
          <a:p>
            <a:pPr indent="0" marL="0">
              <a:buNone/>
            </a:pPr>
            <a:r>
              <a:rPr lang="ja-JP" altLang="en-US" sz="1500" dirty="0">
                <a:solidFill>
                  <a:srgbClr val="1E1C33"/>
                </a:solidFill>
                <a:latin typeface="Arial"/>
                <a:ea typeface="BIZ UDGothic" charset="-128"/>
                <a:cs typeface="Arial"/>
              </a:rPr>
              <a:t>GAM</a:t>
            </a:r>
            <a:endParaRPr lang="ja-JP" sz="1500" dirty="0"/>
          </a:p>
        </p:txBody>
      </p:sp>
      <p:sp>
        <p:nvSpPr>
          <p:cNvPr id="21" name="Shape 17"/>
          <p:cNvSpPr/>
          <p:nvPr/>
        </p:nvSpPr>
        <p:spPr>
          <a:xfrm>
            <a:off x="777240" y="4389120"/>
            <a:ext cx="4929988" cy="777240"/>
          </a:xfrm>
          <a:prstGeom prst="roundRect">
            <a:avLst>
              <a:gd name="adj" fmla="val 11765"/>
            </a:avLst>
          </a:prstGeom>
          <a:solidFill>
            <a:srgbClr val="FBE3EC"/>
          </a:solidFill>
          <a:ln w="6350">
            <a:solidFill>
              <a:srgbClr val="FBE3EC"/>
            </a:solidFill>
            <a:prstDash val="solid"/>
          </a:ln>
        </p:spPr>
      </p:sp>
      <p:pic>
        <p:nvPicPr>
          <p:cNvPr id="22" name="Image 2" descr="GAM">    </p:cNvPr>
          <p:cNvPicPr>
            <a:picLocks noChangeAspect="1"/>
          </p:cNvPicPr>
          <p:nvPr/>
        </p:nvPicPr>
        <p:blipFill>
          <a:blip r:embed="rId3"/>
          <a:stretch>
            <a:fillRect/>
          </a:stretch>
        </p:blipFill>
        <p:spPr>
          <a:xfrm>
            <a:off x="1224641" y="4638934"/>
            <a:ext cx="4035186" cy="277612"/>
          </a:xfrm>
          <a:prstGeom prst="rect">
            <a:avLst/>
          </a:prstGeom>
        </p:spPr>
      </p:pic>
      <p:sp>
        <p:nvSpPr>
          <p:cNvPr id="23" name="Text 18"/>
          <p:cNvSpPr txBox="1"/>
          <p:nvPr/>
        </p:nvSpPr>
        <p:spPr>
          <a:xfrm>
            <a:off x="822960" y="5303520"/>
            <a:ext cx="4838548" cy="731520"/>
          </a:xfrm>
          <a:prstGeom prst="rect">
            <a:avLst/>
          </a:prstGeom>
          <a:noFill/>
          <a:ln/>
        </p:spPr>
        <p:txBody>
          <a:bodyPr wrap="square" lIns="0" tIns="0" rIns="0" bIns="0" rtlCol="0" anchor="t"/>
          <a:lstStyle/>
          <a:p>
            <a:pPr indent="0" marL="0">
              <a:buNone/>
            </a:pPr>
            <a:r>
              <a:rPr lang="ja-JP" altLang="en-US" sz="1250" dirty="0">
                <a:solidFill>
                  <a:srgbClr val="1E1C33"/>
                </a:solidFill>
                <a:latin typeface="Arial"/>
                <a:ea typeface="BIZ UDGothic" charset="-128"/>
                <a:cs typeface="Arial"/>
              </a:rPr>
              <a:t>P-spline（各8基底）。s(x,y) はテンソル積、s</a:t>
            </a:r>
            <a:r>
              <a:rPr lang="ja-JP" altLang="en-US" sz="1250" baseline="-40000" dirty="0">
                <a:solidFill>
                  <a:srgbClr val="1E1C33"/>
                </a:solidFill>
                <a:latin typeface="Arial"/>
                <a:ea typeface="BIZ UDGothic" charset="-128"/>
                <a:cs typeface="Arial"/>
              </a:rPr>
              <a:t>∘</a:t>
            </a:r>
            <a:r>
              <a:rPr lang="ja-JP" altLang="en-US" sz="1250" dirty="0">
                <a:solidFill>
                  <a:srgbClr val="1E1C33"/>
                </a:solidFill>
                <a:latin typeface="Arial"/>
                <a:ea typeface="BIZ UDGothic" charset="-128"/>
                <a:cs typeface="Arial"/>
              </a:rPr>
              <a:t>(T) は周期。λ は REML</a:t>
            </a:r>
            <a:endParaRPr lang="ja-JP" sz="1250" dirty="0"/>
          </a:p>
        </p:txBody>
      </p:sp>
      <p:sp>
        <p:nvSpPr>
          <p:cNvPr id="24" name="Shape 19"/>
          <p:cNvSpPr/>
          <p:nvPr/>
        </p:nvSpPr>
        <p:spPr>
          <a:xfrm>
            <a:off x="6255868" y="3794760"/>
            <a:ext cx="5387188" cy="2148840"/>
          </a:xfrm>
          <a:prstGeom prst="roundRect">
            <a:avLst>
              <a:gd name="adj" fmla="val 4255"/>
            </a:avLst>
          </a:prstGeom>
          <a:solidFill>
            <a:srgbClr val="F2F3F7"/>
          </a:solidFill>
          <a:ln w="6350">
            <a:solidFill>
              <a:srgbClr val="F2F3F7"/>
            </a:solidFill>
            <a:prstDash val="solid"/>
          </a:ln>
        </p:spPr>
      </p:sp>
      <p:sp>
        <p:nvSpPr>
          <p:cNvPr id="25" name="Shape 20"/>
          <p:cNvSpPr/>
          <p:nvPr/>
        </p:nvSpPr>
        <p:spPr>
          <a:xfrm>
            <a:off x="6484468" y="4014216"/>
            <a:ext cx="201168" cy="201168"/>
          </a:xfrm>
          <a:prstGeom prst="roundRect">
            <a:avLst>
              <a:gd name="adj" fmla="val 18182"/>
            </a:avLst>
          </a:prstGeom>
          <a:solidFill>
            <a:srgbClr val="4A3AA7"/>
          </a:solidFill>
          <a:ln w="6350">
            <a:solidFill>
              <a:srgbClr val="4A3AA7"/>
            </a:solidFill>
            <a:prstDash val="solid"/>
          </a:ln>
        </p:spPr>
      </p:sp>
      <p:sp>
        <p:nvSpPr>
          <p:cNvPr id="26" name="Text 21"/>
          <p:cNvSpPr txBox="1"/>
          <p:nvPr/>
        </p:nvSpPr>
        <p:spPr>
          <a:xfrm>
            <a:off x="6777076" y="3959352"/>
            <a:ext cx="4637380" cy="310896"/>
          </a:xfrm>
          <a:prstGeom prst="rect">
            <a:avLst/>
          </a:prstGeom>
          <a:noFill/>
          <a:ln/>
        </p:spPr>
        <p:txBody>
          <a:bodyPr wrap="square" lIns="0" tIns="0" rIns="0" bIns="0" rtlCol="0" anchor="ctr"/>
          <a:lstStyle/>
          <a:p>
            <a:pPr indent="0" marL="0">
              <a:buNone/>
            </a:pPr>
            <a:r>
              <a:rPr lang="ja-JP" altLang="en-US" sz="1500" dirty="0">
                <a:solidFill>
                  <a:srgbClr val="1E1C33"/>
                </a:solidFill>
                <a:latin typeface="Arial"/>
                <a:ea typeface="BIZ UDGothic" charset="-128"/>
                <a:cs typeface="Arial"/>
              </a:rPr>
              <a:t>RTモデル</a:t>
            </a:r>
            <a:endParaRPr lang="ja-JP" sz="1500" dirty="0"/>
          </a:p>
        </p:txBody>
      </p:sp>
      <p:sp>
        <p:nvSpPr>
          <p:cNvPr id="27" name="Shape 22"/>
          <p:cNvSpPr/>
          <p:nvPr/>
        </p:nvSpPr>
        <p:spPr>
          <a:xfrm>
            <a:off x="6484468" y="4389120"/>
            <a:ext cx="4929988" cy="777240"/>
          </a:xfrm>
          <a:prstGeom prst="roundRect">
            <a:avLst>
              <a:gd name="adj" fmla="val 11765"/>
            </a:avLst>
          </a:prstGeom>
          <a:solidFill>
            <a:srgbClr val="E6E3F5"/>
          </a:solidFill>
          <a:ln w="6350">
            <a:solidFill>
              <a:srgbClr val="E6E3F5"/>
            </a:solidFill>
            <a:prstDash val="solid"/>
          </a:ln>
        </p:spPr>
      </p:sp>
      <p:pic>
        <p:nvPicPr>
          <p:cNvPr id="28" name="Image 3" descr="RTモデル">    </p:cNvPr>
          <p:cNvPicPr>
            <a:picLocks noChangeAspect="1"/>
          </p:cNvPicPr>
          <p:nvPr/>
        </p:nvPicPr>
        <p:blipFill>
          <a:blip r:embed="rId4"/>
          <a:stretch>
            <a:fillRect/>
          </a:stretch>
        </p:blipFill>
        <p:spPr>
          <a:xfrm>
            <a:off x="6773433" y="4559016"/>
            <a:ext cx="4352056" cy="437449"/>
          </a:xfrm>
          <a:prstGeom prst="rect">
            <a:avLst/>
          </a:prstGeom>
        </p:spPr>
      </p:pic>
      <p:sp>
        <p:nvSpPr>
          <p:cNvPr id="29" name="Text 23"/>
          <p:cNvSpPr txBox="1"/>
          <p:nvPr/>
        </p:nvSpPr>
        <p:spPr>
          <a:xfrm>
            <a:off x="6530188" y="5303520"/>
            <a:ext cx="4838548" cy="731520"/>
          </a:xfrm>
          <a:prstGeom prst="rect">
            <a:avLst/>
          </a:prstGeom>
          <a:noFill/>
          <a:ln/>
        </p:spPr>
        <p:txBody>
          <a:bodyPr wrap="square" lIns="0" tIns="0" rIns="0" bIns="0" rtlCol="0" anchor="t"/>
          <a:lstStyle/>
          <a:p>
            <a:pPr indent="0" marL="0">
              <a:buNone/>
            </a:pPr>
            <a:r>
              <a:rPr lang="ja-JP" altLang="en-US" sz="1250" dirty="0">
                <a:solidFill>
                  <a:srgbClr val="1E1C33"/>
                </a:solidFill>
                <a:latin typeface="Arial"/>
                <a:ea typeface="BIZ UDGothic" charset="-128"/>
                <a:cs typeface="Arial"/>
              </a:rPr>
              <a:t>K = 4（34係数、XY換算5次）と K = 5（46係数）。並進・非対称倍率・直交度を含む</a:t>
            </a:r>
            <a:endParaRPr lang="ja-JP" sz="1250" dirty="0"/>
          </a:p>
        </p:txBody>
      </p:sp>
      <p:sp>
        <p:nvSpPr>
          <p:cNvPr id="30" name="Text 24"/>
          <p:cNvSpPr txBox="1"/>
          <p:nvPr/>
        </p:nvSpPr>
        <p:spPr>
          <a:xfrm>
            <a:off x="548640" y="5989320"/>
            <a:ext cx="11094415" cy="320040"/>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XY5次多項式：X・Y それぞれ x</a:t>
            </a:r>
            <a:r>
              <a:rPr lang="ja-JP" altLang="en-US" sz="1250" baseline="30000" dirty="0">
                <a:solidFill>
                  <a:srgbClr val="5E6275"/>
                </a:solidFill>
                <a:latin typeface="Arial"/>
                <a:ea typeface="BIZ UDGothic" charset="-128"/>
                <a:cs typeface="Arial"/>
              </a:rPr>
              <a:t>a</a:t>
            </a:r>
            <a:r>
              <a:rPr lang="ja-JP" altLang="en-US" sz="1250" dirty="0">
                <a:solidFill>
                  <a:srgbClr val="5E6275"/>
                </a:solidFill>
                <a:latin typeface="Arial"/>
                <a:ea typeface="BIZ UDGothic" charset="-128"/>
                <a:cs typeface="Arial"/>
              </a:rPr>
              <a:t>y</a:t>
            </a:r>
            <a:r>
              <a:rPr lang="ja-JP" altLang="en-US" sz="1250" baseline="30000" dirty="0">
                <a:solidFill>
                  <a:srgbClr val="5E6275"/>
                </a:solidFill>
                <a:latin typeface="Arial"/>
                <a:ea typeface="BIZ UDGothic" charset="-128"/>
                <a:cs typeface="Arial"/>
              </a:rPr>
              <a:t>b</a:t>
            </a:r>
            <a:r>
              <a:rPr lang="ja-JP" altLang="en-US" sz="1250" dirty="0">
                <a:solidFill>
                  <a:srgbClr val="5E6275"/>
                </a:solidFill>
                <a:latin typeface="Arial"/>
                <a:ea typeface="BIZ UDGothic" charset="-128"/>
                <a:cs typeface="Arial"/>
              </a:rPr>
              <a:t>（a + b ≤ 5）の21項を最小二乗</a:t>
            </a:r>
            <a:endParaRPr lang="ja-JP"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02  評価の方法</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説明変数と評価指標 ― T は方位角、精度は真値と比べる4指標</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アライメント計測値の面内推定 ― 説明変数と手法の比較</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12</a:t>
            </a:r>
            <a:endParaRPr lang="ja-JP" sz="1000" dirty="0"/>
          </a:p>
        </p:txBody>
      </p:sp>
      <p:sp>
        <p:nvSpPr>
          <p:cNvPr id="6" name="Text 4"/>
          <p:cNvSpPr txBox="1"/>
          <p:nvPr/>
        </p:nvSpPr>
        <p:spPr>
          <a:xfrm>
            <a:off x="548640" y="1417320"/>
            <a:ext cx="5486400" cy="365760"/>
          </a:xfrm>
          <a:prstGeom prst="rect">
            <a:avLst/>
          </a:prstGeom>
          <a:noFill/>
          <a:ln/>
        </p:spPr>
        <p:txBody>
          <a:bodyPr wrap="square" lIns="0" tIns="0" rIns="0" bIns="0" rtlCol="0" anchor="t"/>
          <a:lstStyle/>
          <a:p>
            <a:pPr indent="0" marL="0">
              <a:buNone/>
            </a:pPr>
            <a:r>
              <a:rPr lang="ja-JP" altLang="en-US" sz="1600" b="1" dirty="0">
                <a:solidFill>
                  <a:srgbClr val="2F3470"/>
                </a:solidFill>
                <a:latin typeface="Arial"/>
                <a:ea typeface="BIZ UDGothic" charset="-128"/>
                <a:cs typeface="Arial"/>
              </a:rPr>
              <a:t>説明変数の組</a:t>
            </a:r>
            <a:endParaRPr lang="ja-JP" sz="1600" dirty="0"/>
          </a:p>
        </p:txBody>
      </p:sp>
      <p:sp>
        <p:nvSpPr>
          <p:cNvPr id="7" name="Shape 5"/>
          <p:cNvSpPr/>
          <p:nvPr/>
        </p:nvSpPr>
        <p:spPr>
          <a:xfrm>
            <a:off x="548640" y="1874520"/>
            <a:ext cx="5486400" cy="658368"/>
          </a:xfrm>
          <a:prstGeom prst="roundRect">
            <a:avLst>
              <a:gd name="adj" fmla="val 13889"/>
            </a:avLst>
          </a:prstGeom>
          <a:solidFill>
            <a:srgbClr val="F2F3F7"/>
          </a:solidFill>
          <a:ln w="6350">
            <a:solidFill>
              <a:srgbClr val="F2F3F7"/>
            </a:solidFill>
            <a:prstDash val="solid"/>
          </a:ln>
        </p:spPr>
      </p:sp>
      <p:sp>
        <p:nvSpPr>
          <p:cNvPr id="8" name="Shape 6"/>
          <p:cNvSpPr/>
          <p:nvPr/>
        </p:nvSpPr>
        <p:spPr>
          <a:xfrm>
            <a:off x="731520" y="2057400"/>
            <a:ext cx="292608" cy="292608"/>
          </a:xfrm>
          <a:prstGeom prst="roundRect">
            <a:avLst>
              <a:gd name="adj" fmla="val 15625"/>
            </a:avLst>
          </a:prstGeom>
          <a:solidFill>
            <a:srgbClr val="86B6EF"/>
          </a:solidFill>
          <a:ln w="6350">
            <a:solidFill>
              <a:srgbClr val="86B6EF"/>
            </a:solidFill>
            <a:prstDash val="solid"/>
          </a:ln>
        </p:spPr>
      </p:sp>
      <p:sp>
        <p:nvSpPr>
          <p:cNvPr id="9" name="Text 7"/>
          <p:cNvSpPr txBox="1"/>
          <p:nvPr/>
        </p:nvSpPr>
        <p:spPr>
          <a:xfrm>
            <a:off x="1188720" y="1874520"/>
            <a:ext cx="1737360" cy="658368"/>
          </a:xfrm>
          <a:prstGeom prst="rect">
            <a:avLst/>
          </a:prstGeom>
          <a:noFill/>
          <a:ln/>
        </p:spPr>
        <p:txBody>
          <a:bodyPr wrap="square" lIns="0" tIns="0" rIns="0" bIns="0" rtlCol="0" anchor="ctr"/>
          <a:lstStyle/>
          <a:p>
            <a:pPr indent="0" marL="0">
              <a:buNone/>
            </a:pPr>
            <a:r>
              <a:rPr lang="ja-JP" altLang="en-US" sz="1500" b="1" dirty="0">
                <a:solidFill>
                  <a:srgbClr val="1E1C33"/>
                </a:solidFill>
                <a:latin typeface="Arial"/>
                <a:ea typeface="BIZ UDGothic" charset="-128"/>
                <a:cs typeface="Arial"/>
              </a:rPr>
              <a:t>X, Y</a:t>
            </a:r>
            <a:endParaRPr lang="ja-JP" sz="1500" dirty="0"/>
          </a:p>
        </p:txBody>
      </p:sp>
      <p:sp>
        <p:nvSpPr>
          <p:cNvPr id="10" name="Text 8"/>
          <p:cNvSpPr txBox="1"/>
          <p:nvPr/>
        </p:nvSpPr>
        <p:spPr>
          <a:xfrm>
            <a:off x="2926080" y="1874520"/>
            <a:ext cx="3017520" cy="658368"/>
          </a:xfrm>
          <a:prstGeom prst="rect">
            <a:avLst/>
          </a:prstGeom>
          <a:noFill/>
          <a:ln/>
        </p:spPr>
        <p:txBody>
          <a:bodyPr wrap="square" lIns="0" tIns="0" rIns="0" bIns="0" rtlCol="0" anchor="ctr"/>
          <a:lstStyle/>
          <a:p>
            <a:pPr indent="0" marL="0">
              <a:buNone/>
            </a:pPr>
            <a:r>
              <a:rPr lang="ja-JP" altLang="en-US" sz="1300" dirty="0">
                <a:solidFill>
                  <a:srgbClr val="1E1C33"/>
                </a:solidFill>
                <a:latin typeface="Arial"/>
                <a:ea typeface="BIZ UDGothic" charset="-128"/>
                <a:cs typeface="Arial"/>
              </a:rPr>
              <a:t>x / R</a:t>
            </a:r>
            <a:r>
              <a:rPr lang="ja-JP" altLang="en-US" sz="1300" baseline="-40000" dirty="0">
                <a:solidFill>
                  <a:srgbClr val="1E1C33"/>
                </a:solidFill>
                <a:latin typeface="Arial"/>
                <a:ea typeface="BIZ UDGothic" charset="-128"/>
                <a:cs typeface="Arial"/>
              </a:rPr>
              <a:t>w</a:t>
            </a:r>
            <a:r>
              <a:rPr lang="ja-JP" altLang="en-US" sz="1300" dirty="0">
                <a:solidFill>
                  <a:srgbClr val="1E1C33"/>
                </a:solidFill>
                <a:latin typeface="Arial"/>
                <a:ea typeface="BIZ UDGothic" charset="-128"/>
                <a:cs typeface="Arial"/>
              </a:rPr>
              <a:t>, y / R</a:t>
            </a:r>
            <a:r>
              <a:rPr lang="ja-JP" altLang="en-US" sz="1300" baseline="-40000" dirty="0">
                <a:solidFill>
                  <a:srgbClr val="1E1C33"/>
                </a:solidFill>
                <a:latin typeface="Arial"/>
                <a:ea typeface="BIZ UDGothic" charset="-128"/>
                <a:cs typeface="Arial"/>
              </a:rPr>
              <a:t>w</a:t>
            </a:r>
            <a:endParaRPr lang="ja-JP" sz="1300" dirty="0"/>
          </a:p>
        </p:txBody>
      </p:sp>
      <p:sp>
        <p:nvSpPr>
          <p:cNvPr id="11" name="Shape 9"/>
          <p:cNvSpPr/>
          <p:nvPr/>
        </p:nvSpPr>
        <p:spPr>
          <a:xfrm>
            <a:off x="548640" y="2651760"/>
            <a:ext cx="5486400" cy="658368"/>
          </a:xfrm>
          <a:prstGeom prst="roundRect">
            <a:avLst>
              <a:gd name="adj" fmla="val 13889"/>
            </a:avLst>
          </a:prstGeom>
          <a:solidFill>
            <a:srgbClr val="F2F3F7"/>
          </a:solidFill>
          <a:ln w="6350">
            <a:solidFill>
              <a:srgbClr val="F2F3F7"/>
            </a:solidFill>
            <a:prstDash val="solid"/>
          </a:ln>
        </p:spPr>
      </p:sp>
      <p:sp>
        <p:nvSpPr>
          <p:cNvPr id="12" name="Shape 10"/>
          <p:cNvSpPr/>
          <p:nvPr/>
        </p:nvSpPr>
        <p:spPr>
          <a:xfrm>
            <a:off x="731520" y="2834640"/>
            <a:ext cx="292608" cy="292608"/>
          </a:xfrm>
          <a:prstGeom prst="roundRect">
            <a:avLst>
              <a:gd name="adj" fmla="val 15625"/>
            </a:avLst>
          </a:prstGeom>
          <a:solidFill>
            <a:srgbClr val="2A78D6"/>
          </a:solidFill>
          <a:ln w="6350">
            <a:solidFill>
              <a:srgbClr val="2A78D6"/>
            </a:solidFill>
            <a:prstDash val="solid"/>
          </a:ln>
        </p:spPr>
      </p:sp>
      <p:sp>
        <p:nvSpPr>
          <p:cNvPr id="13" name="Text 11"/>
          <p:cNvSpPr txBox="1"/>
          <p:nvPr/>
        </p:nvSpPr>
        <p:spPr>
          <a:xfrm>
            <a:off x="1188720" y="2651760"/>
            <a:ext cx="1737360" cy="658368"/>
          </a:xfrm>
          <a:prstGeom prst="rect">
            <a:avLst/>
          </a:prstGeom>
          <a:noFill/>
          <a:ln/>
        </p:spPr>
        <p:txBody>
          <a:bodyPr wrap="square" lIns="0" tIns="0" rIns="0" bIns="0" rtlCol="0" anchor="ctr"/>
          <a:lstStyle/>
          <a:p>
            <a:pPr indent="0" marL="0">
              <a:buNone/>
            </a:pPr>
            <a:r>
              <a:rPr lang="ja-JP" altLang="en-US" sz="1500" b="1" dirty="0">
                <a:solidFill>
                  <a:srgbClr val="1E1C33"/>
                </a:solidFill>
                <a:latin typeface="Arial"/>
                <a:ea typeface="BIZ UDGothic" charset="-128"/>
                <a:cs typeface="Arial"/>
              </a:rPr>
              <a:t>X, Y, 半径</a:t>
            </a:r>
            <a:endParaRPr lang="ja-JP" sz="1500" dirty="0"/>
          </a:p>
        </p:txBody>
      </p:sp>
      <p:sp>
        <p:nvSpPr>
          <p:cNvPr id="14" name="Text 12"/>
          <p:cNvSpPr txBox="1"/>
          <p:nvPr/>
        </p:nvSpPr>
        <p:spPr>
          <a:xfrm>
            <a:off x="2926080" y="2651760"/>
            <a:ext cx="3017520" cy="658368"/>
          </a:xfrm>
          <a:prstGeom prst="rect">
            <a:avLst/>
          </a:prstGeom>
          <a:noFill/>
          <a:ln/>
        </p:spPr>
        <p:txBody>
          <a:bodyPr wrap="square" lIns="0" tIns="0" rIns="0" bIns="0" rtlCol="0" anchor="ctr"/>
          <a:lstStyle/>
          <a:p>
            <a:pPr indent="0" marL="0">
              <a:buNone/>
            </a:pPr>
            <a:r>
              <a:rPr lang="ja-JP" altLang="en-US" sz="1300" dirty="0">
                <a:solidFill>
                  <a:srgbClr val="1E1C33"/>
                </a:solidFill>
                <a:latin typeface="Arial"/>
                <a:ea typeface="BIZ UDGothic" charset="-128"/>
                <a:cs typeface="Arial"/>
              </a:rPr>
              <a:t>＋ r / R</a:t>
            </a:r>
            <a:r>
              <a:rPr lang="ja-JP" altLang="en-US" sz="1300" baseline="-40000" dirty="0">
                <a:solidFill>
                  <a:srgbClr val="1E1C33"/>
                </a:solidFill>
                <a:latin typeface="Arial"/>
                <a:ea typeface="BIZ UDGothic" charset="-128"/>
                <a:cs typeface="Arial"/>
              </a:rPr>
              <a:t>w</a:t>
            </a:r>
            <a:endParaRPr lang="ja-JP" sz="1300" dirty="0"/>
          </a:p>
        </p:txBody>
      </p:sp>
      <p:sp>
        <p:nvSpPr>
          <p:cNvPr id="15" name="Shape 13"/>
          <p:cNvSpPr/>
          <p:nvPr/>
        </p:nvSpPr>
        <p:spPr>
          <a:xfrm>
            <a:off x="548640" y="3429000"/>
            <a:ext cx="5486400" cy="658368"/>
          </a:xfrm>
          <a:prstGeom prst="roundRect">
            <a:avLst>
              <a:gd name="adj" fmla="val 13889"/>
            </a:avLst>
          </a:prstGeom>
          <a:solidFill>
            <a:srgbClr val="F2F3F7"/>
          </a:solidFill>
          <a:ln w="6350">
            <a:solidFill>
              <a:srgbClr val="F2F3F7"/>
            </a:solidFill>
            <a:prstDash val="solid"/>
          </a:ln>
        </p:spPr>
      </p:sp>
      <p:sp>
        <p:nvSpPr>
          <p:cNvPr id="16" name="Shape 14"/>
          <p:cNvSpPr/>
          <p:nvPr/>
        </p:nvSpPr>
        <p:spPr>
          <a:xfrm>
            <a:off x="731520" y="3611880"/>
            <a:ext cx="292608" cy="292608"/>
          </a:xfrm>
          <a:prstGeom prst="roundRect">
            <a:avLst>
              <a:gd name="adj" fmla="val 15625"/>
            </a:avLst>
          </a:prstGeom>
          <a:solidFill>
            <a:srgbClr val="104281"/>
          </a:solidFill>
          <a:ln w="6350">
            <a:solidFill>
              <a:srgbClr val="104281"/>
            </a:solidFill>
            <a:prstDash val="solid"/>
          </a:ln>
        </p:spPr>
      </p:sp>
      <p:sp>
        <p:nvSpPr>
          <p:cNvPr id="17" name="Text 15"/>
          <p:cNvSpPr txBox="1"/>
          <p:nvPr/>
        </p:nvSpPr>
        <p:spPr>
          <a:xfrm>
            <a:off x="1188720" y="3429000"/>
            <a:ext cx="1737360" cy="658368"/>
          </a:xfrm>
          <a:prstGeom prst="rect">
            <a:avLst/>
          </a:prstGeom>
          <a:noFill/>
          <a:ln/>
        </p:spPr>
        <p:txBody>
          <a:bodyPr wrap="square" lIns="0" tIns="0" rIns="0" bIns="0" rtlCol="0" anchor="ctr"/>
          <a:lstStyle/>
          <a:p>
            <a:pPr indent="0" marL="0">
              <a:buNone/>
            </a:pPr>
            <a:r>
              <a:rPr lang="ja-JP" altLang="en-US" sz="1500" b="1" dirty="0">
                <a:solidFill>
                  <a:srgbClr val="1E1C33"/>
                </a:solidFill>
                <a:latin typeface="Arial"/>
                <a:ea typeface="BIZ UDGothic" charset="-128"/>
                <a:cs typeface="Arial"/>
              </a:rPr>
              <a:t>X, Y, 半径, T</a:t>
            </a:r>
            <a:endParaRPr lang="ja-JP" sz="1500" dirty="0"/>
          </a:p>
        </p:txBody>
      </p:sp>
      <p:sp>
        <p:nvSpPr>
          <p:cNvPr id="18" name="Text 16"/>
          <p:cNvSpPr txBox="1"/>
          <p:nvPr/>
        </p:nvSpPr>
        <p:spPr>
          <a:xfrm>
            <a:off x="2926080" y="3429000"/>
            <a:ext cx="3017520" cy="658368"/>
          </a:xfrm>
          <a:prstGeom prst="rect">
            <a:avLst/>
          </a:prstGeom>
          <a:noFill/>
          <a:ln/>
        </p:spPr>
        <p:txBody>
          <a:bodyPr wrap="square" lIns="0" tIns="0" rIns="0" bIns="0" rtlCol="0" anchor="ctr"/>
          <a:lstStyle/>
          <a:p>
            <a:pPr indent="0" marL="0">
              <a:buNone/>
            </a:pPr>
            <a:r>
              <a:rPr lang="ja-JP" altLang="en-US" sz="1300" dirty="0">
                <a:solidFill>
                  <a:srgbClr val="1E1C33"/>
                </a:solidFill>
                <a:latin typeface="Arial"/>
                <a:ea typeface="BIZ UDGothic" charset="-128"/>
                <a:cs typeface="Arial"/>
              </a:rPr>
              <a:t>＋ (cos θ, sin θ)、GAM は周期スプライン</a:t>
            </a:r>
            <a:endParaRPr lang="ja-JP" sz="1300" dirty="0"/>
          </a:p>
        </p:txBody>
      </p:sp>
      <p:sp>
        <p:nvSpPr>
          <p:cNvPr id="19" name="Shape 17"/>
          <p:cNvSpPr/>
          <p:nvPr/>
        </p:nvSpPr>
        <p:spPr>
          <a:xfrm>
            <a:off x="548640" y="4297680"/>
            <a:ext cx="5486400" cy="594360"/>
          </a:xfrm>
          <a:prstGeom prst="roundRect">
            <a:avLst>
              <a:gd name="adj" fmla="val 15385"/>
            </a:avLst>
          </a:prstGeom>
          <a:solidFill>
            <a:srgbClr val="EEEFF7"/>
          </a:solidFill>
          <a:ln w="6350">
            <a:solidFill>
              <a:srgbClr val="EEEFF7"/>
            </a:solidFill>
            <a:prstDash val="solid"/>
          </a:ln>
        </p:spPr>
      </p:sp>
      <p:pic>
        <p:nvPicPr>
          <p:cNvPr id="20" name="Image 0" descr="T = θ">    </p:cNvPr>
          <p:cNvPicPr>
            <a:picLocks noChangeAspect="1"/>
          </p:cNvPicPr>
          <p:nvPr/>
        </p:nvPicPr>
        <p:blipFill>
          <a:blip r:embed="rId1"/>
          <a:stretch>
            <a:fillRect/>
          </a:stretch>
        </p:blipFill>
        <p:spPr>
          <a:xfrm>
            <a:off x="1755648" y="4459072"/>
            <a:ext cx="3072384" cy="271577"/>
          </a:xfrm>
          <a:prstGeom prst="rect">
            <a:avLst/>
          </a:prstGeom>
        </p:spPr>
      </p:pic>
      <p:sp>
        <p:nvSpPr>
          <p:cNvPr id="21" name="Text 18"/>
          <p:cNvSpPr txBox="1"/>
          <p:nvPr/>
        </p:nvSpPr>
        <p:spPr>
          <a:xfrm>
            <a:off x="548640" y="4983480"/>
            <a:ext cx="5486400" cy="731520"/>
          </a:xfrm>
          <a:prstGeom prst="rect">
            <a:avLst/>
          </a:prstGeom>
          <a:noFill/>
          <a:ln/>
        </p:spPr>
        <p:txBody>
          <a:bodyPr wrap="square" lIns="0" tIns="0" rIns="0" bIns="0" rtlCol="0" anchor="t"/>
          <a:lstStyle/>
          <a:p>
            <a:pPr indent="0" marL="0">
              <a:buNone/>
            </a:pPr>
            <a:r>
              <a:rPr lang="ja-JP" altLang="en-US" sz="1200" dirty="0">
                <a:solidFill>
                  <a:srgbClr val="5E6275"/>
                </a:solidFill>
                <a:latin typeface="Arial"/>
                <a:ea typeface="BIZ UDGothic" charset="-128"/>
                <a:cs typeface="Arial"/>
              </a:rPr>
              <a:t>T は ASML R&amp;T の接線方向 e</a:t>
            </a:r>
            <a:r>
              <a:rPr lang="ja-JP" altLang="en-US" sz="1200" baseline="-40000" dirty="0">
                <a:solidFill>
                  <a:srgbClr val="5E6275"/>
                </a:solidFill>
                <a:latin typeface="Arial"/>
                <a:ea typeface="BIZ UDGothic" charset="-128"/>
                <a:cs typeface="Arial"/>
              </a:rPr>
              <a:t>T</a:t>
            </a:r>
            <a:r>
              <a:rPr lang="ja-JP" altLang="en-US" sz="1200" dirty="0">
                <a:solidFill>
                  <a:srgbClr val="5E6275"/>
                </a:solidFill>
                <a:latin typeface="Arial"/>
                <a:ea typeface="BIZ UDGothic" charset="-128"/>
                <a:cs typeface="Arial"/>
              </a:rPr>
              <a:t> = (−sin θ, cos θ) に沿った位置。位置ベクトル自体の T 成分は常に 0 なので角度を使う</a:t>
            </a:r>
            <a:endParaRPr lang="ja-JP" sz="1200" dirty="0"/>
          </a:p>
        </p:txBody>
      </p:sp>
      <p:sp>
        <p:nvSpPr>
          <p:cNvPr id="22" name="Text 19"/>
          <p:cNvSpPr txBox="1"/>
          <p:nvPr/>
        </p:nvSpPr>
        <p:spPr>
          <a:xfrm>
            <a:off x="6400800" y="1417320"/>
            <a:ext cx="5242255" cy="365760"/>
          </a:xfrm>
          <a:prstGeom prst="rect">
            <a:avLst/>
          </a:prstGeom>
          <a:noFill/>
          <a:ln/>
        </p:spPr>
        <p:txBody>
          <a:bodyPr wrap="square" lIns="0" tIns="0" rIns="0" bIns="0" rtlCol="0" anchor="t"/>
          <a:lstStyle/>
          <a:p>
            <a:pPr indent="0" marL="0">
              <a:buNone/>
            </a:pPr>
            <a:r>
              <a:rPr lang="ja-JP" altLang="en-US" sz="1600" b="1" dirty="0">
                <a:solidFill>
                  <a:srgbClr val="2F3470"/>
                </a:solidFill>
                <a:latin typeface="Arial"/>
                <a:ea typeface="BIZ UDGothic" charset="-128"/>
                <a:cs typeface="Arial"/>
              </a:rPr>
              <a:t>評価指標（未計測 Shot の全 Mark、真値と比較）</a:t>
            </a:r>
            <a:endParaRPr lang="ja-JP" sz="1600" dirty="0"/>
          </a:p>
        </p:txBody>
      </p:sp>
      <p:sp>
        <p:nvSpPr>
          <p:cNvPr id="23" name="Shape 20"/>
          <p:cNvSpPr/>
          <p:nvPr/>
        </p:nvSpPr>
        <p:spPr>
          <a:xfrm>
            <a:off x="6400800" y="1874520"/>
            <a:ext cx="5242255" cy="731520"/>
          </a:xfrm>
          <a:prstGeom prst="roundRect">
            <a:avLst>
              <a:gd name="adj" fmla="val 12500"/>
            </a:avLst>
          </a:prstGeom>
          <a:solidFill>
            <a:srgbClr val="EEEFF7"/>
          </a:solidFill>
          <a:ln w="6350">
            <a:solidFill>
              <a:srgbClr val="EEEFF7"/>
            </a:solidFill>
            <a:prstDash val="solid"/>
          </a:ln>
        </p:spPr>
      </p:sp>
      <p:pic>
        <p:nvPicPr>
          <p:cNvPr id="24" name="Image 1" descr="R2">    </p:cNvPr>
          <p:cNvPicPr>
            <a:picLocks noChangeAspect="1"/>
          </p:cNvPicPr>
          <p:nvPr/>
        </p:nvPicPr>
        <p:blipFill>
          <a:blip r:embed="rId2"/>
          <a:stretch>
            <a:fillRect/>
          </a:stretch>
        </p:blipFill>
        <p:spPr>
          <a:xfrm>
            <a:off x="8260385" y="2010080"/>
            <a:ext cx="1523086" cy="460400"/>
          </a:xfrm>
          <a:prstGeom prst="rect">
            <a:avLst/>
          </a:prstGeom>
        </p:spPr>
      </p:pic>
      <p:sp>
        <p:nvSpPr>
          <p:cNvPr id="25" name="Shape 21"/>
          <p:cNvSpPr/>
          <p:nvPr/>
        </p:nvSpPr>
        <p:spPr>
          <a:xfrm>
            <a:off x="6400800" y="2697480"/>
            <a:ext cx="5242255" cy="731520"/>
          </a:xfrm>
          <a:prstGeom prst="roundRect">
            <a:avLst>
              <a:gd name="adj" fmla="val 12500"/>
            </a:avLst>
          </a:prstGeom>
          <a:solidFill>
            <a:srgbClr val="EEEFF7"/>
          </a:solidFill>
          <a:ln w="6350">
            <a:solidFill>
              <a:srgbClr val="EEEFF7"/>
            </a:solidFill>
            <a:prstDash val="solid"/>
          </a:ln>
        </p:spPr>
      </p:sp>
      <p:pic>
        <p:nvPicPr>
          <p:cNvPr id="26" name="Image 2" descr="調整済みR2">    </p:cNvPr>
          <p:cNvPicPr>
            <a:picLocks noChangeAspect="1"/>
          </p:cNvPicPr>
          <p:nvPr/>
        </p:nvPicPr>
        <p:blipFill>
          <a:blip r:embed="rId3"/>
          <a:stretch>
            <a:fillRect/>
          </a:stretch>
        </p:blipFill>
        <p:spPr>
          <a:xfrm>
            <a:off x="7259422" y="2889047"/>
            <a:ext cx="3525012" cy="348386"/>
          </a:xfrm>
          <a:prstGeom prst="rect">
            <a:avLst/>
          </a:prstGeom>
        </p:spPr>
      </p:pic>
      <p:sp>
        <p:nvSpPr>
          <p:cNvPr id="27" name="Shape 22"/>
          <p:cNvSpPr/>
          <p:nvPr/>
        </p:nvSpPr>
        <p:spPr>
          <a:xfrm>
            <a:off x="6400800" y="3520440"/>
            <a:ext cx="5242255" cy="731520"/>
          </a:xfrm>
          <a:prstGeom prst="roundRect">
            <a:avLst>
              <a:gd name="adj" fmla="val 12500"/>
            </a:avLst>
          </a:prstGeom>
          <a:solidFill>
            <a:srgbClr val="EEEFF7"/>
          </a:solidFill>
          <a:ln w="6350">
            <a:solidFill>
              <a:srgbClr val="EEEFF7"/>
            </a:solidFill>
            <a:prstDash val="solid"/>
          </a:ln>
        </p:spPr>
      </p:sp>
      <p:pic>
        <p:nvPicPr>
          <p:cNvPr id="28" name="Image 3" descr="RMSE MAE">    </p:cNvPr>
          <p:cNvPicPr>
            <a:picLocks noChangeAspect="1"/>
          </p:cNvPicPr>
          <p:nvPr/>
        </p:nvPicPr>
        <p:blipFill>
          <a:blip r:embed="rId4"/>
          <a:stretch>
            <a:fillRect/>
          </a:stretch>
        </p:blipFill>
        <p:spPr>
          <a:xfrm>
            <a:off x="7399325" y="3690061"/>
            <a:ext cx="3245206" cy="392278"/>
          </a:xfrm>
          <a:prstGeom prst="rect">
            <a:avLst/>
          </a:prstGeom>
        </p:spPr>
      </p:pic>
      <p:sp>
        <p:nvSpPr>
          <p:cNvPr id="29" name="Text 23"/>
          <p:cNvSpPr txBox="1"/>
          <p:nvPr/>
        </p:nvSpPr>
        <p:spPr>
          <a:xfrm>
            <a:off x="6400800" y="4434840"/>
            <a:ext cx="5242255" cy="1737360"/>
          </a:xfrm>
          <a:prstGeom prst="rect">
            <a:avLst/>
          </a:prstGeom>
          <a:noFill/>
          <a:ln/>
        </p:spPr>
        <p:txBody>
          <a:bodyPr wrap="square" lIns="0" tIns="0" rIns="0" bIns="0" rtlCol="0" anchor="t"/>
          <a:lstStyle/>
          <a:p>
            <a:pPr marL="203200" indent="-203200">
              <a:spcAft>
                <a:spcPts val="600"/>
              </a:spcAft>
              <a:buSzPct val="100000"/>
              <a:buChar char="•"/>
            </a:pPr>
            <a:r>
              <a:rPr lang="ja-JP" altLang="en-US" sz="1250" dirty="0">
                <a:solidFill>
                  <a:srgbClr val="1E1C33"/>
                </a:solidFill>
                <a:latin typeface="Arial"/>
                <a:ea typeface="BIZ UDGothic" charset="-128"/>
                <a:cs typeface="Arial"/>
              </a:rPr>
              <a:t>n：推定する Mark 数、S：学習点での平滑化行列（有効自由度 tr(S)）</a:t>
            </a:r>
            <a:endParaRPr lang="ja-JP" sz="1250" dirty="0"/>
          </a:p>
          <a:p>
            <a:pPr marL="203200" indent="-203200">
              <a:spcAft>
                <a:spcPts val="600"/>
              </a:spcAft>
              <a:buSzPct val="100000"/>
              <a:buChar char="•"/>
            </a:pPr>
            <a:r>
              <a:rPr lang="ja-JP" altLang="en-US" sz="1250" dirty="0">
                <a:solidFill>
                  <a:srgbClr val="1E1C33"/>
                </a:solidFill>
                <a:latin typeface="Arial"/>
                <a:ea typeface="BIZ UDGothic" charset="-128"/>
                <a:cs typeface="Arial"/>
              </a:rPr>
              <a:t>X・Y を合わせた値を主に示す（R² の分母は軸ごとの平均からの偏差）</a:t>
            </a:r>
            <a:endParaRPr lang="ja-JP" sz="1250" dirty="0"/>
          </a:p>
          <a:p>
            <a:pPr marL="203200" indent="-203200">
              <a:spcAft>
                <a:spcPts val="600"/>
              </a:spcAft>
              <a:buSzPct val="100000"/>
              <a:buChar char="•"/>
            </a:pPr>
            <a:r>
              <a:rPr lang="ja-JP" altLang="en-US" sz="1250" dirty="0">
                <a:solidFill>
                  <a:srgbClr val="1E1C33"/>
                </a:solidFill>
                <a:latin typeface="Arial"/>
                <a:ea typeface="BIZ UDGothic" charset="-128"/>
                <a:cs typeface="Arial"/>
              </a:rPr>
              <a:t>外周（半径 ≥ 120 mm、84 Mark）と内側の RMSE も別に集計</a:t>
            </a:r>
            <a:endParaRPr lang="ja-JP"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全体像 ― 15 Shot 以上は GPR が最良。10 Shot では TPS が最良</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系統ごとに全 Shot 数の平均 RMSE が最小の設定を1つ選んで表示（Shot 数で設定を変えない）。1,000 枚の平均</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13</a:t>
            </a:r>
            <a:endParaRPr lang="ja-JP" sz="1000" dirty="0"/>
          </a:p>
        </p:txBody>
      </p:sp>
      <p:graphicFrame>
        <p:nvGraphicFramePr>
          <p:cNvPr id="6" name="Chart 0" descr=""/>
          <p:cNvGraphicFramePr/>
          <p:nvPr/>
        </p:nvGraphicFramePr>
        <p:xfrm>
          <a:off x="548640" y="1325880"/>
          <a:ext cx="7223760" cy="498348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046720" y="1417320"/>
          <a:ext cx="3596335" cy="914400"/>
        </p:xfrm>
        <a:graphic>
          <a:graphicData uri="http://schemas.openxmlformats.org/drawingml/2006/table">
            <a:tbl>
              <a:tblPr/>
              <a:tblGrid>
                <a:gridCol w="1538935"/>
                <a:gridCol w="685800"/>
                <a:gridCol w="685800"/>
                <a:gridCol w="685800"/>
              </a:tblGrid>
              <a:tr h="365760">
                <a:tc>
                  <a:txBody>
                    <a:bodyPr/>
                    <a:lstStyle/>
                    <a:p>
                      <a:pPr algn="ctr" indent="0" marL="0">
                        <a:buNone/>
                      </a:pPr>
                      <a:r>
                        <a:rPr lang="en-US" sz="1200" b="1" dirty="0">
                          <a:solidFill>
                            <a:srgbClr val="FFFFFF"/>
                          </a:solidFill>
                          <a:latin typeface="Arial"/>
                          <a:ea typeface="BIZ UDGothic" charset="-128"/>
                          <a:cs typeface="Arial"/>
                        </a:rPr>
                        <a:t>系統（最良の設定）</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10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20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40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65760">
                <a:tc>
                  <a:txBody>
                    <a:bodyPr/>
                    <a:lstStyle/>
                    <a:p>
                      <a:pPr algn="l" indent="0" marL="0">
                        <a:buNone/>
                      </a:pPr>
                      <a:r>
                        <a:rPr lang="en-US" sz="1200" b="1" dirty="0">
                          <a:solidFill>
                            <a:srgbClr val="2A78D6"/>
                          </a:solidFill>
                          <a:latin typeface="Arial"/>
                          <a:ea typeface="BIZ UDGothic" charset="-128"/>
                          <a:cs typeface="Arial"/>
                        </a:rPr>
                        <a:t>GPR</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3.91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1.65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0.77</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200" b="1" dirty="0">
                          <a:solidFill>
                            <a:srgbClr val="EB6834"/>
                          </a:solidFill>
                          <a:latin typeface="Arial"/>
                          <a:ea typeface="BIZ UDGothic" charset="-128"/>
                          <a:cs typeface="Arial"/>
                        </a:rPr>
                        <a:t>TPS</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3.73</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2.86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2.44</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200" b="1" dirty="0">
                          <a:solidFill>
                            <a:srgbClr val="1BAF7A"/>
                          </a:solidFill>
                          <a:latin typeface="Arial"/>
                          <a:ea typeface="BIZ UDGothic" charset="-128"/>
                          <a:cs typeface="Arial"/>
                        </a:rPr>
                        <a:t>Kriging</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4.32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3.09</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2.74</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200" b="1" dirty="0">
                          <a:solidFill>
                            <a:srgbClr val="EDA100"/>
                          </a:solidFill>
                          <a:latin typeface="Arial"/>
                          <a:ea typeface="BIZ UDGothic" charset="-128"/>
                          <a:cs typeface="Arial"/>
                        </a:rPr>
                        <a:t>Universal Kriging</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4.61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3.23</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2.71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200" b="1" dirty="0">
                          <a:solidFill>
                            <a:srgbClr val="E87BA4"/>
                          </a:solidFill>
                          <a:latin typeface="Arial"/>
                          <a:ea typeface="BIZ UDGothic" charset="-128"/>
                          <a:cs typeface="Arial"/>
                        </a:rPr>
                        <a:t>GAM</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4.90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2.55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1.25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200" b="1" dirty="0">
                          <a:solidFill>
                            <a:srgbClr val="008300"/>
                          </a:solidFill>
                          <a:latin typeface="Arial"/>
                          <a:ea typeface="BIZ UDGothic" charset="-128"/>
                          <a:cs typeface="Arial"/>
                        </a:rPr>
                        <a:t>XY5次多項式</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4.75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3.66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3.25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200" b="1" dirty="0">
                          <a:solidFill>
                            <a:srgbClr val="4A3AA7"/>
                          </a:solidFill>
                          <a:latin typeface="Arial"/>
                          <a:ea typeface="BIZ UDGothic" charset="-128"/>
                          <a:cs typeface="Arial"/>
                        </a:rPr>
                        <a:t>RTモデル</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4.94</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3.73</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3.31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8" name="Text 4"/>
          <p:cNvSpPr txBox="1"/>
          <p:nvPr/>
        </p:nvSpPr>
        <p:spPr>
          <a:xfrm>
            <a:off x="8046720" y="4526280"/>
            <a:ext cx="3596335" cy="1737360"/>
          </a:xfrm>
          <a:prstGeom prst="rect">
            <a:avLst/>
          </a:prstGeom>
          <a:noFill/>
          <a:ln/>
        </p:spPr>
        <p:txBody>
          <a:bodyPr wrap="square" lIns="0" tIns="0" rIns="0" bIns="0" rtlCol="0" anchor="t"/>
          <a:lstStyle/>
          <a:p>
            <a:pPr marL="203200" indent="-203200">
              <a:spcAft>
                <a:spcPts val="300"/>
              </a:spcAft>
              <a:buSzPct val="100000"/>
              <a:buChar char="•"/>
            </a:pPr>
            <a:r>
              <a:rPr lang="ja-JP" altLang="en-US" sz="1050" dirty="0">
                <a:solidFill>
                  <a:srgbClr val="5E6275"/>
                </a:solidFill>
                <a:latin typeface="Arial"/>
                <a:ea typeface="BIZ UDGothic" charset="-128"/>
                <a:cs typeface="Arial"/>
              </a:rPr>
              <a:t>GPR：matern52｜X, Y, 半径｜同時推定</a:t>
            </a:r>
            <a:endParaRPr lang="ja-JP" sz="1050" dirty="0"/>
          </a:p>
          <a:p>
            <a:pPr marL="203200" indent="-203200">
              <a:spcAft>
                <a:spcPts val="300"/>
              </a:spcAft>
              <a:buSzPct val="100000"/>
              <a:buChar char="•"/>
            </a:pPr>
            <a:r>
              <a:rPr lang="ja-JP" altLang="en-US" sz="1050" dirty="0">
                <a:solidFill>
                  <a:srgbClr val="5E6275"/>
                </a:solidFill>
                <a:latin typeface="Arial"/>
                <a:ea typeface="BIZ UDGothic" charset="-128"/>
                <a:cs typeface="Arial"/>
              </a:rPr>
              <a:t>TPS：X, Y, 半径</a:t>
            </a:r>
            <a:endParaRPr lang="ja-JP" sz="1050" dirty="0"/>
          </a:p>
          <a:p>
            <a:pPr marL="203200" indent="-203200">
              <a:spcAft>
                <a:spcPts val="300"/>
              </a:spcAft>
              <a:buSzPct val="100000"/>
              <a:buChar char="•"/>
            </a:pPr>
            <a:r>
              <a:rPr lang="ja-JP" altLang="en-US" sz="1050" dirty="0">
                <a:solidFill>
                  <a:srgbClr val="5E6275"/>
                </a:solidFill>
                <a:latin typeface="Arial"/>
                <a:ea typeface="BIZ UDGothic" charset="-128"/>
                <a:cs typeface="Arial"/>
              </a:rPr>
              <a:t>Kriging：exponential｜X, Y, 半径</a:t>
            </a:r>
            <a:endParaRPr lang="ja-JP" sz="1050" dirty="0"/>
          </a:p>
          <a:p>
            <a:pPr marL="203200" indent="-203200">
              <a:spcAft>
                <a:spcPts val="300"/>
              </a:spcAft>
              <a:buSzPct val="100000"/>
              <a:buChar char="•"/>
            </a:pPr>
            <a:r>
              <a:rPr lang="ja-JP" altLang="en-US" sz="1050" dirty="0">
                <a:solidFill>
                  <a:srgbClr val="5E6275"/>
                </a:solidFill>
                <a:latin typeface="Arial"/>
                <a:ea typeface="BIZ UDGothic" charset="-128"/>
                <a:cs typeface="Arial"/>
              </a:rPr>
              <a:t>Universal Kriging：exponential｜X, Y, 半径</a:t>
            </a:r>
            <a:endParaRPr lang="ja-JP" sz="1050" dirty="0"/>
          </a:p>
          <a:p>
            <a:pPr marL="203200" indent="-203200">
              <a:spcAft>
                <a:spcPts val="300"/>
              </a:spcAft>
              <a:buSzPct val="100000"/>
              <a:buChar char="•"/>
            </a:pPr>
            <a:r>
              <a:rPr lang="ja-JP" altLang="en-US" sz="1050" dirty="0">
                <a:solidFill>
                  <a:srgbClr val="5E6275"/>
                </a:solidFill>
                <a:latin typeface="Arial"/>
                <a:ea typeface="BIZ UDGothic" charset="-128"/>
                <a:cs typeface="Arial"/>
              </a:rPr>
              <a:t>GAM：X, Y, 半径, T</a:t>
            </a:r>
            <a:endParaRPr lang="ja-JP"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系統×説明変数×質的変数 ― 差を生むのは質的変数と手法</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各行：その組み合わせで全 Shot 数の平均 RMSE が最小のカーネル・バリオグラムを表示。値は 1000 枚の平均 RMSE（X・Y）[nm]</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14</a:t>
            </a:r>
            <a:endParaRPr lang="ja-JP" sz="1000" dirty="0"/>
          </a:p>
        </p:txBody>
      </p:sp>
      <p:pic>
        <p:nvPicPr>
          <p:cNvPr id="6" name="Image 0" descr="系統×説明変数のRMSE">    </p:cNvPr>
          <p:cNvPicPr>
            <a:picLocks noChangeAspect="1"/>
          </p:cNvPicPr>
          <p:nvPr/>
        </p:nvPicPr>
        <p:blipFill>
          <a:blip r:embed="rId1"/>
          <a:stretch>
            <a:fillRect/>
          </a:stretch>
        </p:blipFill>
        <p:spPr>
          <a:xfrm>
            <a:off x="548640" y="1325880"/>
            <a:ext cx="11094415" cy="45866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Shot数ごとの最良 ― 統計的に差がない設定まで含めて見る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差がない：同じ Wafer どうしの RMSE の差の 95% 信頼区間が 0 を含む（1000 枚）</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15</a:t>
            </a:r>
            <a:endParaRPr lang="ja-JP"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005840"/>
                <a:gridCol w="5486400"/>
                <a:gridCol w="1188720"/>
                <a:gridCol w="1554480"/>
                <a:gridCol w="1858975"/>
              </a:tblGrid>
              <a:tr h="457200">
                <a:tc>
                  <a:txBody>
                    <a:bodyPr/>
                    <a:lstStyle/>
                    <a:p>
                      <a:pPr algn="ctr" indent="0" marL="0">
                        <a:buNone/>
                      </a:pPr>
                      <a:r>
                        <a:rPr lang="en-US" sz="1200" b="1" dirty="0">
                          <a:solidFill>
                            <a:srgbClr val="FFFFFF"/>
                          </a:solidFill>
                          <a:latin typeface="Arial"/>
                          <a:ea typeface="BIZ UDGothic" charset="-128"/>
                          <a:cs typeface="Arial"/>
                        </a:rPr>
                        <a:t>Shot 数</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最良の設定</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RMSE [nm]</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差がない設定数</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差がない設定の系統</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457200">
                <a:tc>
                  <a:txBody>
                    <a:bodyPr/>
                    <a:lstStyle/>
                    <a:p>
                      <a:pPr algn="ctr" indent="0" marL="0">
                        <a:buNone/>
                      </a:pPr>
                      <a:r>
                        <a:rPr lang="en-US" sz="1200" b="1" dirty="0">
                          <a:solidFill>
                            <a:srgbClr val="1E1C33"/>
                          </a:solidFill>
                          <a:latin typeface="Arial"/>
                          <a:ea typeface="BIZ UDGothic" charset="-128"/>
                          <a:cs typeface="Arial"/>
                        </a:rPr>
                        <a:t>10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TPS｜X, Y, 半径</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3.73</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TPS</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57200">
                <a:tc>
                  <a:txBody>
                    <a:bodyPr/>
                    <a:lstStyle/>
                    <a:p>
                      <a:pPr algn="ctr" indent="0" marL="0">
                        <a:buNone/>
                      </a:pPr>
                      <a:r>
                        <a:rPr lang="en-US" sz="1200" b="1" dirty="0">
                          <a:solidFill>
                            <a:srgbClr val="1E1C33"/>
                          </a:solidFill>
                          <a:latin typeface="Arial"/>
                          <a:ea typeface="BIZ UDGothic" charset="-128"/>
                          <a:cs typeface="Arial"/>
                        </a:rPr>
                        <a:t>15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 matern52｜X, Y, 半径｜Backfitting</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2.55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4</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57200">
                <a:tc>
                  <a:txBody>
                    <a:bodyPr/>
                    <a:lstStyle/>
                    <a:p>
                      <a:pPr algn="ctr" indent="0" marL="0">
                        <a:buNone/>
                      </a:pPr>
                      <a:r>
                        <a:rPr lang="en-US" sz="1200" b="1" dirty="0">
                          <a:solidFill>
                            <a:srgbClr val="1E1C33"/>
                          </a:solidFill>
                          <a:latin typeface="Arial"/>
                          <a:ea typeface="BIZ UDGothic" charset="-128"/>
                          <a:cs typeface="Arial"/>
                        </a:rPr>
                        <a:t>20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 matern52｜X, Y, 半径｜同時推定</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1.65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57200">
                <a:tc>
                  <a:txBody>
                    <a:bodyPr/>
                    <a:lstStyle/>
                    <a:p>
                      <a:pPr algn="ctr" indent="0" marL="0">
                        <a:buNone/>
                      </a:pPr>
                      <a:r>
                        <a:rPr lang="en-US" sz="1200" b="1" dirty="0">
                          <a:solidFill>
                            <a:srgbClr val="1E1C33"/>
                          </a:solidFill>
                          <a:latin typeface="Arial"/>
                          <a:ea typeface="BIZ UDGothic" charset="-128"/>
                          <a:cs typeface="Arial"/>
                        </a:rPr>
                        <a:t>25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 rationalquadratic｜X, Y, 半径｜Backfitting</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1.32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57200">
                <a:tc>
                  <a:txBody>
                    <a:bodyPr/>
                    <a:lstStyle/>
                    <a:p>
                      <a:pPr algn="ctr" indent="0" marL="0">
                        <a:buNone/>
                      </a:pPr>
                      <a:r>
                        <a:rPr lang="en-US" sz="1200" b="1" dirty="0">
                          <a:solidFill>
                            <a:srgbClr val="1E1C33"/>
                          </a:solidFill>
                          <a:latin typeface="Arial"/>
                          <a:ea typeface="BIZ UDGothic" charset="-128"/>
                          <a:cs typeface="Arial"/>
                        </a:rPr>
                        <a:t>30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 rationalquadratic｜X, Y, 半径｜同時推定</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1.03</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57200">
                <a:tc>
                  <a:txBody>
                    <a:bodyPr/>
                    <a:lstStyle/>
                    <a:p>
                      <a:pPr algn="ctr" indent="0" marL="0">
                        <a:buNone/>
                      </a:pPr>
                      <a:r>
                        <a:rPr lang="en-US" sz="1200" b="1" dirty="0">
                          <a:solidFill>
                            <a:srgbClr val="1E1C33"/>
                          </a:solidFill>
                          <a:latin typeface="Arial"/>
                          <a:ea typeface="BIZ UDGothic" charset="-128"/>
                          <a:cs typeface="Arial"/>
                        </a:rPr>
                        <a:t>35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 rationalquadratic｜X, Y, 半径｜同時推定</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0.91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4</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457200">
                <a:tc>
                  <a:txBody>
                    <a:bodyPr/>
                    <a:lstStyle/>
                    <a:p>
                      <a:pPr algn="ctr" indent="0" marL="0">
                        <a:buNone/>
                      </a:pPr>
                      <a:r>
                        <a:rPr lang="en-US" sz="1200" b="1" dirty="0">
                          <a:solidFill>
                            <a:srgbClr val="1E1C33"/>
                          </a:solidFill>
                          <a:latin typeface="Arial"/>
                          <a:ea typeface="BIZ UDGothic" charset="-128"/>
                          <a:cs typeface="Arial"/>
                        </a:rPr>
                        <a:t>40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 rationalquadratic｜X, Y, 半径｜同時推定</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0.76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200" dirty="0">
                          <a:solidFill>
                            <a:srgbClr val="1E1C33"/>
                          </a:solidFill>
                          <a:latin typeface="Arial"/>
                          <a:ea typeface="BIZ UDGothic" charset="-128"/>
                          <a:cs typeface="Arial"/>
                        </a:rPr>
                        <a:t>GPR</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7" name="Shape 4"/>
          <p:cNvSpPr/>
          <p:nvPr/>
        </p:nvSpPr>
        <p:spPr>
          <a:xfrm>
            <a:off x="548640" y="5257800"/>
            <a:ext cx="11094415" cy="1005840"/>
          </a:xfrm>
          <a:prstGeom prst="roundRect">
            <a:avLst>
              <a:gd name="adj" fmla="val 9091"/>
            </a:avLst>
          </a:prstGeom>
          <a:solidFill>
            <a:srgbClr val="EEEFF7"/>
          </a:solidFill>
          <a:ln w="6350">
            <a:solidFill>
              <a:srgbClr val="EEEFF7"/>
            </a:solidFill>
            <a:prstDash val="solid"/>
          </a:ln>
        </p:spPr>
      </p:sp>
      <p:sp>
        <p:nvSpPr>
          <p:cNvPr id="8" name="Text 5"/>
          <p:cNvSpPr txBox="1"/>
          <p:nvPr/>
        </p:nvSpPr>
        <p:spPr>
          <a:xfrm>
            <a:off x="822960" y="5257800"/>
            <a:ext cx="10545775" cy="1005840"/>
          </a:xfrm>
          <a:prstGeom prst="rect">
            <a:avLst/>
          </a:prstGeom>
          <a:noFill/>
          <a:ln/>
        </p:spPr>
        <p:txBody>
          <a:bodyPr wrap="square" lIns="0" tIns="0" rIns="0" bIns="0" rtlCol="0" anchor="ctr"/>
          <a:lstStyle/>
          <a:p>
            <a:pPr indent="0" marL="0">
              <a:buNone/>
            </a:pPr>
            <a:r>
              <a:rPr lang="ja-JP" altLang="en-US" sz="1300" dirty="0">
                <a:solidFill>
                  <a:srgbClr val="1E1C33"/>
                </a:solidFill>
                <a:latin typeface="Arial"/>
                <a:ea typeface="BIZ UDGothic" charset="-128"/>
                <a:cs typeface="Arial"/>
              </a:rPr>
              <a:t>全 Shot 数の平均で1位：GPR matern52｜X, Y, 半径｜同時推定（平均 RMSE 1.74 nm）。2位以下：GPR matern52｜X, Y, 半径｜Backfitting、GPR rationalquadratic｜X, Y, 半径｜同時推定、GPR rationalquadratic｜X, Y, 半径｜Backfitting</a:t>
            </a:r>
            <a:endParaRPr lang="ja-JP"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説明変数の効果 ― 半径は数%効き、T は悪化（GAM を除く）</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値：同じ Wafer どうしの RMSE の比の平均（系統内のカーネル・バリオグラム・質的変数の扱いを平均）。マイナス＝改善</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16</a:t>
            </a:r>
            <a:endParaRPr lang="ja-JP" sz="1000" dirty="0"/>
          </a:p>
        </p:txBody>
      </p:sp>
      <p:pic>
        <p:nvPicPr>
          <p:cNvPr id="6" name="Image 0" descr="説明変数の効果">    </p:cNvPr>
          <p:cNvPicPr>
            <a:picLocks noChangeAspect="1"/>
          </p:cNvPicPr>
          <p:nvPr/>
        </p:nvPicPr>
        <p:blipFill>
          <a:blip r:embed="rId1"/>
          <a:stretch>
            <a:fillRect/>
          </a:stretch>
        </p:blipFill>
        <p:spPr>
          <a:xfrm>
            <a:off x="548640" y="1325880"/>
            <a:ext cx="11094415" cy="2131254"/>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069080"/>
          <a:ext cx="6949440" cy="914400"/>
        </p:xfrm>
        <a:graphic>
          <a:graphicData uri="http://schemas.openxmlformats.org/drawingml/2006/table">
            <a:tbl>
              <a:tblPr/>
              <a:tblGrid>
                <a:gridCol w="1828800"/>
                <a:gridCol w="2560320"/>
                <a:gridCol w="2560320"/>
              </a:tblGrid>
              <a:tr h="347472">
                <a:tc>
                  <a:txBody>
                    <a:bodyPr/>
                    <a:lstStyle/>
                    <a:p>
                      <a:pPr algn="ctr" indent="0" marL="0">
                        <a:buNone/>
                      </a:pPr>
                      <a:r>
                        <a:rPr lang="en-US" sz="1200" b="1" dirty="0">
                          <a:solidFill>
                            <a:srgbClr val="FFFFFF"/>
                          </a:solidFill>
                          <a:latin typeface="Arial"/>
                          <a:ea typeface="BIZ UDGothic" charset="-128"/>
                          <a:cs typeface="Arial"/>
                        </a:rPr>
                        <a:t>系統</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半径を追加（10/20/40）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半径＋T（10/20/40）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47472">
                <a:tc>
                  <a:txBody>
                    <a:bodyPr/>
                    <a:lstStyle/>
                    <a:p>
                      <a:pPr algn="l" indent="0" marL="0">
                        <a:buNone/>
                      </a:pPr>
                      <a:r>
                        <a:rPr lang="en-US" sz="1200" b="1" dirty="0">
                          <a:solidFill>
                            <a:srgbClr val="2A78D6"/>
                          </a:solidFill>
                          <a:latin typeface="Arial"/>
                          <a:ea typeface="BIZ UDGothic" charset="-128"/>
                          <a:cs typeface="Arial"/>
                        </a:rPr>
                        <a:t>GPR</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−4.3 / −4.3 / −1.9 %</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+3.1 / +7.2 / +5.8 %</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47472">
                <a:tc>
                  <a:txBody>
                    <a:bodyPr/>
                    <a:lstStyle/>
                    <a:p>
                      <a:pPr algn="l" indent="0" marL="0">
                        <a:buNone/>
                      </a:pPr>
                      <a:r>
                        <a:rPr lang="en-US" sz="1200" b="1" dirty="0">
                          <a:solidFill>
                            <a:srgbClr val="EB6834"/>
                          </a:solidFill>
                          <a:latin typeface="Arial"/>
                          <a:ea typeface="BIZ UDGothic" charset="-128"/>
                          <a:cs typeface="Arial"/>
                        </a:rPr>
                        <a:t>TPS</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−1.6 / −1.4 / −0.9 %</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+23.5 / +10.6 / +6.8 %</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47472">
                <a:tc>
                  <a:txBody>
                    <a:bodyPr/>
                    <a:lstStyle/>
                    <a:p>
                      <a:pPr algn="l" indent="0" marL="0">
                        <a:buNone/>
                      </a:pPr>
                      <a:r>
                        <a:rPr lang="en-US" sz="1200" b="1" dirty="0">
                          <a:solidFill>
                            <a:srgbClr val="1BAF7A"/>
                          </a:solidFill>
                          <a:latin typeface="Arial"/>
                          <a:ea typeface="BIZ UDGothic" charset="-128"/>
                          <a:cs typeface="Arial"/>
                        </a:rPr>
                        <a:t>Kriging</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−2.4 / −5.5 / −3.6 %</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+3.3 / +3.0 / +8.5 %</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47472">
                <a:tc>
                  <a:txBody>
                    <a:bodyPr/>
                    <a:lstStyle/>
                    <a:p>
                      <a:pPr algn="l" indent="0" marL="0">
                        <a:buNone/>
                      </a:pPr>
                      <a:r>
                        <a:rPr lang="en-US" sz="1200" b="1" dirty="0">
                          <a:solidFill>
                            <a:srgbClr val="EDA100"/>
                          </a:solidFill>
                          <a:latin typeface="Arial"/>
                          <a:ea typeface="BIZ UDGothic" charset="-128"/>
                          <a:cs typeface="Arial"/>
                        </a:rPr>
                        <a:t>Universal Kriging</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−1.8 / −6.3 / −0.9 %</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+10.2 / +2.3 / +12.8 %</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47472">
                <a:tc>
                  <a:txBody>
                    <a:bodyPr/>
                    <a:lstStyle/>
                    <a:p>
                      <a:pPr algn="l" indent="0" marL="0">
                        <a:buNone/>
                      </a:pPr>
                      <a:r>
                        <a:rPr lang="en-US" sz="1200" b="1" dirty="0">
                          <a:solidFill>
                            <a:srgbClr val="E87BA4"/>
                          </a:solidFill>
                          <a:latin typeface="Arial"/>
                          <a:ea typeface="BIZ UDGothic" charset="-128"/>
                          <a:cs typeface="Arial"/>
                        </a:rPr>
                        <a:t>GAM</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+0.3 / −0.7 / −7.6 %</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+1.0 / +0.1 / −9.1 %</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7772400" y="4069080"/>
          <a:ext cx="3870655" cy="914400"/>
        </p:xfrm>
        <a:graphic>
          <a:graphicData uri="http://schemas.openxmlformats.org/drawingml/2006/table">
            <a:tbl>
              <a:tblPr/>
              <a:tblGrid>
                <a:gridCol w="1676095"/>
                <a:gridCol w="731520"/>
                <a:gridCol w="731520"/>
                <a:gridCol w="731520"/>
              </a:tblGrid>
              <a:tr h="384048">
                <a:tc>
                  <a:txBody>
                    <a:bodyPr/>
                    <a:lstStyle/>
                    <a:p>
                      <a:pPr algn="ctr" indent="0" marL="0">
                        <a:buNone/>
                      </a:pPr>
                      <a:r>
                        <a:rPr lang="en-US" sz="1200" b="1" dirty="0">
                          <a:solidFill>
                            <a:srgbClr val="FFFFFF"/>
                          </a:solidFill>
                          <a:latin typeface="Arial"/>
                          <a:ea typeface="BIZ UDGothic" charset="-128"/>
                          <a:cs typeface="Arial"/>
                        </a:rPr>
                        <a:t>設定ごとの判定</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改善</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悪化</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差なし</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84048">
                <a:tc>
                  <a:txBody>
                    <a:bodyPr/>
                    <a:lstStyle/>
                    <a:p>
                      <a:pPr algn="l" indent="0" marL="0">
                        <a:buNone/>
                      </a:pPr>
                      <a:r>
                        <a:rPr lang="en-US" sz="1200" b="1" dirty="0">
                          <a:solidFill>
                            <a:srgbClr val="1E1C33"/>
                          </a:solidFill>
                          <a:latin typeface="Arial"/>
                          <a:ea typeface="BIZ UDGothic" charset="-128"/>
                          <a:cs typeface="Arial"/>
                        </a:rPr>
                        <a:t>半径を追加</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78F6C"/>
                          </a:solidFill>
                          <a:latin typeface="Arial"/>
                          <a:ea typeface="BIZ UDGothic" charset="-128"/>
                          <a:cs typeface="Arial"/>
                        </a:rPr>
                        <a:t>262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C2413B"/>
                          </a:solidFill>
                          <a:latin typeface="Arial"/>
                          <a:ea typeface="BIZ UDGothic" charset="-128"/>
                          <a:cs typeface="Arial"/>
                        </a:rPr>
                        <a:t>3</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5E6275"/>
                          </a:solidFill>
                          <a:latin typeface="Arial"/>
                          <a:ea typeface="BIZ UDGothic" charset="-128"/>
                          <a:cs typeface="Arial"/>
                        </a:rPr>
                        <a:t>15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b="1" dirty="0">
                          <a:solidFill>
                            <a:srgbClr val="1E1C33"/>
                          </a:solidFill>
                          <a:latin typeface="Arial"/>
                          <a:ea typeface="BIZ UDGothic" charset="-128"/>
                          <a:cs typeface="Arial"/>
                        </a:rPr>
                        <a:t>半径＋T を追加</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78F6C"/>
                          </a:solidFill>
                          <a:latin typeface="Arial"/>
                          <a:ea typeface="BIZ UDGothic" charset="-128"/>
                          <a:cs typeface="Arial"/>
                        </a:rPr>
                        <a:t>117</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C2413B"/>
                          </a:solidFill>
                          <a:latin typeface="Arial"/>
                          <a:ea typeface="BIZ UDGothic" charset="-128"/>
                          <a:cs typeface="Arial"/>
                        </a:rPr>
                        <a:t>151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5E6275"/>
                          </a:solidFill>
                          <a:latin typeface="Arial"/>
                          <a:ea typeface="BIZ UDGothic" charset="-128"/>
                          <a:cs typeface="Arial"/>
                        </a:rPr>
                        <a:t>12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b="1" dirty="0">
                          <a:solidFill>
                            <a:srgbClr val="1E1C33"/>
                          </a:solidFill>
                          <a:latin typeface="Arial"/>
                          <a:ea typeface="BIZ UDGothic" charset="-128"/>
                          <a:cs typeface="Arial"/>
                        </a:rPr>
                        <a:t>T を追加（半径あり）</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78F6C"/>
                          </a:solidFill>
                          <a:latin typeface="Arial"/>
                          <a:ea typeface="BIZ UDGothic" charset="-128"/>
                          <a:cs typeface="Arial"/>
                        </a:rPr>
                        <a:t>63</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C2413B"/>
                          </a:solidFill>
                          <a:latin typeface="Arial"/>
                          <a:ea typeface="BIZ UDGothic" charset="-128"/>
                          <a:cs typeface="Arial"/>
                        </a:rPr>
                        <a:t>156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5E6275"/>
                          </a:solidFill>
                          <a:latin typeface="Arial"/>
                          <a:ea typeface="BIZ UDGothic" charset="-128"/>
                          <a:cs typeface="Arial"/>
                        </a:rPr>
                        <a:t>61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9" name="Text 4"/>
          <p:cNvSpPr txBox="1"/>
          <p:nvPr/>
        </p:nvSpPr>
        <p:spPr>
          <a:xfrm>
            <a:off x="7772400" y="5715000"/>
            <a:ext cx="3870655" cy="548640"/>
          </a:xfrm>
          <a:prstGeom prst="rect">
            <a:avLst/>
          </a:prstGeom>
          <a:noFill/>
          <a:ln/>
        </p:spPr>
        <p:txBody>
          <a:bodyPr wrap="square" lIns="0" tIns="0" rIns="0" bIns="0" rtlCol="0" anchor="t"/>
          <a:lstStyle/>
          <a:p>
            <a:pPr indent="0" marL="0">
              <a:buNone/>
            </a:pPr>
            <a:r>
              <a:rPr lang="ja-JP" altLang="en-US" sz="1050" dirty="0">
                <a:solidFill>
                  <a:srgbClr val="5E6275"/>
                </a:solidFill>
                <a:latin typeface="Arial"/>
                <a:ea typeface="BIZ UDGothic" charset="-128"/>
                <a:cs typeface="Arial"/>
              </a:rPr>
              <a:t>件数：7 水準 × 系統内の設定（カーネル・バリオグラム・質的変数の扱い）。同じ Wafer どうしの差の 95% 信頼区間で判定</a:t>
            </a:r>
            <a:endParaRPr lang="ja-JP"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T が効かない理由 ― ARD は T をほとんど使わない</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長さスケールの上限は 1000（説明変数は Wafer 半径で割った単位）。ARD カーネル5種・質的変数3通り・X と Y の当てはめ全体の割合</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17</a:t>
            </a:r>
            <a:endParaRPr lang="ja-JP" sz="1000" dirty="0"/>
          </a:p>
        </p:txBody>
      </p:sp>
      <p:pic>
        <p:nvPicPr>
          <p:cNvPr id="6" name="Image 0" descr="ARDで使われなかった割合">    </p:cNvPr>
          <p:cNvPicPr>
            <a:picLocks noChangeAspect="1"/>
          </p:cNvPicPr>
          <p:nvPr/>
        </p:nvPicPr>
        <p:blipFill>
          <a:blip r:embed="rId1"/>
          <a:stretch>
            <a:fillRect/>
          </a:stretch>
        </p:blipFill>
        <p:spPr>
          <a:xfrm>
            <a:off x="548640" y="1371600"/>
            <a:ext cx="6482404" cy="3840480"/>
          </a:xfrm>
          <a:prstGeom prst="rect">
            <a:avLst/>
          </a:prstGeom>
        </p:spPr>
      </p:pic>
      <p:sp>
        <p:nvSpPr>
          <p:cNvPr id="7" name="Shape 4"/>
          <p:cNvSpPr/>
          <p:nvPr/>
        </p:nvSpPr>
        <p:spPr>
          <a:xfrm>
            <a:off x="7772400" y="1417320"/>
            <a:ext cx="3870655" cy="2103120"/>
          </a:xfrm>
          <a:prstGeom prst="roundRect">
            <a:avLst>
              <a:gd name="adj" fmla="val 4348"/>
            </a:avLst>
          </a:prstGeom>
          <a:solidFill>
            <a:srgbClr val="DFEAF8"/>
          </a:solidFill>
          <a:ln w="6350">
            <a:solidFill>
              <a:srgbClr val="DFEAF8"/>
            </a:solidFill>
            <a:prstDash val="solid"/>
          </a:ln>
        </p:spPr>
      </p:sp>
      <p:sp>
        <p:nvSpPr>
          <p:cNvPr id="8" name="Text 5"/>
          <p:cNvSpPr txBox="1"/>
          <p:nvPr/>
        </p:nvSpPr>
        <p:spPr>
          <a:xfrm>
            <a:off x="8046720" y="1600200"/>
            <a:ext cx="3322015" cy="822960"/>
          </a:xfrm>
          <a:prstGeom prst="rect">
            <a:avLst/>
          </a:prstGeom>
          <a:noFill/>
          <a:ln/>
        </p:spPr>
        <p:txBody>
          <a:bodyPr wrap="square" lIns="0" tIns="0" rIns="0" bIns="0" rtlCol="0" anchor="ctr"/>
          <a:lstStyle/>
          <a:p>
            <a:pPr indent="0" marL="0">
              <a:buNone/>
            </a:pPr>
            <a:r>
              <a:rPr lang="ja-JP" altLang="en-US" sz="4000" b="1" dirty="0">
                <a:solidFill>
                  <a:srgbClr val="2A78D6"/>
                </a:solidFill>
                <a:latin typeface="Arial"/>
                <a:ea typeface="BIZ UDGothic" charset="-128"/>
                <a:cs typeface="Arial"/>
              </a:rPr>
              <a:t>80%</a:t>
            </a:r>
            <a:endParaRPr lang="ja-JP" sz="4000" dirty="0"/>
          </a:p>
        </p:txBody>
      </p:sp>
      <p:sp>
        <p:nvSpPr>
          <p:cNvPr id="9" name="Text 6"/>
          <p:cNvSpPr txBox="1"/>
          <p:nvPr/>
        </p:nvSpPr>
        <p:spPr>
          <a:xfrm>
            <a:off x="8046720" y="2468880"/>
            <a:ext cx="3322015" cy="411480"/>
          </a:xfrm>
          <a:prstGeom prst="rect">
            <a:avLst/>
          </a:prstGeom>
          <a:noFill/>
          <a:ln/>
        </p:spPr>
        <p:txBody>
          <a:bodyPr wrap="square" lIns="0" tIns="0" rIns="0" bIns="0" rtlCol="0" anchor="t"/>
          <a:lstStyle/>
          <a:p>
            <a:pPr indent="0" marL="0">
              <a:buNone/>
            </a:pPr>
            <a:r>
              <a:rPr lang="ja-JP" altLang="en-US" sz="1450" b="1" dirty="0">
                <a:solidFill>
                  <a:srgbClr val="1E1C33"/>
                </a:solidFill>
                <a:latin typeface="Arial"/>
                <a:ea typeface="BIZ UDGothic" charset="-128"/>
                <a:cs typeface="Arial"/>
              </a:rPr>
              <a:t>T を使わなかった割合（40 Shot）</a:t>
            </a:r>
            <a:endParaRPr lang="ja-JP" sz="1450" dirty="0"/>
          </a:p>
        </p:txBody>
      </p:sp>
      <p:sp>
        <p:nvSpPr>
          <p:cNvPr id="10" name="Text 7"/>
          <p:cNvSpPr txBox="1"/>
          <p:nvPr/>
        </p:nvSpPr>
        <p:spPr>
          <a:xfrm>
            <a:off x="8046720" y="2898648"/>
            <a:ext cx="3322015" cy="53035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10 Shot では 59%。T の長さスケールが上限 = T の方向には値が変わらないとみなした</a:t>
            </a:r>
            <a:endParaRPr lang="ja-JP" sz="1250" dirty="0"/>
          </a:p>
        </p:txBody>
      </p:sp>
      <p:sp>
        <p:nvSpPr>
          <p:cNvPr id="11" name="Text 8"/>
          <p:cNvSpPr txBox="1"/>
          <p:nvPr/>
        </p:nvSpPr>
        <p:spPr>
          <a:xfrm>
            <a:off x="7772400" y="3749040"/>
            <a:ext cx="3870655" cy="2468880"/>
          </a:xfrm>
          <a:prstGeom prst="rect">
            <a:avLst/>
          </a:prstGeom>
          <a:noFill/>
          <a:ln/>
        </p:spPr>
        <p:txBody>
          <a:bodyPr wrap="square" lIns="0" tIns="0" rIns="0" bIns="0" rtlCol="0" anchor="t"/>
          <a:lstStyle/>
          <a:p>
            <a:pPr marL="203200" indent="-203200">
              <a:spcAft>
                <a:spcPts val="1000"/>
              </a:spcAft>
              <a:buSzPct val="100000"/>
              <a:buChar char="•"/>
            </a:pPr>
            <a:r>
              <a:rPr lang="ja-JP" altLang="en-US" sz="1300" dirty="0">
                <a:solidFill>
                  <a:srgbClr val="1E1C33"/>
                </a:solidFill>
                <a:latin typeface="Arial"/>
                <a:ea typeface="BIZ UDGothic" charset="-128"/>
                <a:cs typeface="Arial"/>
              </a:rPr>
              <a:t>X, Y があれば方位角は表せる（T は X, Y の関数）</a:t>
            </a:r>
            <a:endParaRPr lang="ja-JP" sz="1300" dirty="0"/>
          </a:p>
          <a:p>
            <a:pPr marL="203200" indent="-203200">
              <a:spcAft>
                <a:spcPts val="1000"/>
              </a:spcAft>
              <a:buSzPct val="100000"/>
              <a:buChar char="•"/>
            </a:pPr>
            <a:r>
              <a:rPr lang="ja-JP" altLang="en-US" sz="1300" dirty="0">
                <a:solidFill>
                  <a:srgbClr val="1E1C33"/>
                </a:solidFill>
                <a:latin typeface="Arial"/>
                <a:ea typeface="BIZ UDGothic" charset="-128"/>
                <a:cs typeface="Arial"/>
              </a:rPr>
              <a:t>模擬データに方位方向だけに急に変わる成分はない</a:t>
            </a:r>
            <a:endParaRPr lang="ja-JP" sz="1300" dirty="0"/>
          </a:p>
          <a:p>
            <a:pPr marL="203200" indent="-203200">
              <a:spcAft>
                <a:spcPts val="1000"/>
              </a:spcAft>
              <a:buSzPct val="100000"/>
              <a:buChar char="•"/>
            </a:pPr>
            <a:r>
              <a:rPr lang="ja-JP" altLang="en-US" sz="1300" dirty="0">
                <a:solidFill>
                  <a:srgbClr val="1E1C33"/>
                </a:solidFill>
                <a:latin typeface="Arial"/>
                <a:ea typeface="BIZ UDGothic" charset="-128"/>
                <a:cs typeface="Arial"/>
              </a:rPr>
              <a:t>等方カーネル・TPS・Kriging では、効かない次元が距離をゆがめて悪化する</a:t>
            </a:r>
            <a:endParaRPr lang="ja-JP"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質的変数の効果 ― 15 Shot 以上で大きく下がり、10 Shot では逆効果</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GPR 30 設定（10 カーネル × 説明変数3組）の平均。同時推定と Backfitting の線はほぼ重なる</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18</a:t>
            </a:r>
            <a:endParaRPr lang="ja-JP" sz="1000" dirty="0"/>
          </a:p>
        </p:txBody>
      </p:sp>
      <p:graphicFrame>
        <p:nvGraphicFramePr>
          <p:cNvPr id="6" name="Chart 0" descr=""/>
          <p:cNvGraphicFramePr/>
          <p:nvPr/>
        </p:nvGraphicFramePr>
        <p:xfrm>
          <a:off x="548640" y="1325880"/>
          <a:ext cx="5760720" cy="4937760"/>
        </p:xfrm>
        <a:graphic xmlns:a="http://schemas.openxmlformats.org/drawingml/2006/main">
          <a:graphicData uri="http://schemas.openxmlformats.org/drawingml/2006/chart">
            <c:chart xmlns:c="http://schemas.openxmlformats.org/drawingml/2006/chart" r:id="rId1"/>
          </a:graphicData>
        </a:graphic>
      </p:graphicFrame>
      <p:pic>
        <p:nvPicPr>
          <p:cNvPr id="7" name="Image 0" descr="質的変数の扱いと外周">    </p:cNvPr>
          <p:cNvPicPr>
            <a:picLocks noChangeAspect="1"/>
          </p:cNvPicPr>
          <p:nvPr/>
        </p:nvPicPr>
        <p:blipFill>
          <a:blip r:embed="rId2"/>
          <a:stretch>
            <a:fillRect/>
          </a:stretch>
        </p:blipFill>
        <p:spPr>
          <a:xfrm>
            <a:off x="7636814" y="1325880"/>
            <a:ext cx="2861667" cy="210312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92240" y="3520440"/>
          <a:ext cx="5150815" cy="914400"/>
        </p:xfrm>
        <a:graphic>
          <a:graphicData uri="http://schemas.openxmlformats.org/drawingml/2006/table">
            <a:tbl>
              <a:tblPr/>
              <a:tblGrid>
                <a:gridCol w="822960"/>
                <a:gridCol w="1737360"/>
                <a:gridCol w="1645920"/>
                <a:gridCol w="944575"/>
              </a:tblGrid>
              <a:tr h="274320">
                <a:tc>
                  <a:txBody>
                    <a:bodyPr/>
                    <a:lstStyle/>
                    <a:p>
                      <a:pPr algn="ctr" indent="0" marL="0">
                        <a:buNone/>
                      </a:pPr>
                      <a:r>
                        <a:rPr lang="en-US" sz="1050" b="1" dirty="0">
                          <a:solidFill>
                            <a:srgbClr val="FFFFFF"/>
                          </a:solidFill>
                          <a:latin typeface="Arial"/>
                          <a:ea typeface="BIZ UDGothic" charset="-128"/>
                          <a:cs typeface="Arial"/>
                        </a:rPr>
                        <a:t>Shot</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同時推定 − なし</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改善した Wafer</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Backfit − 同時</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274320">
                <a:tc>
                  <a:txBody>
                    <a:bodyPr/>
                    <a:lstStyle/>
                    <a:p>
                      <a:pPr algn="ctr" indent="0" marL="0">
                        <a:buNone/>
                      </a:pPr>
                      <a:r>
                        <a:rPr lang="en-US" sz="1050" b="1" dirty="0">
                          <a:solidFill>
                            <a:srgbClr val="1E1C33"/>
                          </a:solidFill>
                          <a:latin typeface="Arial"/>
                          <a:ea typeface="BIZ UDGothic" charset="-128"/>
                          <a:cs typeface="Arial"/>
                        </a:rPr>
                        <a:t>10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b="1" dirty="0">
                          <a:solidFill>
                            <a:srgbClr val="C2413B"/>
                          </a:solidFill>
                          <a:latin typeface="Arial"/>
                          <a:ea typeface="BIZ UDGothic" charset="-128"/>
                          <a:cs typeface="Arial"/>
                        </a:rPr>
                        <a:t>+6.2%</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42%</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−0.14%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274320">
                <a:tc>
                  <a:txBody>
                    <a:bodyPr/>
                    <a:lstStyle/>
                    <a:p>
                      <a:pPr algn="ctr" indent="0" marL="0">
                        <a:buNone/>
                      </a:pPr>
                      <a:r>
                        <a:rPr lang="en-US" sz="1050" b="1" dirty="0">
                          <a:solidFill>
                            <a:srgbClr val="1E1C33"/>
                          </a:solidFill>
                          <a:latin typeface="Arial"/>
                          <a:ea typeface="BIZ UDGothic" charset="-128"/>
                          <a:cs typeface="Arial"/>
                        </a:rPr>
                        <a:t>15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b="1" dirty="0">
                          <a:solidFill>
                            <a:srgbClr val="178F6C"/>
                          </a:solidFill>
                          <a:latin typeface="Arial"/>
                          <a:ea typeface="BIZ UDGothic" charset="-128"/>
                          <a:cs typeface="Arial"/>
                        </a:rPr>
                        <a:t>−10.9%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78%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−0.01%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274320">
                <a:tc>
                  <a:txBody>
                    <a:bodyPr/>
                    <a:lstStyle/>
                    <a:p>
                      <a:pPr algn="ctr" indent="0" marL="0">
                        <a:buNone/>
                      </a:pPr>
                      <a:r>
                        <a:rPr lang="en-US" sz="1050" b="1" dirty="0">
                          <a:solidFill>
                            <a:srgbClr val="1E1C33"/>
                          </a:solidFill>
                          <a:latin typeface="Arial"/>
                          <a:ea typeface="BIZ UDGothic" charset="-128"/>
                          <a:cs typeface="Arial"/>
                        </a:rPr>
                        <a:t>20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b="1" dirty="0">
                          <a:solidFill>
                            <a:srgbClr val="178F6C"/>
                          </a:solidFill>
                          <a:latin typeface="Arial"/>
                          <a:ea typeface="BIZ UDGothic" charset="-128"/>
                          <a:cs typeface="Arial"/>
                        </a:rPr>
                        <a:t>−31.6%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98%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−0.10%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274320">
                <a:tc>
                  <a:txBody>
                    <a:bodyPr/>
                    <a:lstStyle/>
                    <a:p>
                      <a:pPr algn="ctr" indent="0" marL="0">
                        <a:buNone/>
                      </a:pPr>
                      <a:r>
                        <a:rPr lang="en-US" sz="1050" b="1" dirty="0">
                          <a:solidFill>
                            <a:srgbClr val="1E1C33"/>
                          </a:solidFill>
                          <a:latin typeface="Arial"/>
                          <a:ea typeface="BIZ UDGothic" charset="-128"/>
                          <a:cs typeface="Arial"/>
                        </a:rPr>
                        <a:t>25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b="1" dirty="0">
                          <a:solidFill>
                            <a:srgbClr val="178F6C"/>
                          </a:solidFill>
                          <a:latin typeface="Arial"/>
                          <a:ea typeface="BIZ UDGothic" charset="-128"/>
                          <a:cs typeface="Arial"/>
                        </a:rPr>
                        <a:t>−42.6%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100%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−0.33%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274320">
                <a:tc>
                  <a:txBody>
                    <a:bodyPr/>
                    <a:lstStyle/>
                    <a:p>
                      <a:pPr algn="ctr" indent="0" marL="0">
                        <a:buNone/>
                      </a:pPr>
                      <a:r>
                        <a:rPr lang="en-US" sz="1050" b="1" dirty="0">
                          <a:solidFill>
                            <a:srgbClr val="1E1C33"/>
                          </a:solidFill>
                          <a:latin typeface="Arial"/>
                          <a:ea typeface="BIZ UDGothic" charset="-128"/>
                          <a:cs typeface="Arial"/>
                        </a:rPr>
                        <a:t>30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b="1" dirty="0">
                          <a:solidFill>
                            <a:srgbClr val="178F6C"/>
                          </a:solidFill>
                          <a:latin typeface="Arial"/>
                          <a:ea typeface="BIZ UDGothic" charset="-128"/>
                          <a:cs typeface="Arial"/>
                        </a:rPr>
                        <a:t>−53.7%</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100%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+0.06%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274320">
                <a:tc>
                  <a:txBody>
                    <a:bodyPr/>
                    <a:lstStyle/>
                    <a:p>
                      <a:pPr algn="ctr" indent="0" marL="0">
                        <a:buNone/>
                      </a:pPr>
                      <a:r>
                        <a:rPr lang="en-US" sz="1050" b="1" dirty="0">
                          <a:solidFill>
                            <a:srgbClr val="1E1C33"/>
                          </a:solidFill>
                          <a:latin typeface="Arial"/>
                          <a:ea typeface="BIZ UDGothic" charset="-128"/>
                          <a:cs typeface="Arial"/>
                        </a:rPr>
                        <a:t>35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b="1" dirty="0">
                          <a:solidFill>
                            <a:srgbClr val="178F6C"/>
                          </a:solidFill>
                          <a:latin typeface="Arial"/>
                          <a:ea typeface="BIZ UDGothic" charset="-128"/>
                          <a:cs typeface="Arial"/>
                        </a:rPr>
                        <a:t>−58.0%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100%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+0.04%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274320">
                <a:tc>
                  <a:txBody>
                    <a:bodyPr/>
                    <a:lstStyle/>
                    <a:p>
                      <a:pPr algn="ctr" indent="0" marL="0">
                        <a:buNone/>
                      </a:pPr>
                      <a:r>
                        <a:rPr lang="en-US" sz="1050" b="1" dirty="0">
                          <a:solidFill>
                            <a:srgbClr val="1E1C33"/>
                          </a:solidFill>
                          <a:latin typeface="Arial"/>
                          <a:ea typeface="BIZ UDGothic" charset="-128"/>
                          <a:cs typeface="Arial"/>
                        </a:rPr>
                        <a:t>40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b="1" dirty="0">
                          <a:solidFill>
                            <a:srgbClr val="178F6C"/>
                          </a:solidFill>
                          <a:latin typeface="Arial"/>
                          <a:ea typeface="BIZ UDGothic" charset="-128"/>
                          <a:cs typeface="Arial"/>
                        </a:rPr>
                        <a:t>−63.6%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100%</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+0.21%</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9" name="Text 4"/>
          <p:cNvSpPr txBox="1"/>
          <p:nvPr/>
        </p:nvSpPr>
        <p:spPr>
          <a:xfrm>
            <a:off x="6492240" y="6053328"/>
            <a:ext cx="5150815" cy="274320"/>
          </a:xfrm>
          <a:prstGeom prst="rect">
            <a:avLst/>
          </a:prstGeom>
          <a:noFill/>
          <a:ln/>
        </p:spPr>
        <p:txBody>
          <a:bodyPr wrap="square" lIns="0" tIns="0" rIns="0" bIns="0" rtlCol="0" anchor="t"/>
          <a:lstStyle/>
          <a:p>
            <a:pPr indent="0" marL="0">
              <a:buNone/>
            </a:pPr>
            <a:r>
              <a:rPr lang="ja-JP" altLang="en-US" sz="1050" dirty="0">
                <a:solidFill>
                  <a:srgbClr val="5E6275"/>
                </a:solidFill>
                <a:latin typeface="Arial"/>
                <a:ea typeface="BIZ UDGothic" charset="-128"/>
                <a:cs typeface="Arial"/>
              </a:rPr>
              <a:t>表：同じ Wafer どうしの RMSE の比の平均（マイナス＝改善）</a:t>
            </a:r>
            <a:endParaRPr lang="ja-JP"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Backfitting ― 収束すれば同時推定と同じ。教科書どおりは遅い</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差：同じ Wafer・同じカーネル・同じ説明変数での RMSE（Backfitting − 同時推定）</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19</a:t>
            </a:r>
            <a:endParaRPr lang="ja-JP" sz="1000" dirty="0"/>
          </a:p>
        </p:txBody>
      </p:sp>
      <p:sp>
        <p:nvSpPr>
          <p:cNvPr id="6" name="Shape 4"/>
          <p:cNvSpPr/>
          <p:nvPr/>
        </p:nvSpPr>
        <p:spPr>
          <a:xfrm>
            <a:off x="548640" y="1417320"/>
            <a:ext cx="3484778" cy="2011680"/>
          </a:xfrm>
          <a:prstGeom prst="roundRect">
            <a:avLst>
              <a:gd name="adj" fmla="val 4545"/>
            </a:avLst>
          </a:prstGeom>
          <a:solidFill>
            <a:srgbClr val="DFEAF8"/>
          </a:solidFill>
          <a:ln w="6350">
            <a:solidFill>
              <a:srgbClr val="DFEAF8"/>
            </a:solidFill>
            <a:prstDash val="solid"/>
          </a:ln>
        </p:spPr>
      </p:sp>
      <p:sp>
        <p:nvSpPr>
          <p:cNvPr id="7" name="Text 5"/>
          <p:cNvSpPr txBox="1"/>
          <p:nvPr/>
        </p:nvSpPr>
        <p:spPr>
          <a:xfrm>
            <a:off x="822960" y="1600200"/>
            <a:ext cx="2936138" cy="822960"/>
          </a:xfrm>
          <a:prstGeom prst="rect">
            <a:avLst/>
          </a:prstGeom>
          <a:noFill/>
          <a:ln/>
        </p:spPr>
        <p:txBody>
          <a:bodyPr wrap="square" lIns="0" tIns="0" rIns="0" bIns="0" rtlCol="0" anchor="ctr"/>
          <a:lstStyle/>
          <a:p>
            <a:pPr indent="0" marL="0">
              <a:buNone/>
            </a:pPr>
            <a:r>
              <a:rPr lang="ja-JP" altLang="en-US" sz="4000" b="1" dirty="0">
                <a:solidFill>
                  <a:srgbClr val="2A78D6"/>
                </a:solidFill>
                <a:latin typeface="Arial"/>
                <a:ea typeface="BIZ UDGothic" charset="-128"/>
                <a:cs typeface="Arial"/>
              </a:rPr>
              <a:t>91.3%</a:t>
            </a:r>
            <a:endParaRPr lang="ja-JP" sz="4000" dirty="0"/>
          </a:p>
        </p:txBody>
      </p:sp>
      <p:sp>
        <p:nvSpPr>
          <p:cNvPr id="8" name="Text 6"/>
          <p:cNvSpPr txBox="1"/>
          <p:nvPr/>
        </p:nvSpPr>
        <p:spPr>
          <a:xfrm>
            <a:off x="822960" y="2468880"/>
            <a:ext cx="2936138" cy="411480"/>
          </a:xfrm>
          <a:prstGeom prst="rect">
            <a:avLst/>
          </a:prstGeom>
          <a:noFill/>
          <a:ln/>
        </p:spPr>
        <p:txBody>
          <a:bodyPr wrap="square" lIns="0" tIns="0" rIns="0" bIns="0" rtlCol="0" anchor="t"/>
          <a:lstStyle/>
          <a:p>
            <a:pPr indent="0" marL="0">
              <a:buNone/>
            </a:pPr>
            <a:r>
              <a:rPr lang="ja-JP" altLang="en-US" sz="1450" b="1" dirty="0">
                <a:solidFill>
                  <a:srgbClr val="1E1C33"/>
                </a:solidFill>
                <a:latin typeface="Arial"/>
                <a:ea typeface="BIZ UDGothic" charset="-128"/>
                <a:cs typeface="Arial"/>
              </a:rPr>
              <a:t>差が 0.01 nm 未満の割合</a:t>
            </a:r>
            <a:endParaRPr lang="ja-JP" sz="1450" dirty="0"/>
          </a:p>
        </p:txBody>
      </p:sp>
      <p:sp>
        <p:nvSpPr>
          <p:cNvPr id="9" name="Text 7"/>
          <p:cNvSpPr txBox="1"/>
          <p:nvPr/>
        </p:nvSpPr>
        <p:spPr>
          <a:xfrm>
            <a:off x="822960" y="2898648"/>
            <a:ext cx="2936138" cy="43891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0.1 nm 未満は 95.2%。平均の差 −0.0016 nm</a:t>
            </a:r>
            <a:endParaRPr lang="ja-JP" sz="1250" dirty="0"/>
          </a:p>
        </p:txBody>
      </p:sp>
      <p:sp>
        <p:nvSpPr>
          <p:cNvPr id="10" name="Shape 8"/>
          <p:cNvSpPr/>
          <p:nvPr/>
        </p:nvSpPr>
        <p:spPr>
          <a:xfrm>
            <a:off x="4353458" y="1417320"/>
            <a:ext cx="3484778" cy="2011680"/>
          </a:xfrm>
          <a:prstGeom prst="roundRect">
            <a:avLst>
              <a:gd name="adj" fmla="val 4545"/>
            </a:avLst>
          </a:prstGeom>
          <a:solidFill>
            <a:srgbClr val="FBE5DA"/>
          </a:solidFill>
          <a:ln w="6350">
            <a:solidFill>
              <a:srgbClr val="FBE5DA"/>
            </a:solidFill>
            <a:prstDash val="solid"/>
          </a:ln>
        </p:spPr>
      </p:sp>
      <p:sp>
        <p:nvSpPr>
          <p:cNvPr id="11" name="Text 9"/>
          <p:cNvSpPr txBox="1"/>
          <p:nvPr/>
        </p:nvSpPr>
        <p:spPr>
          <a:xfrm>
            <a:off x="4627778" y="1600200"/>
            <a:ext cx="2936138" cy="822960"/>
          </a:xfrm>
          <a:prstGeom prst="rect">
            <a:avLst/>
          </a:prstGeom>
          <a:noFill/>
          <a:ln/>
        </p:spPr>
        <p:txBody>
          <a:bodyPr wrap="square" lIns="0" tIns="0" rIns="0" bIns="0" rtlCol="0" anchor="ctr"/>
          <a:lstStyle/>
          <a:p>
            <a:pPr indent="0" marL="0">
              <a:buNone/>
            </a:pPr>
            <a:r>
              <a:rPr lang="ja-JP" altLang="en-US" sz="4000" b="1" dirty="0">
                <a:solidFill>
                  <a:srgbClr val="EB6834"/>
                </a:solidFill>
                <a:latin typeface="Arial"/>
                <a:ea typeface="BIZ UDGothic" charset="-128"/>
                <a:cs typeface="Arial"/>
              </a:rPr>
              <a:t>4.8 回</a:t>
            </a:r>
            <a:endParaRPr lang="ja-JP" sz="4000" dirty="0"/>
          </a:p>
        </p:txBody>
      </p:sp>
      <p:sp>
        <p:nvSpPr>
          <p:cNvPr id="12" name="Text 10"/>
          <p:cNvSpPr txBox="1"/>
          <p:nvPr/>
        </p:nvSpPr>
        <p:spPr>
          <a:xfrm>
            <a:off x="4627778" y="2468880"/>
            <a:ext cx="2936138" cy="411480"/>
          </a:xfrm>
          <a:prstGeom prst="rect">
            <a:avLst/>
          </a:prstGeom>
          <a:noFill/>
          <a:ln/>
        </p:spPr>
        <p:txBody>
          <a:bodyPr wrap="square" lIns="0" tIns="0" rIns="0" bIns="0" rtlCol="0" anchor="t"/>
          <a:lstStyle/>
          <a:p>
            <a:pPr indent="0" marL="0">
              <a:buNone/>
            </a:pPr>
            <a:r>
              <a:rPr lang="ja-JP" altLang="en-US" sz="1450" b="1" dirty="0">
                <a:solidFill>
                  <a:srgbClr val="1E1C33"/>
                </a:solidFill>
                <a:latin typeface="Arial"/>
                <a:ea typeface="BIZ UDGothic" charset="-128"/>
                <a:cs typeface="Arial"/>
              </a:rPr>
              <a:t>収束までの反復（平均）</a:t>
            </a:r>
            <a:endParaRPr lang="ja-JP" sz="1450" dirty="0"/>
          </a:p>
        </p:txBody>
      </p:sp>
      <p:sp>
        <p:nvSpPr>
          <p:cNvPr id="13" name="Text 11"/>
          <p:cNvSpPr txBox="1"/>
          <p:nvPr/>
        </p:nvSpPr>
        <p:spPr>
          <a:xfrm>
            <a:off x="4627778" y="2898648"/>
            <a:ext cx="2936138" cy="43891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最大 20 回、収束した割合 99.6%</a:t>
            </a:r>
            <a:endParaRPr lang="ja-JP" sz="1250" dirty="0"/>
          </a:p>
        </p:txBody>
      </p:sp>
      <p:sp>
        <p:nvSpPr>
          <p:cNvPr id="14" name="Shape 12"/>
          <p:cNvSpPr/>
          <p:nvPr/>
        </p:nvSpPr>
        <p:spPr>
          <a:xfrm>
            <a:off x="8158277" y="1417320"/>
            <a:ext cx="3484778" cy="2011680"/>
          </a:xfrm>
          <a:prstGeom prst="roundRect">
            <a:avLst>
              <a:gd name="adj" fmla="val 4545"/>
            </a:avLst>
          </a:prstGeom>
          <a:solidFill>
            <a:srgbClr val="F2F3F7"/>
          </a:solidFill>
          <a:ln w="6350">
            <a:solidFill>
              <a:srgbClr val="F2F3F7"/>
            </a:solidFill>
            <a:prstDash val="solid"/>
          </a:ln>
        </p:spPr>
      </p:sp>
      <p:sp>
        <p:nvSpPr>
          <p:cNvPr id="15" name="Text 13"/>
          <p:cNvSpPr txBox="1"/>
          <p:nvPr/>
        </p:nvSpPr>
        <p:spPr>
          <a:xfrm>
            <a:off x="8432597" y="1600200"/>
            <a:ext cx="2936138" cy="822960"/>
          </a:xfrm>
          <a:prstGeom prst="rect">
            <a:avLst/>
          </a:prstGeom>
          <a:noFill/>
          <a:ln/>
        </p:spPr>
        <p:txBody>
          <a:bodyPr wrap="square" lIns="0" tIns="0" rIns="0" bIns="0" rtlCol="0" anchor="ctr"/>
          <a:lstStyle/>
          <a:p>
            <a:pPr indent="0" marL="0">
              <a:buNone/>
            </a:pPr>
            <a:r>
              <a:rPr lang="ja-JP" altLang="en-US" sz="4000" b="1" dirty="0">
                <a:solidFill>
                  <a:srgbClr val="2F3470"/>
                </a:solidFill>
                <a:latin typeface="Arial"/>
                <a:ea typeface="BIZ UDGothic" charset="-128"/>
                <a:cs typeface="Arial"/>
              </a:rPr>
              <a:t>同じ尤度</a:t>
            </a:r>
            <a:endParaRPr lang="ja-JP" sz="4000" dirty="0"/>
          </a:p>
        </p:txBody>
      </p:sp>
      <p:sp>
        <p:nvSpPr>
          <p:cNvPr id="16" name="Text 14"/>
          <p:cNvSpPr txBox="1"/>
          <p:nvPr/>
        </p:nvSpPr>
        <p:spPr>
          <a:xfrm>
            <a:off x="8432597" y="2468880"/>
            <a:ext cx="2936138" cy="411480"/>
          </a:xfrm>
          <a:prstGeom prst="rect">
            <a:avLst/>
          </a:prstGeom>
          <a:noFill/>
          <a:ln/>
        </p:spPr>
        <p:txBody>
          <a:bodyPr wrap="square" lIns="0" tIns="0" rIns="0" bIns="0" rtlCol="0" anchor="t"/>
          <a:lstStyle/>
          <a:p>
            <a:pPr indent="0" marL="0">
              <a:buNone/>
            </a:pPr>
            <a:r>
              <a:rPr lang="ja-JP" altLang="en-US" sz="1450" b="1" dirty="0">
                <a:solidFill>
                  <a:srgbClr val="1E1C33"/>
                </a:solidFill>
                <a:latin typeface="Arial"/>
                <a:ea typeface="BIZ UDGothic" charset="-128"/>
                <a:cs typeface="Arial"/>
              </a:rPr>
              <a:t>を交互に最大化（座標上昇法）</a:t>
            </a:r>
            <a:endParaRPr lang="ja-JP" sz="1450" dirty="0"/>
          </a:p>
        </p:txBody>
      </p:sp>
      <p:sp>
        <p:nvSpPr>
          <p:cNvPr id="17" name="Text 15"/>
          <p:cNvSpPr txBox="1"/>
          <p:nvPr/>
        </p:nvSpPr>
        <p:spPr>
          <a:xfrm>
            <a:off x="8432597" y="2898648"/>
            <a:ext cx="2936138" cy="438912"/>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超パラメータ θ と平均の係数 (β, γ) を交互に更新 → 同時最大化と同じ停留点</a:t>
            </a:r>
            <a:endParaRPr lang="ja-JP" sz="12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11094415" cy="914400"/>
        </p:xfrm>
        <a:graphic>
          <a:graphicData uri="http://schemas.openxmlformats.org/drawingml/2006/table">
            <a:tbl>
              <a:tblPr/>
              <a:tblGrid>
                <a:gridCol w="3291840"/>
                <a:gridCol w="2011680"/>
                <a:gridCol w="2011680"/>
                <a:gridCol w="2011680"/>
                <a:gridCol w="1767535"/>
              </a:tblGrid>
              <a:tr h="384048">
                <a:tc>
                  <a:txBody>
                    <a:bodyPr/>
                    <a:lstStyle/>
                    <a:p>
                      <a:pPr algn="ctr" indent="0" marL="0">
                        <a:buNone/>
                      </a:pPr>
                      <a:r>
                        <a:rPr lang="en-US" sz="1200" b="1" dirty="0">
                          <a:solidFill>
                            <a:srgbClr val="FFFFFF"/>
                          </a:solidFill>
                          <a:latin typeface="Arial"/>
                          <a:ea typeface="BIZ UDGothic" charset="-128"/>
                          <a:cs typeface="Arial"/>
                        </a:rPr>
                        <a:t>方法</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10 Shot：RMSE／反復</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20 Shot：RMSE／反復</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40 Shot：RMSE／反復</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収束率（10 Shot）</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84048">
                <a:tc>
                  <a:txBody>
                    <a:bodyPr/>
                    <a:lstStyle/>
                    <a:p>
                      <a:pPr algn="l" indent="0" marL="0">
                        <a:buNone/>
                      </a:pPr>
                      <a:r>
                        <a:rPr lang="en-US" sz="1200" b="1" dirty="0">
                          <a:solidFill>
                            <a:srgbClr val="1E1C33"/>
                          </a:solidFill>
                          <a:latin typeface="Arial"/>
                          <a:ea typeface="BIZ UDGothic" charset="-128"/>
                          <a:cs typeface="Arial"/>
                        </a:rPr>
                        <a:t>同時推定</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3.919／－</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1.685／－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0.794／－</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b="1" dirty="0">
                          <a:solidFill>
                            <a:srgbClr val="1E1C33"/>
                          </a:solidFill>
                          <a:latin typeface="Arial"/>
                          <a:ea typeface="BIZ UDGothic" charset="-128"/>
                          <a:cs typeface="Arial"/>
                        </a:rPr>
                        <a:t>Backfitting（本計算）</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3.901／4.8</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1.673／4.7</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0.789／3.9</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100%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b="1" dirty="0">
                          <a:solidFill>
                            <a:srgbClr val="1E1C33"/>
                          </a:solidFill>
                          <a:latin typeface="Arial"/>
                          <a:ea typeface="BIZ UDGothic" charset="-128"/>
                          <a:cs typeface="Arial"/>
                        </a:rPr>
                        <a:t>教科書どおり（質的変数を先）</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4.337／75.6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2.228／91.1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0.789／15.1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81%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b="1" dirty="0">
                          <a:solidFill>
                            <a:srgbClr val="1E1C33"/>
                          </a:solidFill>
                          <a:latin typeface="Arial"/>
                          <a:ea typeface="BIZ UDGothic" charset="-128"/>
                          <a:cs typeface="Arial"/>
                        </a:rPr>
                        <a:t>教科書どおり（GPR を先）</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3.934／95.8</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1.907／86.3</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0.802／15.1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75%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19" name="Text 16"/>
          <p:cNvSpPr txBox="1"/>
          <p:nvPr/>
        </p:nvSpPr>
        <p:spPr>
          <a:xfrm>
            <a:off x="548640" y="5715000"/>
            <a:ext cx="11094415" cy="548640"/>
          </a:xfrm>
          <a:prstGeom prst="rect">
            <a:avLst/>
          </a:prstGeom>
          <a:noFill/>
          <a:ln/>
        </p:spPr>
        <p:txBody>
          <a:bodyPr wrap="square" lIns="0" tIns="0" rIns="0" bIns="0" rtlCol="0" anchor="t"/>
          <a:lstStyle/>
          <a:p>
            <a:pPr indent="0" marL="0">
              <a:buNone/>
            </a:pPr>
            <a:r>
              <a:rPr lang="ja-JP" altLang="en-US" sz="1150" dirty="0">
                <a:solidFill>
                  <a:srgbClr val="5E6275"/>
                </a:solidFill>
                <a:latin typeface="Arial"/>
                <a:ea typeface="BIZ UDGothic" charset="-128"/>
                <a:cs typeface="Arial"/>
              </a:rPr>
              <a:t>補足検証：50 枚、カーネル2種（squaredexponential・matern52）× 説明変数 X, Y, 半径、反復の上限 300 回。教科書どおり＝1回の反復で GPR と質的変数を1回ずつ当てはめ直す。収束率は 10 Shot の値</a:t>
            </a:r>
            <a:endParaRPr lang="ja-JP"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カーネル ― matern52 が最良。ARD は T を入れても崩れない</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質的変数は基底関数で同時推定。値は全 Shot 数（10〜40）の平均 RMSE（X・Y）[nm]、1000 枚</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20</a:t>
            </a:r>
            <a:endParaRPr lang="ja-JP"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949440" cy="914400"/>
        </p:xfrm>
        <a:graphic>
          <a:graphicData uri="http://schemas.openxmlformats.org/drawingml/2006/table">
            <a:tbl>
              <a:tblPr/>
              <a:tblGrid>
                <a:gridCol w="2560320"/>
                <a:gridCol w="1463040"/>
                <a:gridCol w="1463040"/>
                <a:gridCol w="1463040"/>
              </a:tblGrid>
              <a:tr h="384048">
                <a:tc>
                  <a:txBody>
                    <a:bodyPr/>
                    <a:lstStyle/>
                    <a:p>
                      <a:pPr algn="ctr" indent="0" marL="0">
                        <a:buNone/>
                      </a:pPr>
                      <a:r>
                        <a:rPr lang="en-US" sz="1200" b="1" dirty="0">
                          <a:solidFill>
                            <a:srgbClr val="FFFFFF"/>
                          </a:solidFill>
                          <a:latin typeface="Arial"/>
                          <a:ea typeface="BIZ UDGothic" charset="-128"/>
                          <a:cs typeface="Arial"/>
                        </a:rPr>
                        <a:t>カーネル</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X, Y</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X, Y, 半径</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X, Y, 半径, T</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84048">
                <a:tc>
                  <a:txBody>
                    <a:bodyPr/>
                    <a:lstStyle/>
                    <a:p>
                      <a:pPr algn="l" indent="0" marL="0">
                        <a:buNone/>
                      </a:pPr>
                      <a:r>
                        <a:rPr lang="en-US" sz="1200" b="1" dirty="0">
                          <a:solidFill>
                            <a:srgbClr val="1E1C33"/>
                          </a:solidFill>
                          <a:latin typeface="Arial"/>
                          <a:ea typeface="BIZ UDGothic" charset="-128"/>
                          <a:cs typeface="Arial"/>
                        </a:rPr>
                        <a:t>matern52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1.869</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78F6C"/>
                          </a:solidFill>
                          <a:latin typeface="Arial"/>
                          <a:ea typeface="BIZ UDGothic" charset="-128"/>
                          <a:cs typeface="Arial"/>
                        </a:rPr>
                        <a:t>1.737</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C2413B"/>
                          </a:solidFill>
                          <a:latin typeface="Arial"/>
                          <a:ea typeface="BIZ UDGothic" charset="-128"/>
                          <a:cs typeface="Arial"/>
                        </a:rPr>
                        <a:t>2.246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dirty="0">
                          <a:solidFill>
                            <a:srgbClr val="1E1C33"/>
                          </a:solidFill>
                          <a:latin typeface="Arial"/>
                          <a:ea typeface="BIZ UDGothic" charset="-128"/>
                          <a:cs typeface="Arial"/>
                        </a:rPr>
                        <a:t>rationalquadratic</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1.918</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1.761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C2413B"/>
                          </a:solidFill>
                          <a:latin typeface="Arial"/>
                          <a:ea typeface="BIZ UDGothic" charset="-128"/>
                          <a:cs typeface="Arial"/>
                        </a:rPr>
                        <a:t>2.316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dirty="0">
                          <a:solidFill>
                            <a:srgbClr val="1E1C33"/>
                          </a:solidFill>
                          <a:latin typeface="Arial"/>
                          <a:ea typeface="BIZ UDGothic" charset="-128"/>
                          <a:cs typeface="Arial"/>
                        </a:rPr>
                        <a:t>matern32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1.876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1.763</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C2413B"/>
                          </a:solidFill>
                          <a:latin typeface="Arial"/>
                          <a:ea typeface="BIZ UDGothic" charset="-128"/>
                          <a:cs typeface="Arial"/>
                        </a:rPr>
                        <a:t>2.222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dirty="0">
                          <a:solidFill>
                            <a:srgbClr val="1E1C33"/>
                          </a:solidFill>
                          <a:latin typeface="Arial"/>
                          <a:ea typeface="BIZ UDGothic" charset="-128"/>
                          <a:cs typeface="Arial"/>
                        </a:rPr>
                        <a:t>squaredexponential</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2.027</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1.828</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C2413B"/>
                          </a:solidFill>
                          <a:latin typeface="Arial"/>
                          <a:ea typeface="BIZ UDGothic" charset="-128"/>
                          <a:cs typeface="Arial"/>
                        </a:rPr>
                        <a:t>2.401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dirty="0">
                          <a:solidFill>
                            <a:srgbClr val="2F3470"/>
                          </a:solidFill>
                          <a:latin typeface="Arial"/>
                          <a:ea typeface="BIZ UDGothic" charset="-128"/>
                          <a:cs typeface="Arial"/>
                        </a:rPr>
                        <a:t>ardmatern52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1.927</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1.830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1.829</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dirty="0">
                          <a:solidFill>
                            <a:srgbClr val="2F3470"/>
                          </a:solidFill>
                          <a:latin typeface="Arial"/>
                          <a:ea typeface="BIZ UDGothic" charset="-128"/>
                          <a:cs typeface="Arial"/>
                        </a:rPr>
                        <a:t>ardmatern32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1.925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1.851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1.849</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dirty="0">
                          <a:solidFill>
                            <a:srgbClr val="2F3470"/>
                          </a:solidFill>
                          <a:latin typeface="Arial"/>
                          <a:ea typeface="BIZ UDGothic" charset="-128"/>
                          <a:cs typeface="Arial"/>
                        </a:rPr>
                        <a:t>ardrationalquadratic</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1.990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1.871</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1.863</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dirty="0">
                          <a:solidFill>
                            <a:srgbClr val="2F3470"/>
                          </a:solidFill>
                          <a:latin typeface="Arial"/>
                          <a:ea typeface="BIZ UDGothic" charset="-128"/>
                          <a:cs typeface="Arial"/>
                        </a:rPr>
                        <a:t>ardsquaredexponential</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2.098</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1.919</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1.904</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dirty="0">
                          <a:solidFill>
                            <a:srgbClr val="1E1C33"/>
                          </a:solidFill>
                          <a:latin typeface="Arial"/>
                          <a:ea typeface="BIZ UDGothic" charset="-128"/>
                          <a:cs typeface="Arial"/>
                        </a:rPr>
                        <a:t>exponential</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2.133</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2.082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C2413B"/>
                          </a:solidFill>
                          <a:latin typeface="Arial"/>
                          <a:ea typeface="BIZ UDGothic" charset="-128"/>
                          <a:cs typeface="Arial"/>
                        </a:rPr>
                        <a:t>2.396</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dirty="0">
                          <a:solidFill>
                            <a:srgbClr val="2F3470"/>
                          </a:solidFill>
                          <a:latin typeface="Arial"/>
                          <a:ea typeface="BIZ UDGothic" charset="-128"/>
                          <a:cs typeface="Arial"/>
                        </a:rPr>
                        <a:t>ardexponential</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2.207</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b="1" dirty="0">
                          <a:solidFill>
                            <a:srgbClr val="1E1C33"/>
                          </a:solidFill>
                          <a:latin typeface="Arial"/>
                          <a:ea typeface="BIZ UDGothic" charset="-128"/>
                          <a:cs typeface="Arial"/>
                        </a:rPr>
                        <a:t>2.162</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2.154</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7" name="Text 4"/>
          <p:cNvSpPr txBox="1"/>
          <p:nvPr/>
        </p:nvSpPr>
        <p:spPr>
          <a:xfrm>
            <a:off x="548640" y="5760720"/>
            <a:ext cx="6949440" cy="457200"/>
          </a:xfrm>
          <a:prstGeom prst="rect">
            <a:avLst/>
          </a:prstGeom>
          <a:noFill/>
          <a:ln/>
        </p:spPr>
        <p:txBody>
          <a:bodyPr wrap="square" lIns="0" tIns="0" rIns="0" bIns="0" rtlCol="0" anchor="t"/>
          <a:lstStyle/>
          <a:p>
            <a:pPr indent="0" marL="0">
              <a:buNone/>
            </a:pPr>
            <a:r>
              <a:rPr lang="ja-JP" altLang="en-US" sz="1050" dirty="0">
                <a:solidFill>
                  <a:srgbClr val="5E6275"/>
                </a:solidFill>
                <a:latin typeface="Arial"/>
                <a:ea typeface="BIZ UDGothic" charset="-128"/>
                <a:cs typeface="Arial"/>
              </a:rPr>
              <a:t>並びは X, Y, 半径 の値の小さい順。赤：T を加えると 10% 以上悪化。Shot 数ごとの値は results/figures/fig07_kernel_heatmap.png</a:t>
            </a:r>
            <a:endParaRPr lang="ja-JP" sz="1050" dirty="0"/>
          </a:p>
        </p:txBody>
      </p:sp>
      <p:sp>
        <p:nvSpPr>
          <p:cNvPr id="8" name="Shape 5"/>
          <p:cNvSpPr/>
          <p:nvPr/>
        </p:nvSpPr>
        <p:spPr>
          <a:xfrm>
            <a:off x="7818120" y="1417320"/>
            <a:ext cx="3824935" cy="4754880"/>
          </a:xfrm>
          <a:prstGeom prst="roundRect">
            <a:avLst>
              <a:gd name="adj" fmla="val 2391"/>
            </a:avLst>
          </a:prstGeom>
          <a:solidFill>
            <a:srgbClr val="F2F3F7"/>
          </a:solidFill>
          <a:ln w="6350">
            <a:solidFill>
              <a:srgbClr val="F2F3F7"/>
            </a:solidFill>
            <a:prstDash val="solid"/>
          </a:ln>
        </p:spPr>
      </p:sp>
      <p:sp>
        <p:nvSpPr>
          <p:cNvPr id="9" name="Text 6"/>
          <p:cNvSpPr txBox="1"/>
          <p:nvPr/>
        </p:nvSpPr>
        <p:spPr>
          <a:xfrm>
            <a:off x="8092440" y="1554480"/>
            <a:ext cx="3276295" cy="365760"/>
          </a:xfrm>
          <a:prstGeom prst="rect">
            <a:avLst/>
          </a:prstGeom>
          <a:noFill/>
          <a:ln/>
        </p:spPr>
        <p:txBody>
          <a:bodyPr wrap="square" lIns="0" tIns="0" rIns="0" bIns="0" rtlCol="0" anchor="t"/>
          <a:lstStyle/>
          <a:p>
            <a:pPr indent="0" marL="0">
              <a:buNone/>
            </a:pPr>
            <a:r>
              <a:rPr lang="ja-JP" altLang="en-US" sz="1500" b="1" dirty="0">
                <a:solidFill>
                  <a:srgbClr val="2F3470"/>
                </a:solidFill>
                <a:latin typeface="Arial"/>
                <a:ea typeface="BIZ UDGothic" charset="-128"/>
                <a:cs typeface="Arial"/>
              </a:rPr>
              <a:t>読み取れること</a:t>
            </a:r>
            <a:endParaRPr lang="ja-JP" sz="1500" dirty="0"/>
          </a:p>
        </p:txBody>
      </p:sp>
      <p:sp>
        <p:nvSpPr>
          <p:cNvPr id="10" name="Text 7"/>
          <p:cNvSpPr txBox="1"/>
          <p:nvPr/>
        </p:nvSpPr>
        <p:spPr>
          <a:xfrm>
            <a:off x="8092440" y="2057400"/>
            <a:ext cx="3276295" cy="4023360"/>
          </a:xfrm>
          <a:prstGeom prst="rect">
            <a:avLst/>
          </a:prstGeom>
          <a:noFill/>
          <a:ln/>
        </p:spPr>
        <p:txBody>
          <a:bodyPr wrap="square" lIns="0" tIns="0" rIns="0" bIns="0" rtlCol="0" anchor="t"/>
          <a:lstStyle/>
          <a:p>
            <a:pPr marL="203200" indent="-203200">
              <a:spcAft>
                <a:spcPts val="1200"/>
              </a:spcAft>
              <a:buSzPct val="100000"/>
              <a:buChar char="•"/>
            </a:pPr>
            <a:r>
              <a:rPr lang="ja-JP" altLang="en-US" sz="1300" dirty="0">
                <a:solidFill>
                  <a:srgbClr val="1E1C33"/>
                </a:solidFill>
                <a:latin typeface="Arial"/>
                <a:ea typeface="BIZ UDGothic" charset="-128"/>
                <a:cs typeface="Arial"/>
              </a:rPr>
              <a:t>X, Y, 半径 では等方の matern52 が最良（1.737 nm）。Matern 系・有理2次が続く</a:t>
            </a:r>
            <a:endParaRPr lang="ja-JP" sz="1300" dirty="0"/>
          </a:p>
          <a:p>
            <a:pPr marL="203200" indent="-203200">
              <a:spcAft>
                <a:spcPts val="1200"/>
              </a:spcAft>
              <a:buSzPct val="100000"/>
              <a:buChar char="•"/>
            </a:pPr>
            <a:r>
              <a:rPr lang="ja-JP" altLang="en-US" sz="1300" dirty="0">
                <a:solidFill>
                  <a:srgbClr val="1E1C33"/>
                </a:solidFill>
                <a:latin typeface="Arial"/>
                <a:ea typeface="BIZ UDGothic" charset="-128"/>
                <a:cs typeface="Arial"/>
              </a:rPr>
              <a:t>exponential（指数）は最も悪い（2.162 nm）。なめらかでなくノイズを追いかける</a:t>
            </a:r>
            <a:endParaRPr lang="ja-JP" sz="1300" dirty="0"/>
          </a:p>
          <a:p>
            <a:pPr marL="203200" indent="-203200">
              <a:spcAft>
                <a:spcPts val="1200"/>
              </a:spcAft>
              <a:buSzPct val="100000"/>
              <a:buChar char="•"/>
            </a:pPr>
            <a:r>
              <a:rPr lang="ja-JP" altLang="en-US" sz="1300" dirty="0">
                <a:solidFill>
                  <a:srgbClr val="1E1C33"/>
                </a:solidFill>
                <a:latin typeface="Arial"/>
                <a:ea typeface="BIZ UDGothic" charset="-128"/>
                <a:cs typeface="Arial"/>
              </a:rPr>
              <a:t>ARD 版は X, Y, 半径 では等方版よりわずかに悪い（長さスケールが増える分ぶれる）</a:t>
            </a:r>
            <a:endParaRPr lang="ja-JP" sz="1300" dirty="0"/>
          </a:p>
          <a:p>
            <a:pPr marL="203200" indent="-203200">
              <a:spcAft>
                <a:spcPts val="1200"/>
              </a:spcAft>
              <a:buSzPct val="100000"/>
              <a:buChar char="•"/>
            </a:pPr>
            <a:r>
              <a:rPr lang="ja-JP" altLang="en-US" sz="1300" dirty="0">
                <a:solidFill>
                  <a:srgbClr val="1E1C33"/>
                </a:solidFill>
                <a:latin typeface="Arial"/>
                <a:ea typeface="BIZ UDGothic" charset="-128"/>
                <a:cs typeface="Arial"/>
              </a:rPr>
              <a:t>T を加えると等方版は 15〜31% 悪化、ARD 版は T を無視するのでほぼ変わらない（ardmatern52：1.830 → 1.829）</a:t>
            </a:r>
            <a:endParaRPr lang="ja-JP"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Kriging ― 予測式は GPR と同じでも、パラメータの決め方で大きく劣る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バリオグラムの式と当てはめ方は PyKrige の既定（6区間、soft L1 損失）。ナゲット・GPR のノイズは X・Y の中央値</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21</a:t>
            </a:r>
            <a:endParaRPr lang="ja-JP" sz="1000" dirty="0"/>
          </a:p>
        </p:txBody>
      </p:sp>
      <p:pic>
        <p:nvPicPr>
          <p:cNvPr id="6" name="Image 0" descr="バリオグラムの比較">    </p:cNvPr>
          <p:cNvPicPr>
            <a:picLocks noChangeAspect="1"/>
          </p:cNvPicPr>
          <p:nvPr/>
        </p:nvPicPr>
        <p:blipFill>
          <a:blip r:embed="rId1"/>
          <a:stretch>
            <a:fillRect/>
          </a:stretch>
        </p:blipFill>
        <p:spPr>
          <a:xfrm>
            <a:off x="548640" y="1325880"/>
            <a:ext cx="8138160" cy="2870527"/>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663440"/>
          <a:ext cx="8138160" cy="914400"/>
        </p:xfrm>
        <a:graphic>
          <a:graphicData uri="http://schemas.openxmlformats.org/drawingml/2006/table">
            <a:tbl>
              <a:tblPr/>
              <a:tblGrid>
                <a:gridCol w="2377440"/>
                <a:gridCol w="822960"/>
                <a:gridCol w="822960"/>
                <a:gridCol w="822960"/>
                <a:gridCol w="822960"/>
                <a:gridCol w="822960"/>
                <a:gridCol w="822960"/>
                <a:gridCol w="822960"/>
              </a:tblGrid>
              <a:tr h="365760">
                <a:tc>
                  <a:txBody>
                    <a:bodyPr/>
                    <a:lstStyle/>
                    <a:p>
                      <a:pPr algn="ctr" indent="0" marL="0">
                        <a:buNone/>
                      </a:pPr>
                      <a:r>
                        <a:rPr lang="en-US" sz="1150" b="1" dirty="0">
                          <a:solidFill>
                            <a:srgbClr val="FFFFFF"/>
                          </a:solidFill>
                          <a:latin typeface="Arial"/>
                          <a:ea typeface="BIZ UDGothic" charset="-128"/>
                          <a:cs typeface="Arial"/>
                        </a:rPr>
                        <a:t>Shot 数</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10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15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20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25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30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35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40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65760">
                <a:tc>
                  <a:txBody>
                    <a:bodyPr/>
                    <a:lstStyle/>
                    <a:p>
                      <a:pPr algn="l" indent="0" marL="0">
                        <a:buNone/>
                      </a:pPr>
                      <a:r>
                        <a:rPr lang="en-US" sz="1150" b="1" dirty="0">
                          <a:solidFill>
                            <a:srgbClr val="1E1C33"/>
                          </a:solidFill>
                          <a:latin typeface="Arial"/>
                          <a:ea typeface="BIZ UDGothic" charset="-128"/>
                          <a:cs typeface="Arial"/>
                        </a:rPr>
                        <a:t>Kriging ナゲット [nm²]</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8.5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10.2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13.1</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6.9</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7.6</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7.8</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7.7</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150" b="1" dirty="0">
                          <a:solidFill>
                            <a:srgbClr val="1E1C33"/>
                          </a:solidFill>
                          <a:latin typeface="Arial"/>
                          <a:ea typeface="BIZ UDGothic" charset="-128"/>
                          <a:cs typeface="Arial"/>
                        </a:rPr>
                        <a:t>GPR ノイズ分散 σn² [nm²]</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0.69</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0.64</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0.89</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0.67</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0.77</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0.87</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0.96</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8961120" y="1417320"/>
          <a:ext cx="2681935" cy="914400"/>
        </p:xfrm>
        <a:graphic>
          <a:graphicData uri="http://schemas.openxmlformats.org/drawingml/2006/table">
            <a:tbl>
              <a:tblPr/>
              <a:tblGrid>
                <a:gridCol w="1950415"/>
                <a:gridCol w="731520"/>
              </a:tblGrid>
              <a:tr h="365760">
                <a:tc>
                  <a:txBody>
                    <a:bodyPr/>
                    <a:lstStyle/>
                    <a:p>
                      <a:pPr algn="ctr" indent="0" marL="0">
                        <a:buNone/>
                      </a:pPr>
                      <a:r>
                        <a:rPr lang="en-US" sz="1100" b="1" dirty="0">
                          <a:solidFill>
                            <a:srgbClr val="FFFFFF"/>
                          </a:solidFill>
                          <a:latin typeface="Arial"/>
                          <a:ea typeface="BIZ UDGothic" charset="-128"/>
                          <a:cs typeface="Arial"/>
                        </a:rPr>
                        <a:t>手法｜バリオグラム</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00" b="1" dirty="0">
                          <a:solidFill>
                            <a:srgbClr val="FFFFFF"/>
                          </a:solidFill>
                          <a:latin typeface="Arial"/>
                          <a:ea typeface="BIZ UDGothic" charset="-128"/>
                          <a:cs typeface="Arial"/>
                        </a:rPr>
                        <a:t>平均</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65760">
                <a:tc>
                  <a:txBody>
                    <a:bodyPr/>
                    <a:lstStyle/>
                    <a:p>
                      <a:pPr algn="l" indent="0" marL="0">
                        <a:buNone/>
                      </a:pPr>
                      <a:r>
                        <a:rPr lang="en-US" sz="1100" b="1" dirty="0">
                          <a:solidFill>
                            <a:srgbClr val="1BAF7A"/>
                          </a:solidFill>
                          <a:latin typeface="Arial"/>
                          <a:ea typeface="BIZ UDGothic" charset="-128"/>
                          <a:cs typeface="Arial"/>
                        </a:rPr>
                        <a:t>Kriging｜exponential</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3.26</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100" b="1" dirty="0">
                          <a:solidFill>
                            <a:srgbClr val="EDA100"/>
                          </a:solidFill>
                          <a:latin typeface="Arial"/>
                          <a:ea typeface="BIZ UDGothic" charset="-128"/>
                          <a:cs typeface="Arial"/>
                        </a:rPr>
                        <a:t>UK｜exponential</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3.40</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100" b="1" dirty="0">
                          <a:solidFill>
                            <a:srgbClr val="1BAF7A"/>
                          </a:solidFill>
                          <a:latin typeface="Arial"/>
                          <a:ea typeface="BIZ UDGothic" charset="-128"/>
                          <a:cs typeface="Arial"/>
                        </a:rPr>
                        <a:t>Kriging｜linear</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4.08</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100" b="1" dirty="0">
                          <a:solidFill>
                            <a:srgbClr val="EDA100"/>
                          </a:solidFill>
                          <a:latin typeface="Arial"/>
                          <a:ea typeface="BIZ UDGothic" charset="-128"/>
                          <a:cs typeface="Arial"/>
                        </a:rPr>
                        <a:t>UK｜power</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4.22</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100" b="1" dirty="0">
                          <a:solidFill>
                            <a:srgbClr val="1BAF7A"/>
                          </a:solidFill>
                          <a:latin typeface="Arial"/>
                          <a:ea typeface="BIZ UDGothic" charset="-128"/>
                          <a:cs typeface="Arial"/>
                        </a:rPr>
                        <a:t>Kriging｜power</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4.25</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100" b="1" dirty="0">
                          <a:solidFill>
                            <a:srgbClr val="EDA100"/>
                          </a:solidFill>
                          <a:latin typeface="Arial"/>
                          <a:ea typeface="BIZ UDGothic" charset="-128"/>
                          <a:cs typeface="Arial"/>
                        </a:rPr>
                        <a:t>UK｜linear</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4.41</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100" b="1" dirty="0">
                          <a:solidFill>
                            <a:srgbClr val="1BAF7A"/>
                          </a:solidFill>
                          <a:latin typeface="Arial"/>
                          <a:ea typeface="BIZ UDGothic" charset="-128"/>
                          <a:cs typeface="Arial"/>
                        </a:rPr>
                        <a:t>Kriging｜gaussian</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4.43</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65760">
                <a:tc>
                  <a:txBody>
                    <a:bodyPr/>
                    <a:lstStyle/>
                    <a:p>
                      <a:pPr algn="l" indent="0" marL="0">
                        <a:buNone/>
                      </a:pPr>
                      <a:r>
                        <a:rPr lang="en-US" sz="1100" b="1" dirty="0">
                          <a:solidFill>
                            <a:srgbClr val="EDA100"/>
                          </a:solidFill>
                          <a:latin typeface="Arial"/>
                          <a:ea typeface="BIZ UDGothic" charset="-128"/>
                          <a:cs typeface="Arial"/>
                        </a:rPr>
                        <a:t>UK｜gaussian</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00" dirty="0">
                          <a:solidFill>
                            <a:srgbClr val="1E1C33"/>
                          </a:solidFill>
                          <a:latin typeface="Arial"/>
                          <a:ea typeface="BIZ UDGothic" charset="-128"/>
                          <a:cs typeface="Arial"/>
                        </a:rPr>
                        <a:t>4.57</a:t>
                      </a:r>
                      <a:endParaRPr lang="en-US" sz="11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9" name="Text 4"/>
          <p:cNvSpPr txBox="1"/>
          <p:nvPr/>
        </p:nvSpPr>
        <p:spPr>
          <a:xfrm>
            <a:off x="8961120" y="4892040"/>
            <a:ext cx="2681935" cy="457200"/>
          </a:xfrm>
          <a:prstGeom prst="rect">
            <a:avLst/>
          </a:prstGeom>
          <a:noFill/>
          <a:ln/>
        </p:spPr>
        <p:txBody>
          <a:bodyPr wrap="square" lIns="0" tIns="0" rIns="0" bIns="0" rtlCol="0" anchor="t"/>
          <a:lstStyle/>
          <a:p>
            <a:pPr indent="0" marL="0">
              <a:buNone/>
            </a:pPr>
            <a:r>
              <a:rPr lang="ja-JP" altLang="en-US" sz="1050" dirty="0">
                <a:solidFill>
                  <a:srgbClr val="5E6275"/>
                </a:solidFill>
                <a:latin typeface="Arial"/>
                <a:ea typeface="BIZ UDGothic" charset="-128"/>
                <a:cs typeface="Arial"/>
              </a:rPr>
              <a:t>平均：全 Shot 数・説明変数3組の RMSE [nm]</a:t>
            </a:r>
            <a:endParaRPr lang="ja-JP"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4つの指標 ― 順位はほぼ一致。調整済み R² は柔らかいモデルに厳しい</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系統ごとの最良の設定（全 Shot 数の平均 RMSE で選んだもの）。順位相関は全 123 設定の平均値の Spearman 相関</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22</a:t>
            </a:r>
            <a:endParaRPr lang="ja-JP" sz="1000" dirty="0"/>
          </a:p>
        </p:txBody>
      </p:sp>
      <p:pic>
        <p:nvPicPr>
          <p:cNvPr id="6" name="Image 0" descr="4指標の比較">    </p:cNvPr>
          <p:cNvPicPr>
            <a:picLocks noChangeAspect="1"/>
          </p:cNvPicPr>
          <p:nvPr/>
        </p:nvPicPr>
        <p:blipFill>
          <a:blip r:embed="rId1"/>
          <a:stretch>
            <a:fillRect/>
          </a:stretch>
        </p:blipFill>
        <p:spPr>
          <a:xfrm>
            <a:off x="611742" y="1325880"/>
            <a:ext cx="10968211" cy="269748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11094415" cy="914400"/>
        </p:xfrm>
        <a:graphic>
          <a:graphicData uri="http://schemas.openxmlformats.org/drawingml/2006/table">
            <a:tbl>
              <a:tblPr/>
              <a:tblGrid>
                <a:gridCol w="2377440"/>
                <a:gridCol w="960120"/>
                <a:gridCol w="960120"/>
                <a:gridCol w="960120"/>
                <a:gridCol w="960120"/>
                <a:gridCol w="960120"/>
                <a:gridCol w="960120"/>
                <a:gridCol w="960120"/>
                <a:gridCol w="1996135"/>
              </a:tblGrid>
              <a:tr h="384048">
                <a:tc>
                  <a:txBody>
                    <a:bodyPr/>
                    <a:lstStyle/>
                    <a:p>
                      <a:pPr algn="ctr" indent="0" marL="0">
                        <a:buNone/>
                      </a:pPr>
                      <a:r>
                        <a:rPr lang="en-US" sz="1200" b="1" dirty="0">
                          <a:solidFill>
                            <a:srgbClr val="FFFFFF"/>
                          </a:solidFill>
                          <a:latin typeface="Arial"/>
                          <a:ea typeface="BIZ UDGothic" charset="-128"/>
                          <a:cs typeface="Arial"/>
                        </a:rPr>
                        <a:t>指標</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10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15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20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25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30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35</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40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200" b="1" dirty="0">
                          <a:solidFill>
                            <a:srgbClr val="FFFFFF"/>
                          </a:solidFill>
                          <a:latin typeface="Arial"/>
                          <a:ea typeface="BIZ UDGothic" charset="-128"/>
                          <a:cs typeface="Arial"/>
                        </a:rPr>
                        <a:t>RMSE と最良が同じ</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84048">
                <a:tc>
                  <a:txBody>
                    <a:bodyPr/>
                    <a:lstStyle/>
                    <a:p>
                      <a:pPr algn="l" indent="0" marL="0">
                        <a:buNone/>
                      </a:pPr>
                      <a:r>
                        <a:rPr lang="en-US" sz="1200" b="1" dirty="0">
                          <a:solidFill>
                            <a:srgbClr val="1E1C33"/>
                          </a:solidFill>
                          <a:latin typeface="Arial"/>
                          <a:ea typeface="BIZ UDGothic" charset="-128"/>
                          <a:cs typeface="Arial"/>
                        </a:rPr>
                        <a:t>MAE</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1.00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0.99</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1.00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1.00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1.00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0.99</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1.00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5 / 7</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b="1" dirty="0">
                          <a:solidFill>
                            <a:srgbClr val="1E1C33"/>
                          </a:solidFill>
                          <a:latin typeface="Arial"/>
                          <a:ea typeface="BIZ UDGothic" charset="-128"/>
                          <a:cs typeface="Arial"/>
                        </a:rPr>
                        <a:t>決定係数</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0.99</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1.00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1.00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1.00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1.00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1.00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1.00</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5 / 7</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200" b="1" dirty="0">
                          <a:solidFill>
                            <a:srgbClr val="1E1C33"/>
                          </a:solidFill>
                          <a:latin typeface="Arial"/>
                          <a:ea typeface="BIZ UDGothic" charset="-128"/>
                          <a:cs typeface="Arial"/>
                        </a:rPr>
                        <a:t>調整済み決定係数</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0.99</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0.99</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0.99</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0.99</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0.99</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0.97</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0.98</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200" dirty="0">
                          <a:solidFill>
                            <a:srgbClr val="1E1C33"/>
                          </a:solidFill>
                          <a:latin typeface="Arial"/>
                          <a:ea typeface="BIZ UDGothic" charset="-128"/>
                          <a:cs typeface="Arial"/>
                        </a:rPr>
                        <a:t>4 / 7</a:t>
                      </a:r>
                      <a:endParaRPr lang="en-US" sz="12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8" name="Text 4"/>
          <p:cNvSpPr txBox="1"/>
          <p:nvPr/>
        </p:nvSpPr>
        <p:spPr>
          <a:xfrm>
            <a:off x="548640" y="5943600"/>
            <a:ext cx="11094415" cy="320040"/>
          </a:xfrm>
          <a:prstGeom prst="rect">
            <a:avLst/>
          </a:prstGeom>
          <a:noFill/>
          <a:ln/>
        </p:spPr>
        <p:txBody>
          <a:bodyPr wrap="square" lIns="0" tIns="0" rIns="0" bIns="0" rtlCol="0" anchor="t"/>
          <a:lstStyle/>
          <a:p>
            <a:pPr indent="0" marL="0">
              <a:buNone/>
            </a:pPr>
            <a:r>
              <a:rPr lang="ja-JP" altLang="en-US" sz="1100" dirty="0">
                <a:solidFill>
                  <a:srgbClr val="5E6275"/>
                </a:solidFill>
                <a:latin typeface="Arial"/>
                <a:ea typeface="BIZ UDGothic" charset="-128"/>
                <a:cs typeface="Arial"/>
              </a:rPr>
              <a:t>表の値：RMSE による順位との Spearman 順位相関（Shot 数ごと、123 設定）</a:t>
            </a:r>
            <a:endParaRPr lang="ja-JP"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外周 ― 誤差は内側の約1.8倍。外挿になり、ノイズも大きい</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系統ごとの最良の設定。外周：Mark の半径 ≥ 120 mm</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23</a:t>
            </a:r>
            <a:endParaRPr lang="ja-JP" sz="1000" dirty="0"/>
          </a:p>
        </p:txBody>
      </p:sp>
      <p:pic>
        <p:nvPicPr>
          <p:cNvPr id="6" name="Image 0" descr="外周と内側">    </p:cNvPr>
          <p:cNvPicPr>
            <a:picLocks noChangeAspect="1"/>
          </p:cNvPicPr>
          <p:nvPr/>
        </p:nvPicPr>
        <p:blipFill>
          <a:blip r:embed="rId1"/>
          <a:stretch>
            <a:fillRect/>
          </a:stretch>
        </p:blipFill>
        <p:spPr>
          <a:xfrm>
            <a:off x="548640" y="1325880"/>
            <a:ext cx="8046720" cy="2774848"/>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778240" y="1417320"/>
          <a:ext cx="2864815" cy="914400"/>
        </p:xfrm>
        <a:graphic>
          <a:graphicData uri="http://schemas.openxmlformats.org/drawingml/2006/table">
            <a:tbl>
              <a:tblPr/>
              <a:tblGrid>
                <a:gridCol w="1188720"/>
                <a:gridCol w="838048"/>
                <a:gridCol w="838048"/>
              </a:tblGrid>
              <a:tr h="384048">
                <a:tc>
                  <a:txBody>
                    <a:bodyPr/>
                    <a:lstStyle/>
                    <a:p>
                      <a:pPr algn="ctr" indent="0" marL="0">
                        <a:buNone/>
                      </a:pPr>
                      <a:r>
                        <a:rPr lang="en-US" sz="1050" b="1" dirty="0">
                          <a:solidFill>
                            <a:srgbClr val="FFFFFF"/>
                          </a:solidFill>
                          <a:latin typeface="Arial"/>
                          <a:ea typeface="BIZ UDGothic" charset="-128"/>
                          <a:cs typeface="Arial"/>
                        </a:rPr>
                        <a:t>系統</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10 Shot 外周／内側</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050" b="1" dirty="0">
                          <a:solidFill>
                            <a:srgbClr val="FFFFFF"/>
                          </a:solidFill>
                          <a:latin typeface="Arial"/>
                          <a:ea typeface="BIZ UDGothic" charset="-128"/>
                          <a:cs typeface="Arial"/>
                        </a:rPr>
                        <a:t>40 Shot 外周／内側</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84048">
                <a:tc>
                  <a:txBody>
                    <a:bodyPr/>
                    <a:lstStyle/>
                    <a:p>
                      <a:pPr algn="l" indent="0" marL="0">
                        <a:buNone/>
                      </a:pPr>
                      <a:r>
                        <a:rPr lang="en-US" sz="1050" b="1" dirty="0">
                          <a:solidFill>
                            <a:srgbClr val="2A78D6"/>
                          </a:solidFill>
                          <a:latin typeface="Arial"/>
                          <a:ea typeface="BIZ UDGothic" charset="-128"/>
                          <a:cs typeface="Arial"/>
                        </a:rPr>
                        <a:t>GPR</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5.08／3.38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1.16／0.66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050" b="1" dirty="0">
                          <a:solidFill>
                            <a:srgbClr val="EB6834"/>
                          </a:solidFill>
                          <a:latin typeface="Arial"/>
                          <a:ea typeface="BIZ UDGothic" charset="-128"/>
                          <a:cs typeface="Arial"/>
                        </a:rPr>
                        <a:t>TPS</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5.13／3.29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2.66／2.39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050" b="1" dirty="0">
                          <a:solidFill>
                            <a:srgbClr val="1BAF7A"/>
                          </a:solidFill>
                          <a:latin typeface="Arial"/>
                          <a:ea typeface="BIZ UDGothic" charset="-128"/>
                          <a:cs typeface="Arial"/>
                        </a:rPr>
                        <a:t>Kriging</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5.81／3.86</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3.02／2.69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050" b="1" dirty="0">
                          <a:solidFill>
                            <a:srgbClr val="EDA100"/>
                          </a:solidFill>
                          <a:latin typeface="Arial"/>
                          <a:ea typeface="BIZ UDGothic" charset="-128"/>
                          <a:cs typeface="Arial"/>
                        </a:rPr>
                        <a:t>Univ. Kriging</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6.06／4.08</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3.02／2.65</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050" b="1" dirty="0">
                          <a:solidFill>
                            <a:srgbClr val="E87BA4"/>
                          </a:solidFill>
                          <a:latin typeface="Arial"/>
                          <a:ea typeface="BIZ UDGothic" charset="-128"/>
                          <a:cs typeface="Arial"/>
                        </a:rPr>
                        <a:t>GAM</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6.23／4.49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1.54／1.19</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050" b="1" dirty="0">
                          <a:solidFill>
                            <a:srgbClr val="008300"/>
                          </a:solidFill>
                          <a:latin typeface="Arial"/>
                          <a:ea typeface="BIZ UDGothic" charset="-128"/>
                          <a:cs typeface="Arial"/>
                        </a:rPr>
                        <a:t>XY5次</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6.71／4.12</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3.74／3.14</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050" b="1" dirty="0">
                          <a:solidFill>
                            <a:srgbClr val="4A3AA7"/>
                          </a:solidFill>
                          <a:latin typeface="Arial"/>
                          <a:ea typeface="BIZ UDGothic" charset="-128"/>
                          <a:cs typeface="Arial"/>
                        </a:rPr>
                        <a:t>RTモデル</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7.59／4.03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050" dirty="0">
                          <a:solidFill>
                            <a:srgbClr val="1E1C33"/>
                          </a:solidFill>
                          <a:latin typeface="Arial"/>
                          <a:ea typeface="BIZ UDGothic" charset="-128"/>
                          <a:cs typeface="Arial"/>
                        </a:rPr>
                        <a:t>3.73／3.23</a:t>
                      </a:r>
                      <a:endParaRPr lang="en-US" sz="10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8" name="Shape 4"/>
          <p:cNvSpPr/>
          <p:nvPr/>
        </p:nvSpPr>
        <p:spPr>
          <a:xfrm>
            <a:off x="548640" y="4846320"/>
            <a:ext cx="11094415" cy="1371600"/>
          </a:xfrm>
          <a:prstGeom prst="roundRect">
            <a:avLst>
              <a:gd name="adj" fmla="val 6667"/>
            </a:avLst>
          </a:prstGeom>
          <a:solidFill>
            <a:srgbClr val="EEEFF7"/>
          </a:solidFill>
          <a:ln w="6350">
            <a:solidFill>
              <a:srgbClr val="EEEFF7"/>
            </a:solidFill>
            <a:prstDash val="solid"/>
          </a:ln>
        </p:spPr>
      </p:sp>
      <p:sp>
        <p:nvSpPr>
          <p:cNvPr id="9" name="Text 5"/>
          <p:cNvSpPr txBox="1"/>
          <p:nvPr/>
        </p:nvSpPr>
        <p:spPr>
          <a:xfrm>
            <a:off x="822960" y="4846320"/>
            <a:ext cx="10545775" cy="1371600"/>
          </a:xfrm>
          <a:prstGeom prst="rect">
            <a:avLst/>
          </a:prstGeom>
          <a:noFill/>
          <a:ln/>
        </p:spPr>
        <p:txBody>
          <a:bodyPr wrap="square" lIns="0" tIns="0" rIns="0" bIns="0" rtlCol="0" anchor="ctr"/>
          <a:lstStyle/>
          <a:p>
            <a:pPr indent="0" marL="0">
              <a:buNone/>
            </a:pPr>
            <a:r>
              <a:rPr lang="ja-JP" altLang="en-US" sz="1400" b="1" dirty="0">
                <a:solidFill>
                  <a:srgbClr val="1E1C33"/>
                </a:solidFill>
                <a:latin typeface="Arial"/>
                <a:ea typeface="BIZ UDGothic" charset="-128"/>
                <a:cs typeface="Arial"/>
              </a:rPr>
              <a:t>GPR（40 Shot）：外周 1.16 nm は内側 0.66 nm の 1.8 倍（外周の Mark は全 396 Mark の 21%）。外周の計測ノイズは内側の最大約3倍（±3 nm）</a:t>
            </a:r>
            <a:endParaRPr lang="ja-JP"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誤差マップ ― 10 Shot では質的変数が Mark ごとの縞を作る</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Wafer 0 の X 成分。灰色の点は計測した Mark（誤差は計算しない）。誤差 = 推定値 − 真値</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24</a:t>
            </a:r>
            <a:endParaRPr lang="ja-JP" sz="1000" dirty="0"/>
          </a:p>
        </p:txBody>
      </p:sp>
      <p:pic>
        <p:nvPicPr>
          <p:cNvPr id="6" name="Image 0" descr="推定誤差マップ">    </p:cNvPr>
          <p:cNvPicPr>
            <a:picLocks noChangeAspect="1"/>
          </p:cNvPicPr>
          <p:nvPr/>
        </p:nvPicPr>
        <p:blipFill>
          <a:blip r:embed="rId1"/>
          <a:stretch>
            <a:fillRect/>
          </a:stretch>
        </p:blipFill>
        <p:spPr>
          <a:xfrm>
            <a:off x="548640" y="1325880"/>
            <a:ext cx="11094415" cy="44550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ばらつき ― 20 Shot 以上は GPR が安定。10 Shot は悪い側が広い</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系統ごとの代表の設定（全 Shot 数の平均 RMSE が最小、GPR は同時推定）。外れ値は表示していない</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25</a:t>
            </a:r>
            <a:endParaRPr lang="ja-JP" sz="1000" dirty="0"/>
          </a:p>
        </p:txBody>
      </p:sp>
      <p:pic>
        <p:nvPicPr>
          <p:cNvPr id="6" name="Image 0" descr="ばらつき">    </p:cNvPr>
          <p:cNvPicPr>
            <a:picLocks noChangeAspect="1"/>
          </p:cNvPicPr>
          <p:nvPr/>
        </p:nvPicPr>
        <p:blipFill>
          <a:blip r:embed="rId1"/>
          <a:stretch>
            <a:fillRect/>
          </a:stretch>
        </p:blipFill>
        <p:spPr>
          <a:xfrm>
            <a:off x="548640" y="1325880"/>
            <a:ext cx="11094415" cy="3825821"/>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5440680"/>
          <a:ext cx="11094415" cy="914400"/>
        </p:xfrm>
        <a:graphic>
          <a:graphicData uri="http://schemas.openxmlformats.org/drawingml/2006/table">
            <a:tbl>
              <a:tblPr/>
              <a:tblGrid>
                <a:gridCol w="2743200"/>
                <a:gridCol w="1193031"/>
                <a:gridCol w="1193031"/>
                <a:gridCol w="1193031"/>
                <a:gridCol w="1193031"/>
                <a:gridCol w="1193031"/>
                <a:gridCol w="1193031"/>
                <a:gridCol w="1193031"/>
              </a:tblGrid>
              <a:tr h="274320">
                <a:tc>
                  <a:txBody>
                    <a:bodyPr/>
                    <a:lstStyle/>
                    <a:p>
                      <a:pPr algn="ctr" indent="0" marL="0">
                        <a:buNone/>
                      </a:pPr>
                      <a:r>
                        <a:rPr lang="en-US" sz="1150" b="1" dirty="0">
                          <a:solidFill>
                            <a:srgbClr val="FFFFFF"/>
                          </a:solidFill>
                          <a:latin typeface="Arial"/>
                          <a:ea typeface="BIZ UDGothic" charset="-128"/>
                          <a:cs typeface="Arial"/>
                        </a:rPr>
                        <a:t>GPR（代表の設定）</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10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15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20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25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30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35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40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274320">
                <a:tc>
                  <a:txBody>
                    <a:bodyPr/>
                    <a:lstStyle/>
                    <a:p>
                      <a:pPr algn="l" indent="0" marL="0">
                        <a:buNone/>
                      </a:pPr>
                      <a:r>
                        <a:rPr lang="en-US" sz="1150" b="1" dirty="0">
                          <a:solidFill>
                            <a:srgbClr val="1E1C33"/>
                          </a:solidFill>
                          <a:latin typeface="Arial"/>
                          <a:ea typeface="BIZ UDGothic" charset="-128"/>
                          <a:cs typeface="Arial"/>
                        </a:rPr>
                        <a:t>中央値 [nm]</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3.73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2.43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1.61</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1.32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1.02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0.90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0.77</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274320">
                <a:tc>
                  <a:txBody>
                    <a:bodyPr/>
                    <a:lstStyle/>
                    <a:p>
                      <a:pPr algn="l" indent="0" marL="0">
                        <a:buNone/>
                      </a:pPr>
                      <a:r>
                        <a:rPr lang="en-US" sz="1150" b="1" dirty="0">
                          <a:solidFill>
                            <a:srgbClr val="1E1C33"/>
                          </a:solidFill>
                          <a:latin typeface="Arial"/>
                          <a:ea typeface="BIZ UDGothic" charset="-128"/>
                          <a:cs typeface="Arial"/>
                        </a:rPr>
                        <a:t>90%点 [nm]</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5.18</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3.42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2.03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1.63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1.20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1.04</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0.86</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03  結果</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計算時間 ― GPR は 1 Wafer 約 0.1 秒、Backfitting はその約 2.5 倍</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Python 3.14、M1（6並列で実行中の計測値）。カーネル・説明変数を平均</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26</a:t>
            </a:r>
            <a:endParaRPr lang="ja-JP" sz="1000" dirty="0"/>
          </a:p>
        </p:txBody>
      </p:sp>
      <p:pic>
        <p:nvPicPr>
          <p:cNvPr id="6" name="Image 0" descr="計算時間">    </p:cNvPr>
          <p:cNvPicPr>
            <a:picLocks noChangeAspect="1"/>
          </p:cNvPicPr>
          <p:nvPr/>
        </p:nvPicPr>
        <p:blipFill>
          <a:blip r:embed="rId1"/>
          <a:stretch>
            <a:fillRect/>
          </a:stretch>
        </p:blipFill>
        <p:spPr>
          <a:xfrm>
            <a:off x="548640" y="1325880"/>
            <a:ext cx="7498080" cy="3908929"/>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75320" y="1417320"/>
          <a:ext cx="3367735" cy="914400"/>
        </p:xfrm>
        <a:graphic>
          <a:graphicData uri="http://schemas.openxmlformats.org/drawingml/2006/table">
            <a:tbl>
              <a:tblPr/>
              <a:tblGrid>
                <a:gridCol w="1721815"/>
                <a:gridCol w="822960"/>
                <a:gridCol w="822960"/>
              </a:tblGrid>
              <a:tr h="384048">
                <a:tc>
                  <a:txBody>
                    <a:bodyPr/>
                    <a:lstStyle/>
                    <a:p>
                      <a:pPr algn="ctr" indent="0" marL="0">
                        <a:buNone/>
                      </a:pPr>
                      <a:r>
                        <a:rPr lang="en-US" sz="1150" b="1" dirty="0">
                          <a:solidFill>
                            <a:srgbClr val="FFFFFF"/>
                          </a:solidFill>
                          <a:latin typeface="Arial"/>
                          <a:ea typeface="BIZ UDGothic" charset="-128"/>
                          <a:cs typeface="Arial"/>
                        </a:rPr>
                        <a:t>手法</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10 Shot</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150" b="1" dirty="0">
                          <a:solidFill>
                            <a:srgbClr val="FFFFFF"/>
                          </a:solidFill>
                          <a:latin typeface="Arial"/>
                          <a:ea typeface="BIZ UDGothic" charset="-128"/>
                          <a:cs typeface="Arial"/>
                        </a:rPr>
                        <a:t>40 Shot</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384048">
                <a:tc>
                  <a:txBody>
                    <a:bodyPr/>
                    <a:lstStyle/>
                    <a:p>
                      <a:pPr algn="l" indent="0" marL="0">
                        <a:buNone/>
                      </a:pPr>
                      <a:r>
                        <a:rPr lang="en-US" sz="1150" b="1" dirty="0">
                          <a:solidFill>
                            <a:srgbClr val="1E1C33"/>
                          </a:solidFill>
                          <a:latin typeface="Arial"/>
                          <a:ea typeface="BIZ UDGothic" charset="-128"/>
                          <a:cs typeface="Arial"/>
                        </a:rPr>
                        <a:t>GPR（なし）</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22.0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93.5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150" b="1" dirty="0">
                          <a:solidFill>
                            <a:srgbClr val="1E1C33"/>
                          </a:solidFill>
                          <a:latin typeface="Arial"/>
                          <a:ea typeface="BIZ UDGothic" charset="-128"/>
                          <a:cs typeface="Arial"/>
                        </a:rPr>
                        <a:t>GPR（同時推定）</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22.2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99.5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150" b="1" dirty="0">
                          <a:solidFill>
                            <a:srgbClr val="1E1C33"/>
                          </a:solidFill>
                          <a:latin typeface="Arial"/>
                          <a:ea typeface="BIZ UDGothic" charset="-128"/>
                          <a:cs typeface="Arial"/>
                        </a:rPr>
                        <a:t>GPR（Backfitting）</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62.7</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252.8</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150" b="1" dirty="0">
                          <a:solidFill>
                            <a:srgbClr val="1E1C33"/>
                          </a:solidFill>
                          <a:latin typeface="Arial"/>
                          <a:ea typeface="BIZ UDGothic" charset="-128"/>
                          <a:cs typeface="Arial"/>
                        </a:rPr>
                        <a:t>TPS</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0.7</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150" b="1" dirty="0">
                          <a:solidFill>
                            <a:srgbClr val="1E1C33"/>
                          </a:solidFill>
                          <a:latin typeface="Arial"/>
                          <a:ea typeface="BIZ UDGothic" charset="-128"/>
                          <a:cs typeface="Arial"/>
                        </a:rPr>
                        <a:t>Kriging</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26.9</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24.3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150" b="1" dirty="0">
                          <a:solidFill>
                            <a:srgbClr val="1E1C33"/>
                          </a:solidFill>
                          <a:latin typeface="Arial"/>
                          <a:ea typeface="BIZ UDGothic" charset="-128"/>
                          <a:cs typeface="Arial"/>
                        </a:rPr>
                        <a:t>Universal Kriging</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29.6</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23.5</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150" b="1" dirty="0">
                          <a:solidFill>
                            <a:srgbClr val="1E1C33"/>
                          </a:solidFill>
                          <a:latin typeface="Arial"/>
                          <a:ea typeface="BIZ UDGothic" charset="-128"/>
                          <a:cs typeface="Arial"/>
                        </a:rPr>
                        <a:t>GAM</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71.0</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70.2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150" b="1" dirty="0">
                          <a:solidFill>
                            <a:srgbClr val="1E1C33"/>
                          </a:solidFill>
                          <a:latin typeface="Arial"/>
                          <a:ea typeface="BIZ UDGothic" charset="-128"/>
                          <a:cs typeface="Arial"/>
                        </a:rPr>
                        <a:t>XY5次</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384048">
                <a:tc>
                  <a:txBody>
                    <a:bodyPr/>
                    <a:lstStyle/>
                    <a:p>
                      <a:pPr algn="l" indent="0" marL="0">
                        <a:buNone/>
                      </a:pPr>
                      <a:r>
                        <a:rPr lang="en-US" sz="1150" b="1" dirty="0">
                          <a:solidFill>
                            <a:srgbClr val="1E1C33"/>
                          </a:solidFill>
                          <a:latin typeface="Arial"/>
                          <a:ea typeface="BIZ UDGothic" charset="-128"/>
                          <a:cs typeface="Arial"/>
                        </a:rPr>
                        <a:t>RT</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0.2</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150" dirty="0">
                          <a:solidFill>
                            <a:srgbClr val="1E1C33"/>
                          </a:solidFill>
                          <a:latin typeface="Arial"/>
                          <a:ea typeface="BIZ UDGothic" charset="-128"/>
                          <a:cs typeface="Arial"/>
                        </a:rPr>
                        <a:t>0.3</a:t>
                      </a:r>
                      <a:endParaRPr lang="en-US" sz="115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8" name="Text 4"/>
          <p:cNvSpPr txBox="1"/>
          <p:nvPr/>
        </p:nvSpPr>
        <p:spPr>
          <a:xfrm>
            <a:off x="8275320" y="5349240"/>
            <a:ext cx="3367735" cy="365760"/>
          </a:xfrm>
          <a:prstGeom prst="rect">
            <a:avLst/>
          </a:prstGeom>
          <a:noFill/>
          <a:ln/>
        </p:spPr>
        <p:txBody>
          <a:bodyPr wrap="square" lIns="0" tIns="0" rIns="0" bIns="0" rtlCol="0" anchor="t"/>
          <a:lstStyle/>
          <a:p>
            <a:pPr indent="0" marL="0">
              <a:buNone/>
            </a:pPr>
            <a:r>
              <a:rPr lang="ja-JP" altLang="en-US" sz="1050" dirty="0">
                <a:solidFill>
                  <a:srgbClr val="5E6275"/>
                </a:solidFill>
                <a:latin typeface="Arial"/>
                <a:ea typeface="BIZ UDGothic" charset="-128"/>
                <a:cs typeface="Arial"/>
              </a:rPr>
              <a:t>単位：ミリ秒（1 Wafer、X・Y の合計）</a:t>
            </a:r>
            <a:endParaRPr lang="ja-JP"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04  考察とまとめ</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選び方のガイド ― 計測Shot数と目的で選ぶ</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アライメント計測値の面内推定 ― 説明変数と手法の比較</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27</a:t>
            </a:r>
            <a:endParaRPr lang="ja-JP"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77440"/>
                <a:gridCol w="2377440"/>
                <a:gridCol w="1554480"/>
                <a:gridCol w="2194560"/>
                <a:gridCol w="2590495"/>
              </a:tblGrid>
              <a:tr h="566928">
                <a:tc>
                  <a:txBody>
                    <a:bodyPr/>
                    <a:lstStyle/>
                    <a:p>
                      <a:pPr algn="ctr" indent="0" marL="0">
                        <a:buNone/>
                      </a:pPr>
                      <a:r>
                        <a:rPr lang="en-US" sz="1300" b="1" dirty="0">
                          <a:solidFill>
                            <a:srgbClr val="FFFFFF"/>
                          </a:solidFill>
                          <a:latin typeface="Arial"/>
                          <a:ea typeface="BIZ UDGothic" charset="-128"/>
                          <a:cs typeface="Arial"/>
                        </a:rPr>
                        <a:t>状況</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b="1" dirty="0">
                          <a:solidFill>
                            <a:srgbClr val="FFFFFF"/>
                          </a:solidFill>
                          <a:latin typeface="Arial"/>
                          <a:ea typeface="BIZ UDGothic" charset="-128"/>
                          <a:cs typeface="Arial"/>
                        </a:rPr>
                        <a:t>手法</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b="1" dirty="0">
                          <a:solidFill>
                            <a:srgbClr val="FFFFFF"/>
                          </a:solidFill>
                          <a:latin typeface="Arial"/>
                          <a:ea typeface="BIZ UDGothic" charset="-128"/>
                          <a:cs typeface="Arial"/>
                        </a:rPr>
                        <a:t>説明変数</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b="1" dirty="0">
                          <a:solidFill>
                            <a:srgbClr val="FFFFFF"/>
                          </a:solidFill>
                          <a:latin typeface="Arial"/>
                          <a:ea typeface="BIZ UDGothic" charset="-128"/>
                          <a:cs typeface="Arial"/>
                        </a:rPr>
                        <a:t>質的変数（Scan・Mark）</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c>
                  <a:txBody>
                    <a:bodyPr/>
                    <a:lstStyle/>
                    <a:p>
                      <a:pPr algn="ctr" indent="0" marL="0">
                        <a:buNone/>
                      </a:pPr>
                      <a:r>
                        <a:rPr lang="en-US" sz="1300" b="1" dirty="0">
                          <a:solidFill>
                            <a:srgbClr val="FFFFFF"/>
                          </a:solidFill>
                          <a:latin typeface="Arial"/>
                          <a:ea typeface="BIZ UDGothic" charset="-128"/>
                          <a:cs typeface="Arial"/>
                        </a:rPr>
                        <a:t>目安の精度</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solidFill>
                      <a:srgbClr val="2F3470"/>
                    </a:solidFill>
                  </a:tcPr>
                </a:tc>
              </a:tr>
              <a:tr h="566928">
                <a:tc>
                  <a:txBody>
                    <a:bodyPr/>
                    <a:lstStyle/>
                    <a:p>
                      <a:pPr algn="l" indent="0" marL="0">
                        <a:buNone/>
                      </a:pPr>
                      <a:r>
                        <a:rPr lang="en-US" sz="1300" b="1" dirty="0">
                          <a:solidFill>
                            <a:srgbClr val="1E1C33"/>
                          </a:solidFill>
                          <a:latin typeface="Arial"/>
                          <a:ea typeface="BIZ UDGothic" charset="-128"/>
                          <a:cs typeface="Arial"/>
                        </a:rPr>
                        <a:t>基本（15 Shot 以上）</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300" dirty="0">
                          <a:solidFill>
                            <a:srgbClr val="2A78D6"/>
                          </a:solidFill>
                          <a:latin typeface="Arial"/>
                          <a:ea typeface="BIZ UDGothic" charset="-128"/>
                          <a:cs typeface="Arial"/>
                        </a:rPr>
                        <a:t>GPR matern52</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X, Y, 半径</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同時推定（基底関数）</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RMSE 1.65 nm（20 Shot）</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66928">
                <a:tc>
                  <a:txBody>
                    <a:bodyPr/>
                    <a:lstStyle/>
                    <a:p>
                      <a:pPr algn="l" indent="0" marL="0">
                        <a:buNone/>
                      </a:pPr>
                      <a:r>
                        <a:rPr lang="en-US" sz="1300" b="1" dirty="0">
                          <a:solidFill>
                            <a:srgbClr val="1E1C33"/>
                          </a:solidFill>
                          <a:latin typeface="Arial"/>
                          <a:ea typeface="BIZ UDGothic" charset="-128"/>
                          <a:cs typeface="Arial"/>
                        </a:rPr>
                        <a:t>少ない（10 Shot 前後）</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300" dirty="0">
                          <a:solidFill>
                            <a:srgbClr val="1E1C33"/>
                          </a:solidFill>
                          <a:latin typeface="Arial"/>
                          <a:ea typeface="BIZ UDGothic" charset="-128"/>
                          <a:cs typeface="Arial"/>
                        </a:rPr>
                        <a:t>GPR（質的変数なし）か TPS</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X, Y, 半径</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入れない</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RMSE 3.78 nm（10 Shot）</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66928">
                <a:tc>
                  <a:txBody>
                    <a:bodyPr/>
                    <a:lstStyle/>
                    <a:p>
                      <a:pPr algn="l" indent="0" marL="0">
                        <a:buNone/>
                      </a:pPr>
                      <a:r>
                        <a:rPr lang="en-US" sz="1300" b="1" dirty="0">
                          <a:solidFill>
                            <a:srgbClr val="1E1C33"/>
                          </a:solidFill>
                          <a:latin typeface="Arial"/>
                          <a:ea typeface="BIZ UDGothic" charset="-128"/>
                          <a:cs typeface="Arial"/>
                        </a:rPr>
                        <a:t>GPR を使えない場合</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300" dirty="0">
                          <a:solidFill>
                            <a:srgbClr val="1E1C33"/>
                          </a:solidFill>
                          <a:latin typeface="Arial"/>
                          <a:ea typeface="BIZ UDGothic" charset="-128"/>
                          <a:cs typeface="Arial"/>
                        </a:rPr>
                        <a:t>GAM（質的変数あり）</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X, Y, 半径, T</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説明変数に追加</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RMSE 1.25 nm（40 Shot）</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r h="566928">
                <a:tc>
                  <a:txBody>
                    <a:bodyPr/>
                    <a:lstStyle/>
                    <a:p>
                      <a:pPr algn="l" indent="0" marL="0">
                        <a:buNone/>
                      </a:pPr>
                      <a:r>
                        <a:rPr lang="en-US" sz="1300" b="1" dirty="0">
                          <a:solidFill>
                            <a:srgbClr val="1E1C33"/>
                          </a:solidFill>
                          <a:latin typeface="Arial"/>
                          <a:ea typeface="BIZ UDGothic" charset="-128"/>
                          <a:cs typeface="Arial"/>
                        </a:rPr>
                        <a:t>線形の補正式が必要</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l" indent="0" marL="0">
                        <a:buNone/>
                      </a:pPr>
                      <a:r>
                        <a:rPr lang="en-US" sz="1300" dirty="0">
                          <a:solidFill>
                            <a:srgbClr val="1E1C33"/>
                          </a:solidFill>
                          <a:latin typeface="Arial"/>
                          <a:ea typeface="BIZ UDGothic" charset="-128"/>
                          <a:cs typeface="Arial"/>
                        </a:rPr>
                        <a:t>XY5次（参考）</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c>
                  <a:txBody>
                    <a:bodyPr/>
                    <a:lstStyle/>
                    <a:p>
                      <a:pPr algn="ctr" indent="0" marL="0">
                        <a:buNone/>
                      </a:pPr>
                      <a:r>
                        <a:rPr lang="en-US" sz="1300" dirty="0">
                          <a:solidFill>
                            <a:srgbClr val="1E1C33"/>
                          </a:solidFill>
                          <a:latin typeface="Arial"/>
                          <a:ea typeface="BIZ UDGothic" charset="-128"/>
                          <a:cs typeface="Arial"/>
                        </a:rPr>
                        <a:t>RMSE 3.25 nm（40 Shot）</a:t>
                      </a:r>
                      <a:endParaRPr lang="en-US" sz="1300" dirty="0">
                        <a:latin typeface="Arial"/>
                        <a:ea typeface="BIZ UDGothic" charset="-128"/>
                        <a:cs typeface="Arial"/>
                      </a:endParaRPr>
                    </a:p>
                  </a:txBody>
                  <a:tcPr marL="91440" marR="91440" marT="36576" marB="36576" anchor="ctr">
                    <a:lnL w="9525" cap="flat" cmpd="sng" algn="ctr">
                      <a:solidFill>
                        <a:srgbClr val="E4E6EF"/>
                      </a:solidFill>
                      <a:prstDash val="solid"/>
                      <a:round/>
                      <a:headEnd type="none" w="med" len="med"/>
                      <a:tailEnd type="none" w="med" len="med"/>
                    </a:lnL>
                    <a:lnR w="9525" cap="flat" cmpd="sng" algn="ctr">
                      <a:solidFill>
                        <a:srgbClr val="E4E6EF"/>
                      </a:solidFill>
                      <a:prstDash val="solid"/>
                      <a:round/>
                      <a:headEnd type="none" w="med" len="med"/>
                      <a:tailEnd type="none" w="med" len="med"/>
                    </a:lnR>
                    <a:lnT w="9525" cap="flat" cmpd="sng" algn="ctr">
                      <a:solidFill>
                        <a:srgbClr val="E4E6EF"/>
                      </a:solidFill>
                      <a:prstDash val="solid"/>
                      <a:round/>
                      <a:headEnd type="none" w="med" len="med"/>
                      <a:tailEnd type="none" w="med" len="med"/>
                    </a:lnT>
                    <a:lnB w="9525" cap="flat" cmpd="sng" algn="ctr">
                      <a:solidFill>
                        <a:srgbClr val="E4E6EF"/>
                      </a:solidFill>
                      <a:prstDash val="solid"/>
                      <a:round/>
                      <a:headEnd type="none" w="med" len="med"/>
                      <a:tailEnd type="none" w="med" len="med"/>
                    </a:lnB>
                  </a:tcPr>
                </a:tc>
              </a:tr>
            </a:tbl>
          </a:graphicData>
        </a:graphic>
      </p:graphicFrame>
      <p:sp>
        <p:nvSpPr>
          <p:cNvPr id="7" name="Text 4"/>
          <p:cNvSpPr txBox="1"/>
          <p:nvPr/>
        </p:nvSpPr>
        <p:spPr>
          <a:xfrm>
            <a:off x="548640" y="4434840"/>
            <a:ext cx="5486400" cy="320040"/>
          </a:xfrm>
          <a:prstGeom prst="rect">
            <a:avLst/>
          </a:prstGeom>
          <a:noFill/>
          <a:ln/>
        </p:spPr>
        <p:txBody>
          <a:bodyPr wrap="square" lIns="0" tIns="0" rIns="0" bIns="0" rtlCol="0" anchor="t"/>
          <a:lstStyle/>
          <a:p>
            <a:pPr indent="0" marL="0">
              <a:buNone/>
            </a:pPr>
            <a:r>
              <a:rPr lang="ja-JP" altLang="en-US" sz="1400" b="1" dirty="0">
                <a:solidFill>
                  <a:srgbClr val="C2413B"/>
                </a:solidFill>
                <a:latin typeface="Arial"/>
                <a:ea typeface="BIZ UDGothic" charset="-128"/>
                <a:cs typeface="Arial"/>
              </a:rPr>
              <a:t>選ばなくてよいもの</a:t>
            </a:r>
            <a:endParaRPr lang="ja-JP" sz="1400" dirty="0"/>
          </a:p>
        </p:txBody>
      </p:sp>
      <p:sp>
        <p:nvSpPr>
          <p:cNvPr id="8" name="Shape 5"/>
          <p:cNvSpPr/>
          <p:nvPr/>
        </p:nvSpPr>
        <p:spPr>
          <a:xfrm>
            <a:off x="548640" y="4846320"/>
            <a:ext cx="3515258" cy="1371600"/>
          </a:xfrm>
          <a:prstGeom prst="roundRect">
            <a:avLst>
              <a:gd name="adj" fmla="val 6667"/>
            </a:avLst>
          </a:prstGeom>
          <a:solidFill>
            <a:srgbClr val="F2F3F7"/>
          </a:solidFill>
          <a:ln w="6350">
            <a:solidFill>
              <a:srgbClr val="F2F3F7"/>
            </a:solidFill>
            <a:prstDash val="solid"/>
          </a:ln>
        </p:spPr>
      </p:sp>
      <p:sp>
        <p:nvSpPr>
          <p:cNvPr id="9" name="Text 6"/>
          <p:cNvSpPr txBox="1"/>
          <p:nvPr/>
        </p:nvSpPr>
        <p:spPr>
          <a:xfrm>
            <a:off x="777240" y="4956048"/>
            <a:ext cx="3058058" cy="411480"/>
          </a:xfrm>
          <a:prstGeom prst="rect">
            <a:avLst/>
          </a:prstGeom>
          <a:noFill/>
          <a:ln/>
        </p:spPr>
        <p:txBody>
          <a:bodyPr wrap="square" lIns="0" tIns="0" rIns="0" bIns="0" rtlCol="0" anchor="t"/>
          <a:lstStyle/>
          <a:p>
            <a:pPr indent="0" marL="0">
              <a:buNone/>
            </a:pPr>
            <a:r>
              <a:rPr lang="ja-JP" altLang="en-US" sz="1400" b="1" dirty="0">
                <a:solidFill>
                  <a:srgbClr val="1E1C33"/>
                </a:solidFill>
                <a:latin typeface="Arial"/>
                <a:ea typeface="BIZ UDGothic" charset="-128"/>
                <a:cs typeface="Arial"/>
              </a:rPr>
              <a:t>T（方位角）を加える</a:t>
            </a:r>
            <a:endParaRPr lang="ja-JP" sz="1400" dirty="0"/>
          </a:p>
        </p:txBody>
      </p:sp>
      <p:sp>
        <p:nvSpPr>
          <p:cNvPr id="10" name="Text 7"/>
          <p:cNvSpPr txBox="1"/>
          <p:nvPr/>
        </p:nvSpPr>
        <p:spPr>
          <a:xfrm>
            <a:off x="777240" y="5394960"/>
            <a:ext cx="3058058" cy="731520"/>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ARD では多くが無視され、等方カーネル・TPS・Kriging では悪化</a:t>
            </a:r>
            <a:endParaRPr lang="ja-JP" sz="1250" dirty="0"/>
          </a:p>
        </p:txBody>
      </p:sp>
      <p:sp>
        <p:nvSpPr>
          <p:cNvPr id="11" name="Shape 8"/>
          <p:cNvSpPr/>
          <p:nvPr/>
        </p:nvSpPr>
        <p:spPr>
          <a:xfrm>
            <a:off x="4338218" y="4846320"/>
            <a:ext cx="3515258" cy="1371600"/>
          </a:xfrm>
          <a:prstGeom prst="roundRect">
            <a:avLst>
              <a:gd name="adj" fmla="val 6667"/>
            </a:avLst>
          </a:prstGeom>
          <a:solidFill>
            <a:srgbClr val="F2F3F7"/>
          </a:solidFill>
          <a:ln w="6350">
            <a:solidFill>
              <a:srgbClr val="F2F3F7"/>
            </a:solidFill>
            <a:prstDash val="solid"/>
          </a:ln>
        </p:spPr>
      </p:sp>
      <p:sp>
        <p:nvSpPr>
          <p:cNvPr id="12" name="Text 9"/>
          <p:cNvSpPr txBox="1"/>
          <p:nvPr/>
        </p:nvSpPr>
        <p:spPr>
          <a:xfrm>
            <a:off x="4566818" y="4956048"/>
            <a:ext cx="3058058" cy="411480"/>
          </a:xfrm>
          <a:prstGeom prst="rect">
            <a:avLst/>
          </a:prstGeom>
          <a:noFill/>
          <a:ln/>
        </p:spPr>
        <p:txBody>
          <a:bodyPr wrap="square" lIns="0" tIns="0" rIns="0" bIns="0" rtlCol="0" anchor="t"/>
          <a:lstStyle/>
          <a:p>
            <a:pPr indent="0" marL="0">
              <a:buNone/>
            </a:pPr>
            <a:r>
              <a:rPr lang="ja-JP" altLang="en-US" sz="1400" b="1" dirty="0">
                <a:solidFill>
                  <a:srgbClr val="1E1C33"/>
                </a:solidFill>
                <a:latin typeface="Arial"/>
                <a:ea typeface="BIZ UDGothic" charset="-128"/>
                <a:cs typeface="Arial"/>
              </a:rPr>
              <a:t>Backfitting を別に実装する</a:t>
            </a:r>
            <a:endParaRPr lang="ja-JP" sz="1400" dirty="0"/>
          </a:p>
        </p:txBody>
      </p:sp>
      <p:sp>
        <p:nvSpPr>
          <p:cNvPr id="13" name="Text 10"/>
          <p:cNvSpPr txBox="1"/>
          <p:nvPr/>
        </p:nvSpPr>
        <p:spPr>
          <a:xfrm>
            <a:off x="4566818" y="5394960"/>
            <a:ext cx="3058058" cy="731520"/>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同時推定と同じ解。計算は約 2.5 倍（40 Shot）</a:t>
            </a:r>
            <a:endParaRPr lang="ja-JP" sz="1250" dirty="0"/>
          </a:p>
        </p:txBody>
      </p:sp>
      <p:sp>
        <p:nvSpPr>
          <p:cNvPr id="14" name="Shape 11"/>
          <p:cNvSpPr/>
          <p:nvPr/>
        </p:nvSpPr>
        <p:spPr>
          <a:xfrm>
            <a:off x="8127797" y="4846320"/>
            <a:ext cx="3515258" cy="1371600"/>
          </a:xfrm>
          <a:prstGeom prst="roundRect">
            <a:avLst>
              <a:gd name="adj" fmla="val 6667"/>
            </a:avLst>
          </a:prstGeom>
          <a:solidFill>
            <a:srgbClr val="F2F3F7"/>
          </a:solidFill>
          <a:ln w="6350">
            <a:solidFill>
              <a:srgbClr val="F2F3F7"/>
            </a:solidFill>
            <a:prstDash val="solid"/>
          </a:ln>
        </p:spPr>
      </p:sp>
      <p:sp>
        <p:nvSpPr>
          <p:cNvPr id="15" name="Text 12"/>
          <p:cNvSpPr txBox="1"/>
          <p:nvPr/>
        </p:nvSpPr>
        <p:spPr>
          <a:xfrm>
            <a:off x="8356397" y="4956048"/>
            <a:ext cx="3058058" cy="411480"/>
          </a:xfrm>
          <a:prstGeom prst="rect">
            <a:avLst/>
          </a:prstGeom>
          <a:noFill/>
          <a:ln/>
        </p:spPr>
        <p:txBody>
          <a:bodyPr wrap="square" lIns="0" tIns="0" rIns="0" bIns="0" rtlCol="0" anchor="t"/>
          <a:lstStyle/>
          <a:p>
            <a:pPr indent="0" marL="0">
              <a:buNone/>
            </a:pPr>
            <a:r>
              <a:rPr lang="ja-JP" altLang="en-US" sz="1400" b="1" dirty="0">
                <a:solidFill>
                  <a:srgbClr val="1E1C33"/>
                </a:solidFill>
                <a:latin typeface="Arial"/>
                <a:ea typeface="BIZ UDGothic" charset="-128"/>
                <a:cs typeface="Arial"/>
              </a:rPr>
              <a:t>Kriging（PyKrige 既定の当てはめ）</a:t>
            </a:r>
            <a:endParaRPr lang="ja-JP" sz="1400" dirty="0"/>
          </a:p>
        </p:txBody>
      </p:sp>
      <p:sp>
        <p:nvSpPr>
          <p:cNvPr id="16" name="Text 13"/>
          <p:cNvSpPr txBox="1"/>
          <p:nvPr/>
        </p:nvSpPr>
        <p:spPr>
          <a:xfrm>
            <a:off x="8356397" y="5394960"/>
            <a:ext cx="3058058" cy="731520"/>
          </a:xfrm>
          <a:prstGeom prst="rect">
            <a:avLst/>
          </a:prstGeom>
          <a:noFill/>
          <a:ln/>
        </p:spPr>
        <p:txBody>
          <a:bodyPr wrap="square" lIns="0" tIns="0" rIns="0" bIns="0" rtlCol="0" anchor="t"/>
          <a:lstStyle/>
          <a:p>
            <a:pPr indent="0" marL="0">
              <a:buNone/>
            </a:pPr>
            <a:r>
              <a:rPr lang="ja-JP" altLang="en-US" sz="1250" dirty="0">
                <a:solidFill>
                  <a:srgbClr val="5E6275"/>
                </a:solidFill>
                <a:latin typeface="Arial"/>
                <a:ea typeface="BIZ UDGothic" charset="-128"/>
                <a:cs typeface="Arial"/>
              </a:rPr>
              <a:t>ナゲットを過大に推定して平らになりすぎる</a:t>
            </a:r>
            <a:endParaRPr lang="ja-JP"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04  考察とまとめ</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前提と限界 ― 模擬データの仮定と、次に確かめること</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アライメント計測値の面内推定 ― 説明変数と手法の比較</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28</a:t>
            </a:r>
            <a:endParaRPr lang="ja-JP" sz="1000" dirty="0"/>
          </a:p>
        </p:txBody>
      </p:sp>
      <p:sp>
        <p:nvSpPr>
          <p:cNvPr id="6" name="Shape 4"/>
          <p:cNvSpPr/>
          <p:nvPr/>
        </p:nvSpPr>
        <p:spPr>
          <a:xfrm>
            <a:off x="548640" y="1463040"/>
            <a:ext cx="5387188" cy="4754880"/>
          </a:xfrm>
          <a:prstGeom prst="roundRect">
            <a:avLst>
              <a:gd name="adj" fmla="val 1923"/>
            </a:avLst>
          </a:prstGeom>
          <a:solidFill>
            <a:srgbClr val="F2F3F7"/>
          </a:solidFill>
          <a:ln w="6350">
            <a:solidFill>
              <a:srgbClr val="F2F3F7"/>
            </a:solidFill>
            <a:prstDash val="solid"/>
          </a:ln>
        </p:spPr>
      </p:sp>
      <p:sp>
        <p:nvSpPr>
          <p:cNvPr id="7" name="Text 5"/>
          <p:cNvSpPr txBox="1"/>
          <p:nvPr/>
        </p:nvSpPr>
        <p:spPr>
          <a:xfrm>
            <a:off x="822960" y="1600200"/>
            <a:ext cx="4838548" cy="411480"/>
          </a:xfrm>
          <a:prstGeom prst="rect">
            <a:avLst/>
          </a:prstGeom>
          <a:noFill/>
          <a:ln/>
        </p:spPr>
        <p:txBody>
          <a:bodyPr wrap="square" lIns="0" tIns="0" rIns="0" bIns="0" rtlCol="0" anchor="t"/>
          <a:lstStyle/>
          <a:p>
            <a:pPr indent="0" marL="0">
              <a:buNone/>
            </a:pPr>
            <a:r>
              <a:rPr lang="ja-JP" altLang="en-US" sz="1700" b="1" dirty="0">
                <a:solidFill>
                  <a:srgbClr val="C2413B"/>
                </a:solidFill>
                <a:latin typeface="Arial"/>
                <a:ea typeface="BIZ UDGothic" charset="-128"/>
                <a:cs typeface="Arial"/>
              </a:rPr>
              <a:t>前提と限界</a:t>
            </a:r>
            <a:endParaRPr lang="ja-JP" sz="1700" dirty="0"/>
          </a:p>
        </p:txBody>
      </p:sp>
      <p:sp>
        <p:nvSpPr>
          <p:cNvPr id="8" name="Text 6"/>
          <p:cNvSpPr txBox="1"/>
          <p:nvPr/>
        </p:nvSpPr>
        <p:spPr>
          <a:xfrm>
            <a:off x="822960" y="2148840"/>
            <a:ext cx="4838548" cy="3931920"/>
          </a:xfrm>
          <a:prstGeom prst="rect">
            <a:avLst/>
          </a:prstGeom>
          <a:noFill/>
          <a:ln/>
        </p:spPr>
        <p:txBody>
          <a:bodyPr wrap="square" lIns="0" tIns="0" rIns="0" bIns="0" rtlCol="0" anchor="t"/>
          <a:lstStyle/>
          <a:p>
            <a:pPr marL="203200" indent="-203200">
              <a:spcAft>
                <a:spcPts val="1400"/>
              </a:spcAft>
              <a:buSzPct val="100000"/>
              <a:buChar char="•"/>
            </a:pPr>
            <a:r>
              <a:rPr lang="ja-JP" altLang="en-US" sz="1400" dirty="0">
                <a:solidFill>
                  <a:srgbClr val="1E1C33"/>
                </a:solidFill>
                <a:latin typeface="Arial"/>
                <a:ea typeface="BIZ UDGothic" charset="-128"/>
                <a:cs typeface="Arial"/>
              </a:rPr>
              <a:t>模擬データの成分の大きさ（係数の減衰、Mark Offset、Scan 差、ノイズの広がり）は仮定値</a:t>
            </a:r>
            <a:endParaRPr lang="ja-JP" sz="1400" dirty="0"/>
          </a:p>
          <a:p>
            <a:pPr marL="203200" indent="-203200">
              <a:spcAft>
                <a:spcPts val="1400"/>
              </a:spcAft>
              <a:buSzPct val="100000"/>
              <a:buChar char="•"/>
            </a:pPr>
            <a:r>
              <a:rPr lang="ja-JP" altLang="en-US" sz="1400" dirty="0">
                <a:solidFill>
                  <a:srgbClr val="1E1C33"/>
                </a:solidFill>
                <a:latin typeface="Arial"/>
                <a:ea typeface="BIZ UDGothic" charset="-128"/>
                <a:cs typeface="Arial"/>
              </a:rPr>
              <a:t>Scan 差は Mark によらない一定値。Scan 方向 × Mark 番号の交互作用は含めていない</a:t>
            </a:r>
            <a:endParaRPr lang="ja-JP" sz="1400" dirty="0"/>
          </a:p>
          <a:p>
            <a:pPr marL="203200" indent="-203200">
              <a:spcAft>
                <a:spcPts val="1400"/>
              </a:spcAft>
              <a:buSzPct val="100000"/>
              <a:buChar char="•"/>
            </a:pPr>
            <a:r>
              <a:rPr lang="ja-JP" altLang="en-US" sz="1400" dirty="0">
                <a:solidFill>
                  <a:srgbClr val="1E1C33"/>
                </a:solidFill>
                <a:latin typeface="Arial"/>
                <a:ea typeface="BIZ UDGothic" charset="-128"/>
                <a:cs typeface="Arial"/>
              </a:rPr>
              <a:t>欠けた Shot、Wafer 端だけの急な変化、外れ値は含めていない</a:t>
            </a:r>
            <a:endParaRPr lang="ja-JP" sz="1400" dirty="0"/>
          </a:p>
          <a:p>
            <a:pPr marL="203200" indent="-203200">
              <a:spcAft>
                <a:spcPts val="1400"/>
              </a:spcAft>
              <a:buSzPct val="100000"/>
              <a:buChar char="•"/>
            </a:pPr>
            <a:r>
              <a:rPr lang="ja-JP" altLang="en-US" sz="1400" dirty="0">
                <a:solidFill>
                  <a:srgbClr val="1E1C33"/>
                </a:solidFill>
                <a:latin typeface="Arial"/>
                <a:ea typeface="BIZ UDGothic" charset="-128"/>
                <a:cs typeface="Arial"/>
              </a:rPr>
              <a:t>計画は XY5 基準の I 最適（GPR にとっての最適配置ではない）</a:t>
            </a:r>
            <a:endParaRPr lang="ja-JP" sz="1400" dirty="0"/>
          </a:p>
          <a:p>
            <a:pPr marL="203200" indent="-203200">
              <a:spcAft>
                <a:spcPts val="1400"/>
              </a:spcAft>
              <a:buSzPct val="100000"/>
              <a:buChar char="•"/>
            </a:pPr>
            <a:r>
              <a:rPr lang="ja-JP" altLang="en-US" sz="1400" dirty="0">
                <a:solidFill>
                  <a:srgbClr val="1E1C33"/>
                </a:solidFill>
                <a:latin typeface="Arial"/>
                <a:ea typeface="BIZ UDGothic" charset="-128"/>
                <a:cs typeface="Arial"/>
              </a:rPr>
              <a:t>評価は真値との比較。実データでは真値がなく、交差検証での評価が必要</a:t>
            </a:r>
            <a:endParaRPr lang="ja-JP" sz="1400" dirty="0"/>
          </a:p>
        </p:txBody>
      </p:sp>
      <p:sp>
        <p:nvSpPr>
          <p:cNvPr id="9" name="Shape 7"/>
          <p:cNvSpPr/>
          <p:nvPr/>
        </p:nvSpPr>
        <p:spPr>
          <a:xfrm>
            <a:off x="6255868" y="1463040"/>
            <a:ext cx="5387188" cy="4754880"/>
          </a:xfrm>
          <a:prstGeom prst="roundRect">
            <a:avLst>
              <a:gd name="adj" fmla="val 1923"/>
            </a:avLst>
          </a:prstGeom>
          <a:solidFill>
            <a:srgbClr val="EEEFF7"/>
          </a:solidFill>
          <a:ln w="6350">
            <a:solidFill>
              <a:srgbClr val="EEEFF7"/>
            </a:solidFill>
            <a:prstDash val="solid"/>
          </a:ln>
        </p:spPr>
      </p:sp>
      <p:sp>
        <p:nvSpPr>
          <p:cNvPr id="10" name="Text 8"/>
          <p:cNvSpPr txBox="1"/>
          <p:nvPr/>
        </p:nvSpPr>
        <p:spPr>
          <a:xfrm>
            <a:off x="6530188" y="1600200"/>
            <a:ext cx="4838548" cy="411480"/>
          </a:xfrm>
          <a:prstGeom prst="rect">
            <a:avLst/>
          </a:prstGeom>
          <a:noFill/>
          <a:ln/>
        </p:spPr>
        <p:txBody>
          <a:bodyPr wrap="square" lIns="0" tIns="0" rIns="0" bIns="0" rtlCol="0" anchor="t"/>
          <a:lstStyle/>
          <a:p>
            <a:pPr indent="0" marL="0">
              <a:buNone/>
            </a:pPr>
            <a:r>
              <a:rPr lang="ja-JP" altLang="en-US" sz="1700" b="1" dirty="0">
                <a:solidFill>
                  <a:srgbClr val="2F3470"/>
                </a:solidFill>
                <a:latin typeface="Arial"/>
                <a:ea typeface="BIZ UDGothic" charset="-128"/>
                <a:cs typeface="Arial"/>
              </a:rPr>
              <a:t>次に確かめること</a:t>
            </a:r>
            <a:endParaRPr lang="ja-JP" sz="1700" dirty="0"/>
          </a:p>
        </p:txBody>
      </p:sp>
      <p:sp>
        <p:nvSpPr>
          <p:cNvPr id="11" name="Shape 9"/>
          <p:cNvSpPr/>
          <p:nvPr/>
        </p:nvSpPr>
        <p:spPr>
          <a:xfrm>
            <a:off x="6557620" y="2221992"/>
            <a:ext cx="402336" cy="402336"/>
          </a:xfrm>
          <a:prstGeom prst="ellipse">
            <a:avLst/>
          </a:prstGeom>
          <a:solidFill>
            <a:srgbClr val="2F3470"/>
          </a:solidFill>
          <a:ln w="6350">
            <a:solidFill>
              <a:srgbClr val="2F3470"/>
            </a:solidFill>
            <a:prstDash val="solid"/>
          </a:ln>
        </p:spPr>
      </p:sp>
      <p:sp>
        <p:nvSpPr>
          <p:cNvPr id="12" name="Text 10"/>
          <p:cNvSpPr txBox="1"/>
          <p:nvPr/>
        </p:nvSpPr>
        <p:spPr>
          <a:xfrm>
            <a:off x="6557620" y="2221992"/>
            <a:ext cx="402336" cy="402336"/>
          </a:xfrm>
          <a:prstGeom prst="rect">
            <a:avLst/>
          </a:prstGeom>
          <a:noFill/>
          <a:ln/>
        </p:spPr>
        <p:txBody>
          <a:bodyPr wrap="square" lIns="0" tIns="0" rIns="0" bIns="0" rtlCol="0" anchor="ctr"/>
          <a:lstStyle/>
          <a:p>
            <a:pPr algn="ctr" indent="0" marL="0">
              <a:buNone/>
            </a:pPr>
            <a:r>
              <a:rPr lang="ja-JP" altLang="en-US" sz="1300" b="1" dirty="0">
                <a:solidFill>
                  <a:srgbClr val="FFFFFF"/>
                </a:solidFill>
                <a:latin typeface="Arial"/>
                <a:ea typeface="BIZ UDGothic" charset="-128"/>
                <a:cs typeface="Arial"/>
              </a:rPr>
              <a:t>1</a:t>
            </a:r>
            <a:endParaRPr lang="ja-JP" sz="1300" dirty="0"/>
          </a:p>
        </p:txBody>
      </p:sp>
      <p:sp>
        <p:nvSpPr>
          <p:cNvPr id="13" name="Text 11"/>
          <p:cNvSpPr txBox="1"/>
          <p:nvPr/>
        </p:nvSpPr>
        <p:spPr>
          <a:xfrm>
            <a:off x="7124548" y="2148840"/>
            <a:ext cx="4244188" cy="603504"/>
          </a:xfrm>
          <a:prstGeom prst="rect">
            <a:avLst/>
          </a:prstGeom>
          <a:noFill/>
          <a:ln/>
        </p:spPr>
        <p:txBody>
          <a:bodyPr wrap="square" lIns="0" tIns="0" rIns="0" bIns="0" rtlCol="0" anchor="ctr"/>
          <a:lstStyle/>
          <a:p>
            <a:pPr indent="0" marL="0">
              <a:buNone/>
            </a:pPr>
            <a:r>
              <a:rPr lang="ja-JP" altLang="en-US" sz="1350" dirty="0">
                <a:solidFill>
                  <a:srgbClr val="1E1C33"/>
                </a:solidFill>
                <a:latin typeface="Arial"/>
                <a:ea typeface="BIZ UDGothic" charset="-128"/>
                <a:cs typeface="Arial"/>
              </a:rPr>
              <a:t>実データ（複数ロット）で同じ比較をし、成分の大きさを推定する</a:t>
            </a:r>
            <a:endParaRPr lang="ja-JP" sz="1350" dirty="0"/>
          </a:p>
        </p:txBody>
      </p:sp>
      <p:sp>
        <p:nvSpPr>
          <p:cNvPr id="14" name="Shape 12"/>
          <p:cNvSpPr/>
          <p:nvPr/>
        </p:nvSpPr>
        <p:spPr>
          <a:xfrm>
            <a:off x="6557620" y="3008376"/>
            <a:ext cx="402336" cy="402336"/>
          </a:xfrm>
          <a:prstGeom prst="ellipse">
            <a:avLst/>
          </a:prstGeom>
          <a:solidFill>
            <a:srgbClr val="2F3470"/>
          </a:solidFill>
          <a:ln w="6350">
            <a:solidFill>
              <a:srgbClr val="2F3470"/>
            </a:solidFill>
            <a:prstDash val="solid"/>
          </a:ln>
        </p:spPr>
      </p:sp>
      <p:sp>
        <p:nvSpPr>
          <p:cNvPr id="15" name="Text 13"/>
          <p:cNvSpPr txBox="1"/>
          <p:nvPr/>
        </p:nvSpPr>
        <p:spPr>
          <a:xfrm>
            <a:off x="6557620" y="3008376"/>
            <a:ext cx="402336" cy="402336"/>
          </a:xfrm>
          <a:prstGeom prst="rect">
            <a:avLst/>
          </a:prstGeom>
          <a:noFill/>
          <a:ln/>
        </p:spPr>
        <p:txBody>
          <a:bodyPr wrap="square" lIns="0" tIns="0" rIns="0" bIns="0" rtlCol="0" anchor="ctr"/>
          <a:lstStyle/>
          <a:p>
            <a:pPr algn="ctr" indent="0" marL="0">
              <a:buNone/>
            </a:pPr>
            <a:r>
              <a:rPr lang="ja-JP" altLang="en-US" sz="1300" b="1" dirty="0">
                <a:solidFill>
                  <a:srgbClr val="FFFFFF"/>
                </a:solidFill>
                <a:latin typeface="Arial"/>
                <a:ea typeface="BIZ UDGothic" charset="-128"/>
                <a:cs typeface="Arial"/>
              </a:rPr>
              <a:t>2</a:t>
            </a:r>
            <a:endParaRPr lang="ja-JP" sz="1300" dirty="0"/>
          </a:p>
        </p:txBody>
      </p:sp>
      <p:sp>
        <p:nvSpPr>
          <p:cNvPr id="16" name="Text 14"/>
          <p:cNvSpPr txBox="1"/>
          <p:nvPr/>
        </p:nvSpPr>
        <p:spPr>
          <a:xfrm>
            <a:off x="7124548" y="2935224"/>
            <a:ext cx="4244188" cy="603504"/>
          </a:xfrm>
          <a:prstGeom prst="rect">
            <a:avLst/>
          </a:prstGeom>
          <a:noFill/>
          <a:ln/>
        </p:spPr>
        <p:txBody>
          <a:bodyPr wrap="square" lIns="0" tIns="0" rIns="0" bIns="0" rtlCol="0" anchor="ctr"/>
          <a:lstStyle/>
          <a:p>
            <a:pPr indent="0" marL="0">
              <a:buNone/>
            </a:pPr>
            <a:r>
              <a:rPr lang="ja-JP" altLang="en-US" sz="1350" dirty="0">
                <a:solidFill>
                  <a:srgbClr val="1E1C33"/>
                </a:solidFill>
                <a:latin typeface="Arial"/>
                <a:ea typeface="BIZ UDGothic" charset="-128"/>
                <a:cs typeface="Arial"/>
              </a:rPr>
              <a:t>Scan 方向 × Mark 番号の交互作用を質的変数に加える</a:t>
            </a:r>
            <a:endParaRPr lang="ja-JP" sz="1350" dirty="0"/>
          </a:p>
        </p:txBody>
      </p:sp>
      <p:sp>
        <p:nvSpPr>
          <p:cNvPr id="17" name="Shape 15"/>
          <p:cNvSpPr/>
          <p:nvPr/>
        </p:nvSpPr>
        <p:spPr>
          <a:xfrm>
            <a:off x="6557620" y="3794760"/>
            <a:ext cx="402336" cy="402336"/>
          </a:xfrm>
          <a:prstGeom prst="ellipse">
            <a:avLst/>
          </a:prstGeom>
          <a:solidFill>
            <a:srgbClr val="2F3470"/>
          </a:solidFill>
          <a:ln w="6350">
            <a:solidFill>
              <a:srgbClr val="2F3470"/>
            </a:solidFill>
            <a:prstDash val="solid"/>
          </a:ln>
        </p:spPr>
      </p:sp>
      <p:sp>
        <p:nvSpPr>
          <p:cNvPr id="18" name="Text 16"/>
          <p:cNvSpPr txBox="1"/>
          <p:nvPr/>
        </p:nvSpPr>
        <p:spPr>
          <a:xfrm>
            <a:off x="6557620" y="3794760"/>
            <a:ext cx="402336" cy="402336"/>
          </a:xfrm>
          <a:prstGeom prst="rect">
            <a:avLst/>
          </a:prstGeom>
          <a:noFill/>
          <a:ln/>
        </p:spPr>
        <p:txBody>
          <a:bodyPr wrap="square" lIns="0" tIns="0" rIns="0" bIns="0" rtlCol="0" anchor="ctr"/>
          <a:lstStyle/>
          <a:p>
            <a:pPr algn="ctr" indent="0" marL="0">
              <a:buNone/>
            </a:pPr>
            <a:r>
              <a:rPr lang="ja-JP" altLang="en-US" sz="1300" b="1" dirty="0">
                <a:solidFill>
                  <a:srgbClr val="FFFFFF"/>
                </a:solidFill>
                <a:latin typeface="Arial"/>
                <a:ea typeface="BIZ UDGothic" charset="-128"/>
                <a:cs typeface="Arial"/>
              </a:rPr>
              <a:t>3</a:t>
            </a:r>
            <a:endParaRPr lang="ja-JP" sz="1300" dirty="0"/>
          </a:p>
        </p:txBody>
      </p:sp>
      <p:sp>
        <p:nvSpPr>
          <p:cNvPr id="19" name="Text 17"/>
          <p:cNvSpPr txBox="1"/>
          <p:nvPr/>
        </p:nvSpPr>
        <p:spPr>
          <a:xfrm>
            <a:off x="7124548" y="3721608"/>
            <a:ext cx="4244188" cy="603504"/>
          </a:xfrm>
          <a:prstGeom prst="rect">
            <a:avLst/>
          </a:prstGeom>
          <a:noFill/>
          <a:ln/>
        </p:spPr>
        <p:txBody>
          <a:bodyPr wrap="square" lIns="0" tIns="0" rIns="0" bIns="0" rtlCol="0" anchor="ctr"/>
          <a:lstStyle/>
          <a:p>
            <a:pPr indent="0" marL="0">
              <a:buNone/>
            </a:pPr>
            <a:r>
              <a:rPr lang="ja-JP" altLang="en-US" sz="1350" dirty="0">
                <a:solidFill>
                  <a:srgbClr val="1E1C33"/>
                </a:solidFill>
                <a:latin typeface="Arial"/>
                <a:ea typeface="BIZ UDGothic" charset="-128"/>
                <a:cs typeface="Arial"/>
              </a:rPr>
              <a:t>外周の計測誤差を重み（不均一なノイズ）として GPR に入れる</a:t>
            </a:r>
            <a:endParaRPr lang="ja-JP" sz="1350" dirty="0"/>
          </a:p>
        </p:txBody>
      </p:sp>
      <p:sp>
        <p:nvSpPr>
          <p:cNvPr id="20" name="Shape 18"/>
          <p:cNvSpPr/>
          <p:nvPr/>
        </p:nvSpPr>
        <p:spPr>
          <a:xfrm>
            <a:off x="6557620" y="4581144"/>
            <a:ext cx="402336" cy="402336"/>
          </a:xfrm>
          <a:prstGeom prst="ellipse">
            <a:avLst/>
          </a:prstGeom>
          <a:solidFill>
            <a:srgbClr val="2F3470"/>
          </a:solidFill>
          <a:ln w="6350">
            <a:solidFill>
              <a:srgbClr val="2F3470"/>
            </a:solidFill>
            <a:prstDash val="solid"/>
          </a:ln>
        </p:spPr>
      </p:sp>
      <p:sp>
        <p:nvSpPr>
          <p:cNvPr id="21" name="Text 19"/>
          <p:cNvSpPr txBox="1"/>
          <p:nvPr/>
        </p:nvSpPr>
        <p:spPr>
          <a:xfrm>
            <a:off x="6557620" y="4581144"/>
            <a:ext cx="402336" cy="402336"/>
          </a:xfrm>
          <a:prstGeom prst="rect">
            <a:avLst/>
          </a:prstGeom>
          <a:noFill/>
          <a:ln/>
        </p:spPr>
        <p:txBody>
          <a:bodyPr wrap="square" lIns="0" tIns="0" rIns="0" bIns="0" rtlCol="0" anchor="ctr"/>
          <a:lstStyle/>
          <a:p>
            <a:pPr algn="ctr" indent="0" marL="0">
              <a:buNone/>
            </a:pPr>
            <a:r>
              <a:rPr lang="ja-JP" altLang="en-US" sz="1300" b="1" dirty="0">
                <a:solidFill>
                  <a:srgbClr val="FFFFFF"/>
                </a:solidFill>
                <a:latin typeface="Arial"/>
                <a:ea typeface="BIZ UDGothic" charset="-128"/>
                <a:cs typeface="Arial"/>
              </a:rPr>
              <a:t>4</a:t>
            </a:r>
            <a:endParaRPr lang="ja-JP" sz="1300" dirty="0"/>
          </a:p>
        </p:txBody>
      </p:sp>
      <p:sp>
        <p:nvSpPr>
          <p:cNvPr id="22" name="Text 20"/>
          <p:cNvSpPr txBox="1"/>
          <p:nvPr/>
        </p:nvSpPr>
        <p:spPr>
          <a:xfrm>
            <a:off x="7124548" y="4507992"/>
            <a:ext cx="4244188" cy="603504"/>
          </a:xfrm>
          <a:prstGeom prst="rect">
            <a:avLst/>
          </a:prstGeom>
          <a:noFill/>
          <a:ln/>
        </p:spPr>
        <p:txBody>
          <a:bodyPr wrap="square" lIns="0" tIns="0" rIns="0" bIns="0" rtlCol="0" anchor="ctr"/>
          <a:lstStyle/>
          <a:p>
            <a:pPr indent="0" marL="0">
              <a:buNone/>
            </a:pPr>
            <a:r>
              <a:rPr lang="ja-JP" altLang="en-US" sz="1350" dirty="0">
                <a:solidFill>
                  <a:srgbClr val="1E1C33"/>
                </a:solidFill>
                <a:latin typeface="Arial"/>
                <a:ea typeface="BIZ UDGothic" charset="-128"/>
                <a:cs typeface="Arial"/>
              </a:rPr>
              <a:t>GPR の予測分散を使ったサンプリング計画と比べる</a:t>
            </a:r>
            <a:endParaRPr lang="ja-JP" sz="1350" dirty="0"/>
          </a:p>
        </p:txBody>
      </p:sp>
      <p:sp>
        <p:nvSpPr>
          <p:cNvPr id="23" name="Shape 21"/>
          <p:cNvSpPr/>
          <p:nvPr/>
        </p:nvSpPr>
        <p:spPr>
          <a:xfrm>
            <a:off x="6557620" y="5367528"/>
            <a:ext cx="402336" cy="402336"/>
          </a:xfrm>
          <a:prstGeom prst="ellipse">
            <a:avLst/>
          </a:prstGeom>
          <a:solidFill>
            <a:srgbClr val="2F3470"/>
          </a:solidFill>
          <a:ln w="6350">
            <a:solidFill>
              <a:srgbClr val="2F3470"/>
            </a:solidFill>
            <a:prstDash val="solid"/>
          </a:ln>
        </p:spPr>
      </p:sp>
      <p:sp>
        <p:nvSpPr>
          <p:cNvPr id="24" name="Text 22"/>
          <p:cNvSpPr txBox="1"/>
          <p:nvPr/>
        </p:nvSpPr>
        <p:spPr>
          <a:xfrm>
            <a:off x="6557620" y="5367528"/>
            <a:ext cx="402336" cy="402336"/>
          </a:xfrm>
          <a:prstGeom prst="rect">
            <a:avLst/>
          </a:prstGeom>
          <a:noFill/>
          <a:ln/>
        </p:spPr>
        <p:txBody>
          <a:bodyPr wrap="square" lIns="0" tIns="0" rIns="0" bIns="0" rtlCol="0" anchor="ctr"/>
          <a:lstStyle/>
          <a:p>
            <a:pPr algn="ctr" indent="0" marL="0">
              <a:buNone/>
            </a:pPr>
            <a:r>
              <a:rPr lang="ja-JP" altLang="en-US" sz="1300" b="1" dirty="0">
                <a:solidFill>
                  <a:srgbClr val="FFFFFF"/>
                </a:solidFill>
                <a:latin typeface="Arial"/>
                <a:ea typeface="BIZ UDGothic" charset="-128"/>
                <a:cs typeface="Arial"/>
              </a:rPr>
              <a:t>5</a:t>
            </a:r>
            <a:endParaRPr lang="ja-JP" sz="1300" dirty="0"/>
          </a:p>
        </p:txBody>
      </p:sp>
      <p:sp>
        <p:nvSpPr>
          <p:cNvPr id="25" name="Text 23"/>
          <p:cNvSpPr txBox="1"/>
          <p:nvPr/>
        </p:nvSpPr>
        <p:spPr>
          <a:xfrm>
            <a:off x="7124548" y="5294376"/>
            <a:ext cx="4244188" cy="603504"/>
          </a:xfrm>
          <a:prstGeom prst="rect">
            <a:avLst/>
          </a:prstGeom>
          <a:noFill/>
          <a:ln/>
        </p:spPr>
        <p:txBody>
          <a:bodyPr wrap="square" lIns="0" tIns="0" rIns="0" bIns="0" rtlCol="0" anchor="ctr"/>
          <a:lstStyle/>
          <a:p>
            <a:pPr indent="0" marL="0">
              <a:buNone/>
            </a:pPr>
            <a:r>
              <a:rPr lang="ja-JP" altLang="en-US" sz="1350" dirty="0">
                <a:solidFill>
                  <a:srgbClr val="1E1C33"/>
                </a:solidFill>
                <a:latin typeface="Arial"/>
                <a:ea typeface="BIZ UDGothic" charset="-128"/>
                <a:cs typeface="Arial"/>
              </a:rPr>
              <a:t>Kriging のバリオグラムを最尤法で当てはめた場合と比べる</a:t>
            </a:r>
            <a:endParaRPr lang="ja-JP"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C1B3A"/>
        </a:solidFill>
      </p:bgPr>
    </p:bg>
    <p:spTree>
      <p:nvGrpSpPr>
        <p:cNvPr id="1" name=""/>
        <p:cNvGrpSpPr/>
        <p:nvPr/>
      </p:nvGrpSpPr>
      <p:grpSpPr>
        <a:xfrm>
          <a:off x="0" y="0"/>
          <a:ext cx="0" cy="0"/>
          <a:chOff x="0" y="0"/>
          <a:chExt cx="0" cy="0"/>
        </a:xfrm>
      </p:grpSpPr>
      <p:sp>
        <p:nvSpPr>
          <p:cNvPr id="2" name="Text 0"/>
          <p:cNvSpPr txBox="1"/>
          <p:nvPr/>
        </p:nvSpPr>
        <p:spPr>
          <a:xfrm>
            <a:off x="731520" y="502920"/>
            <a:ext cx="7315200" cy="640080"/>
          </a:xfrm>
          <a:prstGeom prst="rect">
            <a:avLst/>
          </a:prstGeom>
          <a:noFill/>
          <a:ln/>
        </p:spPr>
        <p:txBody>
          <a:bodyPr wrap="square" lIns="0" tIns="0" rIns="0" bIns="0" rtlCol="0" anchor="t"/>
          <a:lstStyle/>
          <a:p>
            <a:pPr indent="0" marL="0">
              <a:buNone/>
            </a:pPr>
            <a:r>
              <a:rPr lang="ja-JP" altLang="en-US" sz="3000" b="1" dirty="0">
                <a:solidFill>
                  <a:srgbClr val="FFFFFF"/>
                </a:solidFill>
                <a:latin typeface="Arial"/>
                <a:ea typeface="BIZ UDGothic" charset="-128"/>
                <a:cs typeface="Arial"/>
              </a:rPr>
              <a:t>まとめ</a:t>
            </a:r>
            <a:endParaRPr lang="ja-JP" sz="3000" dirty="0"/>
          </a:p>
        </p:txBody>
      </p:sp>
      <p:sp>
        <p:nvSpPr>
          <p:cNvPr id="3" name="Shape 1"/>
          <p:cNvSpPr/>
          <p:nvPr/>
        </p:nvSpPr>
        <p:spPr>
          <a:xfrm>
            <a:off x="822960" y="1463040"/>
            <a:ext cx="457200" cy="457200"/>
          </a:xfrm>
          <a:prstGeom prst="ellipse">
            <a:avLst/>
          </a:prstGeom>
          <a:solidFill>
            <a:srgbClr val="2A78D6"/>
          </a:solidFill>
          <a:ln w="6350">
            <a:solidFill>
              <a:srgbClr val="2A78D6"/>
            </a:solidFill>
            <a:prstDash val="solid"/>
          </a:ln>
        </p:spPr>
      </p:sp>
      <p:sp>
        <p:nvSpPr>
          <p:cNvPr id="4" name="Text 2"/>
          <p:cNvSpPr txBox="1"/>
          <p:nvPr/>
        </p:nvSpPr>
        <p:spPr>
          <a:xfrm>
            <a:off x="822960" y="1463040"/>
            <a:ext cx="457200"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Arial"/>
                <a:ea typeface="BIZ UDGothic" charset="-128"/>
                <a:cs typeface="Arial"/>
              </a:rPr>
              <a:t>1</a:t>
            </a:r>
            <a:endParaRPr lang="ja-JP" sz="1600" dirty="0"/>
          </a:p>
        </p:txBody>
      </p:sp>
      <p:sp>
        <p:nvSpPr>
          <p:cNvPr id="5" name="Text 3"/>
          <p:cNvSpPr txBox="1"/>
          <p:nvPr/>
        </p:nvSpPr>
        <p:spPr>
          <a:xfrm>
            <a:off x="1508760" y="1280160"/>
            <a:ext cx="6217920" cy="868680"/>
          </a:xfrm>
          <a:prstGeom prst="rect">
            <a:avLst/>
          </a:prstGeom>
          <a:noFill/>
          <a:ln/>
        </p:spPr>
        <p:txBody>
          <a:bodyPr wrap="square" lIns="0" tIns="0" rIns="0" bIns="0" rtlCol="0" anchor="ctr"/>
          <a:lstStyle/>
          <a:p>
            <a:pPr indent="0" marL="0">
              <a:buNone/>
            </a:pPr>
            <a:r>
              <a:rPr lang="ja-JP" altLang="en-US" sz="1400" dirty="0">
                <a:solidFill>
                  <a:srgbClr val="FFFFFF"/>
                </a:solidFill>
                <a:latin typeface="Arial"/>
                <a:ea typeface="BIZ UDGothic" charset="-128"/>
                <a:cs typeface="Arial"/>
              </a:rPr>
              <a:t>手法：15 Shot 以上は GPR（matern52）が最良（20 Shot 1.65、40 Shot 0.77 nm）。GAM が続き、Kriging・XY5・RT は大きく劣る</a:t>
            </a:r>
            <a:endParaRPr lang="ja-JP" sz="1400" dirty="0"/>
          </a:p>
        </p:txBody>
      </p:sp>
      <p:sp>
        <p:nvSpPr>
          <p:cNvPr id="6" name="Shape 4"/>
          <p:cNvSpPr/>
          <p:nvPr/>
        </p:nvSpPr>
        <p:spPr>
          <a:xfrm>
            <a:off x="822960" y="2423160"/>
            <a:ext cx="457200" cy="457200"/>
          </a:xfrm>
          <a:prstGeom prst="ellipse">
            <a:avLst/>
          </a:prstGeom>
          <a:solidFill>
            <a:srgbClr val="EB6834"/>
          </a:solidFill>
          <a:ln w="6350">
            <a:solidFill>
              <a:srgbClr val="EB6834"/>
            </a:solidFill>
            <a:prstDash val="solid"/>
          </a:ln>
        </p:spPr>
      </p:sp>
      <p:sp>
        <p:nvSpPr>
          <p:cNvPr id="7" name="Text 5"/>
          <p:cNvSpPr txBox="1"/>
          <p:nvPr/>
        </p:nvSpPr>
        <p:spPr>
          <a:xfrm>
            <a:off x="822960" y="2423160"/>
            <a:ext cx="457200"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Arial"/>
                <a:ea typeface="BIZ UDGothic" charset="-128"/>
                <a:cs typeface="Arial"/>
              </a:rPr>
              <a:t>2</a:t>
            </a:r>
            <a:endParaRPr lang="ja-JP" sz="1600" dirty="0"/>
          </a:p>
        </p:txBody>
      </p:sp>
      <p:sp>
        <p:nvSpPr>
          <p:cNvPr id="8" name="Text 6"/>
          <p:cNvSpPr txBox="1"/>
          <p:nvPr/>
        </p:nvSpPr>
        <p:spPr>
          <a:xfrm>
            <a:off x="1508760" y="2240280"/>
            <a:ext cx="6217920" cy="868680"/>
          </a:xfrm>
          <a:prstGeom prst="rect">
            <a:avLst/>
          </a:prstGeom>
          <a:noFill/>
          <a:ln/>
        </p:spPr>
        <p:txBody>
          <a:bodyPr wrap="square" lIns="0" tIns="0" rIns="0" bIns="0" rtlCol="0" anchor="ctr"/>
          <a:lstStyle/>
          <a:p>
            <a:pPr indent="0" marL="0">
              <a:buNone/>
            </a:pPr>
            <a:r>
              <a:rPr lang="ja-JP" altLang="en-US" sz="1400" dirty="0">
                <a:solidFill>
                  <a:srgbClr val="FFFFFF"/>
                </a:solidFill>
                <a:latin typeface="Arial"/>
                <a:ea typeface="BIZ UDGothic" charset="-128"/>
                <a:cs typeface="Arial"/>
              </a:rPr>
              <a:t>説明変数：半径を足すと GPR で数%改善。T（方位角）を足すと悪化し、ARD では 80% で無視される</a:t>
            </a:r>
            <a:endParaRPr lang="ja-JP" sz="1400" dirty="0"/>
          </a:p>
        </p:txBody>
      </p:sp>
      <p:sp>
        <p:nvSpPr>
          <p:cNvPr id="9" name="Shape 7"/>
          <p:cNvSpPr/>
          <p:nvPr/>
        </p:nvSpPr>
        <p:spPr>
          <a:xfrm>
            <a:off x="822960" y="3383280"/>
            <a:ext cx="457200" cy="457200"/>
          </a:xfrm>
          <a:prstGeom prst="ellipse">
            <a:avLst/>
          </a:prstGeom>
          <a:solidFill>
            <a:srgbClr val="E87BA4"/>
          </a:solidFill>
          <a:ln w="6350">
            <a:solidFill>
              <a:srgbClr val="E87BA4"/>
            </a:solidFill>
            <a:prstDash val="solid"/>
          </a:ln>
        </p:spPr>
      </p:sp>
      <p:sp>
        <p:nvSpPr>
          <p:cNvPr id="10" name="Text 8"/>
          <p:cNvSpPr txBox="1"/>
          <p:nvPr/>
        </p:nvSpPr>
        <p:spPr>
          <a:xfrm>
            <a:off x="822960" y="3383280"/>
            <a:ext cx="457200"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Arial"/>
                <a:ea typeface="BIZ UDGothic" charset="-128"/>
                <a:cs typeface="Arial"/>
              </a:rPr>
              <a:t>3</a:t>
            </a:r>
            <a:endParaRPr lang="ja-JP" sz="1600" dirty="0"/>
          </a:p>
        </p:txBody>
      </p:sp>
      <p:sp>
        <p:nvSpPr>
          <p:cNvPr id="11" name="Text 9"/>
          <p:cNvSpPr txBox="1"/>
          <p:nvPr/>
        </p:nvSpPr>
        <p:spPr>
          <a:xfrm>
            <a:off x="1508760" y="3200400"/>
            <a:ext cx="6217920" cy="868680"/>
          </a:xfrm>
          <a:prstGeom prst="rect">
            <a:avLst/>
          </a:prstGeom>
          <a:noFill/>
          <a:ln/>
        </p:spPr>
        <p:txBody>
          <a:bodyPr wrap="square" lIns="0" tIns="0" rIns="0" bIns="0" rtlCol="0" anchor="ctr"/>
          <a:lstStyle/>
          <a:p>
            <a:pPr indent="0" marL="0">
              <a:buNone/>
            </a:pPr>
            <a:r>
              <a:rPr lang="ja-JP" altLang="en-US" sz="1400" dirty="0">
                <a:solidFill>
                  <a:srgbClr val="FFFFFF"/>
                </a:solidFill>
                <a:latin typeface="Arial"/>
                <a:ea typeface="BIZ UDGothic" charset="-128"/>
                <a:cs typeface="Arial"/>
              </a:rPr>
              <a:t>質的変数：Scan 方向・Mark 番号を入れると 40 Shot で −64%。10 Shot では +6.2% と逆効果</a:t>
            </a:r>
            <a:endParaRPr lang="ja-JP" sz="1400" dirty="0"/>
          </a:p>
        </p:txBody>
      </p:sp>
      <p:sp>
        <p:nvSpPr>
          <p:cNvPr id="12" name="Shape 10"/>
          <p:cNvSpPr/>
          <p:nvPr/>
        </p:nvSpPr>
        <p:spPr>
          <a:xfrm>
            <a:off x="822960" y="4343400"/>
            <a:ext cx="457200" cy="457200"/>
          </a:xfrm>
          <a:prstGeom prst="ellipse">
            <a:avLst/>
          </a:prstGeom>
          <a:solidFill>
            <a:srgbClr val="EB6834"/>
          </a:solidFill>
          <a:ln w="6350">
            <a:solidFill>
              <a:srgbClr val="EB6834"/>
            </a:solidFill>
            <a:prstDash val="solid"/>
          </a:ln>
        </p:spPr>
      </p:sp>
      <p:sp>
        <p:nvSpPr>
          <p:cNvPr id="13" name="Text 11"/>
          <p:cNvSpPr txBox="1"/>
          <p:nvPr/>
        </p:nvSpPr>
        <p:spPr>
          <a:xfrm>
            <a:off x="822960" y="4343400"/>
            <a:ext cx="457200"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Arial"/>
                <a:ea typeface="BIZ UDGothic" charset="-128"/>
                <a:cs typeface="Arial"/>
              </a:rPr>
              <a:t>4</a:t>
            </a:r>
            <a:endParaRPr lang="ja-JP" sz="1600" dirty="0"/>
          </a:p>
        </p:txBody>
      </p:sp>
      <p:sp>
        <p:nvSpPr>
          <p:cNvPr id="14" name="Text 12"/>
          <p:cNvSpPr txBox="1"/>
          <p:nvPr/>
        </p:nvSpPr>
        <p:spPr>
          <a:xfrm>
            <a:off x="1508760" y="4160520"/>
            <a:ext cx="6217920" cy="868680"/>
          </a:xfrm>
          <a:prstGeom prst="rect">
            <a:avLst/>
          </a:prstGeom>
          <a:noFill/>
          <a:ln/>
        </p:spPr>
        <p:txBody>
          <a:bodyPr wrap="square" lIns="0" tIns="0" rIns="0" bIns="0" rtlCol="0" anchor="ctr"/>
          <a:lstStyle/>
          <a:p>
            <a:pPr indent="0" marL="0">
              <a:buNone/>
            </a:pPr>
            <a:r>
              <a:rPr lang="ja-JP" altLang="en-US" sz="1400" dirty="0">
                <a:solidFill>
                  <a:srgbClr val="FFFFFF"/>
                </a:solidFill>
                <a:latin typeface="Arial"/>
                <a:ea typeface="BIZ UDGothic" charset="-128"/>
                <a:cs typeface="Arial"/>
              </a:rPr>
              <a:t>Backfitting：同時推定と同じ解（差 0.01 nm 未満が 91%）。同時推定で十分</a:t>
            </a:r>
            <a:endParaRPr lang="ja-JP" sz="1400" dirty="0"/>
          </a:p>
        </p:txBody>
      </p:sp>
      <p:sp>
        <p:nvSpPr>
          <p:cNvPr id="15" name="Shape 13"/>
          <p:cNvSpPr/>
          <p:nvPr/>
        </p:nvSpPr>
        <p:spPr>
          <a:xfrm>
            <a:off x="822960" y="5303520"/>
            <a:ext cx="457200" cy="457200"/>
          </a:xfrm>
          <a:prstGeom prst="ellipse">
            <a:avLst/>
          </a:prstGeom>
          <a:solidFill>
            <a:srgbClr val="1BAF7A"/>
          </a:solidFill>
          <a:ln w="6350">
            <a:solidFill>
              <a:srgbClr val="1BAF7A"/>
            </a:solidFill>
            <a:prstDash val="solid"/>
          </a:ln>
        </p:spPr>
      </p:sp>
      <p:sp>
        <p:nvSpPr>
          <p:cNvPr id="16" name="Text 14"/>
          <p:cNvSpPr txBox="1"/>
          <p:nvPr/>
        </p:nvSpPr>
        <p:spPr>
          <a:xfrm>
            <a:off x="822960" y="5303520"/>
            <a:ext cx="457200"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Arial"/>
                <a:ea typeface="BIZ UDGothic" charset="-128"/>
                <a:cs typeface="Arial"/>
              </a:rPr>
              <a:t>5</a:t>
            </a:r>
            <a:endParaRPr lang="ja-JP" sz="1600" dirty="0"/>
          </a:p>
        </p:txBody>
      </p:sp>
      <p:sp>
        <p:nvSpPr>
          <p:cNvPr id="17" name="Text 15"/>
          <p:cNvSpPr txBox="1"/>
          <p:nvPr/>
        </p:nvSpPr>
        <p:spPr>
          <a:xfrm>
            <a:off x="1508760" y="5120640"/>
            <a:ext cx="6217920" cy="868680"/>
          </a:xfrm>
          <a:prstGeom prst="rect">
            <a:avLst/>
          </a:prstGeom>
          <a:noFill/>
          <a:ln/>
        </p:spPr>
        <p:txBody>
          <a:bodyPr wrap="square" lIns="0" tIns="0" rIns="0" bIns="0" rtlCol="0" anchor="ctr"/>
          <a:lstStyle/>
          <a:p>
            <a:pPr indent="0" marL="0">
              <a:buNone/>
            </a:pPr>
            <a:r>
              <a:rPr lang="ja-JP" altLang="en-US" sz="1400" dirty="0">
                <a:solidFill>
                  <a:srgbClr val="FFFFFF"/>
                </a:solidFill>
                <a:latin typeface="Arial"/>
                <a:ea typeface="BIZ UDGothic" charset="-128"/>
                <a:cs typeface="Arial"/>
              </a:rPr>
              <a:t>指標：4指標で順位はほぼ同じ。調整済み R² は有効自由度の大きいモデルに厳しい</a:t>
            </a:r>
            <a:endParaRPr lang="ja-JP" sz="1400" dirty="0"/>
          </a:p>
        </p:txBody>
      </p:sp>
      <p:sp>
        <p:nvSpPr>
          <p:cNvPr id="18" name="Shape 16"/>
          <p:cNvSpPr/>
          <p:nvPr/>
        </p:nvSpPr>
        <p:spPr>
          <a:xfrm>
            <a:off x="8001000" y="1371600"/>
            <a:ext cx="3459175" cy="4572000"/>
          </a:xfrm>
          <a:prstGeom prst="roundRect">
            <a:avLst>
              <a:gd name="adj" fmla="val 2643"/>
            </a:avLst>
          </a:prstGeom>
          <a:solidFill>
            <a:srgbClr val="34336A"/>
          </a:solidFill>
          <a:ln w="6350">
            <a:solidFill>
              <a:srgbClr val="34336A"/>
            </a:solidFill>
            <a:prstDash val="solid"/>
          </a:ln>
        </p:spPr>
      </p:sp>
      <p:sp>
        <p:nvSpPr>
          <p:cNvPr id="19" name="Text 17"/>
          <p:cNvSpPr txBox="1"/>
          <p:nvPr/>
        </p:nvSpPr>
        <p:spPr>
          <a:xfrm>
            <a:off x="8321040" y="1554480"/>
            <a:ext cx="2819095" cy="411480"/>
          </a:xfrm>
          <a:prstGeom prst="rect">
            <a:avLst/>
          </a:prstGeom>
          <a:noFill/>
          <a:ln/>
        </p:spPr>
        <p:txBody>
          <a:bodyPr wrap="square" lIns="0" tIns="0" rIns="0" bIns="0" rtlCol="0" anchor="t"/>
          <a:lstStyle/>
          <a:p>
            <a:pPr indent="0" marL="0">
              <a:buNone/>
            </a:pPr>
            <a:r>
              <a:rPr lang="ja-JP" altLang="en-US" sz="1700" b="1" dirty="0">
                <a:solidFill>
                  <a:srgbClr val="FFFFFF"/>
                </a:solidFill>
                <a:latin typeface="Arial"/>
                <a:ea typeface="BIZ UDGothic" charset="-128"/>
                <a:cs typeface="Arial"/>
              </a:rPr>
              <a:t>推奨する設定</a:t>
            </a:r>
            <a:endParaRPr lang="ja-JP" sz="1700" dirty="0"/>
          </a:p>
        </p:txBody>
      </p:sp>
      <p:sp>
        <p:nvSpPr>
          <p:cNvPr id="20" name="Text 18"/>
          <p:cNvSpPr txBox="1"/>
          <p:nvPr/>
        </p:nvSpPr>
        <p:spPr>
          <a:xfrm>
            <a:off x="8321040" y="2103120"/>
            <a:ext cx="2819095" cy="3657600"/>
          </a:xfrm>
          <a:prstGeom prst="rect">
            <a:avLst/>
          </a:prstGeom>
          <a:noFill/>
          <a:ln/>
        </p:spPr>
        <p:txBody>
          <a:bodyPr wrap="square" lIns="0" tIns="0" rIns="0" bIns="0" rtlCol="0" anchor="t"/>
          <a:lstStyle/>
          <a:p>
            <a:pPr marL="203200" indent="-203200">
              <a:spcAft>
                <a:spcPts val="1200"/>
              </a:spcAft>
              <a:buSzPct val="100000"/>
              <a:buChar char="•"/>
            </a:pPr>
            <a:r>
              <a:rPr lang="ja-JP" altLang="en-US" sz="1400" dirty="0">
                <a:solidFill>
                  <a:srgbClr val="CDD0EA"/>
                </a:solidFill>
                <a:latin typeface="Arial"/>
                <a:ea typeface="BIZ UDGothic" charset="-128"/>
                <a:cs typeface="Arial"/>
              </a:rPr>
              <a:t>GPR（matern52）</a:t>
            </a:r>
            <a:endParaRPr lang="ja-JP" sz="1400" dirty="0"/>
          </a:p>
          <a:p>
            <a:pPr marL="203200" indent="-203200">
              <a:spcAft>
                <a:spcPts val="1200"/>
              </a:spcAft>
              <a:buSzPct val="100000"/>
              <a:buChar char="•"/>
            </a:pPr>
            <a:r>
              <a:rPr lang="ja-JP" altLang="en-US" sz="1400" dirty="0">
                <a:solidFill>
                  <a:srgbClr val="CDD0EA"/>
                </a:solidFill>
                <a:latin typeface="Arial"/>
                <a:ea typeface="BIZ UDGothic" charset="-128"/>
                <a:cs typeface="Arial"/>
              </a:rPr>
              <a:t>説明変数：X, Y, 半径</a:t>
            </a:r>
            <a:endParaRPr lang="ja-JP" sz="1400" dirty="0"/>
          </a:p>
          <a:p>
            <a:pPr marL="203200" indent="-203200">
              <a:spcAft>
                <a:spcPts val="1200"/>
              </a:spcAft>
              <a:buSzPct val="100000"/>
              <a:buChar char="•"/>
            </a:pPr>
            <a:r>
              <a:rPr lang="ja-JP" altLang="en-US" sz="1400" dirty="0">
                <a:solidFill>
                  <a:srgbClr val="CDD0EA"/>
                </a:solidFill>
                <a:latin typeface="Arial"/>
                <a:ea typeface="BIZ UDGothic" charset="-128"/>
                <a:cs typeface="Arial"/>
              </a:rPr>
              <a:t>Scan 方向・Mark 番号：基底関数で同時推定</a:t>
            </a:r>
            <a:endParaRPr lang="ja-JP" sz="1400" dirty="0"/>
          </a:p>
          <a:p>
            <a:pPr marL="203200" indent="-203200">
              <a:spcAft>
                <a:spcPts val="1200"/>
              </a:spcAft>
              <a:buSzPct val="100000"/>
              <a:buChar char="•"/>
            </a:pPr>
            <a:r>
              <a:rPr lang="ja-JP" altLang="en-US" sz="1400" dirty="0">
                <a:solidFill>
                  <a:srgbClr val="CDD0EA"/>
                </a:solidFill>
                <a:latin typeface="Arial"/>
                <a:ea typeface="BIZ UDGothic" charset="-128"/>
                <a:cs typeface="Arial"/>
              </a:rPr>
              <a:t>計測 Shot が 10 前後なら、質的変数なしの GPR か TPS</a:t>
            </a:r>
            <a:endParaRPr lang="ja-JP" sz="1400" dirty="0"/>
          </a:p>
          <a:p>
            <a:pPr marL="203200" indent="-203200">
              <a:spcAft>
                <a:spcPts val="1200"/>
              </a:spcAft>
              <a:buSzPct val="100000"/>
              <a:buChar char="•"/>
            </a:pPr>
            <a:r>
              <a:rPr lang="ja-JP" altLang="en-US" sz="1400" dirty="0">
                <a:solidFill>
                  <a:srgbClr val="CDD0EA"/>
                </a:solidFill>
                <a:latin typeface="Arial"/>
                <a:ea typeface="BIZ UDGothic" charset="-128"/>
                <a:cs typeface="Arial"/>
              </a:rPr>
              <a:t>実データで成分の大きさを確かめてから採用</a:t>
            </a:r>
            <a:endParaRPr lang="ja-JP" sz="1400" dirty="0"/>
          </a:p>
        </p:txBody>
      </p:sp>
      <p:sp>
        <p:nvSpPr>
          <p:cNvPr id="21" name="Text 19"/>
          <p:cNvSpPr txBox="1"/>
          <p:nvPr/>
        </p:nvSpPr>
        <p:spPr>
          <a:xfrm>
            <a:off x="731520" y="6419088"/>
            <a:ext cx="7315200" cy="274320"/>
          </a:xfrm>
          <a:prstGeom prst="rect">
            <a:avLst/>
          </a:prstGeom>
          <a:noFill/>
          <a:ln/>
        </p:spPr>
        <p:txBody>
          <a:bodyPr wrap="square" lIns="0" tIns="0" rIns="0" bIns="0" rtlCol="0" anchor="t"/>
          <a:lstStyle/>
          <a:p>
            <a:pPr indent="0" marL="0">
              <a:buNone/>
            </a:pPr>
            <a:r>
              <a:rPr lang="ja-JP" altLang="en-US" sz="950" dirty="0">
                <a:solidFill>
                  <a:srgbClr val="CDD0EA"/>
                </a:solidFill>
                <a:latin typeface="Arial"/>
                <a:ea typeface="BIZ UDGothic" charset="-128"/>
                <a:cs typeface="Arial"/>
              </a:rPr>
              <a:t>アライメント計測値の面内推定 ― 説明変数と手法の比較</a:t>
            </a:r>
            <a:endParaRPr lang="ja-JP" sz="950" dirty="0"/>
          </a:p>
        </p:txBody>
      </p:sp>
      <p:sp>
        <p:nvSpPr>
          <p:cNvPr id="22" name="Text 20"/>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CDD0EA"/>
                </a:solidFill>
                <a:latin typeface="Arial"/>
                <a:ea typeface="BIZ UDGothic" charset="-128"/>
                <a:cs typeface="Arial"/>
              </a:rPr>
              <a:t>29</a:t>
            </a:r>
            <a:endParaRPr lang="ja-JP"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8229600" cy="274320"/>
          </a:xfrm>
          <a:prstGeom prst="rect">
            <a:avLst/>
          </a:prstGeom>
          <a:noFill/>
          <a:ln/>
        </p:spPr>
        <p:txBody>
          <a:bodyPr wrap="square" lIns="0" tIns="0" rIns="0" bIns="0" rtlCol="0" anchor="t"/>
          <a:lstStyle/>
          <a:p>
            <a:pPr indent="0" marL="0">
              <a:buNone/>
            </a:pPr>
            <a:r>
              <a:rPr lang="ja-JP" altLang="en-US" sz="1200" b="1" spc="100" kern="0" dirty="0">
                <a:solidFill>
                  <a:srgbClr val="2F3470"/>
                </a:solidFill>
                <a:latin typeface="Arial"/>
                <a:ea typeface="BIZ UDGothic" charset="-128"/>
                <a:cs typeface="Arial"/>
              </a:rPr>
              <a:t>04  考察とまとめ</a:t>
            </a:r>
            <a:endParaRPr lang="ja-JP" sz="1200" dirty="0"/>
          </a:p>
        </p:txBody>
      </p:sp>
      <p:sp>
        <p:nvSpPr>
          <p:cNvPr id="3" name="Text 1"/>
          <p:cNvSpPr txBox="1"/>
          <p:nvPr/>
        </p:nvSpPr>
        <p:spPr>
          <a:xfrm>
            <a:off x="548640" y="585216"/>
            <a:ext cx="11094415" cy="658368"/>
          </a:xfrm>
          <a:prstGeom prst="rect">
            <a:avLst/>
          </a:prstGeom>
          <a:noFill/>
          <a:ln/>
        </p:spPr>
        <p:txBody>
          <a:bodyPr wrap="square" lIns="0" tIns="0" rIns="0" bIns="0" rtlCol="0" anchor="ctr"/>
          <a:lstStyle/>
          <a:p>
            <a:pPr indent="0" marL="0">
              <a:buNone/>
            </a:pPr>
            <a:r>
              <a:rPr lang="ja-JP" altLang="en-US" sz="2600" b="1" dirty="0">
                <a:solidFill>
                  <a:srgbClr val="1E1C33"/>
                </a:solidFill>
                <a:latin typeface="Arial"/>
                <a:ea typeface="BIZ UDGothic" charset="-128"/>
                <a:cs typeface="Arial"/>
              </a:rPr>
              <a:t>参考文献</a:t>
            </a:r>
            <a:endParaRPr lang="ja-JP" sz="2600" dirty="0"/>
          </a:p>
        </p:txBody>
      </p:sp>
      <p:sp>
        <p:nvSpPr>
          <p:cNvPr id="4" name="Text 2"/>
          <p:cNvSpPr txBox="1"/>
          <p:nvPr/>
        </p:nvSpPr>
        <p:spPr>
          <a:xfrm>
            <a:off x="548640" y="6419088"/>
            <a:ext cx="10424160" cy="274320"/>
          </a:xfrm>
          <a:prstGeom prst="rect">
            <a:avLst/>
          </a:prstGeom>
          <a:noFill/>
          <a:ln/>
        </p:spPr>
        <p:txBody>
          <a:bodyPr wrap="square" lIns="0" tIns="0" rIns="0" bIns="0" rtlCol="0" anchor="t"/>
          <a:lstStyle/>
          <a:p>
            <a:pPr indent="0" marL="0">
              <a:buNone/>
            </a:pPr>
            <a:r>
              <a:rPr lang="ja-JP" altLang="en-US" sz="950" dirty="0">
                <a:solidFill>
                  <a:srgbClr val="5E6275"/>
                </a:solidFill>
                <a:latin typeface="Arial"/>
                <a:ea typeface="BIZ UDGothic" charset="-128"/>
                <a:cs typeface="Arial"/>
              </a:rPr>
              <a:t>アライメント計測値の面内推定 ― 説明変数と手法の比較</a:t>
            </a:r>
            <a:endParaRPr lang="ja-JP" sz="950" dirty="0"/>
          </a:p>
        </p:txBody>
      </p:sp>
      <p:sp>
        <p:nvSpPr>
          <p:cNvPr id="5" name="Text 3"/>
          <p:cNvSpPr txBox="1"/>
          <p:nvPr/>
        </p:nvSpPr>
        <p:spPr>
          <a:xfrm>
            <a:off x="11185855" y="6419088"/>
            <a:ext cx="457200" cy="274320"/>
          </a:xfrm>
          <a:prstGeom prst="rect">
            <a:avLst/>
          </a:prstGeom>
          <a:noFill/>
          <a:ln/>
        </p:spPr>
        <p:txBody>
          <a:bodyPr wrap="square" lIns="0" tIns="0" rIns="0" bIns="0" rtlCol="0" anchor="t"/>
          <a:lstStyle/>
          <a:p>
            <a:pPr algn="r" indent="0" marL="0">
              <a:buNone/>
            </a:pPr>
            <a:r>
              <a:rPr lang="ja-JP" altLang="en-US" sz="1000" dirty="0">
                <a:solidFill>
                  <a:srgbClr val="5E6275"/>
                </a:solidFill>
                <a:latin typeface="Arial"/>
                <a:ea typeface="BIZ UDGothic" charset="-128"/>
                <a:cs typeface="Arial"/>
              </a:rPr>
              <a:t>30</a:t>
            </a:r>
            <a:endParaRPr lang="ja-JP" sz="1000" dirty="0"/>
          </a:p>
        </p:txBody>
      </p:sp>
      <p:sp>
        <p:nvSpPr>
          <p:cNvPr id="6" name="Text 4"/>
          <p:cNvSpPr txBox="1"/>
          <p:nvPr/>
        </p:nvSpPr>
        <p:spPr>
          <a:xfrm>
            <a:off x="548640" y="1417320"/>
            <a:ext cx="11094415" cy="4343400"/>
          </a:xfrm>
          <a:prstGeom prst="rect">
            <a:avLst/>
          </a:prstGeom>
          <a:noFill/>
          <a:ln/>
        </p:spPr>
        <p:txBody>
          <a:bodyPr wrap="square" lIns="0" tIns="0" rIns="0" bIns="0" rtlCol="0" anchor="t"/>
          <a:lstStyle/>
          <a:p>
            <a:pPr indent="0" marL="0">
              <a:spcAft>
                <a:spcPts val="400"/>
              </a:spcAft>
              <a:buNone/>
            </a:pPr>
            <a:r>
              <a:rPr lang="ja-JP" altLang="en-US" sz="1150" dirty="0">
                <a:solidFill>
                  <a:srgbClr val="1E1C33"/>
                </a:solidFill>
                <a:latin typeface="Arial"/>
                <a:ea typeface="BIZ UDGothic" charset="-128"/>
                <a:cs typeface="Arial"/>
              </a:rPr>
              <a:t>[1] MathWorks, "fitrgp — Fit a Gaussian process regression (GPR) model," MATLAB Documentation. https://www.mathworks.com/help/stats/fitrgp.html</a:t>
            </a:r>
            <a:endParaRPr lang="ja-JP" sz="1150" dirty="0"/>
          </a:p>
          <a:p>
            <a:pPr indent="0" marL="0">
              <a:spcAft>
                <a:spcPts val="400"/>
              </a:spcAft>
              <a:buNone/>
            </a:pPr>
            <a:r>
              <a:rPr lang="ja-JP" altLang="en-US" sz="1150" dirty="0">
                <a:solidFill>
                  <a:srgbClr val="1E1C33"/>
                </a:solidFill>
                <a:latin typeface="Arial"/>
                <a:ea typeface="BIZ UDGothic" charset="-128"/>
                <a:cs typeface="Arial"/>
              </a:rPr>
              <a:t>[2] MathWorks, "Kernel (Covariance) Function Options," MATLAB Documentation. https://www.mathworks.com/help/stats/kernel-covariance-function-options.html</a:t>
            </a:r>
            <a:endParaRPr lang="ja-JP" sz="1150" dirty="0"/>
          </a:p>
          <a:p>
            <a:pPr indent="0" marL="0">
              <a:spcAft>
                <a:spcPts val="400"/>
              </a:spcAft>
              <a:buNone/>
            </a:pPr>
            <a:r>
              <a:rPr lang="ja-JP" altLang="en-US" sz="1150" dirty="0">
                <a:solidFill>
                  <a:srgbClr val="1E1C33"/>
                </a:solidFill>
                <a:latin typeface="Arial"/>
                <a:ea typeface="BIZ UDGothic" charset="-128"/>
                <a:cs typeface="Arial"/>
              </a:rPr>
              <a:t>[3] C. E. Rasmussen, C. K. I. Williams, Gaussian Processes for Machine Learning, MIT Press (2006).</a:t>
            </a:r>
            <a:endParaRPr lang="ja-JP" sz="1150" dirty="0"/>
          </a:p>
          <a:p>
            <a:pPr indent="0" marL="0">
              <a:spcAft>
                <a:spcPts val="400"/>
              </a:spcAft>
              <a:buNone/>
            </a:pPr>
            <a:r>
              <a:rPr lang="ja-JP" altLang="en-US" sz="1150" dirty="0">
                <a:solidFill>
                  <a:srgbClr val="1E1C33"/>
                </a:solidFill>
                <a:latin typeface="Arial"/>
                <a:ea typeface="BIZ UDGothic" charset="-128"/>
                <a:cs typeface="Arial"/>
              </a:rPr>
              <a:t>[4] PyKrige Documentation, "Variogram Models" / "OrdinaryKriging" / "UniversalKriging." https://geostat-framework.readthedocs.io/projects/pykrige/</a:t>
            </a:r>
            <a:endParaRPr lang="ja-JP" sz="1150" dirty="0"/>
          </a:p>
          <a:p>
            <a:pPr indent="0" marL="0">
              <a:spcAft>
                <a:spcPts val="400"/>
              </a:spcAft>
              <a:buNone/>
            </a:pPr>
            <a:r>
              <a:rPr lang="ja-JP" altLang="en-US" sz="1150" dirty="0">
                <a:solidFill>
                  <a:srgbClr val="1E1C33"/>
                </a:solidFill>
                <a:latin typeface="Arial"/>
                <a:ea typeface="BIZ UDGothic" charset="-128"/>
                <a:cs typeface="Arial"/>
              </a:rPr>
              <a:t>[5] N. Cressie, Statistics for Spatial Data, Revised ed., Wiley (1993).</a:t>
            </a:r>
            <a:endParaRPr lang="ja-JP" sz="1150" dirty="0"/>
          </a:p>
          <a:p>
            <a:pPr indent="0" marL="0">
              <a:spcAft>
                <a:spcPts val="400"/>
              </a:spcAft>
              <a:buNone/>
            </a:pPr>
            <a:r>
              <a:rPr lang="ja-JP" altLang="en-US" sz="1150" dirty="0">
                <a:solidFill>
                  <a:srgbClr val="1E1C33"/>
                </a:solidFill>
                <a:latin typeface="Arial"/>
                <a:ea typeface="BIZ UDGothic" charset="-128"/>
                <a:cs typeface="Arial"/>
              </a:rPr>
              <a:t>[6] G. Wahba, Spline Models for Observational Data, SIAM (1990) ／ P. Craven, G. Wahba, Numerische Mathematik 31, 377–403 (1979).</a:t>
            </a:r>
            <a:endParaRPr lang="ja-JP" sz="1150" dirty="0"/>
          </a:p>
          <a:p>
            <a:pPr indent="0" marL="0">
              <a:spcAft>
                <a:spcPts val="400"/>
              </a:spcAft>
              <a:buNone/>
            </a:pPr>
            <a:r>
              <a:rPr lang="ja-JP" altLang="en-US" sz="1150" dirty="0">
                <a:solidFill>
                  <a:srgbClr val="1E1C33"/>
                </a:solidFill>
                <a:latin typeface="Arial"/>
                <a:ea typeface="BIZ UDGothic" charset="-128"/>
                <a:cs typeface="Arial"/>
              </a:rPr>
              <a:t>[7] S. N. Wood, Generalized Additive Models: An Introduction with R, 2nd ed., CRC Press (2017).</a:t>
            </a:r>
            <a:endParaRPr lang="ja-JP" sz="1150" dirty="0"/>
          </a:p>
          <a:p>
            <a:pPr indent="0" marL="0">
              <a:spcAft>
                <a:spcPts val="400"/>
              </a:spcAft>
              <a:buNone/>
            </a:pPr>
            <a:r>
              <a:rPr lang="ja-JP" altLang="en-US" sz="1150" dirty="0">
                <a:solidFill>
                  <a:srgbClr val="1E1C33"/>
                </a:solidFill>
                <a:latin typeface="Arial"/>
                <a:ea typeface="BIZ UDGothic" charset="-128"/>
                <a:cs typeface="Arial"/>
              </a:rPr>
              <a:t>[8] S. N. Wood, "Fast stable restricted maximum likelihood and marginal likelihood estimation of semiparametric generalized linear models," JRSS B 73(1), 3–36 (2011).</a:t>
            </a:r>
            <a:endParaRPr lang="ja-JP" sz="1150" dirty="0"/>
          </a:p>
          <a:p>
            <a:pPr indent="0" marL="0">
              <a:spcAft>
                <a:spcPts val="400"/>
              </a:spcAft>
              <a:buNone/>
            </a:pPr>
            <a:r>
              <a:rPr lang="ja-JP" altLang="en-US" sz="1150" dirty="0">
                <a:solidFill>
                  <a:srgbClr val="1E1C33"/>
                </a:solidFill>
                <a:latin typeface="Arial"/>
                <a:ea typeface="BIZ UDGothic" charset="-128"/>
                <a:cs typeface="Arial"/>
              </a:rPr>
              <a:t>[9] P. H. C. Eilers, B. D. Marx, "Flexible smoothing with B-splines and penalties," Statistical Science 11(2), 89–121 (1996).</a:t>
            </a:r>
            <a:endParaRPr lang="ja-JP" sz="1150" dirty="0"/>
          </a:p>
          <a:p>
            <a:pPr indent="0" marL="0">
              <a:spcAft>
                <a:spcPts val="400"/>
              </a:spcAft>
              <a:buNone/>
            </a:pPr>
            <a:r>
              <a:rPr lang="ja-JP" altLang="en-US" sz="1150" dirty="0">
                <a:solidFill>
                  <a:srgbClr val="1E1C33"/>
                </a:solidFill>
                <a:latin typeface="Arial"/>
                <a:ea typeface="BIZ UDGothic" charset="-128"/>
                <a:cs typeface="Arial"/>
              </a:rPr>
              <a:t>[10] T. Hastie, R. Tibshirani, Generalized Additive Models, Chapman &amp; Hall (1990) ／ A. Buja, T. Hastie, R. Tibshirani, Ann. Statist. 17(2), 453–510 (1989).</a:t>
            </a:r>
            <a:endParaRPr lang="ja-JP" sz="1150" dirty="0"/>
          </a:p>
          <a:p>
            <a:pPr indent="0" marL="0">
              <a:spcAft>
                <a:spcPts val="400"/>
              </a:spcAft>
              <a:buNone/>
            </a:pPr>
            <a:r>
              <a:rPr lang="ja-JP" altLang="en-US" sz="1150" dirty="0">
                <a:solidFill>
                  <a:srgbClr val="1E1C33"/>
                </a:solidFill>
                <a:latin typeface="Arial"/>
                <a:ea typeface="BIZ UDGothic" charset="-128"/>
                <a:cs typeface="Arial"/>
              </a:rPr>
              <a:t>[11] A. C. Atkinson, A. N. Donev, R. D. Tobias, Optimum Experimental Designs, with SAS, Oxford University Press (2007).</a:t>
            </a:r>
            <a:endParaRPr lang="ja-JP" sz="1150" dirty="0"/>
          </a:p>
          <a:p>
            <a:pPr indent="0" marL="0">
              <a:spcAft>
                <a:spcPts val="400"/>
              </a:spcAft>
              <a:buNone/>
            </a:pPr>
            <a:r>
              <a:rPr lang="ja-JP" altLang="en-US" sz="1150" dirty="0">
                <a:solidFill>
                  <a:srgbClr val="1E1C33"/>
                </a:solidFill>
                <a:latin typeface="Arial"/>
                <a:ea typeface="BIZ UDGothic" charset="-128"/>
                <a:cs typeface="Arial"/>
              </a:rPr>
              <a:t>[12] J. Menger ほか (ASML), US10495990B2 "Methods and apparatus for calculating substrate model parameters ..." (2019).</a:t>
            </a:r>
            <a:endParaRPr lang="ja-JP" sz="1150" dirty="0"/>
          </a:p>
        </p:txBody>
      </p:sp>
      <p:sp>
        <p:nvSpPr>
          <p:cNvPr id="7" name="Shape 5"/>
          <p:cNvSpPr/>
          <p:nvPr/>
        </p:nvSpPr>
        <p:spPr>
          <a:xfrm>
            <a:off x="548640" y="5715000"/>
            <a:ext cx="11094415" cy="502920"/>
          </a:xfrm>
          <a:prstGeom prst="roundRect">
            <a:avLst>
              <a:gd name="adj" fmla="val 18182"/>
            </a:avLst>
          </a:prstGeom>
          <a:solidFill>
            <a:srgbClr val="EEEFF7"/>
          </a:solidFill>
          <a:ln w="6350">
            <a:solidFill>
              <a:srgbClr val="EEEFF7"/>
            </a:solidFill>
            <a:prstDash val="solid"/>
          </a:ln>
        </p:spPr>
      </p:sp>
      <p:sp>
        <p:nvSpPr>
          <p:cNvPr id="8" name="Text 6"/>
          <p:cNvSpPr txBox="1"/>
          <p:nvPr/>
        </p:nvSpPr>
        <p:spPr>
          <a:xfrm>
            <a:off x="777240" y="5715000"/>
            <a:ext cx="10637215" cy="502920"/>
          </a:xfrm>
          <a:prstGeom prst="rect">
            <a:avLst/>
          </a:prstGeom>
          <a:noFill/>
          <a:ln/>
        </p:spPr>
        <p:txBody>
          <a:bodyPr wrap="square" lIns="0" tIns="0" rIns="0" bIns="0" rtlCol="0" anchor="ctr"/>
          <a:lstStyle/>
          <a:p>
            <a:pPr indent="0" marL="0">
              <a:buNone/>
            </a:pPr>
            <a:r>
              <a:rPr lang="ja-JP" altLang="en-US" sz="1200" dirty="0">
                <a:solidFill>
                  <a:srgbClr val="1E1C33"/>
                </a:solidFill>
                <a:latin typeface="Arial"/>
                <a:ea typeface="BIZ UDGothic" charset="-128"/>
                <a:cs typeface="Arial"/>
              </a:rPr>
              <a:t>本資料の数値はすべて乱数で生成した模擬 Wafer による（実データ・社内データは使用していない）。計算コードは alignment-estimation-benchmark リポジトリ</a:t>
            </a:r>
            <a:endParaRPr lang="ja-JP"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アライメント計測値の面内推定 ― 説明変数と手法の比較</dc:title>
  <dc:subject>PptxGenJS Presentation</dc:subject>
  <dc:creator>Claude Code</dc:creator>
  <cp:lastModifiedBy>Claude Code</cp:lastModifiedBy>
  <cp:revision>1</cp:revision>
  <dcterms:created xsi:type="dcterms:W3CDTF">2026-10-12T08:33:56Z</dcterms:created>
  <dcterms:modified xsi:type="dcterms:W3CDTF">2026-10-12T08:33:56Z</dcterms:modified>
</cp:coreProperties>
</file>