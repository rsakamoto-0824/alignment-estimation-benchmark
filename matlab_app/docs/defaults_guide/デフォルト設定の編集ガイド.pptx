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管理者が、面内推定評価ツールの初期設定（評価の条件・比べる手法・画面の初期値）を変えるときの手順書。3つの変え方（設定ファイルを配る・既定の設定ファイルを置く・コードの初期値を変える）と、項目ごとの初期値、注意点、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前半で仕組みと3つの変え方を説明し、後半で項目ごとの初期値の一覧と、編集の例・注意点・確かめ方をまとめる。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設定は、コードの初期値 → 既定の設定ファイル（あれば）→ 画面の操作 の順に重なる。設定を保存すると全項目が JSON に書かれ、評価結果の Excel にも同じ JSON が残る。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と B はファイルを置くだけなので、会社の PC でも MATLAB Compiler なしでできる。C はコードの初期値を変えるので、テストと exe の作り直しが必要。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設定ファイルは画面の「設定を保存…」で作る。手で書いた JSON でもよい（変えたい項目だけでよい）。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既定の設定ファイルは alignest.siteDefaults が起動時に読む。今のフォルダ（pwd）にある alignment_estimation_defaults.json だけが対象。読めないときはアプリの初期設定で開き、警告を出す。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コードを変えると、アプリを使う全員の初期値が変わる。変える前の状態を Git で残し、テストを全件流してから配る。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初期値はこの2つの関数にまとまっている。設定ファイル（JSON）の項目名は、関数の中の名前と同じ。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data の項目は読み込みの条件。factors は推定に使う質的変数（GPR・GAM・Backfitting）。ANOVA は選ばなくても主な変数を調べる。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学習 Shot 数は開始・終了・刻みと並び nShots の両方を持つ。コードで変えるときは shotCountList で並びも作る。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constraints は sampling の中のグループ（sampling.constraints.〈項目〉）。同心円の区切りは mm の絶対値で、半径 150 mm の Wafer が前提。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補正の式の書き方と、すべての補正の式は「7. ヘルプ」にまとめている。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推奨の組み合わせ：GPR matern52（X,Y,半径）× 質的変数（使わない・同時推定・加法カーネル・混合）、TPS、Kriging exponential、GAM、XY 5次多項式、RT モデル K=5 の 9 手法。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options は精度と時間の兼ね合いで決めた値。変えるときは模擬データで比べてから。画面の定数は +appui/Core.m の先頭（画面はタブごとのファイルに分けてあり、定数は共通の Core.m にまとめてある）、時間の目安は estimateRunSeconds.m・exchangeSecondsGuide.m にある。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JSON は書いた項目だけが変わる。コードでは学習 Shot 数の並び nShots も一緒に作る（shotCountList）。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設定ファイルは loadSettings が初期値の型に合わせて読む（文字の並び・数の行ベクトル）。知らない項目は無視する。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テストは matlab_app/tests にある。1つのファイルだけ確かめるときは runtests('TestOverlay') のように指定する。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まず A・B を使い、全員の標準を恒久的に変えるときだけ C にする。どの方法でも、変えたら画面と Excel で確かめる。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822960"/>
            <a:ext cx="64008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管理者向け手順書 ｜ 面内推定評価ツール（MATLAB）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9144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6217920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評価の条件・比べる手法・画面の初期値を</a:t>
            </a:r>
          </a:p>
          <a:p>
            <a:pPr algn="l"/>
            <a:r>
              <a:rPr sz="20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どこで、どう変えるか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806440"/>
            <a:ext cx="6217920" cy="3200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2026年10月 ｜ MATLAB R2022b・matlab_app フォルダ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498079" y="868680"/>
            <a:ext cx="4142232" cy="5120640"/>
          </a:xfrm>
          <a:prstGeom prst="roundRect">
            <a:avLst>
              <a:gd name="adj" fmla="val 1766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7772400" y="1051560"/>
            <a:ext cx="365760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変え方は3つ</a:t>
            </a:r>
          </a:p>
        </p:txBody>
      </p:sp>
      <p:sp>
        <p:nvSpPr>
          <p:cNvPr id="8" name="Oval 7"/>
          <p:cNvSpPr/>
          <p:nvPr/>
        </p:nvSpPr>
        <p:spPr>
          <a:xfrm>
            <a:off x="7772400" y="1645920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160020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設定ファイルを配る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0" y="199339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利用者が「設定を読み込む…」で読む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0" y="30632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0" y="301752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既定の設定ファイルを置く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503920" y="341071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起動したときの初期設定になる（exe の作り直し不要）</a:t>
            </a:r>
          </a:p>
        </p:txBody>
      </p:sp>
      <p:sp>
        <p:nvSpPr>
          <p:cNvPr id="14" name="Oval 13"/>
          <p:cNvSpPr/>
          <p:nvPr/>
        </p:nvSpPr>
        <p:spPr>
          <a:xfrm>
            <a:off x="7772400" y="4480560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4434840"/>
            <a:ext cx="30175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コードの初期値を変える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503920" y="4828032"/>
            <a:ext cx="3017520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defaultSettings.m を直して exe を作り直す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この資料で分かること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371600"/>
            <a:ext cx="5120640" cy="2148840"/>
          </a:xfrm>
          <a:prstGeom prst="roundRect">
            <a:avLst>
              <a:gd name="adj" fmla="val 3404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777240" y="150876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対象者と前提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4754880" cy="1554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アプリを部署で保守・配布する管理者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 R2022b と matlab_app フォルダ（exe を作るときは MATLAB Compiler）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A・B は MATLAB のコードを書かずにできる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C は MATLAB のファイルを開いて値を書き換える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703320"/>
            <a:ext cx="5120640" cy="2514600"/>
          </a:xfrm>
          <a:prstGeom prst="roundRect">
            <a:avLst>
              <a:gd name="adj" fmla="val 2909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77240" y="3840480"/>
            <a:ext cx="475488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6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この資料で扱わないこと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251960"/>
            <a:ext cx="4754880" cy="19202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推定の手法の中身を変えること（計算の関数の修正）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入力の列の名前が変わったときの対応（管理者向け資料 HTML）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exe を配る手順の詳細（Windows 手順書）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1371600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val 11"/>
          <p:cNvSpPr/>
          <p:nvPr/>
        </p:nvSpPr>
        <p:spPr>
          <a:xfrm>
            <a:off x="6263640" y="1618488"/>
            <a:ext cx="566928" cy="566928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1508760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設定の仕組み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初期値に、ファイルと画面の変更を重ねる流れ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2587752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Oval 15"/>
          <p:cNvSpPr/>
          <p:nvPr/>
        </p:nvSpPr>
        <p:spPr>
          <a:xfrm>
            <a:off x="6263640" y="2834640"/>
            <a:ext cx="566928" cy="566928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2724912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3つの変え方と手順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3136392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設定ファイル・既定の設定ファイル・コード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035040" y="3803904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val 19"/>
          <p:cNvSpPr/>
          <p:nvPr/>
        </p:nvSpPr>
        <p:spPr>
          <a:xfrm>
            <a:off x="6263640" y="4050791"/>
            <a:ext cx="566928" cy="566928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3941064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設定の項目と初期値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4352544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data・factors・sampling・evaluation・overlay・methods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035040" y="5020056"/>
            <a:ext cx="5605272" cy="1051560"/>
          </a:xfrm>
          <a:prstGeom prst="roundRect">
            <a:avLst>
              <a:gd name="adj" fmla="val 695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Oval 23"/>
          <p:cNvSpPr/>
          <p:nvPr/>
        </p:nvSpPr>
        <p:spPr>
          <a:xfrm>
            <a:off x="6263640" y="5266944"/>
            <a:ext cx="566928" cy="566928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Times New Roman"/>
                <a:ea typeface="Times New Roman"/>
                <a:cs typeface="Times New Roman"/>
              </a:rP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157216"/>
            <a:ext cx="4480560" cy="38404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編集の例・注意・確かめ方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5568696"/>
            <a:ext cx="448056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JSON とコードの例、型・単位、テスト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設定の流れ ― 初期値に、ファイルと画面の変更を重ねる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8D6A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ounded Rectangle 6"/>
          <p:cNvSpPr/>
          <p:nvPr/>
        </p:nvSpPr>
        <p:spPr>
          <a:xfrm>
            <a:off x="548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548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コードの初期値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recommendedMethods.m</a:t>
            </a:r>
          </a:p>
        </p:txBody>
      </p:sp>
      <p:sp>
        <p:nvSpPr>
          <p:cNvPr id="10" name="Oval 9"/>
          <p:cNvSpPr/>
          <p:nvPr/>
        </p:nvSpPr>
        <p:spPr>
          <a:xfrm>
            <a:off x="1303019" y="3749039"/>
            <a:ext cx="457200" cy="45720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2560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2834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E76F5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2834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2834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既定の設定ファイル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26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alignment_estimation_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defaults.json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（あれば起動時に重ねる）</a:t>
            </a:r>
          </a:p>
        </p:txBody>
      </p:sp>
      <p:sp>
        <p:nvSpPr>
          <p:cNvPr id="16" name="Oval 15"/>
          <p:cNvSpPr/>
          <p:nvPr/>
        </p:nvSpPr>
        <p:spPr>
          <a:xfrm>
            <a:off x="3589020" y="3749039"/>
            <a:ext cx="457200" cy="45720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846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120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ounded Rectangle 18"/>
          <p:cNvSpPr/>
          <p:nvPr/>
        </p:nvSpPr>
        <p:spPr>
          <a:xfrm>
            <a:off x="5120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5120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画面で変える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「2. 評価の設定」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の欄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132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406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A9D8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ounded Rectangle 23"/>
          <p:cNvSpPr/>
          <p:nvPr/>
        </p:nvSpPr>
        <p:spPr>
          <a:xfrm>
            <a:off x="7406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06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設定ファイル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「設定を読み込む…」</a:t>
            </a:r>
          </a:p>
        </p:txBody>
      </p:sp>
      <p:sp>
        <p:nvSpPr>
          <p:cNvPr id="27" name="Oval 26"/>
          <p:cNvSpPr/>
          <p:nvPr/>
        </p:nvSpPr>
        <p:spPr>
          <a:xfrm>
            <a:off x="8161019" y="3749039"/>
            <a:ext cx="457200" cy="45720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418320" y="2606040"/>
            <a:ext cx="228600" cy="0"/>
          </a:xfrm>
          <a:prstGeom prst="line">
            <a:avLst/>
          </a:prstGeom>
          <a:ln w="22225">
            <a:solidFill>
              <a:srgbClr val="6C6F7F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692640" y="1600200"/>
            <a:ext cx="1965960" cy="2011680"/>
          </a:xfrm>
          <a:prstGeom prst="roundRect">
            <a:avLst>
              <a:gd name="adj" fmla="val 3720"/>
            </a:avLst>
          </a:prstGeom>
          <a:solidFill>
            <a:srgbClr val="FFFFFF"/>
          </a:solidFill>
          <a:ln w="19050">
            <a:solidFill>
              <a:srgbClr val="2222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Rounded Rectangle 29"/>
          <p:cNvSpPr/>
          <p:nvPr/>
        </p:nvSpPr>
        <p:spPr>
          <a:xfrm>
            <a:off x="9692640" y="1600200"/>
            <a:ext cx="1965960" cy="457200"/>
          </a:xfrm>
          <a:prstGeom prst="roundRect">
            <a:avLst>
              <a:gd name="adj" fmla="val 16000"/>
            </a:avLst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9692640" y="1600200"/>
            <a:ext cx="1965960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評価結果の Excel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84080" y="2148840"/>
            <a:ext cx="1783080" cy="13716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「設定」シートに</a:t>
            </a:r>
          </a:p>
          <a:p>
            <a:pPr algn="ctr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使った設定を残す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4343400"/>
            <a:ext cx="11091672" cy="8229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読み込むときは、ファイルに書いてある項目だけを初期値に重ねる（alignest.loadSettings）。書いていない項目・以前の版に無かった項目は初期値になる。</a:t>
            </a:r>
          </a:p>
          <a:p>
            <a:pPr algn="l" marL="181610" indent="-181610">
              <a:spcAft>
                <a:spcPts val="400"/>
              </a:spcAft>
              <a:buChar char="•"/>
            </a:pPr>
            <a:r>
              <a:rPr sz="13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以前の版の「Wafer 半径に対する比」の項目（radialZoneEdges・outerRadiusRatio）は、読み込むときに 比 × 150 mm の mm の項目に直す。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Oval 34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だから、設定ファイル・既定の設定ファイルには「変えたい項目だけ」を書けばよい（ほかは初期値のまま）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01　設定の仕組み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3つの変え方 ― exe を作り直すかどうかで選ぶ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417320"/>
          <a:ext cx="11091672" cy="3474720"/>
        </p:xfrm>
        <a:graphic>
          <a:graphicData uri="http://schemas.openxmlformats.org/drawingml/2006/table">
            <a:tbl>
              <a:tblPr firstRow="0" bandRow="0"/>
              <a:tblGrid>
                <a:gridCol w="2651760"/>
                <a:gridCol w="3291840"/>
                <a:gridCol w="1508760"/>
                <a:gridCol w="2103120"/>
                <a:gridCol w="1536192"/>
              </a:tblGrid>
              <a:tr h="868680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向いている場面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exe の作り直し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変わる範囲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元に戻すには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 設定ファイルを配る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評価の目的ごとに条件を変える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人によって条件を変える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読み込んだ人の、そのときの設定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「初期設定に戻す」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D8F0ED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 既定の設定ファイルを置く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部署の標準の初期設定をそろえる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（全員が同じ初期値から始める）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不要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そのフォルダから起動した人の初期設定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ファイルを消す・名前を変える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BE3DC"/>
                    </a:solidFill>
                  </a:tcPr>
                </a:tc>
              </a:tr>
              <a:tr h="868680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 コードの初期値を変える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アプリの標準そのものを変える</a:t>
                      </a:r>
                    </a:p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（新しい項目の初期値を決める）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必要（MATLAB Compiler）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アプリを使う全員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Git で前の版に戻す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ECE3F1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5229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349240"/>
            <a:ext cx="9994392" cy="86868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まず A・B（exe の作り直し不要）を使う。全員の標準を恒久的に変えるときだけ C にする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A：設定ファイルを作って配る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「2. 評価の設定」で条件を決める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学習 Shot の選び方と数・制約・比べる手法・評価の条件・Overlay 補正を選ぶ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「設定を保存…」で JSON に保存する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名前の例：standard_settings.json（UTF-8 の文字ファイル）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共有フォルダに置き、使い方を伝える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どの評価に使う設定か、ファイル名とあわせて伝える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利用者は「設定を読み込む…」で読む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データを読み込んだ後でもよい。読み込むと画面の欄がその値になる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25780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戻すときは「初期設定に戻す」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257800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アプリの初期設定（B があればその値）に戻る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417320"/>
            <a:ext cx="4919472" cy="2331720"/>
          </a:xfrm>
          <a:prstGeom prst="roundRect">
            <a:avLst>
              <a:gd name="adj" fmla="val 3137"/>
            </a:avLst>
          </a:prstGeom>
          <a:solidFill>
            <a:srgbClr val="D8F0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949440" y="15544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A9D8F"/>
                </a:solidFill>
                <a:latin typeface="BIZ UDGothic"/>
                <a:ea typeface="BIZ UDGothic"/>
                <a:cs typeface="BIZ UDGothic"/>
              </a:rPr>
              <a:t>設定ファイルに入るもの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1965960"/>
            <a:ext cx="4480560" cy="17373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データの条件（有効半径・座標の単位・行の除外・Scan 方向の付け方）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質的変数、学習 Shot の選び方・数・制約・必ず計測する Shot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優先順のファイル・人の選択（手動）の Shot、Mark 単位の計画</a:t>
            </a:r>
          </a:p>
          <a:p>
            <a:pPr algn="l" marL="167640" indent="-167640">
              <a:spcAft>
                <a:spcPts val="300"/>
              </a:spcAft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比べる手法、評価の条件、Overlay 補正のモデルと式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3931920"/>
            <a:ext cx="4919472" cy="1325880"/>
          </a:xfrm>
          <a:prstGeom prst="roundRect">
            <a:avLst>
              <a:gd name="adj" fmla="val 5517"/>
            </a:avLst>
          </a:prstGeom>
          <a:solidFill>
            <a:srgbClr val="F3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949440" y="4069080"/>
            <a:ext cx="448056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入らないもの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480560"/>
            <a:ext cx="4480560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計測ファイル・列の対応（読み込むときに選ぶ）</a:t>
            </a:r>
          </a:p>
          <a:p>
            <a:pPr algn="l" marL="167640" indent="-167640">
              <a:buChar char="•"/>
            </a:pPr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画面の色（ライト・ダーク。人ごとに保存される）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val 27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評価結果の Excel の「設定」シートにも同じ JSON が残る。過去の評価と同じ条件にしたいときに使える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B：既定の設定ファイルを置く ― 全員の初期値を変える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63040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417320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JSON を作る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719072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手順 A の「設定を保存…」で作るか、変えたい項目だけを書く（右の例）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267712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21992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名前を alignment_estimation_defaults.json にする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23744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この名前のファイルだけを読む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072384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026664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起動するフォルダに置く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328416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MATLAB：現在のフォルダ（matlab_app）。exe：ショートカットの作業フォルダー（ふつう exe のフォルダ）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877056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831336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起動して確かめる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133088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「3. 実行」の記録に「既定の設定ファイルを読み込みました」と出る。「初期設定に戻す」もこの値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681728"/>
            <a:ext cx="438912" cy="438912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636008"/>
            <a:ext cx="516635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読めないときは初期設定で開く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937760"/>
            <a:ext cx="5166359" cy="5029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警告と理由が出る。ファイルを直すか、名前を変えて開き直す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29400" y="1417320"/>
            <a:ext cx="5010912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766560" y="1417320"/>
            <a:ext cx="473659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alignment_estimation_defaults.json（例）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29400" y="1801368"/>
            <a:ext cx="5010912" cy="2724912"/>
          </a:xfrm>
          <a:prstGeom prst="roundRect">
            <a:avLst>
              <a:gd name="adj" fmla="val 2684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766560" y="1892808"/>
            <a:ext cx="4736592" cy="2560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"outerRadiusMm": 130,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</a:t>
            </a:r>
          </a:p>
          <a:p>
            <a:pPr algn="l"/>
            <a:r>
              <a:rPr sz="11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4617720"/>
            <a:ext cx="5010912" cy="6858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書いた項目だけが変わる（ほかは初期値）。学習 Shot 数は開始・終了・刻みだけ書けば、並びも合わせる。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5486400"/>
            <a:ext cx="11091672" cy="73152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749808" y="55915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63040" y="5486400"/>
            <a:ext cx="9994392" cy="7315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を作り直さずに、部署の全員の初期設定をそろえられる（ファイルを消せば元に戻る）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02　3つの変え方と手順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手順 C：コードの初期値を変える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元の状態を残す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Git のブランチを作るか、matlab_app フォルダを複製する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148839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10312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初期値を書き換える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0487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defaultSettings.m・recommendedMethods.m。型・単位・項目の名前を保つ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288036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3464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テストを流す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13639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runAllTests。初期値を確かめるテストの期待値も見直す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361188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356616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画面で確かめる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86791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「初期設定に戻す」→ 新しい値。「設定を保存…」の JSON も見る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434340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29768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文書を直す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59943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README・Windows 手順書・この資料の初期値の表</a:t>
            </a:r>
          </a:p>
        </p:txBody>
      </p:sp>
      <p:sp>
        <p:nvSpPr>
          <p:cNvPr id="21" name="Oval 20"/>
          <p:cNvSpPr/>
          <p:nvPr/>
        </p:nvSpPr>
        <p:spPr>
          <a:xfrm>
            <a:off x="548640" y="5074920"/>
            <a:ext cx="438912" cy="438912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5029200"/>
            <a:ext cx="580644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を作り直して配る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5330952"/>
            <a:ext cx="5806440" cy="429768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buildStandaloneApp(makeInstaller=true)（MATLAB Compiler の入った PC）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69480" y="1371600"/>
            <a:ext cx="4370832" cy="4343400"/>
          </a:xfrm>
          <a:prstGeom prst="roundRect">
            <a:avLst>
              <a:gd name="adj" fmla="val 1684"/>
            </a:avLst>
          </a:prstGeom>
          <a:solidFill>
            <a:srgbClr val="ECE3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498079" y="1508760"/>
            <a:ext cx="393192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500" b="1">
                <a:solidFill>
                  <a:srgbClr val="8D6A9F"/>
                </a:solidFill>
                <a:latin typeface="BIZ UDGothic"/>
                <a:ea typeface="BIZ UDGothic"/>
                <a:cs typeface="BIZ UDGothic"/>
              </a:rPr>
              <a:t>直すファイル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79" y="196596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defaultSettings.m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98079" y="226771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data・factors・sampling・evaluation・overlay の初期値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269748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recommendedMethods.m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79" y="299923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推奨の組み合わせ・すべて・なし と手法の細かい設定（options）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79" y="342900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+appui/Core.m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79" y="373075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画面の定数（先頭の properties (Constant)）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98079" y="416052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estimateRunSeconds.m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79" y="446227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時間の目安（1条件の秒数）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79" y="4892040"/>
            <a:ext cx="3931920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exchangeSecondsGuide.m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498079" y="5193792"/>
            <a:ext cx="393192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交換法の時間の目安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Oval 36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C の後は必ずテストと exe の作り直し。過去の評価と比べるときは、前の設定ファイルで評価し直す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どこに何があるか ― 初期値と定数のファイル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8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96512"/>
        </p:xfrm>
        <a:graphic>
          <a:graphicData uri="http://schemas.openxmlformats.org/drawingml/2006/table">
            <a:tbl>
              <a:tblPr firstRow="0" bandRow="0"/>
              <a:tblGrid>
                <a:gridCol w="3291840"/>
                <a:gridCol w="4754880"/>
                <a:gridCol w="3044952"/>
              </a:tblGrid>
              <a:tr h="512064"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ファイル（matlab_app の中）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中身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+alignest/defaultSettings.m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評価の条件の初期値（data・factors・sampling・evaluation・overlay）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外周とみなす半径 120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+alignest/recommendedMethods.m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比べる手法（推奨の組み合わせ・すべて・なし）と手法の細かい設定 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matern52 × 質的変数4通り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+appui/Core.m（先頭）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画面の大きさ・文字の大きさ・並べる図の数・色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= 16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+alignest/estimateRunSeconds.m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時間の目安（1条件 2 秒、ν を指定した Matérn は 3 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= 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+alignest/exchangeSecondsGuide.m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交換法の時間の目安（初期配置1つ × 学習 Shot 1つ）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+alignest/siteDefaults.m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既定の設定ファイル（手順 B）を読む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alignment_estimation_defaults.json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 wrap="square"/>
                    <a:lstStyle/>
                    <a:p>
                      <a:pPr algn="l"/>
                      <a:r>
                        <a:rPr sz="1200" b="1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help/help.html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「7. ヘルプ」の説明（用語・カーネル・補正の式）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手法を足したら説明も足す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設定ファイルの項目の名前は、defaultSettings.m の settings.〈グループ〉.〈項目〉 と同じ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設定の項目①：data（データの読み込み）・factors（質的変数）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9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1737360"/>
                <a:gridCol w="4370832"/>
                <a:gridCol w="155448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data.waferRadiusMm・validRadiusMm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150・150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座標を割る Wafer 半径・この半径 [mm] 以上の点は除く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有効半径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data.coordinateUnits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すべて 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座標の列ごとの入力の単位（mm・um・nm・m）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data.excludeZeroMeasurements・…Unmeasured…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測定値がともに 0・Sts が −1 の行を除く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行の除外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data.directionRule・invertDirection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"serpentine"・false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Direction が無い行に付ける Scan 方向（一筆書き）・1 と 2 の入れ替え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data.coordinateMode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"shotMark"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座標の定義（shotMark：Shot 中心＋Shot 内、absolute：絶対座標だけ）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座標の定義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data.valueColumn・valueUnit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""・"nm"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推定する値（空 = X・Y 成分、列の名前 = 膜厚などの1変数）と単位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 推定する値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factors.scan・mark・shotRowParity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true・true・false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質的変数（Scan 方向・Mark 番号・Shot 行の奇偶）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質的変数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factors.evaluateSingles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チェックした質的変数を1つだけ使う手法も足して比べる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1つだけ使う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factors.columns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質的変数に使うファイルのその他の列の名前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その他の列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factors.separateY ・ factors.y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Y 成分の質的変数を別に選ぶ（y に同じ形の項目）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Y 成分は別に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Wafer 半径を変えるときは validRadiusMm・同心円の区切り・外周の半径（mm）も一緒に見直す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設定の項目②：sampling（学習 Shot の選び方・数）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224528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463040"/>
                <a:gridCol w="4553712"/>
                <a:gridCol w="155448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"ioptimal"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選び方（複数で比べる）：ioptimal・doptimal・random・manual・file・mark・markd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選び方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数の開始・終了・刻み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sampling.nShots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[10 15 … 40]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上から作った並び（計算に使う。開始〜刻みと合わせる）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（自動）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sampling.countBy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"shots"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数で決める（shots）か計測率で決める（rate）か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学習 Shot 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sampling.rateStart・End・Step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10・40・10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計測率 [%] の開始・終了・刻み（countBy = rate）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計測率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sampling.randomRepeats ・ seed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20261017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ランダムの繰り返し回数・乱数の種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ランダム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sampling.manualPlans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[]（なし）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手動・人の選択（1行 =「名前: shotNo …」）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手動・人の選択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sampling.requiredShots・requireOuterShots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[]・false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必ず計測する shotNo（拡張 I 最適計画）・最外周の Shot をすべて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必ず計測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単位：1 Shot あたりの計測 Mark 数（countBy = rate なら計測率）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sampling.markRequirePerShot・markMinPerShot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単位：Shot ごとに n 点の計測を必須にする・n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method を2つ以上にすると、結果一覧の「計測配置の比較」で選び方どうしを比べられる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設定の項目③：sampling（制約・交換法・優先順）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11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108960"/>
                <a:gridCol w="1691640"/>
                <a:gridCol w="4645152"/>
                <a:gridCol w="1645920"/>
              </a:tblGrid>
              <a:tr h="402336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sampling.designOrder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最適計画の基準モデル（XY 多項式の次数。5次で 21 項）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基準モデル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sampling.exchangeStarts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交換法の初期配置の数（時間はほぼ比例）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初期配置の数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sampling.exchangeMaxIterations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交換法の反復の上限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（設定ファイルのみ）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constraints.radialZoneEdgesMm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[67.5 105]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同心円の区切り：Shot 中心の半径 [mm]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同心円の区切り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constraints.quadrants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4象限の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4象限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constraints.scanDirection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Scan 方向ごとの Shot 数をそろえる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Scan 方向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constraints.slack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許容幅（各区画の数の ±）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許容幅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constraints.markRatio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Mark 単位：Mark 番号ごとの数を全計測の割合にそろえる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Mark 単位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sampling.priorityShots・Levels・File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（読み込み）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優先順のファイルの Shot 番号・優先度・名前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優先順のファイル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初期配置の数の目安：1つあたり 約 0.01 秒 × 学習 Shot 数（10 → 30 で約 3 倍）。10〜20 を超えても良さはほぼ同じ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設定の項目④：evaluation・overlay（補正）・display（表示）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123944"/>
        </p:xfrm>
        <a:graphic>
          <a:graphicData uri="http://schemas.openxmlformats.org/drawingml/2006/table">
            <a:tbl>
              <a:tblPr firstRow="0" bandRow="0"/>
              <a:tblGrid>
                <a:gridCol w="3520440"/>
                <a:gridCol w="1783080"/>
                <a:gridCol w="4279392"/>
                <a:gridCol w="1508760"/>
              </a:tblGrid>
              <a:tr h="374904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evaluation.outerRadiusMm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120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外周とみなす Mark の半径 [mm]（外周の RMSE の境目）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外周の半径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evaluation.removeLinear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1次を除いてから推定する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evaluation.recordTiming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条件ごとの処理時間を記録する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評価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evaluation.excludeOutliers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学習データの異常値を除く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evaluation.outlierSigma ・ outlierMethod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 ・ "sigma"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異常値の倍数 n と判定（sigma：平均と σ、mad：中央値と MAD）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異常値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overlay.waferOrder ・ waferUseFormula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Wafer 成分の次数（0 = なし）・式を使うか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Wafer 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overlay.shotCommon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"linear"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共通成分（none・linear・asml・canon・nikon・formula）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共通成分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overlay.perShot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"none"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Shot ごとの成分（none・translation・linear・formula）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Shot ごとの成分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overlay.waferFormula・shotFormula・perShotFormula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k1 + k3*x + k5*y</a:t>
                      </a:r>
                    </a:p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k2 + k4*y + k6*x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式を入力するときの dx・dy の式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dx・dy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74904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display.scan1Up・scan1Color・scan2Color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true・緑・紫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表示：Scan 方向 1 を上向き（▲）にするか・1・2 の色（RGB 0〜1）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表示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760720"/>
            <a:ext cx="11091672" cy="502920"/>
          </a:xfrm>
          <a:prstGeom prst="roundRect">
            <a:avLst>
              <a:gd name="adj" fmla="val 14545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75157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760720"/>
            <a:ext cx="9994392" cy="50292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Overlay 補正をすべて「なし」（waferOrder 0・shotCommon none・perShot none）にすると補正の評価をしない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設定の項目⑤：methods（比べる手法）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11091672" cy="4023360"/>
        </p:xfrm>
        <a:graphic>
          <a:graphicData uri="http://schemas.openxmlformats.org/drawingml/2006/table">
            <a:tbl>
              <a:tblPr firstRow="0" bandRow="0"/>
              <a:tblGrid>
                <a:gridCol w="3017520"/>
                <a:gridCol w="2331720"/>
                <a:gridCol w="4206240"/>
                <a:gridCol w="1536192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項目（設定ファイルの名前）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意味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methods.featureSets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"XYR"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説明変数（XY：X,Y、XYR：X,Y,半径）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説明変数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methods.gpr.enabled ・ kernels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"matern52"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 とカーネル（fitrgp の10種類と matern・ardmatern）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methods.gpr.factorModes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none・basis・additive・mixed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質的変数の扱い（8通りから）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GPR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methods.gpr.maternNu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matern・ardmatern の ν（複数なら ν ごと）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ν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 ・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TPS・RBF（factorModes：none・backfit）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TPS・RBF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methods.rbfe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false（4 領域）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RBFe（仮）：領域分割 TPS の GAM（regions：領域の数）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RBFe（仮）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通常 true・Universal false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Kriging（variograms："exponential"）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Kriging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true（スプライン）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GAM（shapes・gpKernels・gpMaternNu）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GAM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methods.polynomial ・ 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true（5次）・true（K=5）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XY 多項式の次数・RT モデルの次数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多項式・RT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false（次数 4）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Fringe Zernike（orders：次数 k。factorModes：none・backfit）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0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2. Fringe 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48640" y="5669280"/>
            <a:ext cx="11091672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Oval 7"/>
          <p:cNvSpPr/>
          <p:nvPr/>
        </p:nvSpPr>
        <p:spPr>
          <a:xfrm>
            <a:off x="749808" y="5682996"/>
            <a:ext cx="521207" cy="521207"/>
          </a:xfrm>
          <a:prstGeom prst="ellipse">
            <a:avLst/>
          </a:prstGeom>
          <a:solidFill>
            <a:srgbClr val="4A4E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5669280"/>
            <a:ext cx="9994392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初期値は推奨の組み合わせ（9 手法）。変えるときは recommendedMethods.m の上の部分を直す（「すべて選ぶ」は "all" の部分）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03　設定の項目と初期値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手法の細かい設定（methods.options）と画面の定数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14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48640" y="1371600"/>
          <a:ext cx="5532120" cy="3657600"/>
        </p:xfrm>
        <a:graphic>
          <a:graphicData uri="http://schemas.openxmlformats.org/drawingml/2006/table">
            <a:tbl>
              <a:tblPr firstRow="0" bandRow="0"/>
              <a:tblGrid>
                <a:gridCol w="3429000"/>
                <a:gridCol w="2103120"/>
              </a:tblGrid>
              <a:tr h="365760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methods.options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初期値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gprMaxIterations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backfitMaxIterations ・ backfitToleranceNm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20 ・ 0.001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krigingLags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tpsLog10Lambda ・ rbfLog10Lambda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[−8 3 45]（最小・最大・点数）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[0.05 0.1 0.2 0.4 0.8 1.6]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gamBasisAxis ・ gamBasisRadius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 ・ 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gamGpLengthScales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[0.15 0.3 0.6]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gamGpKnots ・ gamGpGridKnots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10 ・ 7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rbfeOverlap ・ rbfeMinPoints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1.5 ・ 10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263640" y="1371600"/>
          <a:ext cx="5376672" cy="3538728"/>
        </p:xfrm>
        <a:graphic>
          <a:graphicData uri="http://schemas.openxmlformats.org/drawingml/2006/table">
            <a:tbl>
              <a:tblPr firstRow="0" bandRow="0"/>
              <a:tblGrid>
                <a:gridCol w="3639312"/>
                <a:gridCol w="1737360"/>
              </a:tblGrid>
              <a:tr h="393192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画面などの定数（ファイル）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値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FIGURE_SIZE（画面の大きさ）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[1440 900]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FONT_SIZE ・ AXES_FONT_SIZE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16 ・ 13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DEFAULT_MARKER_SIZE（色の点）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30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MAX_CURVES（グラフの線の数）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8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MAX_MEASURE_PANELS ・ MAX_COMPARE_PANELS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6 ・ 6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SECONDS_PER_RUN ・ MATERN_NU_FACTOR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2 秒 ・ 3 倍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SECONDS_PER_SHOT_START（交換法）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0.01 秒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WORST_PERCENT（95%値）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95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48640" y="5166360"/>
            <a:ext cx="11091672" cy="685800"/>
          </a:xfrm>
          <a:prstGeom prst="roundRect">
            <a:avLst>
              <a:gd name="adj" fmla="val 10666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Oval 8"/>
          <p:cNvSpPr/>
          <p:nvPr/>
        </p:nvSpPr>
        <p:spPr>
          <a:xfrm>
            <a:off x="749808" y="5248656"/>
            <a:ext cx="521207" cy="521207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5166360"/>
            <a:ext cx="999439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options（rbfe… を除く）は Python 版と同じ値。変えると推定の結果が変わり、Python 版との照合テスト（TestPythonReference）が合わなくなる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編集の例 ― 同じ変更を設定ファイルとコードで書く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25880"/>
            <a:ext cx="11091672" cy="6400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例：D 最適も比べる・学習 Shot 数を 10〜50（10 刻み）・同心円を 60・100 mm・外周を 130 mm・異常値を MAD で除く・Fringe Zernike（次数 4）も比べる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57400"/>
            <a:ext cx="5257800" cy="384048"/>
          </a:xfrm>
          <a:prstGeom prst="roundRect">
            <a:avLst>
              <a:gd name="adj" fmla="val 19047"/>
            </a:avLst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85800" y="2057400"/>
            <a:ext cx="4983480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A・B：設定ファイル（JSON）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2441448"/>
            <a:ext cx="5257800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85800" y="2532888"/>
            <a:ext cx="4983480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"sampling":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"method": ["ioptimal", "doptimal"],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"nShotsStart": 10, "nShotsEnd": 50,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"nShotsStep": 10,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"constraints":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  "radialZoneEdgesMm": [60, 100]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"evaluation": { "outerRadiusMm": 130,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"excludeOutliers": true,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"outlierMethod": "mad" },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"methods": { "zernike": {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    "enabled": true, "orders": 4 } }</a:t>
            </a:r>
          </a:p>
          <a:p>
            <a:pPr algn="l"/>
            <a:r>
              <a:rPr sz="125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}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2057400"/>
            <a:ext cx="5605272" cy="384048"/>
          </a:xfrm>
          <a:prstGeom prst="roundRect">
            <a:avLst>
              <a:gd name="adj" fmla="val 19047"/>
            </a:avLst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172200" y="2057400"/>
            <a:ext cx="5330952" cy="384048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手順 C：defaultSettings.m・recommendedMethods.m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035040" y="2441448"/>
            <a:ext cx="5605272" cy="3685032"/>
          </a:xfrm>
          <a:prstGeom prst="roundRect">
            <a:avLst>
              <a:gd name="adj" fmla="val 1985"/>
            </a:avLst>
          </a:prstGeom>
          <a:solidFill>
            <a:srgbClr val="F3F4F8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172200" y="2532888"/>
            <a:ext cx="5330952" cy="352044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defaultSettings.m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settings.sampling.method = ["ioptimal", "doptimal"];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settings.sampling.nShotsStart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settings.sampling.nShotsEnd = 50;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settings.sampling.nShotsStep = 10;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settings.sampling.nShots = alignest.shotCountList(10, 50, 10);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settings.sampling.constraints.radialZoneEdgesMm = [60, 100];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settings.evaluation.outerRadiusMm = 130;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settings.evaluation.excludeOutliers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settings.evaluation.outlierMethod = "mad";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% recommendedMethods.m（"recommended" の部分）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methods.zernike.enabled = true;</a:t>
            </a:r>
          </a:p>
          <a:p>
            <a:pPr algn="l"/>
            <a:r>
              <a:rPr sz="1100" b="0">
                <a:solidFill>
                  <a:srgbClr val="22223B"/>
                </a:solidFill>
                <a:latin typeface="Courier New"/>
                <a:ea typeface="Courier New"/>
                <a:cs typeface="Courier New"/>
              </a:rPr>
              <a:t>methods.zernike.orders = 4;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気をつけること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Oval 6"/>
          <p:cNvSpPr/>
          <p:nvPr/>
        </p:nvSpPr>
        <p:spPr>
          <a:xfrm>
            <a:off x="777240" y="164592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型と形をそろえる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文字は "…"（JSON も "…"）、並びは横の [a, b]。true・false は小文字。JSON は UTF-8 で保存する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38827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Oval 10"/>
          <p:cNvSpPr/>
          <p:nvPr/>
        </p:nvSpPr>
        <p:spPr>
          <a:xfrm>
            <a:off x="4567427" y="1645920"/>
            <a:ext cx="548640" cy="54864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3227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単位を間違えない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67427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半径は mm、計測値・誤差は nm、計測率は %。半径 150 mm の Wafer が前提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29015" y="141732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Oval 14"/>
          <p:cNvSpPr/>
          <p:nvPr/>
        </p:nvSpPr>
        <p:spPr>
          <a:xfrm>
            <a:off x="8357615" y="1645920"/>
            <a:ext cx="548640" cy="54864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5" y="164592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項目の名前を変えない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57615" y="233172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名前を変えると以前の設定ファイル・評価結果の Excel が読めなくなる。項目を足すときは defaultSettings.m に初期値を書く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Oval 18"/>
          <p:cNvSpPr/>
          <p:nvPr/>
        </p:nvSpPr>
        <p:spPr>
          <a:xfrm>
            <a:off x="777240" y="4023360"/>
            <a:ext cx="548640" cy="548640"/>
          </a:xfrm>
          <a:prstGeom prst="ellipse">
            <a:avLst/>
          </a:prstGeom>
          <a:solidFill>
            <a:srgbClr val="9C74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≠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結果が変わることを伝える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推奨の組み合わせ・options を変えると評価の値が変わる。過去と比べるときは同じ設定ファイルで評価する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38827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4567427" y="4023360"/>
            <a:ext cx="548640" cy="548640"/>
          </a:xfrm>
          <a:prstGeom prst="ellipse">
            <a:avLst/>
          </a:prstGeom>
          <a:solidFill>
            <a:srgbClr val="222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53227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テストの期待値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7427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初期値を確かめるテスト（時間の目安・学習 Shot 数の並びなど）が失敗したら、意図した変更なら期待値を直す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29015" y="3794760"/>
            <a:ext cx="3511296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Oval 26"/>
          <p:cNvSpPr/>
          <p:nvPr/>
        </p:nvSpPr>
        <p:spPr>
          <a:xfrm>
            <a:off x="8357615" y="4023360"/>
            <a:ext cx="548640" cy="54864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!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043415" y="4023360"/>
            <a:ext cx="2468880" cy="5486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55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置き場所を確かめる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57615" y="4709160"/>
            <a:ext cx="3054096" cy="11887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既定の設定ファイルは、exe ならショートカットの作業フォルダーを探す。置いたら記録の「読み込みました」で確かめる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1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04　編集の例・注意・確かめ方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66928"/>
            <a:ext cx="11091672" cy="6858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28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確かめ方 ― テスト・画面・Excel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6C6F7F"/>
                </a:solidFill>
                <a:latin typeface="BIZ UDGothic"/>
                <a:ea typeface="BIZ UDGothic"/>
                <a:cs typeface="BIZ UDGothic"/>
              </a:rPr>
              <a:t>17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1417320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371600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テストを全件流す（手順 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673352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cd tests → runAllTests。「成功 173 件、失敗 0 件、未完了 0 件」（2026-10-26 時点の件数）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2313432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2267712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画面で初期値を見る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569464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「初期設定に戻す」を押し、「2. 評価の設定」の欄が新しい値か確かめる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3209544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163824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設定ファイルを開いて見る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5576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「設定を保存…」で保存した JSON の値（名前・単位・並び）</a:t>
            </a:r>
          </a:p>
        </p:txBody>
      </p:sp>
      <p:sp>
        <p:nvSpPr>
          <p:cNvPr id="15" name="Oval 14"/>
          <p:cNvSpPr/>
          <p:nvPr/>
        </p:nvSpPr>
        <p:spPr>
          <a:xfrm>
            <a:off x="548640" y="4105655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4059935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模擬データで評価する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4361688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sample_data の模擬データで評価し、結果の Excel の「設定」シートを見る</a:t>
            </a:r>
          </a:p>
        </p:txBody>
      </p:sp>
      <p:sp>
        <p:nvSpPr>
          <p:cNvPr id="18" name="Oval 17"/>
          <p:cNvSpPr/>
          <p:nvPr/>
        </p:nvSpPr>
        <p:spPr>
          <a:xfrm>
            <a:off x="548640" y="5001768"/>
            <a:ext cx="438912" cy="438912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4956048"/>
            <a:ext cx="5440679" cy="310896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4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exe でも同じことを確かめる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5257800"/>
            <a:ext cx="5440679" cy="594359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4A4E69"/>
                </a:solidFill>
                <a:latin typeface="BIZ UDGothic"/>
                <a:ea typeface="BIZ UDGothic"/>
                <a:cs typeface="BIZ UDGothic"/>
              </a:rPr>
              <a:t>作り直した exe（手順 C）、または既定の設定ファイルを置いたフォルダ（手順 B）で</a:t>
            </a:r>
          </a:p>
        </p:txBody>
      </p:sp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6858000" y="1371600"/>
          <a:ext cx="4782312" cy="3968496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2633472"/>
              </a:tblGrid>
              <a:tr h="566928"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変えたもの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確かめるテスト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4A4E6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設定の項目・読み込み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TestSpatialModels・TestFilterExtendTiming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学習 Shot の選び方・制約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TestMeasurementPlan・TestLayoutDesignZernike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比べる手法・options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TestModelOptions・TestPythonReference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Overlay 補正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TestOverlay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画面の定数・部品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TestAppWorkflow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既定の設定ファイル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150" b="0">
                          <a:solidFill>
                            <a:srgbClr val="22223B"/>
                          </a:solidFill>
                          <a:latin typeface="BIZ UDGothic"/>
                          <a:ea typeface="BIZ UDGothic"/>
                          <a:cs typeface="BIZ UDGothic"/>
                        </a:rPr>
                        <a:t>TestLayoutDesignZernike</a:t>
                      </a:r>
                    </a:p>
                  </a:txBody>
                  <a:tcPr marL="109728" marR="109728" marT="45720" marB="45720" anchor="ctr">
                    <a:lnL w="9525" cap="flat" cmpd="sng" algn="ctr">
                      <a:solidFill>
                        <a:srgbClr val="DADDE6"/>
                      </a:solidFill>
                      <a:prstDash val="solid"/>
                    </a:lnL>
                    <a:lnR w="9525" cap="flat" cmpd="sng" algn="ctr">
                      <a:solidFill>
                        <a:srgbClr val="DADDE6"/>
                      </a:solidFill>
                      <a:prstDash val="solid"/>
                    </a:lnR>
                    <a:lnT w="9525" cap="flat" cmpd="sng" algn="ctr">
                      <a:solidFill>
                        <a:srgbClr val="DADDE6"/>
                      </a:solidFill>
                      <a:prstDash val="solid"/>
                    </a:lnT>
                    <a:lnB w="9525" cap="flat" cmpd="sng" algn="ctr">
                      <a:solidFill>
                        <a:srgbClr val="DADDE6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2" name="Rounded Rectangle 21"/>
          <p:cNvSpPr/>
          <p:nvPr/>
        </p:nvSpPr>
        <p:spPr>
          <a:xfrm>
            <a:off x="548640" y="5897880"/>
            <a:ext cx="11091672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9525">
            <a:solidFill>
              <a:srgbClr val="DA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Oval 22"/>
          <p:cNvSpPr/>
          <p:nvPr/>
        </p:nvSpPr>
        <p:spPr>
          <a:xfrm>
            <a:off x="749808" y="5865876"/>
            <a:ext cx="521207" cy="521207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5897880"/>
            <a:ext cx="9994392" cy="45720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3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すべて確かめてから配る。配った後に問題が出たら、前の設定ファイル・前の版に戻す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223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502920"/>
            <a:ext cx="11091672" cy="73152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32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まとめ</a:t>
            </a:r>
          </a:p>
        </p:txBody>
      </p:sp>
      <p:sp>
        <p:nvSpPr>
          <p:cNvPr id="3" name="Oval 2"/>
          <p:cNvSpPr/>
          <p:nvPr/>
        </p:nvSpPr>
        <p:spPr>
          <a:xfrm>
            <a:off x="731520" y="1664207"/>
            <a:ext cx="502920" cy="502920"/>
          </a:xfrm>
          <a:prstGeom prst="ellipse">
            <a:avLst/>
          </a:prstGeom>
          <a:solidFill>
            <a:srgbClr val="2A9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463040" y="1554480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A 設定ファイルを配る：評価ごとに条件を変える。「設定を保存…」→「設定を読み込む…」</a:t>
            </a:r>
          </a:p>
        </p:txBody>
      </p:sp>
      <p:sp>
        <p:nvSpPr>
          <p:cNvPr id="5" name="Oval 4"/>
          <p:cNvSpPr/>
          <p:nvPr/>
        </p:nvSpPr>
        <p:spPr>
          <a:xfrm>
            <a:off x="731520" y="2779776"/>
            <a:ext cx="502920" cy="502920"/>
          </a:xfrm>
          <a:prstGeom prst="ellipse">
            <a:avLst/>
          </a:prstGeom>
          <a:solidFill>
            <a:srgbClr val="E76F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670048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B 既定の設定ファイル（alignment_estimation_defaults.json）：exe を作り直さずに全員の初期値をそろえる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3895344"/>
            <a:ext cx="502920" cy="502920"/>
          </a:xfrm>
          <a:prstGeom prst="ellipse">
            <a:avLst/>
          </a:prstGeom>
          <a:solidFill>
            <a:srgbClr val="8D6A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3785615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C コードの初期値（defaultSettings.m・recommendedMethods.m）：テストと exe の作り直しが必要</a:t>
            </a:r>
          </a:p>
        </p:txBody>
      </p:sp>
      <p:sp>
        <p:nvSpPr>
          <p:cNvPr id="9" name="Oval 8"/>
          <p:cNvSpPr/>
          <p:nvPr/>
        </p:nvSpPr>
        <p:spPr>
          <a:xfrm>
            <a:off x="731520" y="5010912"/>
            <a:ext cx="502920" cy="50292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4901184"/>
            <a:ext cx="5669280" cy="777240"/>
          </a:xfrm>
          <a:prstGeom prst="rect">
            <a:avLst/>
          </a:prstGeom>
          <a:noFill/>
        </p:spPr>
        <p:txBody>
          <a:bodyPr wrap="square" lIns="45720" rIns="45720" tIns="18288" bIns="18288" anchor="ctr"/>
          <a:lstStyle/>
          <a:p>
            <a:pPr algn="l"/>
            <a:r>
              <a:rPr sz="1600" b="0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書いた項目だけが初期値に重なる。型・単位・項目の名前を保ち、変えたら画面と Excel で確かめる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60920" y="1463040"/>
            <a:ext cx="4279392" cy="4572000"/>
          </a:xfrm>
          <a:prstGeom prst="roundRect">
            <a:avLst>
              <a:gd name="adj" fmla="val 1709"/>
            </a:avLst>
          </a:prstGeom>
          <a:solidFill>
            <a:srgbClr val="343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7635240" y="1645920"/>
            <a:ext cx="3749039" cy="4572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70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関連する資料</a:t>
            </a:r>
          </a:p>
        </p:txBody>
      </p:sp>
      <p:sp>
        <p:nvSpPr>
          <p:cNvPr id="13" name="Oval 12"/>
          <p:cNvSpPr/>
          <p:nvPr/>
        </p:nvSpPr>
        <p:spPr>
          <a:xfrm>
            <a:off x="7635240" y="2359152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2240280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README.md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83879" y="2606040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設定の項目・使い方の全体</a:t>
            </a:r>
          </a:p>
        </p:txBody>
      </p:sp>
      <p:sp>
        <p:nvSpPr>
          <p:cNvPr id="16" name="Oval 15"/>
          <p:cNvSpPr/>
          <p:nvPr/>
        </p:nvSpPr>
        <p:spPr>
          <a:xfrm>
            <a:off x="7635240" y="3255264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79" y="3136392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docs/admin_guide/admin_guide.html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83879" y="3502152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アプリの構成と保守の作業</a:t>
            </a:r>
          </a:p>
        </p:txBody>
      </p:sp>
      <p:sp>
        <p:nvSpPr>
          <p:cNvPr id="19" name="Oval 18"/>
          <p:cNvSpPr/>
          <p:nvPr/>
        </p:nvSpPr>
        <p:spPr>
          <a:xfrm>
            <a:off x="7635240" y="4151376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3879" y="4032504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docs/windows_guide/windows_guide.html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83879" y="4398264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画面の使い方・exe を作る・配る</a:t>
            </a:r>
          </a:p>
        </p:txBody>
      </p:sp>
      <p:sp>
        <p:nvSpPr>
          <p:cNvPr id="22" name="Oval 21"/>
          <p:cNvSpPr/>
          <p:nvPr/>
        </p:nvSpPr>
        <p:spPr>
          <a:xfrm>
            <a:off x="7635240" y="5047488"/>
            <a:ext cx="365760" cy="365760"/>
          </a:xfrm>
          <a:prstGeom prst="ellipse">
            <a:avLst/>
          </a:prstGeom>
          <a:solidFill>
            <a:srgbClr val="A9ACC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22223B"/>
                </a:solidFill>
                <a:latin typeface="BIZ UDGothic"/>
                <a:ea typeface="BIZ UDGothic"/>
                <a:cs typeface="BIZ UDGothic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83879" y="4928616"/>
            <a:ext cx="3291840" cy="36576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50" b="1">
                <a:solidFill>
                  <a:srgbClr val="FFFFFF"/>
                </a:solidFill>
                <a:latin typeface="BIZ UDGothic"/>
                <a:ea typeface="BIZ UDGothic"/>
                <a:cs typeface="BIZ UDGothic"/>
              </a:rPr>
              <a:t>「7. ヘルプ」タブ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83879" y="5294375"/>
            <a:ext cx="3291840" cy="41148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1200" b="0">
                <a:solidFill>
                  <a:srgbClr val="D9DBEA"/>
                </a:solidFill>
                <a:latin typeface="BIZ UDGothic"/>
                <a:ea typeface="BIZ UDGothic"/>
                <a:cs typeface="BIZ UDGothic"/>
              </a:rPr>
              <a:t>用語・カーネル・補正の式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73952"/>
            <a:ext cx="36576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l"/>
            <a:r>
              <a:rPr sz="9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デフォルト設定の編集ガイド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25912" y="6473952"/>
            <a:ext cx="914400" cy="228600"/>
          </a:xfrm>
          <a:prstGeom prst="rect">
            <a:avLst/>
          </a:prstGeom>
          <a:noFill/>
        </p:spPr>
        <p:txBody>
          <a:bodyPr wrap="square" lIns="45720" rIns="45720" tIns="18288" bIns="18288" anchor="t"/>
          <a:lstStyle/>
          <a:p>
            <a:pPr algn="r"/>
            <a:r>
              <a:rPr sz="1000" b="0">
                <a:solidFill>
                  <a:srgbClr val="A9ACC6"/>
                </a:solidFill>
                <a:latin typeface="BIZ UDGothic"/>
                <a:ea typeface="BIZ UDGothic"/>
                <a:cs typeface="BIZ UDGothic"/>
              </a:rPr>
              <a:t>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BIZ UDGothic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BIZ UDGothic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デフォルト設定の編集ガイド（管理者向け）</dc:title>
  <dc:subject>面内推定評価ツールの初期設定（評価の条件・比べる手法・画面の初期値）の変え方</dc:subject>
  <dc:creator>alignment-estimation-benchmark</dc:creator>
  <cp:lastModifiedBy>alignment-estimation-benchmark</cp:lastModifiedBy>
  <cp:revision>1</cp:revision>
  <dcterms:created xsi:type="dcterms:W3CDTF">2026-09-13T09:19:14Z</dcterms:created>
  <dcterms:modified xsi:type="dcterms:W3CDTF">2026-09-13T09:19:14Z</dcterms:modified>
</cp:coreProperties>
</file>