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が、検証ツールの初期設定（評価の条件・比べる手法・画面の初期値）を変えるときの手順書。3つの変え方（設定ファイルを配る・既定の設定ファイルを置く・コードの初期値を変える）と、項目ごとの初期値、注意点、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前半で仕組みと3つの変え方を説明し、後半で項目ごとの初期値の一覧と、編集の例・注意点・確かめ方をまとめる。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設定は、コードの初期値 → 既定の設定ファイル（あれば）→ 画面の操作 の順に重なる。設定を保存すると全項目が JSON に書かれ、評価結果の Excel にも同じ JSON が残る。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と B はファイルを置くだけなので、会社の PC でも MATLAB Compiler なしでできる。C はコードの初期値を変えるので、テストと exe の作り直しが必要。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設定ファイルは画面の「設定を保存…」で作る。手で書いた JSON でもよい（変えたい項目だけでよい）。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既定の設定ファイルは alignest.siteDefaults が起動時に読む。今のフォルダ（pwd）にある alignment_estimation_defaults.json だけが対象。読めないときはアプリの初期設定で開き、警告を出す。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コードを変えると、アプリを使う全員の初期値が変わる。変える前の状態を Git で残し、テストを全件流してから配る。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初期値はこの2つの関数にまとまっている。設定ファイル（JSON）の項目名は、関数の中の名前と同じ。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の項目は読み込みの条件。factors は推定に使う質的変数（GPR・GAM・Backfitting）。ANOVA は選ばなくても主な変数を調べる。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学習 Shot 数は開始・終了・刻みと並び nShots の両方を持つ。コードで変えるときは shotCountList で並びも作る。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は sampling の中のグループ（sampling.constraints.〈項目〉）。同心円の区切りは mm の絶対値で、半径 150 mm の Wafer が前提。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補正の式の書き方と、すべての補正の式は「6. ヘルプ」にまとめている。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推奨の組み合わせ：GPR matern52（X,Y,半径）× 質的変数（使わない・同時推定・加法カーネル・混合）、TPS、Kriging exponential、GAM、XY 5次多項式、RT モデル K=5 の 9 手法。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 は精度と時間の兼ね合いで決めた値。変えるときは模擬データで比べてから。画面の定数は AlignmentEstimationApp.m の先頭、時間の目安は estimateRunSeconds.m・exchangeSecondsGuide.m 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JSON は書いた項目だけが変わる。コードでは学習 Shot 数の並び nShots も一緒に作る（shotCountList）。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 loadSettings が初期値の型に合わせて読む（文字の並び・数の行ベクトル）。知らない項目は無視する。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テストは matlab_app/tests にある。1つのファイルだけ確かめるときは runtests('TestOverlay') のように指定する。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 A・B を使い、全員の標準を恒久的に変えるときだけ C にする。どの方法でも、変えたら画面と Excel 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管理者向け手順書 ｜ アライメント計測値の面内推定 検証ツール（MATLAB）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評価の条件・比べる手法・画面の初期値を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どこで、どう変えるか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217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MATLAB R2022b・matlab_app フォルダ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868680"/>
            <a:ext cx="4142232" cy="5120640"/>
          </a:xfrm>
          <a:prstGeom prst="roundRect">
            <a:avLst>
              <a:gd name="adj" fmla="val 176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変え方は3つ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6459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002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9339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利用者が「設定を読み込む…」で読む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30632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0175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既定の設定ファイルを置く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41071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起動したときの初期設定になる（exe の作り直し不要）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4480560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434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コードの初期値を変える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82803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defaultSettings.m を直して exe を作り直す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この資料で分かること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対象者と前提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アプリを部署で保守・配布する管理者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 R2022b と matlab_app フォルダ（exe を作るときは MATLAB Compiler）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A・B は MATLAB のコードを書かずにできる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C は MATLAB のファイルを開いて値を書き換える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この資料で扱わないこと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4754880" cy="1920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推定の手法の中身を変えること（計算の関数の修正）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入力の列の名前が変わったときの対応（管理者向け資料 HTML）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exe を配る手順の詳細（Windows 手順書）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263640" y="161848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508760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設定の仕組み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初期値に、ファイルと画面の変更を重ねる流れ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87752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263640" y="28346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24912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3つの変え方と手順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13639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設定ファイル・既定の設定ファイル・コード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803904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263640" y="4050791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941064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設定の項目と初期値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52544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data・factors・sampling・evaluation・overlay・methods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5020056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263640" y="5266944"/>
            <a:ext cx="566928" cy="566928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157216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編集の例・注意・確かめ方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568696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JSON とコードの例、型・単位、テスト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設定の流れ ― 初期値に、ファイルと画面の変更を重ねる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8D6A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recommendedMethods.m</a:t>
            </a:r>
          </a:p>
        </p:txBody>
      </p:sp>
      <p:sp>
        <p:nvSpPr>
          <p:cNvPr id="10" name="Oval 9"/>
          <p:cNvSpPr/>
          <p:nvPr/>
        </p:nvSpPr>
        <p:spPr>
          <a:xfrm>
            <a:off x="1303019" y="3749039"/>
            <a:ext cx="457200" cy="45720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34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34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alignment_estimation_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defaults.json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（あれば起動時に重ねる）</a:t>
            </a:r>
          </a:p>
        </p:txBody>
      </p:sp>
      <p:sp>
        <p:nvSpPr>
          <p:cNvPr id="16" name="Oval 15"/>
          <p:cNvSpPr/>
          <p:nvPr/>
        </p:nvSpPr>
        <p:spPr>
          <a:xfrm>
            <a:off x="3589020" y="3749039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20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画面で変える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の欄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406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6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「設定を読み込む…」</a:t>
            </a:r>
          </a:p>
        </p:txBody>
      </p:sp>
      <p:sp>
        <p:nvSpPr>
          <p:cNvPr id="27" name="Oval 26"/>
          <p:cNvSpPr/>
          <p:nvPr/>
        </p:nvSpPr>
        <p:spPr>
          <a:xfrm>
            <a:off x="8161019" y="3749039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18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92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22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692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評価結果の 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「設定」シートに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使った設定を残す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読み込むときは、ファイルに書いてある項目だけを初期値に重ねる（alignest.loadSettings）。書いていない項目・以前の版に無かった項目は初期値になる。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以前の版の「Wafer 半径に対する比」の項目（radialZoneEdges・outerRadiusRatio）は、読み込むときに 比 × 150 mm の mm の項目に直す。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だから、設定ファイル・既定の設定ファイルには「変えたい項目だけ」を書けばよい（ほかは初期値のまま）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 ― exe を作り直すかどうかで選ぶ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4747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3291840"/>
                <a:gridCol w="1508760"/>
                <a:gridCol w="2103120"/>
                <a:gridCol w="1536192"/>
              </a:tblGrid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向いている場面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exe の作り直し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変わる範囲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元に戻すには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 設定ファイルを配る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評価の目的ごとに条件を変える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人によって条件を変える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読み込んだ人の、そのときの設定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「初期設定に戻す」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 既定の設定ファイルを置く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部署の標準の初期設定をそろえる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（全員が同じ初期値から始める）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そのフォルダから起動した人の初期設定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ファイルを消す・名前を変える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 コードの初期値を変える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アプリの標準そのものを変える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（新しい項目の初期値を決める）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必要（MATLAB Compiler）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アプリを使う全員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Git で前の版に戻す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 A・B（exe の作り直し不要）を使う。全員の標準を恒久的に変えるときだけ C にする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A：設定ファイルを作って配る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「2. 評価の設定」で条件を決める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 Shot の選び方と数・制約・比べる手法・評価の条件・Overlay 補正を選ぶ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「設定を保存…」で JSON に保存する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名前の例：standard_settings.json（UTF-8 の文字ファイル）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共有フォルダに置き、使い方を伝える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どの評価に使う設定か、ファイル名とあわせて伝える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利用者は「設定を読み込む…」で読む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データを読み込んだ後でもよい。読み込むと画面の欄がその値になる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戻すときは「初期設定に戻す」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アプリの初期設定（B があればその値）に戻る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417320"/>
            <a:ext cx="4919472" cy="2331720"/>
          </a:xfrm>
          <a:prstGeom prst="roundRect">
            <a:avLst>
              <a:gd name="adj" fmla="val 3137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49440" y="15544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設定ファイルに入るもの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65960"/>
            <a:ext cx="4480560" cy="1737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データの条件（有効半径・座標の単位・行の除外・Scan 方向の付け方）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質的変数、学習 Shot の選び方・数・制約・必ず計測する Shot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優先順のファイル・人の選択（手動）の Shot、Mark 単位の計画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比べる手法、評価の条件、Overlay 補正のモデルと式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3931920"/>
            <a:ext cx="4919472" cy="1325880"/>
          </a:xfrm>
          <a:prstGeom prst="roundRect">
            <a:avLst>
              <a:gd name="adj" fmla="val 55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49440" y="40690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入らないもの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80560"/>
            <a:ext cx="44805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計測ファイル・列の対応（読み込むときに選ぶ）</a:t>
            </a:r>
          </a:p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画面の色（ライト・ダーク。人ごとに保存される）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評価結果の Excel の「設定」シートにも同じ JSON が残る。過去の評価と同じ条件にしたいときに使える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B：既定の設定ファイルを置く ― 全員の初期値を変える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JSON を作る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 の「設定を保存…」で作るか、変えたい項目だけを書く（右の例）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名前を alignment_estimation_defaults.json 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この名前のファイルだけを読む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起動するフォルダに置く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MATLAB：現在のフォルダ（matlab_app）。exe：ショートカットの作業フォルダー（ふつう exe のフォルダ）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起動して確かめる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「3. 実行」の記録に「既定の設定ファイルを読み込みました」と出る。「初期設定に戻す」もこの値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読めないときは初期設定で開く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警告と理由が出る。ファイルを直すか、名前を変えて開き直す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1417320"/>
            <a:ext cx="5010912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66560" y="1417320"/>
            <a:ext cx="473659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alignment_estimation_defaults.json（例）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1801368"/>
            <a:ext cx="5010912" cy="2724912"/>
          </a:xfrm>
          <a:prstGeom prst="roundRect">
            <a:avLst>
              <a:gd name="adj" fmla="val 2684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66560" y="1892808"/>
            <a:ext cx="4736592" cy="2560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"outerRadiusMm": 130,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5010912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書いた項目だけが変わる（ほかは初期値）。学習 Shot 数は開始・終了・刻みだけ書けば、並びも合わせる。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を作り直さずに、部署の全員の初期設定をそろえられる（ファイルを消せば元に戻る）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C：コードの初期値を変える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元の状態を残す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Git のブランチを作るか、matlab_app フォルダを複製する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48839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0312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初期値を書き換える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0487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defaultSettings.m・recommendedMethods.m。型・単位・項目の名前を保つ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83464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テストを流す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runAllTests。初期値を確かめるテストの期待値も見直す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6616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「初期設定に戻す」→ 新しい値。「設定を保存…」の JSON も見る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9768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文書を直す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9943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README・Windows 手順書・この資料の初期値の表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0749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292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を作り直して配る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3309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buildStandaloneApp(makeInstaller=true)（MATLAB Compiler の入った PC）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1371600"/>
            <a:ext cx="4370832" cy="4343400"/>
          </a:xfrm>
          <a:prstGeom prst="roundRect">
            <a:avLst>
              <a:gd name="adj" fmla="val 168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79" y="15087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直すファイル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196596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defaultSettings.m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26771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 の初期値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9748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recommendedMethods.m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299923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推奨の組み合わせ・すべて・なし と手法の細かい設定（options）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42900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AlignmentEstimationApp.m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73075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画面の定数（先頭の properties (Constant)）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estimateRunSeconds.m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46227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時間の目安（1条件の秒数）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89204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exchangeSecondsGuide.m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19379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交換法の時間の目安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C の後は必ずテストと exe の作り直し。過去の評価と比べるときは、前の設定ファイルで評価し直す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どこに何があるか ― 初期値と定数のファイル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9651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  <a:gridCol w="304495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ファイル（matlab_app の中）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+alignest/defaultSettings.m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評価の条件の初期値（data・factors・sampling・evaluation・overlay）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外周とみなす半径 120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+alignest/recommendedMethods.m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比べる手法（推奨の組み合わせ・すべて・なし）と手法の細かい設定 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matern52 × 質的変数4通り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AlignmentEstimationApp.m（先頭）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画面の大きさ・文字の大きさ・並べる図の数・色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= 16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+alignest/estimateRunSeconds.m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時間の目安（1条件 2 秒、ν を指定した Matérn は 3 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=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+alignest/exchangeSecondsGuide.m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交換法の時間の目安（初期配置1つ × 学習 Shot 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+alignest/siteDefaults.m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既定の設定ファイル（手順 B）を読む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alignment_estimation_defaults.json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help/help.html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「6. ヘルプ」の説明（用語・カーネル・補正の式）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手法を足したら説明も足す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設定ファイルの項目の名前は、defaultSettings.m の settings.〈グループ〉.〈項目〉 と同じ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設定の項目①：data（データの読み込み）・factors（質的変数）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data.waferRadiusMm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座標を割る Wafer 半径 [mm]（300 mm Wafer）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data.validRadiusMm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この半径 [mm] 以上の点は除く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有効半径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data.coordinateUnits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すべて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座標の列ごとの入力の単位（mm・um・nm・m）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data.excludeZeroMeasurements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measX・measY がともに 0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data.excludeUnmeasuredRecords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StsX・StsY のどちらかが −1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data.directionRule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"serpentine"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Direction が無い行に付ける Scan 方向（一筆書き）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data.invertDirection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付ける 1 と 2 を入れ替える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factors.scan・mark・shotRowParity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true・true・false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質的変数（Scan 方向・Mark 番号・Shot 行の奇偶）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factors.columns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質的変数に使うファイルのその他の列の名前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その他の列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factors.separateY ・ factors.y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 成分の質的変数を別に選ぶ（y に同じ形の項目）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Y 成分は別に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 半径を変えるときは validRadiusMm・同心円の区切り・外周の半径（mm）も一緒に見直す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設定の項目②：sampling（学習 Shot の選び方・数）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"ioptimal"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選び方（複数で比べる）：ioptimal・doptimal・random・manual・file・mark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選び方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数の開始・終了・刻み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[10 15 … 40]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上から作った並び（計算に使う。開始〜刻みと合わせる）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sampling.countBy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"shots"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数で決める（shots）か計測率で決める（rate）か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学習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sampling.rateStart・End・Step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計測率 [%] の開始・終了・刻み（countBy = rate）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計測率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sampling.randomRepeats ・ seed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20261017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ランダムの繰り返し回数・乱数の種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ランダム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sampling.manualPlans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手動・人の選択（1行 =「名前: shotNo …」）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手動・人の選択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sampling.requiredShots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必ず計測する shotNo（拡張 I 最適計画）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sampling.requireOuterShots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最外周の Shot をすべて必ず計測する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単位：1 Shot あたりの計測 Mark 数（1 = 全 Shot で1点）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method を2つ以上にすると、結果一覧の「計測配置の比較」で選び方どうしを比べられる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設定の項目③：sampling（制約・交換法・優先順）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sampling.designOrder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最適計画の基準モデル（XY 多項式の次数。5次で 21 項）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基準モデル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sampling.exchangeStarts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交換法の初期配置の数（時間はほぼ比例）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初期配置の数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交換法の反復の上限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constraints.radialZoneEdgesMm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[67.5 105]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同心円の区切り：Shot 中心の半径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同心円の区切り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constraints.quadrants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4象限の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4象限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constraints.scanDirection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方向ごとの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constraints.slack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許容幅（各区画の数の ±）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許容幅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constraints.markRatio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単位：Mark 番号ごとの数を全計測の割合にそろえる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sampling.priorityShots・Levels・File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（読み込み）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優先順のファイルの Shot 番号・優先度・名前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優先順のファイル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初期配置の数の目安：1つあたり 約 0.01 秒 × 学習 Shot 数（10 → 30 で約 3 倍）。10〜20 を超えても良さはほぼ同じ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設定の項目④：evaluation（評価）・overlay（補正）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783080"/>
                <a:gridCol w="4279392"/>
                <a:gridCol w="150876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120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 Mark の半径 [mm]（外周の RMSE の境目）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外周の半径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evaluation.removeLinear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1次を除いてから推定する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evaluation.recordTiming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条件ごとの処理時間を記録する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evaluation.excludeOutliers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学習データの異常値を除く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evaluation.outlierSigma ・ outlierMethod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 ・ "sigma"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異常値の倍数 n と判定（sigma：平均と σ、mad：中央値と MAD）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overlay.waferOrder ・ waferUseFormula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成分の次数（0 = なし）・式を使うか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overlay.shotCommon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"linear"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共通成分（none・linear・asml・canon・nikon・formula）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共通成分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"none"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ごとの成分（none・translation・linear・formula）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ごとの成分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overlay.waferFormula・shotFormula・perShotFormula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k1 + k3*x + k5*y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k2 + k4*y + k6*x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式を入力するときの dx・dy 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dx・dy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 補正をすべて「なし」（waferOrder 0・shotCommon none・perShot none）にすると補正の評価をしない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設定の項目⑤：methods（比べる手法）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331720"/>
                <a:gridCol w="4206240"/>
                <a:gridCol w="1536192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methods.featureSets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"XYR"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説明変数（XY：X,Y、XYR：X,Y,半径）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説明変数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methods.gpr.enabled ・ kernels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"matern52"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とカーネル（fitrgp の10種類と matern・ardmatern）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none・basis・additive・mixed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質的変数の扱い（8通りから）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methods.gpr.maternNu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matern・ardmatern の ν（複数なら ν 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ν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TPS・RBF（factorModes：none・backfit）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通常 true・Universal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Kriging（variograms："exponential"）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true（スプライン）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GAM（shapes・gpKernels・gpMaternNu）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methods.polynomial ・ 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true（5次）・true（K=5）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多項式の次数・RT モデルの次数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多項式・RT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false（次数 4）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Fringe Zernike（orders：次数 k。Z1〜Z(k+1)²）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Fringe 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初期値は推奨の組み合わせ（9 手法）。変えるときは recommendedMethods.m の上の部分を直す（「すべて選ぶ」は "all" の部分）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手法の細かい設定（methods.options）と画面の定数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532120" cy="3538728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210312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backfitMaxIterations ・ backfitToleranceNm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 ・ 0.001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krigingLags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tpsLog10Lambda ・ rbfLog10Lambda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[−8 3 45]（最小・最大・点数）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[0.05 0.1 0.2 0.4 0.8 1.6]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gamBasisAxis ・ gamBasisRadius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 ・ 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[0.15 0.3 0.6]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gamGpKnots ・ gamGpGridKnots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71600"/>
          <a:ext cx="5376672" cy="3538728"/>
        </p:xfrm>
        <a:graphic>
          <a:graphicData uri="http://schemas.openxmlformats.org/drawingml/2006/table">
            <a:tbl>
              <a:tblPr firstRow="0" bandRow="0"/>
              <a:tblGrid>
                <a:gridCol w="3639312"/>
                <a:gridCol w="173736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画面などの定数（ファイル）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FIGURE_SIZE（画面の大きさ）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[1440 900]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・ AXES_FONT_SIZE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16 ・ 13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DEFAULT_MARKER_SIZE（色の点）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MAX_CURVES（グラフの線の数）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MAX_MEASURE_PANELS ・ MAX_COMPARE_PANELS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 ・ 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・ MATERN_NU_FACTOR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 秒 ・ 3 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SECONDS_PER_SHOT_START（交換法）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WORST_PERCENT（95%値）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95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66360"/>
            <a:ext cx="11091672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2486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166360"/>
            <a:ext cx="999439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options は Python 版と同じ値。変えると推定の結果が変わり、Python 版との照合テスト（TestPythonReference）が合わなくなる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 ― 同じ変更を設定ファイルとコードで書く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1672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例：D 最適も比べる・学習 Shot 数を 10〜50（10 刻み）・同心円を 60・100 mm・外周を 130 mm・異常値を MAD で除く・Fringe Zernike（次数 4）も比べる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257800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4983480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A・B：設定ファイル（JSON）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41448"/>
            <a:ext cx="5257800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532888"/>
            <a:ext cx="4983480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"constraints":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  "radialZoneEdgesMm": [60, 100]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 "outerRadiusMm": 130,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"excludeOutliers": true,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"methods": { "zernike":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"enabled": true, "orders": 4 }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057400"/>
            <a:ext cx="5605272" cy="384048"/>
          </a:xfrm>
          <a:prstGeom prst="roundRect">
            <a:avLst>
              <a:gd name="adj" fmla="val 19047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2057400"/>
            <a:ext cx="533095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C：defaultSettings.m・recommendedMethods.m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441448"/>
            <a:ext cx="5605272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2532888"/>
            <a:ext cx="5330952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defaultSettings.m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settings.sampling.method = ["ioptimal", "doptimal"];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settings.sampling.nShotsStart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settings.sampling.nShotsEnd = 50;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settings.sampling.nShotsStep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 = alignest.shotCountList(10, 50, 10);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settings.sampling.constraints.radialZoneEdgesMm = [60, 100];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settings.evaluation.outerRadiusMm = 130;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settings.evaluation.excludeOutliers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settings.evaluation.outlierMethod = "mad";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recommendedMethods.m（"recommended" の部分）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methods.zernike.enabled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methods.zernike.orders = 4;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気をつけること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型と形をそろえる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文字は "…"（JSON も "…"）、並びは横の [a, b]。true・false は小文字。JSON は UTF-8 で保存する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4592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単位を間違えない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半径は mm、計測値・誤差は nm、計測率は %。半径 150 mm の Wafer が前提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4592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項目の名前を変えない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名前を変えると以前の設定ファイル・評価結果の Excel が読めなくなる。項目を足すときは defaultSettings.m に初期値を書く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結果が変わることを伝える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推奨の組み合わせ・options を変えると評価の値が変わる。過去と比べるときは同じ設定ファイルで評価する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2336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テストの期待値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初期値を確かめるテスト（時間の目安・学習 Shot 数の並びなど）が失敗したら、意図した変更なら期待値を直す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2336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置き場所を確かめる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既定の設定ファイルは、exe ならショートカットの作業フォルダーを探す。置いたら記録の「読み込みました」で確かめる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確かめ方 ― テスト・画面・Excel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テストを全件流す（手順 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runAllTests。「成功 142 件、失敗 0 件、未完了 0 件」（2026-10-24 時点の件数）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画面で初期値を見る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69464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「初期設定に戻す」を押し、「2. 評価の設定」の欄が新しい値か確かめる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954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設定ファイルを開いて見る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5576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「設定を保存…」で保存した JSON の値（名前・単位・並び）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05655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59935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模擬データで評価する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8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sample_data の模擬データで評価し、結果の Excel の「設定」シートを見る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00176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956048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でも同じことを確かめる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57800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作り直した exe（手順 C）、または既定の設定ファイルを置いたフォルダ（手順 B）で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0" y="1371600"/>
          <a:ext cx="4782312" cy="3968496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26334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変えたもの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確かめるテスト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設定の項目・読み込み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TestSpatialModels・TestFilterExtendTiming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の選び方・制約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TestMeasurementPlan・TestLayoutDesignZernike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比べる手法・options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TestModelOptions・TestPythonReference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 補正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TestOverlay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画面の定数・部品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TestAppWorkflow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すべて確かめてから配る。配った後に問題が出たら、前の設定ファイル・前の版に戻す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664207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 設定ファイルを配る：評価ごとに条件を変える。「設定を保存…」→「設定を読み込む…」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79776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0048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 既定の設定ファイル（alignment_estimation_defaults.json）：exe を作り直さずに全員の初期値をそろえる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95344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 コードの初期値（defaultSettings.m・recommendedMethods.m）：テストと exe の作り直しが必要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010912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01184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書いた項目だけが初期値に重なる。型・単位・項目の名前を保ち、変えたら画面と Excel で確かめる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463040"/>
            <a:ext cx="4279392" cy="4572000"/>
          </a:xfrm>
          <a:prstGeom prst="roundRect">
            <a:avLst>
              <a:gd name="adj" fmla="val 1709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164592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関連する資料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2359152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60604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設定の項目・使い方の全体</a:t>
            </a:r>
          </a:p>
        </p:txBody>
      </p:sp>
      <p:sp>
        <p:nvSpPr>
          <p:cNvPr id="16" name="Oval 15"/>
          <p:cNvSpPr/>
          <p:nvPr/>
        </p:nvSpPr>
        <p:spPr>
          <a:xfrm>
            <a:off x="7635240" y="3255264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363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docs/admin_guide/admin_guide.html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アプリの構成と保守の作業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4151376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03250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docs/windows_guide/windows_guide.html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98264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画面の使い方・exe を作る・配る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5047488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「6. ヘルプ」タブ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294375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用語・カーネル・補正の式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デフォルト設定の編集ガイド（管理者向け）</dc:title>
  <dc:subject>検証ツールの初期設定（評価の条件・比べる手法・画面の初期値）の変え方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