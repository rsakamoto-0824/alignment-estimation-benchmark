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管理者が、面内推定評価ツールの初期設定（評価の条件・比べる手法・画面の初期値）を変えるときの手順書。3つの変え方（設定ファイルを配る・既定の設定ファイルを置く・コードの初期値を変える）と、項目ごとの初期値、注意点、確かめ方をまとめ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前半で仕組みと3つの変え方を説明し、後半で項目ごとの初期値の一覧と、編集の例・注意点・確かめ方をまとめる。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設定は、コードの初期値 → 既定の設定ファイル（あれば）→ 画面の操作 の順に重なる。設定を保存すると全項目が JSON に書かれ、評価結果の Excel にも同じ JSON が残る。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と B はファイルを置くだけなので、会社の PC でも MATLAB Compiler なしでできる。C はコードの初期値を変えるので、テストと exe の作り直しが必要。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設定ファイルは画面の「設定を保存…」で作る。手で書いた JSON でもよい（変えたい項目だけでよい）。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既定の設定ファイルは alignest.siteDefaults が起動時に読む。今のフォルダ（pwd）にある alignment_estimation_defaults.json だけが対象。読めないときはアプリの初期設定で開き、警告を出す。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コードを変えると、アプリを使う全員の初期値が変わる。変える前の状態を Git で残し、テストを全件流してから配る。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初期値はこの2つの関数にまとまっている。設定ファイル（JSON）の項目名は、関数の中の名前と同じ。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 の項目は読み込みの条件。factors は推定に使う質的変数（GPR・GAM・Backfitting）。ANOVA は選ばなくても主な変数を調べる。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学習 Shot 数は開始・終了・刻みと並び nShots の両方を持つ。コードで変えるときは shotCountList で並びも作る。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constraints は sampling の中のグループ（sampling.constraints.〈項目〉）。同心円の区切りは mm の絶対値で、半径 150 mm の Wafer が前提。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補正の式の書き方と、すべての補正の式は「8. ヘルプ」にまとめている。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初期設定（default）：GPR matern52（X,Y,半径）× 質的変数（使わない・同時推定・加法カーネル・混合）の 4 手法だけ。推奨の組み合わせ（recommended）：それに TPS、Kriging exponential、GAM、XY 5次多項式、RT モデル K=5 を足した 9 手法。RBFe は廃止（以前の設定ファイルの methods.rbfe は読み飛ばす）。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「7. Shot高次補正」のタブの初期値。excludedTerms は「VIF で選ぶ」・表の「使う」・点の数による項の絞り込みで変わり、「設定を保存…」の JSON にも入る。termSets は画面の「保存」で増え、MATLAB の設定（getpref）にも残る。以前の設定ファイルの l2（true・false）は、regularization の l2・none として読む。unit・λ・回帰・保存した組み合わせは「補正の比較」でまとめて並べて比べられる。outerMaker を none 以外にすると、外周の Shot だけその式で補正する（保存した組み合わせを選ぶと、その使わない項 outerExcludedTerms と名前 outerName も入る）。既定の設定ファイルにも書ける。計算の方法と式は「8. ヘルプ」の「Shot 高次補正の評価」。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options は精度と時間の兼ね合いで決めた値。変えるときは模擬データで比べてから。画面の定数は +appui/Core.m の先頭（画面はタブごとのファイルに分けてあり、定数は共通の Core.m にまとめてある）、時間の目安は estimateRunSeconds.m・exchangeSecondsGuide.m にある。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JSON は書いた項目だけが変わる。コードでは学習 Shot 数の並び nShots も一緒に作る（shotCountList）。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設定ファイルは loadSettings が初期値の型に合わせて読む（文字の並び・数の行ベクトル）。知らない項目は無視する。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テストは matlab_app/tests にある。1つのファイルだけ確かめるときは runtests('TestOverlay') のように指定する。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まず A・B を使い、全員の標準を恒久的に変えるときだけ C にする。どの方法でも、変えたら画面と Excel で確かめる。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2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6400800" cy="36576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400" b="0">
                <a:solidFill>
                  <a:srgbClr val="A9ACC6"/>
                </a:solidFill>
                <a:latin typeface="BIZ UDGothic"/>
                <a:ea typeface="BIZ UDGothic"/>
                <a:cs typeface="BIZ UDGothic"/>
              </a:rPr>
              <a:t>管理者向け手順書 ｜ 面内推定評価ツール（MATLAB）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6583680" cy="9144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34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デフォルト設定の編集ガイド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88920"/>
            <a:ext cx="6217920" cy="11887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2000" b="0">
                <a:solidFill>
                  <a:srgbClr val="D9DBEA"/>
                </a:solidFill>
                <a:latin typeface="BIZ UDGothic"/>
                <a:ea typeface="BIZ UDGothic"/>
                <a:cs typeface="BIZ UDGothic"/>
              </a:rPr>
              <a:t>評価の条件・比べる手法・画面の初期値を</a:t>
            </a:r>
          </a:p>
          <a:p>
            <a:pPr algn="l"/>
            <a:r>
              <a:rPr sz="2000" b="0">
                <a:solidFill>
                  <a:srgbClr val="D9DBEA"/>
                </a:solidFill>
                <a:latin typeface="BIZ UDGothic"/>
                <a:ea typeface="BIZ UDGothic"/>
                <a:cs typeface="BIZ UDGothic"/>
              </a:rPr>
              <a:t>どこで、どう変えるか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06440"/>
            <a:ext cx="6217920" cy="32004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00" b="0">
                <a:solidFill>
                  <a:srgbClr val="A9ACC6"/>
                </a:solidFill>
                <a:latin typeface="BIZ UDGothic"/>
                <a:ea typeface="BIZ UDGothic"/>
                <a:cs typeface="BIZ UDGothic"/>
              </a:rPr>
              <a:t>2026年10月 ｜ MATLAB R2022b・matlab_app フォルダ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868680"/>
            <a:ext cx="4142232" cy="5120640"/>
          </a:xfrm>
          <a:prstGeom prst="roundRect">
            <a:avLst>
              <a:gd name="adj" fmla="val 1766"/>
            </a:avLst>
          </a:prstGeom>
          <a:solidFill>
            <a:srgbClr val="343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0" y="105156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6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変え方は3つ</a:t>
            </a:r>
          </a:p>
        </p:txBody>
      </p:sp>
      <p:sp>
        <p:nvSpPr>
          <p:cNvPr id="8" name="Oval 7"/>
          <p:cNvSpPr/>
          <p:nvPr/>
        </p:nvSpPr>
        <p:spPr>
          <a:xfrm>
            <a:off x="7772400" y="1645920"/>
            <a:ext cx="566928" cy="566928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1600200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5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設定ファイルを配る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993392"/>
            <a:ext cx="3017520" cy="82296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50" b="0">
                <a:solidFill>
                  <a:srgbClr val="D9DBEA"/>
                </a:solidFill>
                <a:latin typeface="BIZ UDGothic"/>
                <a:ea typeface="BIZ UDGothic"/>
                <a:cs typeface="BIZ UDGothic"/>
              </a:rPr>
              <a:t>利用者が「設定を読み込む…」で読む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0" y="3063240"/>
            <a:ext cx="566928" cy="566928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3017520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5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既定の設定ファイルを置く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3410712"/>
            <a:ext cx="3017520" cy="82296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50" b="0">
                <a:solidFill>
                  <a:srgbClr val="D9DBEA"/>
                </a:solidFill>
                <a:latin typeface="BIZ UDGothic"/>
                <a:ea typeface="BIZ UDGothic"/>
                <a:cs typeface="BIZ UDGothic"/>
              </a:rPr>
              <a:t>起動したときの初期設定になる（exe の作り直し不要）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0" y="4480560"/>
            <a:ext cx="566928" cy="566928"/>
          </a:xfrm>
          <a:prstGeom prst="ellipse">
            <a:avLst/>
          </a:prstGeom>
          <a:solidFill>
            <a:srgbClr val="8D6A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4434840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5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コードの初期値を変える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4828032"/>
            <a:ext cx="3017520" cy="82296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50" b="0">
                <a:solidFill>
                  <a:srgbClr val="D9DBEA"/>
                </a:solidFill>
                <a:latin typeface="BIZ UDGothic"/>
                <a:ea typeface="BIZ UDGothic"/>
                <a:cs typeface="BIZ UDGothic"/>
              </a:rPr>
              <a:t>defaultSettings.m を直して exe を作り直す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この資料で分かること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9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デフォルト設定の編集ガイド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5912" y="6473952"/>
            <a:ext cx="9144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r"/>
            <a:r>
              <a:rPr sz="10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120640" cy="2148840"/>
          </a:xfrm>
          <a:prstGeom prst="roundRect">
            <a:avLst>
              <a:gd name="adj" fmla="val 3404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4754880" cy="36576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6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対象者と前提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4754880" cy="155448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 marL="181610" indent="-181610">
              <a:spcAft>
                <a:spcPts val="400"/>
              </a:spcAft>
              <a:buChar char="•"/>
            </a:pPr>
            <a:r>
              <a:rPr sz="13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アプリを部署で保守・配布する管理者</a:t>
            </a:r>
          </a:p>
          <a:p>
            <a:pPr algn="l" marL="181610" indent="-181610">
              <a:spcAft>
                <a:spcPts val="400"/>
              </a:spcAft>
              <a:buChar char="•"/>
            </a:pPr>
            <a:r>
              <a:rPr sz="13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MATLAB R2022b と matlab_app フォルダ（exe を作るときは MATLAB Compiler）</a:t>
            </a:r>
          </a:p>
          <a:p>
            <a:pPr algn="l" marL="181610" indent="-181610">
              <a:spcAft>
                <a:spcPts val="400"/>
              </a:spcAft>
              <a:buChar char="•"/>
            </a:pPr>
            <a:r>
              <a:rPr sz="13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手順 A・B は MATLAB のコードを書かずにできる</a:t>
            </a:r>
          </a:p>
          <a:p>
            <a:pPr algn="l" marL="181610" indent="-181610">
              <a:spcAft>
                <a:spcPts val="400"/>
              </a:spcAft>
              <a:buChar char="•"/>
            </a:pPr>
            <a:r>
              <a:rPr sz="13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手順 C は MATLAB のファイルを開いて値を書き換える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03320"/>
            <a:ext cx="5120640" cy="2514600"/>
          </a:xfrm>
          <a:prstGeom prst="roundRect">
            <a:avLst>
              <a:gd name="adj" fmla="val 2909"/>
            </a:avLst>
          </a:prstGeom>
          <a:solidFill>
            <a:srgbClr val="D8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3840480"/>
            <a:ext cx="4754880" cy="36576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600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この資料で扱わないこと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251960"/>
            <a:ext cx="4754880" cy="192024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 marL="181610" indent="-181610">
              <a:spcAft>
                <a:spcPts val="400"/>
              </a:spcAft>
              <a:buChar char="•"/>
            </a:pPr>
            <a:r>
              <a:rPr sz="13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推定の手法の中身を変えること（計算の関数の修正）</a:t>
            </a:r>
          </a:p>
          <a:p>
            <a:pPr algn="l" marL="181610" indent="-181610">
              <a:spcAft>
                <a:spcPts val="400"/>
              </a:spcAft>
              <a:buChar char="•"/>
            </a:pPr>
            <a:r>
              <a:rPr sz="13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入力の列の名前が変わったときの対応（管理者向け資料 HTML）</a:t>
            </a:r>
          </a:p>
          <a:p>
            <a:pPr algn="l" marL="181610" indent="-181610">
              <a:spcAft>
                <a:spcPts val="400"/>
              </a:spcAft>
              <a:buChar char="•"/>
            </a:pPr>
            <a:r>
              <a:rPr sz="13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exe を配る手順の詳細（Windows 手順書）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371600"/>
            <a:ext cx="5605272" cy="1051560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 w="9525">
            <a:solidFill>
              <a:srgbClr val="DA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6263640" y="1618488"/>
            <a:ext cx="566928" cy="566928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1508760"/>
            <a:ext cx="4480560" cy="384048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7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設定の仕組み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1920240"/>
            <a:ext cx="4480560" cy="41148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3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初期値に、ファイルと画面の変更を重ねる流れ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2587752"/>
            <a:ext cx="5605272" cy="1051560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 w="9525">
            <a:solidFill>
              <a:srgbClr val="DA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6263640" y="2834640"/>
            <a:ext cx="566928" cy="566928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2724912"/>
            <a:ext cx="4480560" cy="384048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7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3つの変え方と手順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3136392"/>
            <a:ext cx="4480560" cy="41148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3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設定ファイル・既定の設定ファイル・コード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0" y="3803904"/>
            <a:ext cx="5605272" cy="1051560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 w="9525">
            <a:solidFill>
              <a:srgbClr val="DA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6263640" y="4050791"/>
            <a:ext cx="566928" cy="566928"/>
          </a:xfrm>
          <a:prstGeom prst="ellipse">
            <a:avLst/>
          </a:prstGeom>
          <a:solidFill>
            <a:srgbClr val="8D6A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3941064"/>
            <a:ext cx="4480560" cy="384048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7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設定の項目と初期値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4352544"/>
            <a:ext cx="4480560" cy="41148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3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data・factors・sampling・evaluation・overlay・methods・highOrder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0" y="5020056"/>
            <a:ext cx="5605272" cy="1051560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 w="9525">
            <a:solidFill>
              <a:srgbClr val="DA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6263640" y="5266944"/>
            <a:ext cx="566928" cy="566928"/>
          </a:xfrm>
          <a:prstGeom prst="ellipse">
            <a:avLst/>
          </a:prstGeom>
          <a:solidFill>
            <a:srgbClr val="9C7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5157216"/>
            <a:ext cx="4480560" cy="384048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7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編集の例・注意・確かめ方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5568696"/>
            <a:ext cx="4480560" cy="41148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3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JSON とコードの例、型・単位、テスト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00" b="1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01　設定の仕組み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設定の流れ ― 初期値に、ファイルと画面の変更を重ねる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9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デフォルト設定の編集ガイド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73952"/>
            <a:ext cx="9144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r"/>
            <a:r>
              <a:rPr sz="10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1965960" cy="2011680"/>
          </a:xfrm>
          <a:prstGeom prst="roundRect">
            <a:avLst>
              <a:gd name="adj" fmla="val 3720"/>
            </a:avLst>
          </a:prstGeom>
          <a:solidFill>
            <a:srgbClr val="FFFFFF"/>
          </a:solidFill>
          <a:ln w="19050">
            <a:solidFill>
              <a:srgbClr val="8D6A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1965960" cy="457200"/>
          </a:xfrm>
          <a:prstGeom prst="roundRect">
            <a:avLst>
              <a:gd name="adj" fmla="val 16000"/>
            </a:avLst>
          </a:prstGeom>
          <a:solidFill>
            <a:srgbClr val="8D6A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965960" cy="45720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コードの初期値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1783080" cy="137160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/>
            <a:r>
              <a:rPr sz="12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defaultSettings.m</a:t>
            </a:r>
          </a:p>
          <a:p>
            <a:pPr algn="ctr"/>
            <a:r>
              <a:rPr sz="12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recommendedMethods.m</a:t>
            </a:r>
          </a:p>
        </p:txBody>
      </p:sp>
      <p:sp>
        <p:nvSpPr>
          <p:cNvPr id="10" name="Oval 9"/>
          <p:cNvSpPr/>
          <p:nvPr/>
        </p:nvSpPr>
        <p:spPr>
          <a:xfrm>
            <a:off x="1303019" y="3749039"/>
            <a:ext cx="457200" cy="457200"/>
          </a:xfrm>
          <a:prstGeom prst="ellipse">
            <a:avLst/>
          </a:prstGeom>
          <a:solidFill>
            <a:srgbClr val="8D6A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C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60320" y="2606040"/>
            <a:ext cx="228600" cy="0"/>
          </a:xfrm>
          <a:prstGeom prst="line">
            <a:avLst/>
          </a:prstGeom>
          <a:ln w="22225">
            <a:solidFill>
              <a:srgbClr val="6C6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34640" y="1600200"/>
            <a:ext cx="1965960" cy="2011680"/>
          </a:xfrm>
          <a:prstGeom prst="roundRect">
            <a:avLst>
              <a:gd name="adj" fmla="val 3720"/>
            </a:avLst>
          </a:prstGeom>
          <a:solidFill>
            <a:srgbClr val="FFFFFF"/>
          </a:solidFill>
          <a:ln w="19050">
            <a:solidFill>
              <a:srgbClr val="E76F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2834640" y="1600200"/>
            <a:ext cx="1965960" cy="457200"/>
          </a:xfrm>
          <a:prstGeom prst="roundRect">
            <a:avLst>
              <a:gd name="adj" fmla="val 16000"/>
            </a:avLst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834640" y="1600200"/>
            <a:ext cx="1965960" cy="45720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既定の設定ファイル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148840"/>
            <a:ext cx="1783080" cy="137160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/>
            <a:r>
              <a:rPr sz="12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alignment_estimation_</a:t>
            </a:r>
          </a:p>
          <a:p>
            <a:pPr algn="ctr"/>
            <a:r>
              <a:rPr sz="12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defaults.json</a:t>
            </a:r>
          </a:p>
          <a:p>
            <a:pPr algn="ctr"/>
            <a:r>
              <a:rPr sz="12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（あれば起動時に重ねる）</a:t>
            </a:r>
          </a:p>
        </p:txBody>
      </p:sp>
      <p:sp>
        <p:nvSpPr>
          <p:cNvPr id="16" name="Oval 15"/>
          <p:cNvSpPr/>
          <p:nvPr/>
        </p:nvSpPr>
        <p:spPr>
          <a:xfrm>
            <a:off x="3589020" y="3749039"/>
            <a:ext cx="457200" cy="457200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B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46320" y="2606040"/>
            <a:ext cx="228600" cy="0"/>
          </a:xfrm>
          <a:prstGeom prst="line">
            <a:avLst/>
          </a:prstGeom>
          <a:ln w="22225">
            <a:solidFill>
              <a:srgbClr val="6C6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20640" y="1600200"/>
            <a:ext cx="1965960" cy="2011680"/>
          </a:xfrm>
          <a:prstGeom prst="roundRect">
            <a:avLst>
              <a:gd name="adj" fmla="val 3720"/>
            </a:avLst>
          </a:prstGeom>
          <a:solidFill>
            <a:srgbClr val="FFFFFF"/>
          </a:solidFill>
          <a:ln w="190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5120640" y="1600200"/>
            <a:ext cx="1965960" cy="457200"/>
          </a:xfrm>
          <a:prstGeom prst="roundRect">
            <a:avLst>
              <a:gd name="adj" fmla="val 16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120640" y="1600200"/>
            <a:ext cx="1965960" cy="45720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画面で変える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79" y="2148840"/>
            <a:ext cx="1783080" cy="137160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/>
            <a:r>
              <a:rPr sz="12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「2. 評価の設定」</a:t>
            </a:r>
          </a:p>
          <a:p>
            <a:pPr algn="ctr"/>
            <a:r>
              <a:rPr sz="12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の欄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132320" y="2606040"/>
            <a:ext cx="228600" cy="0"/>
          </a:xfrm>
          <a:prstGeom prst="line">
            <a:avLst/>
          </a:prstGeom>
          <a:ln w="22225">
            <a:solidFill>
              <a:srgbClr val="6C6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406640" y="1600200"/>
            <a:ext cx="1965960" cy="2011680"/>
          </a:xfrm>
          <a:prstGeom prst="roundRect">
            <a:avLst>
              <a:gd name="adj" fmla="val 3720"/>
            </a:avLst>
          </a:prstGeom>
          <a:solidFill>
            <a:srgbClr val="FFFFFF"/>
          </a:solidFill>
          <a:ln w="190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7406640" y="1600200"/>
            <a:ext cx="1965960" cy="457200"/>
          </a:xfrm>
          <a:prstGeom prst="roundRect">
            <a:avLst>
              <a:gd name="adj" fmla="val 16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406640" y="1600200"/>
            <a:ext cx="1965960" cy="45720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設定ファイル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2148840"/>
            <a:ext cx="1783080" cy="137160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/>
            <a:r>
              <a:rPr sz="12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「設定を保存…」</a:t>
            </a:r>
          </a:p>
          <a:p>
            <a:pPr algn="ctr"/>
            <a:r>
              <a:rPr sz="12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「設定を読み込む…」</a:t>
            </a:r>
          </a:p>
        </p:txBody>
      </p:sp>
      <p:sp>
        <p:nvSpPr>
          <p:cNvPr id="27" name="Oval 26"/>
          <p:cNvSpPr/>
          <p:nvPr/>
        </p:nvSpPr>
        <p:spPr>
          <a:xfrm>
            <a:off x="8161019" y="3749039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A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418320" y="2606040"/>
            <a:ext cx="228600" cy="0"/>
          </a:xfrm>
          <a:prstGeom prst="line">
            <a:avLst/>
          </a:prstGeom>
          <a:ln w="22225">
            <a:solidFill>
              <a:srgbClr val="6C6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692640" y="1600200"/>
            <a:ext cx="1965960" cy="2011680"/>
          </a:xfrm>
          <a:prstGeom prst="roundRect">
            <a:avLst>
              <a:gd name="adj" fmla="val 3720"/>
            </a:avLst>
          </a:prstGeom>
          <a:solidFill>
            <a:srgbClr val="FFFFFF"/>
          </a:solidFill>
          <a:ln w="19050">
            <a:solidFill>
              <a:srgbClr val="222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9692640" y="1600200"/>
            <a:ext cx="1965960" cy="457200"/>
          </a:xfrm>
          <a:prstGeom prst="roundRect">
            <a:avLst>
              <a:gd name="adj" fmla="val 16000"/>
            </a:avLst>
          </a:prstGeom>
          <a:solidFill>
            <a:srgbClr val="22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692640" y="1600200"/>
            <a:ext cx="1965960" cy="45720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評価結果の Excel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0" y="2148840"/>
            <a:ext cx="1783080" cy="137160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/>
            <a:r>
              <a:rPr sz="12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「設定」シートに</a:t>
            </a:r>
          </a:p>
          <a:p>
            <a:pPr algn="ctr"/>
            <a:r>
              <a:rPr sz="12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使った設定を残す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343400"/>
            <a:ext cx="11091672" cy="82296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 marL="181610" indent="-181610">
              <a:spcAft>
                <a:spcPts val="400"/>
              </a:spcAft>
              <a:buChar char="•"/>
            </a:pPr>
            <a:r>
              <a:rPr sz="13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読み込むときは、ファイルに書いてある項目だけを初期値に重ねる（alignest.loadSettings）。書いていない項目・以前の版に無かった項目は初期値になる。</a:t>
            </a:r>
          </a:p>
          <a:p>
            <a:pPr algn="l" marL="181610" indent="-181610">
              <a:spcAft>
                <a:spcPts val="400"/>
              </a:spcAft>
              <a:buChar char="•"/>
            </a:pPr>
            <a:r>
              <a:rPr sz="13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以前の版の「Wafer 半径に対する比」の項目（radialZoneEdges・outerRadiusRatio）は、読み込むときに 比 × 150 mm の mm の項目に直す。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A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749808" y="5522976"/>
            <a:ext cx="521207" cy="521207"/>
          </a:xfrm>
          <a:prstGeom prst="ellipse">
            <a:avLst/>
          </a:prstGeom>
          <a:solidFill>
            <a:srgbClr val="4A4E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63040" y="5349240"/>
            <a:ext cx="9994392" cy="86868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5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だから、設定ファイル・既定の設定ファイルには「変えたい項目だけ」を書けばよい（ほかは初期値のまま）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00" b="1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01　設定の仕組み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3つの変え方 ― exe を作り直すかどうかで選ぶ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9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デフォルト設定の編集ガイド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73952"/>
            <a:ext cx="9144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r"/>
            <a:r>
              <a:rPr sz="10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11091672" cy="3474720"/>
        </p:xfrm>
        <a:graphic>
          <a:graphicData uri="http://schemas.openxmlformats.org/drawingml/2006/table">
            <a:tbl>
              <a:tblPr firstRow="0" bandRow="0"/>
              <a:tblGrid>
                <a:gridCol w="2651760"/>
                <a:gridCol w="3291840"/>
                <a:gridCol w="1508760"/>
                <a:gridCol w="2103120"/>
                <a:gridCol w="1536192"/>
              </a:tblGrid>
              <a:tr h="86868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変え方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向いている場面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exe の作り直し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変わる範囲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元に戻すには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A 設定ファイルを配る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D8F0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評価の目的ごとに条件を変える</a:t>
                      </a:r>
                    </a:p>
                    <a:p>
                      <a:pPr algn="l"/>
                      <a:r>
                        <a:rPr sz="12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人によって条件を変える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D8F0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不要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D8F0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読み込んだ人の、そのときの設定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D8F0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「初期設定に戻す」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D8F0ED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B 既定の設定ファイルを置く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BE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部署の標準の初期設定をそろえる</a:t>
                      </a:r>
                    </a:p>
                    <a:p>
                      <a:pPr algn="l"/>
                      <a:r>
                        <a:rPr sz="12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（全員が同じ初期値から始める）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BE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不要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BE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そのフォルダから起動した人の初期設定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BE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ファイルを消す・名前を変える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BE3DC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C コードの初期値を変える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ECE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アプリの標準そのものを変える</a:t>
                      </a:r>
                    </a:p>
                    <a:p>
                      <a:pPr algn="l"/>
                      <a:r>
                        <a:rPr sz="12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（新しい項目の初期値を決める）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ECE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必要（MATLAB Compiler）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ECE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アプリを使う全員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ECE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Git で前の版に戻す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ECE3F1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A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749808" y="5522976"/>
            <a:ext cx="521207" cy="521207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5349240"/>
            <a:ext cx="9994392" cy="86868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5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まず A・B（exe の作り直し不要）を使う。全員の標準を恒久的に変えるときだけ C にする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00" b="1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02　3つの変え方と手順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手順 A：設定ファイルを作って配る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9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デフォルト設定の編集ガイド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73952"/>
            <a:ext cx="9144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r"/>
            <a:r>
              <a:rPr sz="10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5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463040"/>
            <a:ext cx="438912" cy="438912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417320"/>
            <a:ext cx="5257800" cy="310896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4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「2. 評価の設定」で条件を決める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719072"/>
            <a:ext cx="5257800" cy="5029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学習 Shot の選び方と数・制約・比べる手法・評価の条件・Overlay 補正を選ぶ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267712"/>
            <a:ext cx="438912" cy="438912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21992"/>
            <a:ext cx="5257800" cy="310896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4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「設定を保存…」で JSON に保存する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523744"/>
            <a:ext cx="5257800" cy="5029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名前の例：standard_settings.json（UTF-8 の文字ファイル）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072384"/>
            <a:ext cx="438912" cy="438912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026664"/>
            <a:ext cx="5257800" cy="310896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4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共有フォルダに置き、使い方を伝える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328416"/>
            <a:ext cx="5257800" cy="5029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どの評価に使う設定か、ファイル名とあわせて伝える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877056"/>
            <a:ext cx="438912" cy="438912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831336"/>
            <a:ext cx="5257800" cy="310896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4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利用者は「設定を読み込む…」で読む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133088"/>
            <a:ext cx="5257800" cy="5029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データを読み込んだ後でもよい。読み込むと画面の欄がその値になる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681728"/>
            <a:ext cx="438912" cy="438912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636008"/>
            <a:ext cx="5257800" cy="310896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4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戻すときは「初期設定に戻す」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937760"/>
            <a:ext cx="5257800" cy="5029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アプリの初期設定（B があればその値）に戻る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20840" y="1417320"/>
            <a:ext cx="4919472" cy="2331720"/>
          </a:xfrm>
          <a:prstGeom prst="roundRect">
            <a:avLst>
              <a:gd name="adj" fmla="val 3137"/>
            </a:avLst>
          </a:prstGeom>
          <a:solidFill>
            <a:srgbClr val="D8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949440" y="1554480"/>
            <a:ext cx="4480560" cy="36576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500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設定ファイルに入るもの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1965960"/>
            <a:ext cx="4480560" cy="173736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 marL="167640" indent="-167640">
              <a:spcAft>
                <a:spcPts val="300"/>
              </a:spcAft>
              <a:buChar char="•"/>
            </a:pPr>
            <a:r>
              <a:rPr sz="12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データの条件（有効半径・座標の単位・行の除外・Scan 方向の付け方）</a:t>
            </a:r>
          </a:p>
          <a:p>
            <a:pPr algn="l" marL="167640" indent="-167640">
              <a:spcAft>
                <a:spcPts val="300"/>
              </a:spcAft>
              <a:buChar char="•"/>
            </a:pPr>
            <a:r>
              <a:rPr sz="12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質的変数、学習 Shot の選び方・数・制約・必ず計測する Shot</a:t>
            </a:r>
          </a:p>
          <a:p>
            <a:pPr algn="l" marL="167640" indent="-167640">
              <a:spcAft>
                <a:spcPts val="300"/>
              </a:spcAft>
              <a:buChar char="•"/>
            </a:pPr>
            <a:r>
              <a:rPr sz="12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Excel ファイルで指定した Shot・Mark（パターン・優先順）、Mark 単位の計画</a:t>
            </a:r>
          </a:p>
          <a:p>
            <a:pPr algn="l" marL="167640" indent="-167640">
              <a:spcAft>
                <a:spcPts val="300"/>
              </a:spcAft>
              <a:buChar char="•"/>
            </a:pPr>
            <a:r>
              <a:rPr sz="12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比べる手法、評価の条件、Overlay 補正のモデルと式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20840" y="3931920"/>
            <a:ext cx="4919472" cy="1325880"/>
          </a:xfrm>
          <a:prstGeom prst="roundRect">
            <a:avLst>
              <a:gd name="adj" fmla="val 5517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949440" y="4069080"/>
            <a:ext cx="4480560" cy="36576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5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入らないもの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4480560"/>
            <a:ext cx="4480560" cy="7315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 marL="167640" indent="-167640">
              <a:buChar char="•"/>
            </a:pPr>
            <a:r>
              <a:rPr sz="12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計測ファイル・列の対応（読み込むときに選ぶ）</a:t>
            </a:r>
          </a:p>
          <a:p>
            <a:pPr algn="l" marL="167640" indent="-167640">
              <a:buChar char="•"/>
            </a:pPr>
            <a:r>
              <a:rPr sz="12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画面の色（ライト・ダーク。人ごとに保存される）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48640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A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749808" y="5591556"/>
            <a:ext cx="521207" cy="521207"/>
          </a:xfrm>
          <a:prstGeom prst="ellipse">
            <a:avLst/>
          </a:prstGeom>
          <a:solidFill>
            <a:srgbClr val="4A4E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5486400"/>
            <a:ext cx="9994392" cy="73152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4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評価結果の Excel の「設定」シートにも同じ JSON が残る。過去の評価と同じ条件にしたいときに使える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00" b="1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02　3つの変え方と手順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手順 B：既定の設定ファイルを置く ― 全員の初期値を変える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9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デフォルト設定の編集ガイド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73952"/>
            <a:ext cx="9144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r"/>
            <a:r>
              <a:rPr sz="10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6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463040"/>
            <a:ext cx="438912" cy="438912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417320"/>
            <a:ext cx="5166359" cy="310896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4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JSON を作る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719072"/>
            <a:ext cx="5166359" cy="5029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手順 A の「設定を保存…」で作るか、変えたい項目だけを書く（右の例）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267712"/>
            <a:ext cx="438912" cy="438912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21992"/>
            <a:ext cx="5166359" cy="310896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4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名前を alignment_estimation_defaults.json にする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523744"/>
            <a:ext cx="5166359" cy="5029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この名前のファイルだけを読む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072384"/>
            <a:ext cx="438912" cy="438912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026664"/>
            <a:ext cx="5166359" cy="310896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4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起動するフォルダに置く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328416"/>
            <a:ext cx="5166359" cy="5029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MATLAB：現在のフォルダ（matlab_app）。exe：ショートカットの作業フォルダー（ふつう exe のフォルダ）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877056"/>
            <a:ext cx="438912" cy="438912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831336"/>
            <a:ext cx="5166359" cy="310896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4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起動して確かめる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133088"/>
            <a:ext cx="5166359" cy="5029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「3. 実行」の記録に「既定の設定ファイルを読み込みました」と出る。「初期設定に戻す」もこの値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681728"/>
            <a:ext cx="438912" cy="438912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636008"/>
            <a:ext cx="5166359" cy="310896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4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読めないときは初期設定で開く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937760"/>
            <a:ext cx="5166359" cy="5029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警告と理由が出る。ファイルを直すか、名前を変えて開き直す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29400" y="1417320"/>
            <a:ext cx="5010912" cy="384048"/>
          </a:xfrm>
          <a:prstGeom prst="roundRect">
            <a:avLst>
              <a:gd name="adj" fmla="val 19047"/>
            </a:avLst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766560" y="1417320"/>
            <a:ext cx="4736592" cy="384048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alignment_estimation_defaults.json（例）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29400" y="1801368"/>
            <a:ext cx="5010912" cy="2724912"/>
          </a:xfrm>
          <a:prstGeom prst="roundRect">
            <a:avLst>
              <a:gd name="adj" fmla="val 2684"/>
            </a:avLst>
          </a:prstGeom>
          <a:solidFill>
            <a:srgbClr val="F3F4F8"/>
          </a:solidFill>
          <a:ln w="9525">
            <a:solidFill>
              <a:srgbClr val="DA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766560" y="1892808"/>
            <a:ext cx="4736592" cy="25603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150" b="0">
                <a:solidFill>
                  <a:srgbClr val="22223B"/>
                </a:solidFill>
                <a:latin typeface="Courier New"/>
                <a:ea typeface="Courier New"/>
                <a:cs typeface="Courier New"/>
              </a:rPr>
              <a:t>{</a:t>
            </a:r>
          </a:p>
          <a:p>
            <a:pPr algn="l"/>
            <a:r>
              <a:rPr sz="1150" b="0">
                <a:solidFill>
                  <a:srgbClr val="22223B"/>
                </a:solidFill>
                <a:latin typeface="Courier New"/>
                <a:ea typeface="Courier New"/>
                <a:cs typeface="Courier New"/>
              </a:rPr>
              <a:t>  "sampling": {</a:t>
            </a:r>
          </a:p>
          <a:p>
            <a:pPr algn="l"/>
            <a:r>
              <a:rPr sz="1150" b="0">
                <a:solidFill>
                  <a:srgbClr val="22223B"/>
                </a:solidFill>
                <a:latin typeface="Courier New"/>
                <a:ea typeface="Courier New"/>
                <a:cs typeface="Courier New"/>
              </a:rPr>
              <a:t>    "method": ["ioptimal", "doptimal"],</a:t>
            </a:r>
          </a:p>
          <a:p>
            <a:pPr algn="l"/>
            <a:r>
              <a:rPr sz="1150" b="0">
                <a:solidFill>
                  <a:srgbClr val="22223B"/>
                </a:solidFill>
                <a:latin typeface="Courier New"/>
                <a:ea typeface="Courier New"/>
                <a:cs typeface="Courier New"/>
              </a:rPr>
              <a:t>    "nShotsStart": 10, "nShotsEnd": 50,</a:t>
            </a:r>
          </a:p>
          <a:p>
            <a:pPr algn="l"/>
            <a:r>
              <a:rPr sz="1150" b="0">
                <a:solidFill>
                  <a:srgbClr val="22223B"/>
                </a:solidFill>
                <a:latin typeface="Courier New"/>
                <a:ea typeface="Courier New"/>
                <a:cs typeface="Courier New"/>
              </a:rPr>
              <a:t>    "nShotsStep": 10</a:t>
            </a:r>
          </a:p>
          <a:p>
            <a:pPr algn="l"/>
            <a:r>
              <a:rPr sz="1150" b="0">
                <a:solidFill>
                  <a:srgbClr val="22223B"/>
                </a:solidFill>
                <a:latin typeface="Courier New"/>
                <a:ea typeface="Courier New"/>
                <a:cs typeface="Courier New"/>
              </a:rPr>
              <a:t>  },</a:t>
            </a:r>
          </a:p>
          <a:p>
            <a:pPr algn="l"/>
            <a:r>
              <a:rPr sz="1150" b="0">
                <a:solidFill>
                  <a:srgbClr val="22223B"/>
                </a:solidFill>
                <a:latin typeface="Courier New"/>
                <a:ea typeface="Courier New"/>
                <a:cs typeface="Courier New"/>
              </a:rPr>
              <a:t>  "evaluation": {</a:t>
            </a:r>
          </a:p>
          <a:p>
            <a:pPr algn="l"/>
            <a:r>
              <a:rPr sz="1150" b="0">
                <a:solidFill>
                  <a:srgbClr val="22223B"/>
                </a:solidFill>
                <a:latin typeface="Courier New"/>
                <a:ea typeface="Courier New"/>
                <a:cs typeface="Courier New"/>
              </a:rPr>
              <a:t>    "outerRadiusMm": 130,</a:t>
            </a:r>
          </a:p>
          <a:p>
            <a:pPr algn="l"/>
            <a:r>
              <a:rPr sz="1150" b="0">
                <a:solidFill>
                  <a:srgbClr val="22223B"/>
                </a:solidFill>
                <a:latin typeface="Courier New"/>
                <a:ea typeface="Courier New"/>
                <a:cs typeface="Courier New"/>
              </a:rPr>
              <a:t>    "outlierMethod": "mad"</a:t>
            </a:r>
          </a:p>
          <a:p>
            <a:pPr algn="l"/>
            <a:r>
              <a:rPr sz="1150" b="0">
                <a:solidFill>
                  <a:srgbClr val="22223B"/>
                </a:solidFill>
                <a:latin typeface="Courier New"/>
                <a:ea typeface="Courier New"/>
                <a:cs typeface="Courier New"/>
              </a:rPr>
              <a:t>  }</a:t>
            </a:r>
          </a:p>
          <a:p>
            <a:pPr algn="l"/>
            <a:r>
              <a:rPr sz="1150" b="0">
                <a:solidFill>
                  <a:srgbClr val="22223B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4617720"/>
            <a:ext cx="5010912" cy="6858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書いた項目だけが変わる（ほかは初期値）。学習 Shot 数は開始・終了・刻みだけ書けば、並びも合わせる。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48640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A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49808" y="5591556"/>
            <a:ext cx="521207" cy="521207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5486400"/>
            <a:ext cx="9994392" cy="73152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4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exe を作り直さずに、部署の全員の初期設定をそろえられる（ファイルを消せば元に戻る）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00" b="1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02　3つの変え方と手順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手順 C：コードの初期値を変える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9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デフォルト設定の編集ガイド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73952"/>
            <a:ext cx="9144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r"/>
            <a:r>
              <a:rPr sz="10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417320"/>
            <a:ext cx="438912" cy="438912"/>
          </a:xfrm>
          <a:prstGeom prst="ellipse">
            <a:avLst/>
          </a:prstGeom>
          <a:solidFill>
            <a:srgbClr val="8D6A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371600"/>
            <a:ext cx="5806440" cy="310896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35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元の状態を残す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673352"/>
            <a:ext cx="5806440" cy="429768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Git のブランチを作るか、matlab_app フォルダを複製する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148839"/>
            <a:ext cx="438912" cy="438912"/>
          </a:xfrm>
          <a:prstGeom prst="ellipse">
            <a:avLst/>
          </a:prstGeom>
          <a:solidFill>
            <a:srgbClr val="8D6A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103120"/>
            <a:ext cx="5806440" cy="310896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35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初期値を書き換える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404872"/>
            <a:ext cx="5806440" cy="429768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defaultSettings.m・recommendedMethods.m。型・単位・項目の名前を保つ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880360"/>
            <a:ext cx="438912" cy="438912"/>
          </a:xfrm>
          <a:prstGeom prst="ellipse">
            <a:avLst/>
          </a:prstGeom>
          <a:solidFill>
            <a:srgbClr val="8D6A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834640"/>
            <a:ext cx="5806440" cy="310896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35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テストを流す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136392"/>
            <a:ext cx="5806440" cy="429768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cd tests → runAllTests。初期値を確かめるテストの期待値も見直す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611880"/>
            <a:ext cx="438912" cy="438912"/>
          </a:xfrm>
          <a:prstGeom prst="ellipse">
            <a:avLst/>
          </a:prstGeom>
          <a:solidFill>
            <a:srgbClr val="8D6A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566160"/>
            <a:ext cx="5806440" cy="310896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35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画面で確かめる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867912"/>
            <a:ext cx="5806440" cy="429768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「初期設定に戻す」→ 新しい値。「設定を保存…」の JSON も見る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343400"/>
            <a:ext cx="438912" cy="438912"/>
          </a:xfrm>
          <a:prstGeom prst="ellipse">
            <a:avLst/>
          </a:prstGeom>
          <a:solidFill>
            <a:srgbClr val="8D6A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297680"/>
            <a:ext cx="5806440" cy="310896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35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文書を直す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599432"/>
            <a:ext cx="5806440" cy="429768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README・Windows 手順書・この資料の初期値の表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5074920"/>
            <a:ext cx="438912" cy="438912"/>
          </a:xfrm>
          <a:prstGeom prst="ellipse">
            <a:avLst/>
          </a:prstGeom>
          <a:solidFill>
            <a:srgbClr val="8D6A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5029200"/>
            <a:ext cx="5806440" cy="310896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35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exe を作り直して配る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5330952"/>
            <a:ext cx="5806440" cy="429768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buildStandaloneApp(makeInstaller=true)（MATLAB Compiler の入った PC）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69480" y="1371600"/>
            <a:ext cx="4370832" cy="4343400"/>
          </a:xfrm>
          <a:prstGeom prst="roundRect">
            <a:avLst>
              <a:gd name="adj" fmla="val 1684"/>
            </a:avLst>
          </a:prstGeom>
          <a:solidFill>
            <a:srgbClr val="ECE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498079" y="1508760"/>
            <a:ext cx="3931920" cy="36576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500" b="1">
                <a:solidFill>
                  <a:srgbClr val="8D6A9F"/>
                </a:solidFill>
                <a:latin typeface="BIZ UDGothic"/>
                <a:ea typeface="BIZ UDGothic"/>
                <a:cs typeface="BIZ UDGothic"/>
              </a:rPr>
              <a:t>直すファイル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1965960"/>
            <a:ext cx="3931920" cy="310896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50" b="1">
                <a:solidFill>
                  <a:srgbClr val="22223B"/>
                </a:solidFill>
                <a:latin typeface="Courier New"/>
                <a:ea typeface="Courier New"/>
                <a:cs typeface="Courier New"/>
              </a:rPr>
              <a:t>defaultSettings.m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2267712"/>
            <a:ext cx="3931920" cy="41148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15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data・factors・sampling・evaluation・overlay・highOrder の初期値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2697480"/>
            <a:ext cx="3931920" cy="310896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50" b="1">
                <a:solidFill>
                  <a:srgbClr val="22223B"/>
                </a:solidFill>
                <a:latin typeface="Courier New"/>
                <a:ea typeface="Courier New"/>
                <a:cs typeface="Courier New"/>
              </a:rPr>
              <a:t>recommendedMethods.m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2999232"/>
            <a:ext cx="3931920" cy="41148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15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初期設定（GPR だけ）・推奨の組み合わせ・すべて・なし と手法の細かい設定（options）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3429000"/>
            <a:ext cx="3931920" cy="310896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50" b="1">
                <a:solidFill>
                  <a:srgbClr val="22223B"/>
                </a:solidFill>
                <a:latin typeface="Courier New"/>
                <a:ea typeface="Courier New"/>
                <a:cs typeface="Courier New"/>
              </a:rPr>
              <a:t>+appui/Core.m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3730752"/>
            <a:ext cx="3931920" cy="41148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15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画面の定数（先頭の properties (Constant)）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4160520"/>
            <a:ext cx="3931920" cy="310896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50" b="1">
                <a:solidFill>
                  <a:srgbClr val="22223B"/>
                </a:solidFill>
                <a:latin typeface="Courier New"/>
                <a:ea typeface="Courier New"/>
                <a:cs typeface="Courier New"/>
              </a:rPr>
              <a:t>estimateRunSeconds.m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4462272"/>
            <a:ext cx="3931920" cy="41148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15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時間の目安（1条件の秒数）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4892040"/>
            <a:ext cx="3931920" cy="310896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50" b="1">
                <a:solidFill>
                  <a:srgbClr val="22223B"/>
                </a:solidFill>
                <a:latin typeface="Courier New"/>
                <a:ea typeface="Courier New"/>
                <a:cs typeface="Courier New"/>
              </a:rPr>
              <a:t>exchangeSecondsGuide.m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5193792"/>
            <a:ext cx="3931920" cy="41148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15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交換法の時間の目安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897880"/>
            <a:ext cx="1109167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A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749808" y="5865876"/>
            <a:ext cx="521207" cy="521207"/>
          </a:xfrm>
          <a:prstGeom prst="ellipse">
            <a:avLst/>
          </a:prstGeom>
          <a:solidFill>
            <a:srgbClr val="8D6A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!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63040" y="5897880"/>
            <a:ext cx="9994392" cy="45720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3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C の後は必ずテストと exe の作り直し。過去の評価と比べるときは、前の設定ファイルで評価し直す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00" b="1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03　設定の項目と初期値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どこに何があるか ― 初期値と定数のファイル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9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デフォルト設定の編集ガイド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73952"/>
            <a:ext cx="9144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r"/>
            <a:r>
              <a:rPr sz="10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91672" cy="4096512"/>
        </p:xfrm>
        <a:graphic>
          <a:graphicData uri="http://schemas.openxmlformats.org/drawingml/2006/table">
            <a:tbl>
              <a:tblPr firstRow="0" bandRow="0"/>
              <a:tblGrid>
                <a:gridCol w="3291840"/>
                <a:gridCol w="4754880"/>
                <a:gridCol w="3044952"/>
              </a:tblGrid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ファイル（matlab_app の中）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中身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例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+alignest/defaultSettings.m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評価の条件の初期値（data・factors・sampling・evaluation・overlay・highOrder）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外周とみなす半径 120 mm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+alignest/recommendedMethods.m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比べる手法（初期設定・推奨の組み合わせ・すべて・なし）と手法の細かい設定 options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GPR matern52 × 質的変数4通り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+appui/Core.m（先頭）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画面の大きさ・文字の大きさ・並べる図の数・色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FONT_SIZE = 16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+alignest/estimateRunSeconds.m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時間の目安（1条件 2 秒、ν を指定した Matérn は 3 倍）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SECONDS_PER_RUN = 2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+alignest/exchangeSecondsGuide.m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交換法の時間の目安（初期配置1つ × 学習 Shot 1つ）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0.01 秒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+alignest/siteDefaults.m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既定の設定ファイル（手順 B）を読む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alignment_estimation_defaults.json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help/help.html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「8. ヘルプ」の説明（用語・カーネル・補正の式）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手法を足したら説明も足す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5669280"/>
            <a:ext cx="11091672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A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749808" y="5682996"/>
            <a:ext cx="521207" cy="521207"/>
          </a:xfrm>
          <a:prstGeom prst="ellipse">
            <a:avLst/>
          </a:prstGeom>
          <a:solidFill>
            <a:srgbClr val="4A4E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5669280"/>
            <a:ext cx="9994392" cy="54864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35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設定ファイルの項目の名前は、defaultSettings.m の settings.〈グループ〉.〈項目〉 と同じ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00" b="1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03　設定の項目と初期値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設定の項目①：data（データの読み込み）・factors（質的変数）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9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デフォルト設定の編集ガイド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73952"/>
            <a:ext cx="9144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r"/>
            <a:r>
              <a:rPr sz="10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91672" cy="4023360"/>
        </p:xfrm>
        <a:graphic>
          <a:graphicData uri="http://schemas.openxmlformats.org/drawingml/2006/table">
            <a:tbl>
              <a:tblPr firstRow="0" bandRow="0"/>
              <a:tblGrid>
                <a:gridCol w="3429000"/>
                <a:gridCol w="1737360"/>
                <a:gridCol w="4370832"/>
                <a:gridCol w="155448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項目（設定ファイルの名前）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初期値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意味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画面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data.waferRadiusMm・validRadiusMm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150・150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座標を割る Wafer 半径・この半径 [mm] 以上の点は除く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1. 有効半径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data.coordinateUnits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すべて mm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座標の列ごとの入力の単位（mm・um・nm・m）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1. 座標の単位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data.excludeZeroMeasurements・…Unmeasured…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false・false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測定値がともに 0・Sts が −1 の行を除く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1. 行の除外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data.directionRule・invertDirection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"serpentine"・false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Direction が無い行に付ける Scan 方向（一筆書き）・1 と 2 の入れ替え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1. Scan 方向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data.coordinateMode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"shotMark"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座標の定義（shotMark：Shot 中心＋Shot 内、absolute：絶対座標だけ）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1. 座標の定義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data.valueColumn・valueUnit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""・"nm"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推定する値（空 = X・Y 成分、列の名前 = 膜厚などの1変数）と単位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1. 推定する値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factors.scan・mark・shotRowParity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true・true・false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質的変数（Scan 方向・Mark 番号・Shot 行の奇偶）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2. 質的変数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factors.evaluateSingles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false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チェックした質的変数を1つだけ使う手法も足して比べる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2. 1つだけ使う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factors.columns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[]（なし）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質的変数に使うファイルのその他の列の名前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2. その他の列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factors.separateY ・ factors.y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false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Y 成分の質的変数を別に選ぶ（y に同じ形の項目）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2. Y 成分は別に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5760720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DA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749808" y="5751576"/>
            <a:ext cx="521207" cy="521207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5760720"/>
            <a:ext cx="9994392" cy="50292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3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Wafer 半径を変えるときは validRadiusMm・同心円の区切り・外周の半径（mm）も一緒に見直す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00" b="1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03　設定の項目と初期値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設定の項目②：sampling（学習 Shot の選び方・数）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9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デフォルト設定の編集ガイド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73952"/>
            <a:ext cx="9144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r"/>
            <a:r>
              <a:rPr sz="10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91672" cy="4224528"/>
        </p:xfrm>
        <a:graphic>
          <a:graphicData uri="http://schemas.openxmlformats.org/drawingml/2006/table">
            <a:tbl>
              <a:tblPr firstRow="0" bandRow="0"/>
              <a:tblGrid>
                <a:gridCol w="3520440"/>
                <a:gridCol w="1463040"/>
                <a:gridCol w="4553712"/>
                <a:gridCol w="155448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項目（設定ファイルの名前）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初期値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意味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画面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sampling.method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"ioptimal"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選び方（複数で比べる）：ioptimal・doptimal・random・excel・mark・markd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2. 選び方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sampling.nShotsStart・End・Step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10・40・5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学習 Shot 数の開始・終了・刻み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2. Shot 数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sampling.nShots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[10 15 … 40]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上から作った並び（計算に使う。開始〜刻みと合わせる）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（自動）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sampling.countBy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"shots"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Shot 数で決める（shots）か計測率で決める（rate）か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2. 学習 Shot 数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sampling.rateStart・End・Step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10・40・10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計測率 [%] の開始・終了・刻み（countBy = rate）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2. 計測率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sampling.randomRepeats ・ seed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10 ・ 20261017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ランダムの繰り返し回数・乱数の種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2. ランダム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sampling.layoutPlans・layoutFile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[]・""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Excel ファイルで指定（1行 =「種類|名前|shotNo …」。読み込みで入る）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2. Excel で指定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sampling.requiredShots・requireOuterShots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[]・false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必ず計測する shotNo（拡張 I 最適計画）・最外周の Shot をすべて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2. 必ず計測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sampling.markPerShot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1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Mark 単位：1 Shot あたりの計測 Mark 数（countBy = rate なら計測率）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2. Mark 単位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sampling.markRequirePerShot・markMinPerShot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true・1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Mark 単位：Shot ごとに n 点の計測を必須にする・n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2. Mark 単位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5760720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DA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749808" y="5751576"/>
            <a:ext cx="521207" cy="521207"/>
          </a:xfrm>
          <a:prstGeom prst="ellipse">
            <a:avLst/>
          </a:prstGeom>
          <a:solidFill>
            <a:srgbClr val="4A4E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5760720"/>
            <a:ext cx="9994392" cy="50292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3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method を2つ以上にすると、結果一覧の「計測配置の比較」で選び方どうしを比べられる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00" b="1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03　設定の項目と初期値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設定の項目③：sampling（制約・交換法）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9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デフォルト設定の編集ガイド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73952"/>
            <a:ext cx="9144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r"/>
            <a:r>
              <a:rPr sz="10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91672" cy="3621024"/>
        </p:xfrm>
        <a:graphic>
          <a:graphicData uri="http://schemas.openxmlformats.org/drawingml/2006/table">
            <a:tbl>
              <a:tblPr firstRow="0" bandRow="0"/>
              <a:tblGrid>
                <a:gridCol w="3108960"/>
                <a:gridCol w="1691640"/>
                <a:gridCol w="4645152"/>
                <a:gridCol w="1645920"/>
              </a:tblGrid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項目（設定ファイルの名前）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初期値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意味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画面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sampling.designOrder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5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最適計画の基準モデル（XY 多項式の次数。5次で 21 項）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2. 基準モデル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sampling.exchangeStarts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10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交換法の初期配置の数（時間はほぼ比例）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2. 初期配置の数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sampling.exchangeMaxIterations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300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交換法の反復の上限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（設定ファイルのみ）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constraints.radialZoneEdgesMm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[67.5 105]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同心円の区切り：Shot 中心の半径 [mm]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2. 同心円の区切り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constraints.quadrants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true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4象限の Shot 数をそろえる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2. 4象限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constraints.scanDirection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true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Scan 方向ごとの Shot 数をそろえる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2. Scan 方向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constraints.slack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1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許容幅（各区画の数の ±）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2. 許容幅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constraints.markRatio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true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Mark 単位：Mark 番号ごとの数を全計測の割合にそろえる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2. Mark 単位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5669280"/>
            <a:ext cx="11091672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A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749808" y="5682996"/>
            <a:ext cx="521207" cy="521207"/>
          </a:xfrm>
          <a:prstGeom prst="ellipse">
            <a:avLst/>
          </a:prstGeom>
          <a:solidFill>
            <a:srgbClr val="4A4E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5669280"/>
            <a:ext cx="9994392" cy="54864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3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初期配置の数の目安：1つあたり 約 0.01 秒 × 学習 Shot 数（10 → 30 で約 3 倍）。10〜20 を超えても良さはほぼ同じ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00" b="1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03　設定の項目と初期値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設定の項目④：evaluation・overlay（補正）・display（表示）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9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デフォルト設定の編集ガイド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73952"/>
            <a:ext cx="9144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r"/>
            <a:r>
              <a:rPr sz="10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91672" cy="4123944"/>
        </p:xfrm>
        <a:graphic>
          <a:graphicData uri="http://schemas.openxmlformats.org/drawingml/2006/table">
            <a:tbl>
              <a:tblPr firstRow="0" bandRow="0"/>
              <a:tblGrid>
                <a:gridCol w="3520440"/>
                <a:gridCol w="1783080"/>
                <a:gridCol w="4279392"/>
                <a:gridCol w="1508760"/>
              </a:tblGrid>
              <a:tr h="374904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項目（設定ファイルの名前）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初期値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意味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画面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evaluation.outerRadiusMm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120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外周とみなす Mark の半径 [mm]（外周の RMSE の境目）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2. 外周の半径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evaluation.removeLinear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false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XY 1次を除いてから推定する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2. 評価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evaluation.recordTiming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false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条件ごとの処理時間を記録する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2. 評価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evaluation.excludeOutliers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false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学習データの異常値を除く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2. 異常値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evaluation.outlierSigma ・ outlierMethod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3 ・ "sigma"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異常値の倍数 n と判定（sigma：平均と σ、mad：中央値と MAD）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2. 異常値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overlay.waferOrder ・ waferUseFormula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1 ・ false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Wafer 成分の次数（0 = なし）・式を使うか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2. Wafer 成分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overlay.shotCommon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"linear"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Shot 共通成分（none・linear・asml・canon・nikon・formula）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2. Shot 共通成分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overlay.perShot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"none"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Shot ごとの成分（none・translation・linear・formula）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2. Shot ごとの成分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overlay.waferFormula・shotFormula・perShotFormula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k1 + k3*x + k5*y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k2 + k4*y + k6*x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式を入力するときの dx・dy の式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2. dx・dy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display.scan1Up・scan1Color・scan2Color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true・緑・紫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表示：Scan 方向 1 を上向き（▲）にするか・1・2 の色（RGB 0〜1）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メニュー「表示」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5760720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DA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749808" y="5751576"/>
            <a:ext cx="521207" cy="521207"/>
          </a:xfrm>
          <a:prstGeom prst="ellipse">
            <a:avLst/>
          </a:prstGeom>
          <a:solidFill>
            <a:srgbClr val="4A4E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5760720"/>
            <a:ext cx="9994392" cy="50292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3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Overlay 補正をすべて「なし」（waferOrder 0・shotCommon none・perShot none）にすると補正の評価をしない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00" b="1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03　設定の項目と初期値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設定の項目⑤：methods（比べる手法）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9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デフォルト設定の編集ガイド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73952"/>
            <a:ext cx="9144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r"/>
            <a:r>
              <a:rPr sz="10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13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91672" cy="3657600"/>
        </p:xfrm>
        <a:graphic>
          <a:graphicData uri="http://schemas.openxmlformats.org/drawingml/2006/table">
            <a:tbl>
              <a:tblPr firstRow="0" bandRow="0"/>
              <a:tblGrid>
                <a:gridCol w="3017520"/>
                <a:gridCol w="2331720"/>
                <a:gridCol w="4206240"/>
                <a:gridCol w="1536192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項目（設定ファイルの名前）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初期値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意味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画面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methods.featureSets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"XYR"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説明変数（XY：X,Y、XYR：X,Y,半径）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2. 説明変数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methods.gpr.enabled ・ kernels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true ・ "matern52"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GPR とカーネル（fitrgp の10種類、matern・ardmatern、periodic・ardperiodic）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2. GPR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methods.gpr.factorModes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none・basis・additive・mixed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質的変数の扱い（8通りから）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2. GPR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methods.gpr.maternNu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2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matern・ardmatern の ν（複数なら ν ごと）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2. ν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methods.tps・rbf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false ・ false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TPS・RBF（factorModes：none・backfit）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2. TPS・RBF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methods.kriging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通常 false・Universal false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Kriging（variograms："exponential"）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2. Kriging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methods.gam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false（スプライン）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GAM（shapes・gpKernels・gpMaternNu）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2. GAM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methods.polynomial ・ rt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false（5次）・false（K=5）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XY 多項式の次数（1〜8）・RT モデルの次数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2. 多項式・RT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methods.zernike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false（次数 4）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Fringe Zernike（orders：次数 k は 1〜7。factorModes：none・backfit）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2. Fringe Zernike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5669280"/>
            <a:ext cx="11091672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A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749808" y="5682996"/>
            <a:ext cx="521207" cy="521207"/>
          </a:xfrm>
          <a:prstGeom prst="ellipse">
            <a:avLst/>
          </a:prstGeom>
          <a:solidFill>
            <a:srgbClr val="4A4E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5669280"/>
            <a:ext cx="9994392" cy="54864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3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初期値は GPR だけ（recommendedMethods.m の "default" の部分）。「推奨の組み合わせ」は "recommended"、「すべて選ぶ」は "all" の部分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00" b="1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03　設定の項目と初期値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設定の項目⑥：highOrder（7. Shot高次補正）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9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デフォルト設定の編集ガイド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73952"/>
            <a:ext cx="9144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r"/>
            <a:r>
              <a:rPr sz="10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91672" cy="3621024"/>
        </p:xfrm>
        <a:graphic>
          <a:graphicData uri="http://schemas.openxmlformats.org/drawingml/2006/table">
            <a:tbl>
              <a:tblPr firstRow="0" bandRow="0"/>
              <a:tblGrid>
                <a:gridCol w="3017520"/>
                <a:gridCol w="2011680"/>
                <a:gridCol w="4526280"/>
                <a:gridCol w="1536192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項目（設定ファイルの名前）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初期値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意味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画面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highOrder.maker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"nikon"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補正の式（asml・canon・nikon：ルールの式、custom：k1〜k38）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7. 補正の式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highOrder.unit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"common"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k のくくり（common：共通・scan：Scan 方向・row：行の偶奇・shot）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7. 補正のくくり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highOrder.waferOrder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1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Wafer 成分の次数（0〜5、0 = なし。shot は先に求めて引く）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7. Wafer 成分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highOrder.excludedTerms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[]（すべて使う）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使わない k の番号（例：[55, 41, 29]。k1〜k6 は外さない）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7. 使う項と VIF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highOrder.outerRadiusMm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120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外周の Shot（Shot 中心の半径 [mm] がこの値以上）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7. 外周の半径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highOrder.outerMaker ・ outerName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"none" ・ ""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外周の式（none：分けない）・選んだ組み合わせの名前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7. 外周の式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highOrder.vifThreshold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10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「VIF で選ぶ」のしきい値（よく使う値は 5〜10）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7. VIF のしきい値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highOrder.loss ・ huberTuning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"huber" ・ 1.345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損失関数（ols・huber・lad）・Huber の定数 c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7. 回帰・Huber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highOrder.regularization ・ penaltyOrders ・ lambda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"l2" ・ [2〜6] ・ 0.1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正則化（none・l2・l1）・かける次数（1〜6）・強さ λ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7. 正則化・λ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highOrder.termSets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[]（なし）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保存した項の組み合わせ（1行 = "名前|式|k の番号 …"）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7. 組み合わせ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5596128"/>
            <a:ext cx="11091672" cy="64008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 w="9525">
            <a:solidFill>
              <a:srgbClr val="DA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749808" y="5655564"/>
            <a:ext cx="521207" cy="521207"/>
          </a:xfrm>
          <a:prstGeom prst="ellipse">
            <a:avLst/>
          </a:prstGeom>
          <a:solidFill>
            <a:srgbClr val="4A4E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5596128"/>
            <a:ext cx="9994392" cy="64008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2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λ はそろえた係数に対する値（L2 は 1 Shot 7×11 点の標準 0.1。点を減らすときは λ × √(77 / 点の数)）。highOrder は評価の結果を変えない（「続きから再開」の比較にも使わない）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00" b="1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03　設定の項目と初期値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手法の細かい設定（methods.options）と画面の定数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9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デフォルト設定の編集ガイド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73952"/>
            <a:ext cx="9144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r"/>
            <a:r>
              <a:rPr sz="10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5532120" cy="3291840"/>
        </p:xfrm>
        <a:graphic>
          <a:graphicData uri="http://schemas.openxmlformats.org/drawingml/2006/table">
            <a:tbl>
              <a:tblPr firstRow="0" bandRow="0"/>
              <a:tblGrid>
                <a:gridCol w="3429000"/>
                <a:gridCol w="210312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methods.options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初期値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gprMaxIterations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300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backfitMaxIterations ・ backfitToleranceNm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20 ・ 0.001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krigingLags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6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tpsLog10Lambda ・ rbfLog10Lambda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[−8 3 45]（最小・最大・点数）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rbfLengthScales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[0.05 0.1 0.2 0.4 0.8 1.6]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gamBasisAxis ・ gamBasisRadius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8 ・ 8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gamGpLengthScales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[0.15 0.3 0.6]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gamGpKnots ・ gamGpGridKnots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10 ・ 7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63640" y="1371600"/>
          <a:ext cx="5376672" cy="3538728"/>
        </p:xfrm>
        <a:graphic>
          <a:graphicData uri="http://schemas.openxmlformats.org/drawingml/2006/table">
            <a:tbl>
              <a:tblPr firstRow="0" bandRow="0"/>
              <a:tblGrid>
                <a:gridCol w="3639312"/>
                <a:gridCol w="1737360"/>
              </a:tblGrid>
              <a:tr h="393192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画面などの定数（ファイル）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値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FIGURE_SIZE（画面の大きさ）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[1440 900]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FONT_SIZE ・ AXES_FONT_SIZE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16 ・ 13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DEFAULT_MARKER_SIZE（色の点）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30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MAX_CURVES（グラフの線の数）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8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MAX_MEASURE_PANELS ・ MAX_COMPARE_PANELS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6 ・ 6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SECONDS_PER_RUN ・ MATERN_NU_FACTOR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2 秒 ・ 3 倍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SECONDS_PER_SHOT_START（交換法）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0.01 秒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WORST_PERCENT（95%値）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95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166360"/>
            <a:ext cx="11091672" cy="6858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9525">
            <a:solidFill>
              <a:srgbClr val="DA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49808" y="5248656"/>
            <a:ext cx="521207" cy="521207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5166360"/>
            <a:ext cx="9994392" cy="68580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3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options は Python 版と同じ値。変えると推定の結果が変わり、Python 版との照合テスト（TestPythonReference）が合わなくなる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00" b="1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04　編集の例・注意・確かめ方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編集の例 ― 同じ変更を設定ファイルとコードで書く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9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デフォルト設定の編集ガイド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73952"/>
            <a:ext cx="9144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r"/>
            <a:r>
              <a:rPr sz="10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91672" cy="64008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3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例：D 最適も比べる・学習 Shot 数を 10〜50（10 刻み）・同心円を 60・100 mm・外周を 130 mm・異常値を MAD で除く・Fringe Zernike（次数 4）も比べる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57400"/>
            <a:ext cx="5257800" cy="384048"/>
          </a:xfrm>
          <a:prstGeom prst="roundRect">
            <a:avLst>
              <a:gd name="adj" fmla="val 19047"/>
            </a:avLst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85800" y="2057400"/>
            <a:ext cx="4983480" cy="384048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手順 A・B：設定ファイル（JSON）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41448"/>
            <a:ext cx="5257800" cy="3685032"/>
          </a:xfrm>
          <a:prstGeom prst="roundRect">
            <a:avLst>
              <a:gd name="adj" fmla="val 1985"/>
            </a:avLst>
          </a:prstGeom>
          <a:solidFill>
            <a:srgbClr val="F3F4F8"/>
          </a:solidFill>
          <a:ln w="9525">
            <a:solidFill>
              <a:srgbClr val="DA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2532888"/>
            <a:ext cx="4983480" cy="352044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50" b="0">
                <a:solidFill>
                  <a:srgbClr val="22223B"/>
                </a:solidFill>
                <a:latin typeface="Courier New"/>
                <a:ea typeface="Courier New"/>
                <a:cs typeface="Courier New"/>
              </a:rPr>
              <a:t>{</a:t>
            </a:r>
          </a:p>
          <a:p>
            <a:pPr algn="l"/>
            <a:r>
              <a:rPr sz="1250" b="0">
                <a:solidFill>
                  <a:srgbClr val="22223B"/>
                </a:solidFill>
                <a:latin typeface="Courier New"/>
                <a:ea typeface="Courier New"/>
                <a:cs typeface="Courier New"/>
              </a:rPr>
              <a:t>  "sampling": {</a:t>
            </a:r>
          </a:p>
          <a:p>
            <a:pPr algn="l"/>
            <a:r>
              <a:rPr sz="1250" b="0">
                <a:solidFill>
                  <a:srgbClr val="22223B"/>
                </a:solidFill>
                <a:latin typeface="Courier New"/>
                <a:ea typeface="Courier New"/>
                <a:cs typeface="Courier New"/>
              </a:rPr>
              <a:t>    "method": ["ioptimal", "doptimal"],</a:t>
            </a:r>
          </a:p>
          <a:p>
            <a:pPr algn="l"/>
            <a:r>
              <a:rPr sz="1250" b="0">
                <a:solidFill>
                  <a:srgbClr val="22223B"/>
                </a:solidFill>
                <a:latin typeface="Courier New"/>
                <a:ea typeface="Courier New"/>
                <a:cs typeface="Courier New"/>
              </a:rPr>
              <a:t>    "nShotsStart": 10, "nShotsEnd": 50,</a:t>
            </a:r>
          </a:p>
          <a:p>
            <a:pPr algn="l"/>
            <a:r>
              <a:rPr sz="1250" b="0">
                <a:solidFill>
                  <a:srgbClr val="22223B"/>
                </a:solidFill>
                <a:latin typeface="Courier New"/>
                <a:ea typeface="Courier New"/>
                <a:cs typeface="Courier New"/>
              </a:rPr>
              <a:t>    "nShotsStep": 10,</a:t>
            </a:r>
          </a:p>
          <a:p>
            <a:pPr algn="l"/>
            <a:r>
              <a:rPr sz="1250" b="0">
                <a:solidFill>
                  <a:srgbClr val="22223B"/>
                </a:solidFill>
                <a:latin typeface="Courier New"/>
                <a:ea typeface="Courier New"/>
                <a:cs typeface="Courier New"/>
              </a:rPr>
              <a:t>    "constraints": {</a:t>
            </a:r>
          </a:p>
          <a:p>
            <a:pPr algn="l"/>
            <a:r>
              <a:rPr sz="1250" b="0">
                <a:solidFill>
                  <a:srgbClr val="22223B"/>
                </a:solidFill>
                <a:latin typeface="Courier New"/>
                <a:ea typeface="Courier New"/>
                <a:cs typeface="Courier New"/>
              </a:rPr>
              <a:t>      "radialZoneEdgesMm": [60, 100] }</a:t>
            </a:r>
          </a:p>
          <a:p>
            <a:pPr algn="l"/>
            <a:r>
              <a:rPr sz="1250" b="0">
                <a:solidFill>
                  <a:srgbClr val="22223B"/>
                </a:solidFill>
                <a:latin typeface="Courier New"/>
                <a:ea typeface="Courier New"/>
                <a:cs typeface="Courier New"/>
              </a:rPr>
              <a:t>  },</a:t>
            </a:r>
          </a:p>
          <a:p>
            <a:pPr algn="l"/>
            <a:r>
              <a:rPr sz="1250" b="0">
                <a:solidFill>
                  <a:srgbClr val="22223B"/>
                </a:solidFill>
                <a:latin typeface="Courier New"/>
                <a:ea typeface="Courier New"/>
                <a:cs typeface="Courier New"/>
              </a:rPr>
              <a:t>  "evaluation": { "outerRadiusMm": 130,</a:t>
            </a:r>
          </a:p>
          <a:p>
            <a:pPr algn="l"/>
            <a:r>
              <a:rPr sz="1250" b="0">
                <a:solidFill>
                  <a:srgbClr val="22223B"/>
                </a:solidFill>
                <a:latin typeface="Courier New"/>
                <a:ea typeface="Courier New"/>
                <a:cs typeface="Courier New"/>
              </a:rPr>
              <a:t>    "excludeOutliers": true,</a:t>
            </a:r>
          </a:p>
          <a:p>
            <a:pPr algn="l"/>
            <a:r>
              <a:rPr sz="1250" b="0">
                <a:solidFill>
                  <a:srgbClr val="22223B"/>
                </a:solidFill>
                <a:latin typeface="Courier New"/>
                <a:ea typeface="Courier New"/>
                <a:cs typeface="Courier New"/>
              </a:rPr>
              <a:t>    "outlierMethod": "mad" },</a:t>
            </a:r>
          </a:p>
          <a:p>
            <a:pPr algn="l"/>
            <a:r>
              <a:rPr sz="1250" b="0">
                <a:solidFill>
                  <a:srgbClr val="22223B"/>
                </a:solidFill>
                <a:latin typeface="Courier New"/>
                <a:ea typeface="Courier New"/>
                <a:cs typeface="Courier New"/>
              </a:rPr>
              <a:t>  "methods": { "zernike": {</a:t>
            </a:r>
          </a:p>
          <a:p>
            <a:pPr algn="l"/>
            <a:r>
              <a:rPr sz="1250" b="0">
                <a:solidFill>
                  <a:srgbClr val="22223B"/>
                </a:solidFill>
                <a:latin typeface="Courier New"/>
                <a:ea typeface="Courier New"/>
                <a:cs typeface="Courier New"/>
              </a:rPr>
              <a:t>    "enabled": true, "orders": 4 } }</a:t>
            </a:r>
          </a:p>
          <a:p>
            <a:pPr algn="l"/>
            <a:r>
              <a:rPr sz="1250" b="0">
                <a:solidFill>
                  <a:srgbClr val="22223B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2057400"/>
            <a:ext cx="5605272" cy="384048"/>
          </a:xfrm>
          <a:prstGeom prst="roundRect">
            <a:avLst>
              <a:gd name="adj" fmla="val 19047"/>
            </a:avLst>
          </a:prstGeom>
          <a:solidFill>
            <a:srgbClr val="8D6A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172200" y="2057400"/>
            <a:ext cx="5330952" cy="384048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手順 C：defaultSettings.m・recommendedMethods.m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441448"/>
            <a:ext cx="5605272" cy="3685032"/>
          </a:xfrm>
          <a:prstGeom prst="roundRect">
            <a:avLst>
              <a:gd name="adj" fmla="val 1985"/>
            </a:avLst>
          </a:prstGeom>
          <a:solidFill>
            <a:srgbClr val="F3F4F8"/>
          </a:solidFill>
          <a:ln w="9525">
            <a:solidFill>
              <a:srgbClr val="DA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172200" y="2532888"/>
            <a:ext cx="5330952" cy="352044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100" b="0">
                <a:solidFill>
                  <a:srgbClr val="22223B"/>
                </a:solidFill>
                <a:latin typeface="Courier New"/>
                <a:ea typeface="Courier New"/>
                <a:cs typeface="Courier New"/>
              </a:rPr>
              <a:t>% defaultSettings.m</a:t>
            </a:r>
          </a:p>
          <a:p>
            <a:pPr algn="l"/>
            <a:r>
              <a:rPr sz="1100" b="0">
                <a:solidFill>
                  <a:srgbClr val="22223B"/>
                </a:solidFill>
                <a:latin typeface="Courier New"/>
                <a:ea typeface="Courier New"/>
                <a:cs typeface="Courier New"/>
              </a:rPr>
              <a:t>settings.sampling.method = ["ioptimal", "doptimal"];</a:t>
            </a:r>
          </a:p>
          <a:p>
            <a:pPr algn="l"/>
            <a:r>
              <a:rPr sz="1100" b="0">
                <a:solidFill>
                  <a:srgbClr val="22223B"/>
                </a:solidFill>
                <a:latin typeface="Courier New"/>
                <a:ea typeface="Courier New"/>
                <a:cs typeface="Courier New"/>
              </a:rPr>
              <a:t>settings.sampling.nShotsStart = 10;</a:t>
            </a:r>
          </a:p>
          <a:p>
            <a:pPr algn="l"/>
            <a:r>
              <a:rPr sz="1100" b="0">
                <a:solidFill>
                  <a:srgbClr val="22223B"/>
                </a:solidFill>
                <a:latin typeface="Courier New"/>
                <a:ea typeface="Courier New"/>
                <a:cs typeface="Courier New"/>
              </a:rPr>
              <a:t>settings.sampling.nShotsEnd = 50;</a:t>
            </a:r>
          </a:p>
          <a:p>
            <a:pPr algn="l"/>
            <a:r>
              <a:rPr sz="1100" b="0">
                <a:solidFill>
                  <a:srgbClr val="22223B"/>
                </a:solidFill>
                <a:latin typeface="Courier New"/>
                <a:ea typeface="Courier New"/>
                <a:cs typeface="Courier New"/>
              </a:rPr>
              <a:t>settings.sampling.nShotsStep = 10;</a:t>
            </a:r>
          </a:p>
          <a:p>
            <a:pPr algn="l"/>
            <a:r>
              <a:rPr sz="1100" b="0">
                <a:solidFill>
                  <a:srgbClr val="22223B"/>
                </a:solidFill>
                <a:latin typeface="Courier New"/>
                <a:ea typeface="Courier New"/>
                <a:cs typeface="Courier New"/>
              </a:rPr>
              <a:t>settings.sampling.nShots = alignest.shotCountList(10, 50, 10);</a:t>
            </a:r>
          </a:p>
          <a:p>
            <a:pPr algn="l"/>
            <a:r>
              <a:rPr sz="1100" b="0">
                <a:solidFill>
                  <a:srgbClr val="22223B"/>
                </a:solidFill>
                <a:latin typeface="Courier New"/>
                <a:ea typeface="Courier New"/>
                <a:cs typeface="Courier New"/>
              </a:rPr>
              <a:t>settings.sampling.constraints.radialZoneEdgesMm = [60, 100];</a:t>
            </a:r>
          </a:p>
          <a:p>
            <a:pPr algn="l"/>
            <a:r>
              <a:rPr sz="1100" b="0">
                <a:solidFill>
                  <a:srgbClr val="22223B"/>
                </a:solidFill>
                <a:latin typeface="Courier New"/>
                <a:ea typeface="Courier New"/>
                <a:cs typeface="Courier New"/>
              </a:rPr>
              <a:t>settings.evaluation.outerRadiusMm = 130;</a:t>
            </a:r>
          </a:p>
          <a:p>
            <a:pPr algn="l"/>
            <a:r>
              <a:rPr sz="1100" b="0">
                <a:solidFill>
                  <a:srgbClr val="22223B"/>
                </a:solidFill>
                <a:latin typeface="Courier New"/>
                <a:ea typeface="Courier New"/>
                <a:cs typeface="Courier New"/>
              </a:rPr>
              <a:t>settings.evaluation.excludeOutliers = true;</a:t>
            </a:r>
          </a:p>
          <a:p>
            <a:pPr algn="l"/>
            <a:r>
              <a:rPr sz="1100" b="0">
                <a:solidFill>
                  <a:srgbClr val="22223B"/>
                </a:solidFill>
                <a:latin typeface="Courier New"/>
                <a:ea typeface="Courier New"/>
                <a:cs typeface="Courier New"/>
              </a:rPr>
              <a:t>settings.evaluation.outlierMethod = "mad";</a:t>
            </a:r>
          </a:p>
          <a:p>
            <a:pPr algn="l"/>
            <a:r>
              <a:rPr sz="1100" b="0">
                <a:solidFill>
                  <a:srgbClr val="22223B"/>
                </a:solidFill>
                <a:latin typeface="Courier New"/>
                <a:ea typeface="Courier New"/>
                <a:cs typeface="Courier New"/>
              </a:rPr>
              <a:t>% recommendedMethods.m（"default" の部分＝初期設定）</a:t>
            </a:r>
          </a:p>
          <a:p>
            <a:pPr algn="l"/>
            <a:r>
              <a:rPr sz="1100" b="0">
                <a:solidFill>
                  <a:srgbClr val="22223B"/>
                </a:solidFill>
                <a:latin typeface="Courier New"/>
                <a:ea typeface="Courier New"/>
                <a:cs typeface="Courier New"/>
              </a:rPr>
              <a:t>methods.zernike.enabled = true;</a:t>
            </a:r>
          </a:p>
          <a:p>
            <a:pPr algn="l"/>
            <a:r>
              <a:rPr sz="1100" b="0">
                <a:solidFill>
                  <a:srgbClr val="22223B"/>
                </a:solidFill>
                <a:latin typeface="Courier New"/>
                <a:ea typeface="Courier New"/>
                <a:cs typeface="Courier New"/>
              </a:rPr>
              <a:t>methods.zernike.orders = 4;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00" b="1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04　編集の例・注意・確かめ方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気をつけること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9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デフォルト設定の編集ガイド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73952"/>
            <a:ext cx="9144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r"/>
            <a:r>
              <a:rPr sz="10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3511296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A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645920"/>
            <a:ext cx="2468880" cy="54864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55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型と形をそろえる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3054096" cy="11887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5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文字は "…"（JSON も "…"）、並びは横の [a, b]。true・false は小文字。JSON は UTF-8 で保存する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827" y="1417320"/>
            <a:ext cx="3511296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A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7427" y="1645920"/>
            <a:ext cx="548640" cy="548640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mm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3227" y="1645920"/>
            <a:ext cx="2468880" cy="54864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55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単位を間違えない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7427" y="2331720"/>
            <a:ext cx="3054096" cy="11887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5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半径は mm、計測値・誤差は nm、計測率は %。半径 150 mm の Wafer が前提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9015" y="1417320"/>
            <a:ext cx="3511296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A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7615" y="1645920"/>
            <a:ext cx="548640" cy="548640"/>
          </a:xfrm>
          <a:prstGeom prst="ellipse">
            <a:avLst/>
          </a:prstGeom>
          <a:solidFill>
            <a:srgbClr val="8D6A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43415" y="1645920"/>
            <a:ext cx="2468880" cy="54864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55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項目の名前を変えない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7615" y="2331720"/>
            <a:ext cx="3054096" cy="11887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5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名前を変えると以前の設定ファイル・評価結果の Excel が読めなくなる。項目を足すときは defaultSettings.m に初期値を書く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4760"/>
            <a:ext cx="3511296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A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7240" y="4023360"/>
            <a:ext cx="548640" cy="548640"/>
          </a:xfrm>
          <a:prstGeom prst="ellipse">
            <a:avLst/>
          </a:prstGeom>
          <a:solidFill>
            <a:srgbClr val="9C7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023360"/>
            <a:ext cx="2468880" cy="54864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55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結果が変わることを伝える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709160"/>
            <a:ext cx="3054096" cy="11887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5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推奨の組み合わせ・options を変えると評価の値が変わる。過去と比べるときは同じ設定ファイルで評価する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8827" y="3794760"/>
            <a:ext cx="3511296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A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567427" y="4023360"/>
            <a:ext cx="548640" cy="548640"/>
          </a:xfrm>
          <a:prstGeom prst="ellipse">
            <a:avLst/>
          </a:prstGeom>
          <a:solidFill>
            <a:srgbClr val="22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3227" y="4023360"/>
            <a:ext cx="2468880" cy="54864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55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テストの期待値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7427" y="4709160"/>
            <a:ext cx="3054096" cy="11887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5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初期値を確かめるテスト（時間の目安・学習 Shot 数の並びなど）が失敗したら、意図した変更なら期待値を直す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29015" y="3794760"/>
            <a:ext cx="3511296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A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8357615" y="4023360"/>
            <a:ext cx="548640" cy="54864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43415" y="4023360"/>
            <a:ext cx="2468880" cy="54864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55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置き場所を確かめる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7615" y="4709160"/>
            <a:ext cx="3054096" cy="11887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5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既定の設定ファイルは、exe ならショートカットの作業フォルダーを探す。置いたら記録の「読み込みました」で確かめる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00" b="1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04　編集の例・注意・確かめ方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確かめ方 ― テスト・画面・Excel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9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デフォルト設定の編集ガイド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73952"/>
            <a:ext cx="9144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r"/>
            <a:r>
              <a:rPr sz="10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18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417320"/>
            <a:ext cx="438912" cy="438912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371600"/>
            <a:ext cx="5440679" cy="310896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4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テストを全件流す（手順 C）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673352"/>
            <a:ext cx="5440679" cy="594359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cd tests → runAllTests。「成功 209 件、失敗 0 件、未完了 0 件」（2026-10-31 時点の件数）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313432"/>
            <a:ext cx="438912" cy="438912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67712"/>
            <a:ext cx="5440679" cy="310896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4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画面で初期値を見る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569464"/>
            <a:ext cx="5440679" cy="594359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「初期設定に戻す」を押し、「2. 評価の設定」の欄が新しい値か確かめる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209544"/>
            <a:ext cx="438912" cy="438912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163824"/>
            <a:ext cx="5440679" cy="310896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4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設定ファイルを開いて見る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465576"/>
            <a:ext cx="5440679" cy="594359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「設定を保存…」で保存した JSON の値（名前・単位・並び）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105655"/>
            <a:ext cx="438912" cy="438912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059935"/>
            <a:ext cx="5440679" cy="310896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4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模擬データで評価する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361688"/>
            <a:ext cx="5440679" cy="594359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sample_data の模擬データで評価し、結果の Excel の「設定」シートを見る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5001768"/>
            <a:ext cx="438912" cy="438912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956048"/>
            <a:ext cx="5440679" cy="310896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4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exe でも同じことを確かめる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5257800"/>
            <a:ext cx="5440679" cy="594359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作り直した exe（手順 C）、または既定の設定ファイルを置いたフォルダ（手順 B）で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858000" y="1371600"/>
          <a:ext cx="4782312" cy="3968496"/>
        </p:xfrm>
        <a:graphic>
          <a:graphicData uri="http://schemas.openxmlformats.org/drawingml/2006/table">
            <a:tbl>
              <a:tblPr firstRow="0" bandRow="0"/>
              <a:tblGrid>
                <a:gridCol w="2148840"/>
                <a:gridCol w="2633472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変えたもの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確かめるテスト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設定の項目・読み込み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TestSpatialModels・TestFilterExtendTiming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学習 Shot の選び方・制約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TestMeasurementPlan・TestLayoutDesignZernike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比べる手法・options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TestModelOptions・TestPythonReference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Overlay 補正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TestOverlay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画面の定数・部品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TestAppWorkflow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既定の設定ファイル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TestLayoutDesignZernike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548640" y="5897880"/>
            <a:ext cx="1109167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A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749808" y="5865876"/>
            <a:ext cx="521207" cy="521207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897880"/>
            <a:ext cx="9994392" cy="45720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3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すべて確かめてから配る。配った後に問題が出たら、前の設定ファイル・前の版に戻す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2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1091672" cy="7315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32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まとめ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1664207"/>
            <a:ext cx="502920" cy="50292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554480"/>
            <a:ext cx="5669280" cy="77724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600" b="0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A 設定ファイルを配る：評価ごとに条件を変える。「設定を保存…」→「設定を読み込む…」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779776"/>
            <a:ext cx="502920" cy="502920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670048"/>
            <a:ext cx="5669280" cy="77724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600" b="0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B 既定の設定ファイル（alignment_estimation_defaults.json）：exe を作り直さずに全員の初期値をそろえる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3895344"/>
            <a:ext cx="502920" cy="502920"/>
          </a:xfrm>
          <a:prstGeom prst="ellipse">
            <a:avLst/>
          </a:prstGeom>
          <a:solidFill>
            <a:srgbClr val="8D6A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785615"/>
            <a:ext cx="5669280" cy="77724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600" b="0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C コードの初期値（defaultSettings.m・recommendedMethods.m）：テストと exe の作り直しが必要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5010912"/>
            <a:ext cx="502920" cy="502920"/>
          </a:xfrm>
          <a:prstGeom prst="ellipse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4901184"/>
            <a:ext cx="5669280" cy="77724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600" b="0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書いた項目だけが初期値に重なる。型・単位・項目の名前を保ち、変えたら画面と Excel で確かめる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1463040"/>
            <a:ext cx="4279392" cy="4572000"/>
          </a:xfrm>
          <a:prstGeom prst="roundRect">
            <a:avLst>
              <a:gd name="adj" fmla="val 1709"/>
            </a:avLst>
          </a:prstGeom>
          <a:solidFill>
            <a:srgbClr val="343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635240" y="1645920"/>
            <a:ext cx="3749039" cy="4572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7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関連する資料</a:t>
            </a:r>
          </a:p>
        </p:txBody>
      </p:sp>
      <p:sp>
        <p:nvSpPr>
          <p:cNvPr id="13" name="Oval 12"/>
          <p:cNvSpPr/>
          <p:nvPr/>
        </p:nvSpPr>
        <p:spPr>
          <a:xfrm>
            <a:off x="7635240" y="2359152"/>
            <a:ext cx="365760" cy="365760"/>
          </a:xfrm>
          <a:prstGeom prst="ellipse">
            <a:avLst/>
          </a:prstGeom>
          <a:solidFill>
            <a:srgbClr val="A9AC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224028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README.md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2606040"/>
            <a:ext cx="3291840" cy="41148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00" b="0">
                <a:solidFill>
                  <a:srgbClr val="D9DBEA"/>
                </a:solidFill>
                <a:latin typeface="BIZ UDGothic"/>
                <a:ea typeface="BIZ UDGothic"/>
                <a:cs typeface="BIZ UDGothic"/>
              </a:rPr>
              <a:t>設定の項目・使い方の全体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3255264"/>
            <a:ext cx="365760" cy="365760"/>
          </a:xfrm>
          <a:prstGeom prst="ellipse">
            <a:avLst/>
          </a:prstGeom>
          <a:solidFill>
            <a:srgbClr val="A9AC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3136392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docs/admin_guide/admin_guide.html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3502152"/>
            <a:ext cx="3291840" cy="41148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00" b="0">
                <a:solidFill>
                  <a:srgbClr val="D9DBEA"/>
                </a:solidFill>
                <a:latin typeface="BIZ UDGothic"/>
                <a:ea typeface="BIZ UDGothic"/>
                <a:cs typeface="BIZ UDGothic"/>
              </a:rPr>
              <a:t>アプリの構成と保守の作業</a:t>
            </a:r>
          </a:p>
        </p:txBody>
      </p:sp>
      <p:sp>
        <p:nvSpPr>
          <p:cNvPr id="19" name="Oval 18"/>
          <p:cNvSpPr/>
          <p:nvPr/>
        </p:nvSpPr>
        <p:spPr>
          <a:xfrm>
            <a:off x="7635240" y="4151376"/>
            <a:ext cx="365760" cy="365760"/>
          </a:xfrm>
          <a:prstGeom prst="ellipse">
            <a:avLst/>
          </a:prstGeom>
          <a:solidFill>
            <a:srgbClr val="A9AC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4032504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docs/windows_guide/windows_guide.html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4398264"/>
            <a:ext cx="3291840" cy="41148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00" b="0">
                <a:solidFill>
                  <a:srgbClr val="D9DBEA"/>
                </a:solidFill>
                <a:latin typeface="BIZ UDGothic"/>
                <a:ea typeface="BIZ UDGothic"/>
                <a:cs typeface="BIZ UDGothic"/>
              </a:rPr>
              <a:t>画面の使い方・exe を作る・配る</a:t>
            </a:r>
          </a:p>
        </p:txBody>
      </p:sp>
      <p:sp>
        <p:nvSpPr>
          <p:cNvPr id="22" name="Oval 21"/>
          <p:cNvSpPr/>
          <p:nvPr/>
        </p:nvSpPr>
        <p:spPr>
          <a:xfrm>
            <a:off x="7635240" y="5047488"/>
            <a:ext cx="365760" cy="365760"/>
          </a:xfrm>
          <a:prstGeom prst="ellipse">
            <a:avLst/>
          </a:prstGeom>
          <a:solidFill>
            <a:srgbClr val="A9AC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4928616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「8. ヘルプ」タブ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79" y="5294375"/>
            <a:ext cx="3291840" cy="41148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00" b="0">
                <a:solidFill>
                  <a:srgbClr val="D9DBEA"/>
                </a:solidFill>
                <a:latin typeface="BIZ UDGothic"/>
                <a:ea typeface="BIZ UDGothic"/>
                <a:cs typeface="BIZ UDGothic"/>
              </a:rPr>
              <a:t>用語・カーネル・補正の式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900" b="0">
                <a:solidFill>
                  <a:srgbClr val="A9ACC6"/>
                </a:solidFill>
                <a:latin typeface="BIZ UDGothic"/>
                <a:ea typeface="BIZ UDGothic"/>
                <a:cs typeface="BIZ UDGothic"/>
              </a:rPr>
              <a:t>デフォルト設定の編集ガイド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25912" y="6473952"/>
            <a:ext cx="9144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r"/>
            <a:r>
              <a:rPr sz="1000" b="0">
                <a:solidFill>
                  <a:srgbClr val="A9ACC6"/>
                </a:solidFill>
                <a:latin typeface="BIZ UDGothic"/>
                <a:ea typeface="BIZ UDGothic"/>
                <a:cs typeface="BIZ UDGothic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BIZ UD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BIZ UD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デフォルト設定の編集ガイド（管理者向け）</dc:title>
  <dc:subject>面内推定評価ツールの初期設定（評価の条件・比べる手法・画面の初期値）の変え方</dc:subject>
  <dc:creator>alignment-estimation-benchmark</dc:creator>
  <cp:lastModifiedBy>alignment-estimation-benchmark</cp:lastModifiedBy>
  <cp:revision>1</cp:revision>
  <dcterms:created xsi:type="dcterms:W3CDTF">2026-09-13T09:19:14Z</dcterms:created>
  <dcterms:modified xsi:type="dcterms:W3CDTF">2026-09-13T09:19:14Z</dcterms:modified>
</cp:coreProperties>
</file>