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6"/>
    <p:sldId id="278" r:id="rId5"/>
  </p:sldIdLst>
  <p:notesMasterIdLst>
    <p:notesMasterId r:id="rId2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5" Type="http://schemas.openxmlformats.org/officeDocument/2006/relationships/slide" Target="slides/slide23.xml"/><Relationship Id="rId6" Type="http://schemas.openxmlformats.org/officeDocument/2006/relationships/slide" Target="slides/slide22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内訳</c:v>
                </c:pt>
              </c:strCache>
            </c:strRef>
          </c:tx>
          <c:dPt>
            <c:idx val="0"/>
            <c:spPr>
              <a:solidFill>
                <a:srgbClr val="2A9D8F"/>
              </a:solidFill>
              <a:ln>
                <a:solidFill>
                  <a:srgbClr val="22223B"/>
                </a:solidFill>
              </a:ln>
            </c:spPr>
          </c:dPt>
          <c:dPt>
            <c:idx val="1"/>
            <c:spPr>
              <a:solidFill>
                <a:srgbClr val="E76F51"/>
              </a:solidFill>
              <a:ln>
                <a:solidFill>
                  <a:srgbClr val="22223B"/>
                </a:solidFill>
              </a:ln>
            </c:spPr>
          </c:dPt>
          <c:dPt>
            <c:idx val="2"/>
            <c:spPr>
              <a:solidFill>
                <a:srgbClr val="8D6A9F"/>
              </a:solidFill>
              <a:ln>
                <a:solidFill>
                  <a:srgbClr val="22223B"/>
                </a:solidFill>
              </a:ln>
            </c:spPr>
          </c:dPt>
          <c:dPt>
            <c:idx val="3"/>
            <c:spPr>
              <a:solidFill>
                <a:srgbClr val="9C7412"/>
              </a:solidFill>
              <a:ln>
                <a:solidFill>
                  <a:srgbClr val="22223B"/>
                </a:solidFill>
              </a:ln>
            </c:spPr>
          </c:dPt>
          <c:dPt>
            <c:idx val="4"/>
            <c:spPr>
              <a:solidFill>
                <a:srgbClr val="A9ACC6"/>
              </a:solidFill>
              <a:ln>
                <a:solidFill>
                  <a:srgbClr val="22223B"/>
                </a:solidFill>
              </a:ln>
            </c:spPr>
          </c:dPt>
          <c:dLbls>
            <c:dLbl>
              <c:idx val="3"/>
              <c:delete val="1"/>
            </c:dLbl>
            <c:dLbl>
              <c:idx val="4"/>
              <c:delete val="1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space</c:v>
                </c:pt>
                <c:pt idx="1">
                  <c:v>scan</c:v>
                </c:pt>
                <c:pt idx="2">
                  <c:v>mark</c:v>
                </c:pt>
                <c:pt idx="3">
                  <c:v>scan_mark</c:v>
                </c:pt>
                <c:pt idx="4">
                  <c:v>noise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0.7964700667337481</c:v>
                </c:pt>
                <c:pt idx="1">
                  <c:v>0.03679656371712272</c:v>
                </c:pt>
                <c:pt idx="2">
                  <c:v>0.16663688757148454</c:v>
                </c:pt>
                <c:pt idx="3">
                  <c:v>2.4945798007381997e-08</c:v>
                </c:pt>
                <c:pt idx="4">
                  <c:v>9.645703184668722e-05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sz="1200" b="1">
                  <a:solidFill>
                    <a:srgbClr val="FFFFFF"/>
                  </a:solidFill>
                </a:defRPr>
              </a:pPr>
            </a:p>
          </c:txPr>
          <c:showLegendKey val="0"/>
          <c:showVal val="0"/>
          <c:showCatName val="0"/>
          <c:showSerName val="0"/>
          <c:showPercent val="1"/>
          <c:showBubbleSize val="0"/>
          <c:showLeaderLines val="1"/>
        </c:dLbls>
        <c:firstSliceAng val="0"/>
        <c:holeSize val="62"/>
      </c:doughnutChart>
    </c:plotArea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学習 15 Shot</c:v>
                </c:pt>
              </c:strCache>
            </c:strRef>
          </c:tx>
          <c:spPr>
            <a:solidFill>
              <a:srgbClr val="22223B"/>
            </a:solidFill>
          </c:spPr>
          <c:cat>
            <c:strRef>
              <c:f>Sheet1!$A$2:$A$8</c:f>
              <c:strCache>
                <c:ptCount val="7"/>
                <c:pt idx="0">
                  <c:v>使わない</c:v>
                </c:pt>
                <c:pt idx="1">
                  <c:v>同時推定</c:v>
                </c:pt>
                <c:pt idx="2">
                  <c:v>同時推定
＋交互作用</c:v>
                </c:pt>
                <c:pt idx="3">
                  <c:v>加法カーネル</c:v>
                </c:pt>
                <c:pt idx="4">
                  <c:v>加法カーネル
＋交互作用</c:v>
                </c:pt>
                <c:pt idx="5">
                  <c:v>混合</c:v>
                </c:pt>
                <c:pt idx="6">
                  <c:v>混合
＋交互作用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3.336130195034779</c:v>
                </c:pt>
                <c:pt idx="1">
                  <c:v>2.398390429716778</c:v>
                </c:pt>
                <c:pt idx="2">
                  <c:v>2.6530988123419483</c:v>
                </c:pt>
                <c:pt idx="3">
                  <c:v>2.387498114772721</c:v>
                </c:pt>
                <c:pt idx="4">
                  <c:v>2.459708957561999</c:v>
                </c:pt>
                <c:pt idx="5">
                  <c:v>2.4254332681323945</c:v>
                </c:pt>
                <c:pt idx="6">
                  <c:v>2.48553614415568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学習 30 Shot</c:v>
                </c:pt>
              </c:strCache>
            </c:strRef>
          </c:tx>
          <c:spPr>
            <a:solidFill>
              <a:srgbClr val="2A9D8F"/>
            </a:solidFill>
          </c:spPr>
          <c:cat>
            <c:strRef>
              <c:f>Sheet1!$A$2:$A$8</c:f>
              <c:strCache>
                <c:ptCount val="7"/>
                <c:pt idx="0">
                  <c:v>使わない</c:v>
                </c:pt>
                <c:pt idx="1">
                  <c:v>同時推定</c:v>
                </c:pt>
                <c:pt idx="2">
                  <c:v>同時推定
＋交互作用</c:v>
                </c:pt>
                <c:pt idx="3">
                  <c:v>加法カーネル</c:v>
                </c:pt>
                <c:pt idx="4">
                  <c:v>加法カーネル
＋交互作用</c:v>
                </c:pt>
                <c:pt idx="5">
                  <c:v>混合</c:v>
                </c:pt>
                <c:pt idx="6">
                  <c:v>混合
＋交互作用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2.6101884253064034</c:v>
                </c:pt>
                <c:pt idx="1">
                  <c:v>1.2889351757590266</c:v>
                </c:pt>
                <c:pt idx="2">
                  <c:v>1.347796666812518</c:v>
                </c:pt>
                <c:pt idx="3">
                  <c:v>1.2986635033382767</c:v>
                </c:pt>
                <c:pt idx="4">
                  <c:v>1.309257056418664</c:v>
                </c:pt>
                <c:pt idx="5">
                  <c:v>1.2871666198320888</c:v>
                </c:pt>
                <c:pt idx="6">
                  <c:v>1.2953636994874398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1100">
                  <a:solidFill>
                    <a:srgbClr val="22223B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ADDE6"/>
            </a:solidFill>
          </a:ln>
        </c:spPr>
        <c:txPr>
          <a:bodyPr/>
          <a:lstStyle/>
          <a:p>
            <a:pPr>
              <a:defRPr sz="1100">
                <a:solidFill>
                  <a:srgbClr val="22223B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DADDE6"/>
              </a:solidFill>
            </a:ln>
          </c:spPr>
        </c:majorGridlines>
        <c:title>
          <c:tx>
            <c:rich>
              <a:bodyPr/>
              <a:lstStyle/>
              <a:p>
                <a:r>
                  <a:rPr sz="1200" b="0">
                    <a:solidFill>
                      <a:srgbClr val="6C6F7F"/>
                    </a:solidFill>
                    <a:latin typeface="BIZ UDGothic"/>
                    <a:ea typeface="BIZ UDGothic"/>
                    <a:cs typeface="BIZ UDGothic"/>
                  </a:rPr>
                  <a:t>RMSE（X・Y 合計）[nm]、Wafer 5 枚の平均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>
                <a:solidFill>
                  <a:srgbClr val="6C6F7F"/>
                </a:solidFill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200"/>
          </a:pPr>
        </a:p>
      </c:txPr>
    </c:legend>
    <c:dispBlanksAs val="gap"/>
  </c:chart>
  <c:txPr>
    <a:bodyPr/>
    <a:lstStyle/>
    <a:p>
      <a:pPr>
        <a:defRPr sz="1200">
          <a:solidFill>
            <a:srgbClr val="4A4E69"/>
          </a:solidFill>
          <a:latin typeface="BIZ UDGothic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アプリの GPR で「加法カーネル」「加法カーネル＋交互作用」を選んだときに、カーネルがどんな式になっているかを説明する資料。右の図は、模擬データの1枚で推定したハイパーパラメータから、1点の値の分散が各項にどれだけ割り振られたかを示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4章構成。前提 → 加法カーネル → 交互作用 → 計算例と使い方の順に進む。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アライメントの計測値には、Wafer 上の位置で滑らかに変わる成分のほかに、Scan 方向や Mark 番号で決まる段差がある。質的変数（カテゴリーの変数）として推定に入れると、段差を説明できる。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GPR（ガウス過程回帰）は、平均の部分・カーネル・ノイズで決まる。質的変数は、平均の部分に入れる方法と、カーネルに入れる方法がある。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アプリの「質的変数の扱い」の8通り。平均の部分に効果コードを入れるのが固定効果、カーネルに同じ水準の項を足すのが変量効果。[同じ水準] は、2点の水準が同じなら 1、違えば 0 という意味。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加法カーネルは、空間のカーネルに、質的変数ごとの「水準が同じなら τ²」の項を足したもの。τ は変数ごとに1つのハイパーパラメータで、空間の長さスケールなどと一緒に推定する。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カーネル行列で見ると、空間の行列に、Scan 方向が同じ組だけ 1 の行列 S と、Mark 番号が同じ組だけ 1 の行列 M を、それぞれ τ² 倍して足したもの。S・M はグループごとに全部 1 のブロックなので正定値（半正定値）で、和もカーネルになる。空間の濃さは説明用に長さスケール 45 mm（matern52）で描いた。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加法カーネルは、水準ごとのずれを平均0・分散 τ² の確率変数（変量効果）として扱うことと同じ。同じ水準の点は同じずれを足すので、その分だけ共分散が τ² 大きくなる。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予測値は、空間の部分と、質的変数ごとの部分に分けられる。質的変数の部分は、同じ水準の学習点の α の和に τ² を掛けたもので、その水準のずれの予測（BLUP）になっている。固定効果と違い、情報が少ないと 0 に縮む。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同じ質的変数でも、平均に入れる（固定効果）か、カーネルに入れる（変量効果）かで、推定のふるまいが変わる。効果の有無がはっきりしない変数は、変量効果だと自動で弱められる。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交互作用は、2つの質的変数の組み合わせでだけ現れるずれ。主効果の足し算では表せないので、組み合わせごとのずれを別に置く。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交互作用の項は、Scan 方向が同じ行列 S と Mark 番号が同じ行列 M の、要素ごとの積（アダマール積）に τ_sm² を掛けたもの。8点の例では Shot A と B の Scan が違うので対角だけが 1 になるが、実際の Wafer では同じ Scan 方向の別の Shot の同じ Mark どうしがつながる。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アプリの「＋交互作用」は、選んだ質的変数（X・Y 成分ごとの選択）の全ペアについて、両方が同じなら τ² の項を足す。3変数以上の組み合わせは入れない。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交互作用を平均の部分に入れる（basis_int）と、組み合わせごとの係数を固定効果として推定する。カーネルに入れる（additive_int・mixed_int）と、組み合わせごとのずれを変量効果として扱う。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τ は、空間の長さスケール・大きさ・ノイズと一緒に、対数周辺尤度を最大にして決める。アプリでは Toolbox を使わずに、上下限つきの L-BFGS（alignest.optim.minimizeBox）で解析的な勾配を使って探す。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同梱の模擬データは、Scan 方向の差と Mark 番号ごとのずれを入れて作り、交互作用は入れていない。X 成分では τ_sm が下限付近まで小さくなり、データに交互作用が無いことと合っている。Y 成分では τ_s・τ_m が小さくなり、τ_sm がずれを引き受けた。Scan 2 × Mark 4 の 8 通りの組み合わせごとのずれは、主効果の足し算も表せるので、どの項に割り振るかがデータだけでは決まりにくい（予測値はどちらでも近い）。値は Excel の「Waferごと」のハイパーパラメータ（tau_scan_X・tau_mark_X・tau_scan_mark_X など）と同じ。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推定したハイパーパラメータで、2点のカーネルの値（共分散）を項ごとに分けた。0 の欄は、その項の条件（同じ水準）を満たさないため。自分自身との値は、各項の分散の和（ノイズを除く）。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推定値 = 平均 + 空間 + 質的変数の各項。質的変数の項は、その水準の学習点の α の和に τ² を掛けた値（変量効果の予測、BLUP）。同じ学習点で同時推定（固定効果）にしたときの効果の値と比べると、符号と並びは同じで、0 の方へ縮んでいる。τ が小さい Scan 方向ほど強く縮む。固定効果の値は別のモデル（ハイパーパラメータも別に推定）なので、比はおおよその目安。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同梱の模擬データ（5枚）で、GPR matern52（X,Y,半径）の質的変数の扱い方を変えて、評価点の RMSE（X・Y 合計）の Wafer 平均を比べた。学習 Shot は制約付き I 最適で 15・30 Shot。模擬データには交互作用が無いので、交互作用の項の効果は小さい。実データで交互作用がある場合は結果が変わるので、アプリの結果一覧で確かめる。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加法カーネルの項は gprModeSetup で 0・1 の行列として作り、gprKernel で τ² を掛けて空間のカーネルに足す。推定した τ は Excel のハイパーパラメータの欄で確かめられる。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加法カーネルは効かない変数を自動で弱められるが、ハイパーパラメータが増えるので計算時間は増える。同じ分け方の変数を2つ選ぶと、どちらの τ に割り振るかが決まらない（予測値は変わらない）。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加法カーネルと交互作用の要点。実データでは、交互作用の有無はデータ次第なので、アプリの結果一覧とハイパーパラメータで確かめる。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カーネルの和で質的変数を扱う考え方は [1][2][3]、変量効果の予測（BLUP）は [4]、加法カーネルは [5] を参照。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2.xml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22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822960"/>
            <a:ext cx="5943600" cy="36576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400" b="0">
                <a:solidFill>
                  <a:srgbClr val="A9ACC6"/>
                </a:solidFill>
                <a:latin typeface="BIZ UDGothic"/>
                <a:ea typeface="BIZ UDGothic"/>
                <a:cs typeface="BIZ UDGothic"/>
              </a:rPr>
              <a:t>技術解説資料 ｜ 面内推定 検証ツール（GPR）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737360"/>
            <a:ext cx="6400800" cy="9144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40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加法カーネルと交互作用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88920"/>
            <a:ext cx="6035040" cy="11887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2000" b="0">
                <a:solidFill>
                  <a:srgbClr val="D9DBEA"/>
                </a:solidFill>
                <a:latin typeface="BIZ UDGothic"/>
                <a:ea typeface="BIZ UDGothic"/>
                <a:cs typeface="BIZ UDGothic"/>
              </a:rPr>
              <a:t>GPR で質的変数（Scan 方向・Mark 番号）を</a:t>
            </a:r>
          </a:p>
          <a:p>
            <a:pPr algn="l"/>
            <a:r>
              <a:rPr sz="2000" b="0">
                <a:solidFill>
                  <a:srgbClr val="D9DBEA"/>
                </a:solidFill>
                <a:latin typeface="BIZ UDGothic"/>
                <a:ea typeface="BIZ UDGothic"/>
                <a:cs typeface="BIZ UDGothic"/>
              </a:rPr>
              <a:t>どのようなカーネルで扱っているか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806440"/>
            <a:ext cx="6035040" cy="32004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0">
                <a:solidFill>
                  <a:srgbClr val="A9ACC6"/>
                </a:solidFill>
                <a:latin typeface="BIZ UDGothic"/>
                <a:ea typeface="BIZ UDGothic"/>
                <a:cs typeface="BIZ UDGothic"/>
              </a:rPr>
              <a:t>2026年10月 ｜ 計算例は同梱の模擬データを MATLAB R2022b で計算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0" y="685800"/>
            <a:ext cx="4389120" cy="32004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0">
                <a:solidFill>
                  <a:srgbClr val="A9ACC6"/>
                </a:solidFill>
                <a:latin typeface="BIZ UDGothic"/>
                <a:ea typeface="BIZ UDGothic"/>
                <a:cs typeface="BIZ UDGothic"/>
              </a:rPr>
              <a:t>例：模擬データ Wafer 1・X 成分の分散の内訳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7498079" y="1051560"/>
          <a:ext cx="3840480" cy="32918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8503920" y="2423160"/>
            <a:ext cx="1828800" cy="54864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ctr"/>
            <a:r>
              <a:rPr sz="1800" b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k(z,z)+σ</a:t>
            </a:r>
            <a:r>
              <a:rPr sz="1800" b="0" baseline="-4000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n</a:t>
            </a:r>
            <a:r>
              <a:rPr sz="1800" b="0" baseline="3000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2</a:t>
            </a:r>
          </a:p>
        </p:txBody>
      </p:sp>
      <p:sp>
        <p:nvSpPr>
          <p:cNvPr id="9" name="Oval 8"/>
          <p:cNvSpPr/>
          <p:nvPr/>
        </p:nvSpPr>
        <p:spPr>
          <a:xfrm>
            <a:off x="7818120" y="4590288"/>
            <a:ext cx="164592" cy="164592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92440" y="4526280"/>
            <a:ext cx="3566160" cy="292608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300" b="0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空間 </a:t>
            </a:r>
            <a:r>
              <a:rPr sz="1300" b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σ</a:t>
            </a:r>
            <a:r>
              <a:rPr sz="1300" b="0" baseline="-4000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f</a:t>
            </a:r>
            <a:r>
              <a:rPr sz="1300" b="0" baseline="3000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2</a:t>
            </a:r>
            <a:r>
              <a:rPr sz="1300" b="0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　80%　（8.36 nm²）</a:t>
            </a:r>
          </a:p>
        </p:txBody>
      </p:sp>
      <p:sp>
        <p:nvSpPr>
          <p:cNvPr id="11" name="Oval 10"/>
          <p:cNvSpPr/>
          <p:nvPr/>
        </p:nvSpPr>
        <p:spPr>
          <a:xfrm>
            <a:off x="7818120" y="4892040"/>
            <a:ext cx="164592" cy="164592"/>
          </a:xfrm>
          <a:prstGeom prst="ellipse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92440" y="4828032"/>
            <a:ext cx="3566160" cy="292608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300" b="0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Scan 方向 </a:t>
            </a:r>
            <a:r>
              <a:rPr sz="1300" b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τ</a:t>
            </a:r>
            <a:r>
              <a:rPr sz="1300" b="0" baseline="-4000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s</a:t>
            </a:r>
            <a:r>
              <a:rPr sz="1300" b="0" baseline="3000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2</a:t>
            </a:r>
            <a:r>
              <a:rPr sz="1300" b="0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　4%　（0.39 nm²）</a:t>
            </a:r>
          </a:p>
        </p:txBody>
      </p:sp>
      <p:sp>
        <p:nvSpPr>
          <p:cNvPr id="13" name="Oval 12"/>
          <p:cNvSpPr/>
          <p:nvPr/>
        </p:nvSpPr>
        <p:spPr>
          <a:xfrm>
            <a:off x="7818120" y="5193792"/>
            <a:ext cx="164592" cy="164592"/>
          </a:xfrm>
          <a:prstGeom prst="ellipse">
            <a:avLst/>
          </a:prstGeom>
          <a:solidFill>
            <a:srgbClr val="8D6A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92440" y="5129784"/>
            <a:ext cx="3566160" cy="292608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300" b="0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Mark 番号 </a:t>
            </a:r>
            <a:r>
              <a:rPr sz="1300" b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τ</a:t>
            </a:r>
            <a:r>
              <a:rPr sz="1300" b="0" baseline="-4000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m</a:t>
            </a:r>
            <a:r>
              <a:rPr sz="1300" b="0" baseline="3000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2</a:t>
            </a:r>
            <a:r>
              <a:rPr sz="1300" b="0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　17%　（1.75 nm²）</a:t>
            </a:r>
          </a:p>
        </p:txBody>
      </p:sp>
      <p:sp>
        <p:nvSpPr>
          <p:cNvPr id="15" name="Oval 14"/>
          <p:cNvSpPr/>
          <p:nvPr/>
        </p:nvSpPr>
        <p:spPr>
          <a:xfrm>
            <a:off x="7818120" y="5495544"/>
            <a:ext cx="164592" cy="164592"/>
          </a:xfrm>
          <a:prstGeom prst="ellipse">
            <a:avLst/>
          </a:prstGeom>
          <a:solidFill>
            <a:srgbClr val="9C74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92440" y="5431536"/>
            <a:ext cx="3566160" cy="292608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300" b="0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Scan×Mark </a:t>
            </a:r>
            <a:r>
              <a:rPr sz="1300" b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τ</a:t>
            </a:r>
            <a:r>
              <a:rPr sz="1300" b="0" baseline="-4000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sm</a:t>
            </a:r>
            <a:r>
              <a:rPr sz="1300" b="0" baseline="3000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2</a:t>
            </a:r>
            <a:r>
              <a:rPr sz="1300" b="0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　0%　（0.00 nm²）</a:t>
            </a:r>
          </a:p>
        </p:txBody>
      </p:sp>
      <p:sp>
        <p:nvSpPr>
          <p:cNvPr id="17" name="Oval 16"/>
          <p:cNvSpPr/>
          <p:nvPr/>
        </p:nvSpPr>
        <p:spPr>
          <a:xfrm>
            <a:off x="7818120" y="5797296"/>
            <a:ext cx="164592" cy="164592"/>
          </a:xfrm>
          <a:prstGeom prst="ellipse">
            <a:avLst/>
          </a:prstGeom>
          <a:solidFill>
            <a:srgbClr val="A9AC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92440" y="5733288"/>
            <a:ext cx="3566160" cy="292608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300" b="0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ノイズ </a:t>
            </a:r>
            <a:r>
              <a:rPr sz="1300" b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σ</a:t>
            </a:r>
            <a:r>
              <a:rPr sz="1300" b="0" baseline="-4000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n</a:t>
            </a:r>
            <a:r>
              <a:rPr sz="1300" b="0" baseline="3000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2</a:t>
            </a:r>
            <a:r>
              <a:rPr sz="1300" b="0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　0%　（0.00 nm²）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66928"/>
            <a:ext cx="11091672" cy="6858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この資料で学ぶこと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73952"/>
            <a:ext cx="36576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9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加法カーネルと交互作用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5912" y="6473952"/>
            <a:ext cx="9144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r"/>
            <a:r>
              <a:rPr sz="10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17320"/>
            <a:ext cx="11091672" cy="777240"/>
          </a:xfrm>
          <a:prstGeom prst="roundRect">
            <a:avLst>
              <a:gd name="adj" fmla="val 9411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Oval 5"/>
          <p:cNvSpPr/>
          <p:nvPr/>
        </p:nvSpPr>
        <p:spPr>
          <a:xfrm>
            <a:off x="749808" y="1545336"/>
            <a:ext cx="521207" cy="521207"/>
          </a:xfrm>
          <a:prstGeom prst="ellipse">
            <a:avLst/>
          </a:prstGeom>
          <a:solidFill>
            <a:srgbClr val="222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◎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1417320"/>
            <a:ext cx="9994392" cy="77724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6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ゴール：アプリの「加法カーネル」「加法カーネル＋交互作用」が、どんな式のカーネルで、推定値にどう効くかを説明できる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514600"/>
            <a:ext cx="2569464" cy="3611880"/>
          </a:xfrm>
          <a:prstGeom prst="roundRect">
            <a:avLst>
              <a:gd name="adj" fmla="val 2846"/>
            </a:avLst>
          </a:prstGeom>
          <a:solidFill>
            <a:srgbClr val="FFFFFF"/>
          </a:solidFill>
          <a:ln w="9525">
            <a:solidFill>
              <a:srgbClr val="DA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Oval 8"/>
          <p:cNvSpPr/>
          <p:nvPr/>
        </p:nvSpPr>
        <p:spPr>
          <a:xfrm>
            <a:off x="822959" y="2788920"/>
            <a:ext cx="640080" cy="640080"/>
          </a:xfrm>
          <a:prstGeom prst="ellipse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12264" y="2788920"/>
            <a:ext cx="731520" cy="64008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r"/>
            <a:r>
              <a:rPr sz="3000" b="1">
                <a:solidFill>
                  <a:srgbClr val="DADDE6"/>
                </a:solidFill>
                <a:latin typeface="BIZ UDGothic"/>
                <a:ea typeface="BIZ UDGothic"/>
                <a:cs typeface="BIZ UDGothic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59" y="3611880"/>
            <a:ext cx="2020824" cy="4572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9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GPR と質的変数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59" y="4160520"/>
            <a:ext cx="2020824" cy="1371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3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前提の整理。なぜ質的変数を入れるか、GPR の式、質的変数の8通りの扱い方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59" y="5623560"/>
            <a:ext cx="2020824" cy="2743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1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p.3–5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92424" y="2514600"/>
            <a:ext cx="2569464" cy="3611880"/>
          </a:xfrm>
          <a:prstGeom prst="roundRect">
            <a:avLst>
              <a:gd name="adj" fmla="val 2846"/>
            </a:avLst>
          </a:prstGeom>
          <a:solidFill>
            <a:srgbClr val="FFFFFF"/>
          </a:solidFill>
          <a:ln w="9525">
            <a:solidFill>
              <a:srgbClr val="DA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3666744" y="2788920"/>
            <a:ext cx="640080" cy="6400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+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56048" y="2788920"/>
            <a:ext cx="731520" cy="64008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r"/>
            <a:r>
              <a:rPr sz="3000" b="1">
                <a:solidFill>
                  <a:srgbClr val="DADDE6"/>
                </a:solidFill>
                <a:latin typeface="BIZ UDGothic"/>
                <a:ea typeface="BIZ UDGothic"/>
                <a:cs typeface="BIZ UDGothic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66744" y="3611880"/>
            <a:ext cx="2020824" cy="4572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9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加法カーネル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66744" y="4160520"/>
            <a:ext cx="2020824" cy="1371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3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「同じ水準なら τ²」を足すカーネル。行列・変量効果・予測での効き方、固定効果との違い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66744" y="5623560"/>
            <a:ext cx="2020824" cy="2743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1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p.6–10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36207" y="2514600"/>
            <a:ext cx="2569464" cy="3611880"/>
          </a:xfrm>
          <a:prstGeom prst="roundRect">
            <a:avLst>
              <a:gd name="adj" fmla="val 2846"/>
            </a:avLst>
          </a:prstGeom>
          <a:solidFill>
            <a:srgbClr val="FFFFFF"/>
          </a:solidFill>
          <a:ln w="9525">
            <a:solidFill>
              <a:srgbClr val="DA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Oval 20"/>
          <p:cNvSpPr/>
          <p:nvPr/>
        </p:nvSpPr>
        <p:spPr>
          <a:xfrm>
            <a:off x="6510527" y="2788920"/>
            <a:ext cx="640080" cy="640080"/>
          </a:xfrm>
          <a:prstGeom prst="ellipse">
            <a:avLst/>
          </a:prstGeom>
          <a:solidFill>
            <a:srgbClr val="8D6A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×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99831" y="2788920"/>
            <a:ext cx="731520" cy="64008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r"/>
            <a:r>
              <a:rPr sz="3000" b="1">
                <a:solidFill>
                  <a:srgbClr val="DADDE6"/>
                </a:solidFill>
                <a:latin typeface="BIZ UDGothic"/>
                <a:ea typeface="BIZ UDGothic"/>
                <a:cs typeface="BIZ UDGothic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10527" y="3611880"/>
            <a:ext cx="2020824" cy="4572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9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交互作用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10527" y="4160520"/>
            <a:ext cx="2020824" cy="1371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3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「両方が同じなら τ²」の項。全ペアの入れ方、平均に入れる交互作用・混合との違い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10527" y="5623560"/>
            <a:ext cx="2020824" cy="2743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1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p.11–14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079992" y="2514600"/>
            <a:ext cx="2569464" cy="3611880"/>
          </a:xfrm>
          <a:prstGeom prst="roundRect">
            <a:avLst>
              <a:gd name="adj" fmla="val 2846"/>
            </a:avLst>
          </a:prstGeom>
          <a:solidFill>
            <a:srgbClr val="FFFFFF"/>
          </a:solidFill>
          <a:ln w="9525">
            <a:solidFill>
              <a:srgbClr val="DA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Oval 26"/>
          <p:cNvSpPr/>
          <p:nvPr/>
        </p:nvSpPr>
        <p:spPr>
          <a:xfrm>
            <a:off x="9354312" y="2788920"/>
            <a:ext cx="640080" cy="640080"/>
          </a:xfrm>
          <a:prstGeom prst="ellipse">
            <a:avLst/>
          </a:prstGeom>
          <a:solidFill>
            <a:srgbClr val="9C74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▶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43616" y="2788920"/>
            <a:ext cx="731520" cy="64008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r"/>
            <a:r>
              <a:rPr sz="3000" b="1">
                <a:solidFill>
                  <a:srgbClr val="DADDE6"/>
                </a:solidFill>
                <a:latin typeface="BIZ UDGothic"/>
                <a:ea typeface="BIZ UDGothic"/>
                <a:cs typeface="BIZ UDGothic"/>
              </a:rPr>
              <a:t>04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54312" y="3611880"/>
            <a:ext cx="2020824" cy="4572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9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計算例と使い方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54312" y="4160520"/>
            <a:ext cx="2020824" cy="1371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3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ハイパーパラメータの推定、模擬データでの数値例、アプリでの場所、使い分けと注意点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54312" y="5623560"/>
            <a:ext cx="2020824" cy="2743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1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p.15–21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1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01　前提：GPR と質的変数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1672" cy="6858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なぜ質的変数を入れるか ― 計測値は3つの成分の足し算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36576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9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加法カーネルと交互作用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5912" y="6473952"/>
            <a:ext cx="9144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r"/>
            <a:r>
              <a:rPr sz="10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08760"/>
            <a:ext cx="2450592" cy="914400"/>
          </a:xfrm>
          <a:prstGeom prst="roundRect">
            <a:avLst>
              <a:gd name="adj" fmla="val 8000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48640" y="1508760"/>
            <a:ext cx="2450592" cy="9144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ctr"/>
            <a:r>
              <a:rPr sz="17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計測値 </a:t>
            </a:r>
            <a:r>
              <a:rPr sz="1700" b="1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99232" y="1508760"/>
            <a:ext cx="429768" cy="9144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ctr"/>
            <a:r>
              <a:rPr sz="2600" b="1">
                <a:solidFill>
                  <a:srgbClr val="6C6F7F"/>
                </a:solidFill>
                <a:latin typeface="Times New Roman"/>
                <a:ea typeface="Times New Roman"/>
                <a:cs typeface="Times New Roman"/>
              </a:rPr>
              <a:t>=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29000" y="1508760"/>
            <a:ext cx="2450592" cy="914400"/>
          </a:xfrm>
          <a:prstGeom prst="roundRect">
            <a:avLst>
              <a:gd name="adj" fmla="val 8000"/>
            </a:avLst>
          </a:prstGeom>
          <a:solidFill>
            <a:srgbClr val="D8F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3429000" y="1508760"/>
            <a:ext cx="2450592" cy="9144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ctr"/>
            <a:r>
              <a:rPr sz="1700" b="1">
                <a:solidFill>
                  <a:srgbClr val="2A9D8F"/>
                </a:solidFill>
                <a:latin typeface="BIZ UDGothic"/>
                <a:ea typeface="BIZ UDGothic"/>
                <a:cs typeface="BIZ UDGothic"/>
              </a:rPr>
              <a:t>空間の滑らかな成分 </a:t>
            </a:r>
            <a:r>
              <a:rPr sz="1700" b="1">
                <a:solidFill>
                  <a:srgbClr val="2A9D8F"/>
                </a:solidFill>
                <a:latin typeface="Times New Roman"/>
                <a:ea typeface="Times New Roman"/>
                <a:cs typeface="Times New Roman"/>
              </a:rPr>
              <a:t>f(x)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79592" y="1508760"/>
            <a:ext cx="429768" cy="9144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ctr"/>
            <a:r>
              <a:rPr sz="2600" b="1">
                <a:solidFill>
                  <a:srgbClr val="6C6F7F"/>
                </a:solidFill>
                <a:latin typeface="Times New Roman"/>
                <a:ea typeface="Times New Roman"/>
                <a:cs typeface="Times New Roman"/>
              </a:rPr>
              <a:t>+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9360" y="1508760"/>
            <a:ext cx="2450592" cy="914400"/>
          </a:xfrm>
          <a:prstGeom prst="roundRect">
            <a:avLst>
              <a:gd name="adj" fmla="val 8000"/>
            </a:avLst>
          </a:prstGeom>
          <a:solidFill>
            <a:srgbClr val="FBE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309360" y="1508760"/>
            <a:ext cx="2450592" cy="9144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ctr"/>
            <a:r>
              <a:rPr sz="1700" b="1">
                <a:solidFill>
                  <a:srgbClr val="E76F51"/>
                </a:solidFill>
                <a:latin typeface="BIZ UDGothic"/>
                <a:ea typeface="BIZ UDGothic"/>
                <a:cs typeface="BIZ UDGothic"/>
              </a:rPr>
              <a:t>水準ごとのずれ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59952" y="1508760"/>
            <a:ext cx="429768" cy="9144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ctr"/>
            <a:r>
              <a:rPr sz="2600" b="1">
                <a:solidFill>
                  <a:srgbClr val="6C6F7F"/>
                </a:solidFill>
                <a:latin typeface="Times New Roman"/>
                <a:ea typeface="Times New Roman"/>
                <a:cs typeface="Times New Roman"/>
              </a:rPr>
              <a:t>+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89720" y="1508760"/>
            <a:ext cx="2450592" cy="914400"/>
          </a:xfrm>
          <a:prstGeom prst="roundRect">
            <a:avLst>
              <a:gd name="adj" fmla="val 8000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189720" y="1508760"/>
            <a:ext cx="2450592" cy="9144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ctr"/>
            <a:r>
              <a:rPr sz="1700" b="1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ノイズ </a:t>
            </a:r>
            <a:r>
              <a:rPr sz="1700" b="1">
                <a:solidFill>
                  <a:srgbClr val="6C6F7F"/>
                </a:solidFill>
                <a:latin typeface="Times New Roman"/>
                <a:ea typeface="Times New Roman"/>
                <a:cs typeface="Times New Roman"/>
              </a:rPr>
              <a:t>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2560320"/>
            <a:ext cx="11091672" cy="4572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4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水準ごとのずれ：Wafer 上の位置では決まらず、「どの水準か」で決まる段差。空間の滑らかな関数だけでは表しにくい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154680"/>
            <a:ext cx="2569464" cy="1874519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A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Oval 18"/>
          <p:cNvSpPr/>
          <p:nvPr/>
        </p:nvSpPr>
        <p:spPr>
          <a:xfrm>
            <a:off x="777240" y="3383280"/>
            <a:ext cx="548640" cy="548640"/>
          </a:xfrm>
          <a:prstGeom prst="ellipse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63040" y="3383280"/>
            <a:ext cx="1554480" cy="54864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6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Scan 方向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4069080"/>
            <a:ext cx="2194560" cy="9144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3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露光の走査の向き（1・2）。向きごとに全体が少しずれる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392424" y="3154680"/>
            <a:ext cx="2569464" cy="1874519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A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Oval 22"/>
          <p:cNvSpPr/>
          <p:nvPr/>
        </p:nvSpPr>
        <p:spPr>
          <a:xfrm>
            <a:off x="3621024" y="3383280"/>
            <a:ext cx="548640" cy="548640"/>
          </a:xfrm>
          <a:prstGeom prst="ellipse">
            <a:avLst/>
          </a:prstGeom>
          <a:solidFill>
            <a:srgbClr val="8D6A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06824" y="3383280"/>
            <a:ext cx="1554480" cy="54864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6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Mark 番号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21024" y="4069080"/>
            <a:ext cx="2194560" cy="9144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3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Shot 内の Mark の位置（1〜4 など）。位置ごとに決まったずれがある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36207" y="3154680"/>
            <a:ext cx="2569464" cy="1874519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A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Oval 26"/>
          <p:cNvSpPr/>
          <p:nvPr/>
        </p:nvSpPr>
        <p:spPr>
          <a:xfrm>
            <a:off x="6464807" y="3383280"/>
            <a:ext cx="548640" cy="54864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50607" y="3383280"/>
            <a:ext cx="1554480" cy="54864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6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Shot 行の奇数・偶数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64807" y="4069080"/>
            <a:ext cx="2194560" cy="9144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3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Shot 配列の行の奇偶。選んだときだけ使う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079992" y="3154680"/>
            <a:ext cx="2569464" cy="1874519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A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Oval 30"/>
          <p:cNvSpPr/>
          <p:nvPr/>
        </p:nvSpPr>
        <p:spPr>
          <a:xfrm>
            <a:off x="9308592" y="3383280"/>
            <a:ext cx="548640" cy="548640"/>
          </a:xfrm>
          <a:prstGeom prst="ellipse">
            <a:avLst/>
          </a:prstGeom>
          <a:solidFill>
            <a:srgbClr val="9C74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994392" y="3383280"/>
            <a:ext cx="1554480" cy="54864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6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ファイルのその他の列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08592" y="4069080"/>
            <a:ext cx="2194560" cy="9144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3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Chuck など、標準の項目以外の列。選んだときだけ使う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48640" y="5257800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Oval 34"/>
          <p:cNvSpPr/>
          <p:nvPr/>
        </p:nvSpPr>
        <p:spPr>
          <a:xfrm>
            <a:off x="749808" y="5431536"/>
            <a:ext cx="521207" cy="521207"/>
          </a:xfrm>
          <a:prstGeom prst="ellipse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?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463040" y="5257800"/>
            <a:ext cx="9994392" cy="86868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5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問い：水準ごとのずれを、平均の式に入れる（固定効果）か、カーネルに入れる（変量効果）か → 後者が「加法カーネル」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1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01　前提：GPR と質的変数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1672" cy="6858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GPR の式 ― 平均・カーネル・ノイズの3つで決まる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36576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9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加法カーネルと交互作用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5912" y="6473952"/>
            <a:ext cx="9144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r"/>
            <a:r>
              <a:rPr sz="10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463040"/>
            <a:ext cx="11091672" cy="960120"/>
          </a:xfrm>
          <a:prstGeom prst="roundRect">
            <a:avLst>
              <a:gd name="adj" fmla="val 7619"/>
            </a:avLst>
          </a:prstGeom>
          <a:solidFill>
            <a:srgbClr val="222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48640" y="1463040"/>
            <a:ext cx="11091672" cy="96012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ctr"/>
            <a:r>
              <a:rPr sz="2400" b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y = h(x)</a:t>
            </a:r>
            <a:r>
              <a:rPr sz="2400" b="0" baseline="3000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T</a:t>
            </a:r>
            <a:r>
              <a:rPr sz="2400" b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β + f(x) + ε</a:t>
            </a:r>
            <a:r>
              <a:rPr sz="2400" b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 ,　 </a:t>
            </a:r>
            <a:r>
              <a:rPr sz="2400" b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f ~ GP(0, k(x, x′))</a:t>
            </a:r>
            <a:r>
              <a:rPr sz="2400" b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 ,　 </a:t>
            </a:r>
            <a:r>
              <a:rPr sz="2400" b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ε ~ N(0, σ</a:t>
            </a:r>
            <a:r>
              <a:rPr sz="2400" b="0" baseline="-4000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n</a:t>
            </a:r>
            <a:r>
              <a:rPr sz="2400" b="0" baseline="3000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2</a:t>
            </a:r>
            <a:r>
              <a:rPr sz="2400" b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697480"/>
            <a:ext cx="3511296" cy="2286000"/>
          </a:xfrm>
          <a:prstGeom prst="roundRect">
            <a:avLst>
              <a:gd name="adj" fmla="val 3200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22959" y="2926080"/>
            <a:ext cx="2962656" cy="41148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800" b="1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平均の部分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429000"/>
            <a:ext cx="3145536" cy="54864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2000" b="0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h(x)</a:t>
            </a:r>
            <a:r>
              <a:rPr sz="2000" b="0" baseline="30000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T</a:t>
            </a:r>
            <a:r>
              <a:rPr sz="2000" b="0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β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59" y="4023360"/>
            <a:ext cx="2962656" cy="9144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3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定数（と、固定効果にする質的変数の効果コード）。β は一般化最小二乗で求める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38827" y="2697480"/>
            <a:ext cx="3511296" cy="2286000"/>
          </a:xfrm>
          <a:prstGeom prst="roundRect">
            <a:avLst>
              <a:gd name="adj" fmla="val 3200"/>
            </a:avLst>
          </a:prstGeom>
          <a:solidFill>
            <a:srgbClr val="D8F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4613147" y="2926080"/>
            <a:ext cx="2962656" cy="41148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800" b="1">
                <a:solidFill>
                  <a:srgbClr val="2A9D8F"/>
                </a:solidFill>
                <a:latin typeface="BIZ UDGothic"/>
                <a:ea typeface="BIZ UDGothic"/>
                <a:cs typeface="BIZ UDGothic"/>
              </a:rPr>
              <a:t>カーネル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21707" y="3429000"/>
            <a:ext cx="3145536" cy="54864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2000" b="0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k(x, x′)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13147" y="4023360"/>
            <a:ext cx="2962656" cy="9144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3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2点の値がどれだけ似ているか（共分散）。アプリの既定は matern52：</a:t>
            </a:r>
            <a:r>
              <a:rPr sz="1300" b="0">
                <a:solidFill>
                  <a:srgbClr val="4A4E69"/>
                </a:solidFill>
                <a:latin typeface="Times New Roman"/>
                <a:ea typeface="Times New Roman"/>
                <a:cs typeface="Times New Roman"/>
              </a:rPr>
              <a:t>σ</a:t>
            </a:r>
            <a:r>
              <a:rPr sz="1300" b="0" baseline="-40000">
                <a:solidFill>
                  <a:srgbClr val="4A4E69"/>
                </a:solidFill>
                <a:latin typeface="Times New Roman"/>
                <a:ea typeface="Times New Roman"/>
                <a:cs typeface="Times New Roman"/>
              </a:rPr>
              <a:t>f</a:t>
            </a:r>
            <a:r>
              <a:rPr sz="1300" b="0" baseline="30000">
                <a:solidFill>
                  <a:srgbClr val="4A4E69"/>
                </a:solidFill>
                <a:latin typeface="Times New Roman"/>
                <a:ea typeface="Times New Roman"/>
                <a:cs typeface="Times New Roman"/>
              </a:rPr>
              <a:t>2</a:t>
            </a:r>
            <a:r>
              <a:rPr sz="1300" b="0">
                <a:solidFill>
                  <a:srgbClr val="4A4E69"/>
                </a:solidFill>
                <a:latin typeface="Times New Roman"/>
                <a:ea typeface="Times New Roman"/>
                <a:cs typeface="Times New Roman"/>
              </a:rPr>
              <a:t>(1+√5r+5r</a:t>
            </a:r>
            <a:r>
              <a:rPr sz="1300" b="0" baseline="30000">
                <a:solidFill>
                  <a:srgbClr val="4A4E69"/>
                </a:solidFill>
                <a:latin typeface="Times New Roman"/>
                <a:ea typeface="Times New Roman"/>
                <a:cs typeface="Times New Roman"/>
              </a:rPr>
              <a:t>2</a:t>
            </a:r>
            <a:r>
              <a:rPr sz="1300" b="0">
                <a:solidFill>
                  <a:srgbClr val="4A4E69"/>
                </a:solidFill>
                <a:latin typeface="Times New Roman"/>
                <a:ea typeface="Times New Roman"/>
                <a:cs typeface="Times New Roman"/>
              </a:rPr>
              <a:t>/3)e</a:t>
            </a:r>
            <a:r>
              <a:rPr sz="1300" b="0" baseline="30000">
                <a:solidFill>
                  <a:srgbClr val="4A4E69"/>
                </a:solidFill>
                <a:latin typeface="Times New Roman"/>
                <a:ea typeface="Times New Roman"/>
                <a:cs typeface="Times New Roman"/>
              </a:rPr>
              <a:t>−√5r</a:t>
            </a:r>
            <a:r>
              <a:rPr sz="13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、</a:t>
            </a:r>
            <a:r>
              <a:rPr sz="1300" b="0">
                <a:solidFill>
                  <a:srgbClr val="4A4E69"/>
                </a:solidFill>
                <a:latin typeface="Times New Roman"/>
                <a:ea typeface="Times New Roman"/>
                <a:cs typeface="Times New Roman"/>
              </a:rPr>
              <a:t>r</a:t>
            </a:r>
            <a:r>
              <a:rPr sz="13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 = 距離 / </a:t>
            </a:r>
            <a:r>
              <a:rPr sz="1300" b="0">
                <a:solidFill>
                  <a:srgbClr val="4A4E69"/>
                </a:solidFill>
                <a:latin typeface="Times New Roman"/>
                <a:ea typeface="Times New Roman"/>
                <a:cs typeface="Times New Roman"/>
              </a:rPr>
              <a:t>ℓ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29015" y="2697480"/>
            <a:ext cx="3511296" cy="2286000"/>
          </a:xfrm>
          <a:prstGeom prst="roundRect">
            <a:avLst>
              <a:gd name="adj" fmla="val 3200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403336" y="2926080"/>
            <a:ext cx="2962656" cy="41148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800" b="1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ノイズ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11895" y="3429000"/>
            <a:ext cx="3145536" cy="54864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2000" b="0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σ</a:t>
            </a:r>
            <a:r>
              <a:rPr sz="2000" b="0" baseline="-40000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n</a:t>
            </a:r>
            <a:r>
              <a:rPr sz="2000" b="0" baseline="30000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03336" y="4023360"/>
            <a:ext cx="2962656" cy="9144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3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計測のばらつき。カーネルの対角に足す（</a:t>
            </a:r>
            <a:r>
              <a:rPr sz="1300" b="0">
                <a:solidFill>
                  <a:srgbClr val="4A4E69"/>
                </a:solidFill>
                <a:latin typeface="Times New Roman"/>
                <a:ea typeface="Times New Roman"/>
                <a:cs typeface="Times New Roman"/>
              </a:rPr>
              <a:t>K</a:t>
            </a:r>
            <a:r>
              <a:rPr sz="1300" b="0" baseline="-40000">
                <a:solidFill>
                  <a:srgbClr val="4A4E69"/>
                </a:solidFill>
                <a:latin typeface="Times New Roman"/>
                <a:ea typeface="Times New Roman"/>
                <a:cs typeface="Times New Roman"/>
              </a:rPr>
              <a:t>y</a:t>
            </a:r>
            <a:r>
              <a:rPr sz="1300" b="0">
                <a:solidFill>
                  <a:srgbClr val="4A4E69"/>
                </a:solidFill>
                <a:latin typeface="Times New Roman"/>
                <a:ea typeface="Times New Roman"/>
                <a:cs typeface="Times New Roman"/>
              </a:rPr>
              <a:t> = K + σ</a:t>
            </a:r>
            <a:r>
              <a:rPr sz="1300" b="0" baseline="-40000">
                <a:solidFill>
                  <a:srgbClr val="4A4E69"/>
                </a:solidFill>
                <a:latin typeface="Times New Roman"/>
                <a:ea typeface="Times New Roman"/>
                <a:cs typeface="Times New Roman"/>
              </a:rPr>
              <a:t>n</a:t>
            </a:r>
            <a:r>
              <a:rPr sz="1300" b="0" baseline="30000">
                <a:solidFill>
                  <a:srgbClr val="4A4E69"/>
                </a:solidFill>
                <a:latin typeface="Times New Roman"/>
                <a:ea typeface="Times New Roman"/>
                <a:cs typeface="Times New Roman"/>
              </a:rPr>
              <a:t>2</a:t>
            </a:r>
            <a:r>
              <a:rPr sz="1300" b="0">
                <a:solidFill>
                  <a:srgbClr val="4A4E69"/>
                </a:solidFill>
                <a:latin typeface="Times New Roman"/>
                <a:ea typeface="Times New Roman"/>
                <a:cs typeface="Times New Roman"/>
              </a:rPr>
              <a:t>I</a:t>
            </a:r>
            <a:r>
              <a:rPr sz="13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）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257800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9525">
            <a:solidFill>
              <a:srgbClr val="DA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Oval 20"/>
          <p:cNvSpPr/>
          <p:nvPr/>
        </p:nvSpPr>
        <p:spPr>
          <a:xfrm>
            <a:off x="749808" y="5431536"/>
            <a:ext cx="521207" cy="521207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5257800"/>
            <a:ext cx="9994392" cy="86868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5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予測：</a:t>
            </a:r>
            <a:r>
              <a:rPr sz="1500" b="1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ŷ</a:t>
            </a:r>
            <a:r>
              <a:rPr sz="1500" b="1" baseline="-40000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*</a:t>
            </a:r>
            <a:r>
              <a:rPr sz="1500" b="1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 = h</a:t>
            </a:r>
            <a:r>
              <a:rPr sz="1500" b="1" baseline="-40000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*</a:t>
            </a:r>
            <a:r>
              <a:rPr sz="1500" b="1" baseline="30000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T</a:t>
            </a:r>
            <a:r>
              <a:rPr sz="1500" b="1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β̂ + k</a:t>
            </a:r>
            <a:r>
              <a:rPr sz="1500" b="1" baseline="-40000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*</a:t>
            </a:r>
            <a:r>
              <a:rPr sz="1500" b="1" baseline="30000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T</a:t>
            </a:r>
            <a:r>
              <a:rPr sz="1500" b="1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K</a:t>
            </a:r>
            <a:r>
              <a:rPr sz="1500" b="1" baseline="-40000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y</a:t>
            </a:r>
            <a:r>
              <a:rPr sz="1500" b="1" baseline="30000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−1</a:t>
            </a:r>
            <a:r>
              <a:rPr sz="1500" b="1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(y − Hβ̂)</a:t>
            </a:r>
            <a:r>
              <a:rPr sz="15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。ハイパーパラメータ（</a:t>
            </a:r>
            <a:r>
              <a:rPr sz="1500" b="1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ℓ</a:t>
            </a:r>
            <a:r>
              <a:rPr sz="15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・</a:t>
            </a:r>
            <a:r>
              <a:rPr sz="1500" b="1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σ</a:t>
            </a:r>
            <a:r>
              <a:rPr sz="1500" b="1" baseline="-40000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f</a:t>
            </a:r>
            <a:r>
              <a:rPr sz="15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・</a:t>
            </a:r>
            <a:r>
              <a:rPr sz="1500" b="1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τ</a:t>
            </a:r>
            <a:r>
              <a:rPr sz="15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・</a:t>
            </a:r>
            <a:r>
              <a:rPr sz="1500" b="1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σ</a:t>
            </a:r>
            <a:r>
              <a:rPr sz="1500" b="1" baseline="-40000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n</a:t>
            </a:r>
            <a:r>
              <a:rPr sz="15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）は対数周辺尤度を最大にして選ぶ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1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01　前提：GPR と質的変数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1672" cy="6858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質的変数の扱い方は8通り ― 平均に入れるか、カーネルに入れるか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36576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9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加法カーネルと交互作用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5912" y="6473952"/>
            <a:ext cx="9144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r"/>
            <a:r>
              <a:rPr sz="10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5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417320"/>
          <a:ext cx="11091672" cy="3867912"/>
        </p:xfrm>
        <a:graphic>
          <a:graphicData uri="http://schemas.openxmlformats.org/drawingml/2006/table">
            <a:tbl>
              <a:tblPr firstRow="0" bandRow="0"/>
              <a:tblGrid>
                <a:gridCol w="3337560"/>
                <a:gridCol w="3246120"/>
                <a:gridCol w="3044952"/>
                <a:gridCol w="1463040"/>
              </a:tblGrid>
              <a:tr h="429768"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扱い方（id の末尾）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平均の部分（固定効果）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カーネル（変量効果）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交互作用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使わない（none）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定数だけ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空間だけ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—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同時推定（basis）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定数 ＋ 効果コード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空間だけ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—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Backfitting（backfit）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質的変数の効果と GPR を交互に当てはめ直す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空間だけ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—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同時推定＋交互作用（basis_int）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＋ 効果コードの積（全ペア）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空間だけ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平均に入れる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加法カーネル（additive）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D8F0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定数だけ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D8F0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空間 ＋ </a:t>
                      </a:r>
                      <a:r>
                        <a:rPr sz="1200" b="0">
                          <a:solidFill>
                            <a:srgbClr val="22223B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τ</a:t>
                      </a:r>
                      <a:r>
                        <a:rPr sz="1200" b="0" baseline="30000">
                          <a:solidFill>
                            <a:srgbClr val="22223B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2</a:t>
                      </a:r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[同じ水準]（変数ごと）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D8F0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—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D8F0ED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加法カーネル＋交互作用（additive_int）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D8F0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定数だけ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D8F0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＋ </a:t>
                      </a:r>
                      <a:r>
                        <a:rPr sz="1200" b="0">
                          <a:solidFill>
                            <a:srgbClr val="22223B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τ</a:t>
                      </a:r>
                      <a:r>
                        <a:rPr sz="1200" b="0" baseline="30000">
                          <a:solidFill>
                            <a:srgbClr val="22223B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2</a:t>
                      </a:r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[両方同じ]（全ペア）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D8F0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カーネルに入れる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D8F0ED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混合（mixed）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定数 ＋ Mark 以外の効果コード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空間 ＋ </a:t>
                      </a:r>
                      <a:r>
                        <a:rPr sz="1200" b="0">
                          <a:solidFill>
                            <a:srgbClr val="22223B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τ</a:t>
                      </a:r>
                      <a:r>
                        <a:rPr sz="1200" b="0" baseline="-40000">
                          <a:solidFill>
                            <a:srgbClr val="22223B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m</a:t>
                      </a:r>
                      <a:r>
                        <a:rPr sz="1200" b="0" baseline="30000">
                          <a:solidFill>
                            <a:srgbClr val="22223B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2</a:t>
                      </a:r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[Mark が同じ]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—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混合＋交互作用（mixed_int）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定数 ＋ Mark 以外の効果コード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＋ </a:t>
                      </a:r>
                      <a:r>
                        <a:rPr sz="1200" b="0">
                          <a:solidFill>
                            <a:srgbClr val="22223B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τ</a:t>
                      </a:r>
                      <a:r>
                        <a:rPr sz="1200" b="0" baseline="30000">
                          <a:solidFill>
                            <a:srgbClr val="22223B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2</a:t>
                      </a:r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[両方同じ]（全ペア）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カーネルに入れる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48640" y="5440680"/>
            <a:ext cx="11091672" cy="731520"/>
          </a:xfrm>
          <a:prstGeom prst="roundRect">
            <a:avLst>
              <a:gd name="adj" fmla="val 10000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Oval 7"/>
          <p:cNvSpPr/>
          <p:nvPr/>
        </p:nvSpPr>
        <p:spPr>
          <a:xfrm>
            <a:off x="749808" y="5545836"/>
            <a:ext cx="521207" cy="521207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!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5440680"/>
            <a:ext cx="9994392" cy="73152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5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この資料の主役は、色を付けた2行：加法カーネル（additive）と、加法カーネル＋交互作用（additive_int）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1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02　加法カーネル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1672" cy="6858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加法カーネルの式 ― 「同じ水準なら τ²」を足す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36576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9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加法カーネルと交互作用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5912" y="6473952"/>
            <a:ext cx="9144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r"/>
            <a:r>
              <a:rPr sz="10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417320"/>
            <a:ext cx="11091672" cy="960120"/>
          </a:xfrm>
          <a:prstGeom prst="roundRect">
            <a:avLst>
              <a:gd name="adj" fmla="val 7619"/>
            </a:avLst>
          </a:prstGeom>
          <a:solidFill>
            <a:srgbClr val="222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48640" y="1417320"/>
            <a:ext cx="11091672" cy="96012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ctr"/>
            <a:r>
              <a:rPr sz="2700" b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k(z, z′) = σ</a:t>
            </a:r>
            <a:r>
              <a:rPr sz="2700" b="0" baseline="-4000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f</a:t>
            </a:r>
            <a:r>
              <a:rPr sz="2700" b="0" baseline="3000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2</a:t>
            </a:r>
            <a:r>
              <a:rPr sz="2700" b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ρ(r) + τ</a:t>
            </a:r>
            <a:r>
              <a:rPr sz="2700" b="0" baseline="-4000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s</a:t>
            </a:r>
            <a:r>
              <a:rPr sz="2700" b="0" baseline="3000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2</a:t>
            </a:r>
            <a:r>
              <a:rPr sz="2700" b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δ(s, s′) + τ</a:t>
            </a:r>
            <a:r>
              <a:rPr sz="2700" b="0" baseline="-4000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m</a:t>
            </a:r>
            <a:r>
              <a:rPr sz="2700" b="0" baseline="3000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2</a:t>
            </a:r>
            <a:r>
              <a:rPr sz="2700" b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δ(m, m′)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468880"/>
            <a:ext cx="11091672" cy="36576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ctr"/>
            <a:r>
              <a:rPr sz="1500" b="0">
                <a:solidFill>
                  <a:srgbClr val="4A4E69"/>
                </a:solidFill>
                <a:latin typeface="Times New Roman"/>
                <a:ea typeface="Times New Roman"/>
                <a:cs typeface="Times New Roman"/>
              </a:rPr>
              <a:t>z</a:t>
            </a:r>
            <a:r>
              <a:rPr sz="15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 = (位置 </a:t>
            </a:r>
            <a:r>
              <a:rPr sz="1500" b="0">
                <a:solidFill>
                  <a:srgbClr val="4A4E69"/>
                </a:solidFill>
                <a:latin typeface="Times New Roman"/>
                <a:ea typeface="Times New Roman"/>
                <a:cs typeface="Times New Roman"/>
              </a:rPr>
              <a:t>x</a:t>
            </a:r>
            <a:r>
              <a:rPr sz="15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, Scan 方向 </a:t>
            </a:r>
            <a:r>
              <a:rPr sz="1500" b="0">
                <a:solidFill>
                  <a:srgbClr val="4A4E69"/>
                </a:solidFill>
                <a:latin typeface="Times New Roman"/>
                <a:ea typeface="Times New Roman"/>
                <a:cs typeface="Times New Roman"/>
              </a:rPr>
              <a:t>s</a:t>
            </a:r>
            <a:r>
              <a:rPr sz="15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, Mark 番号 </a:t>
            </a:r>
            <a:r>
              <a:rPr sz="1500" b="0">
                <a:solidFill>
                  <a:srgbClr val="4A4E69"/>
                </a:solidFill>
                <a:latin typeface="Times New Roman"/>
                <a:ea typeface="Times New Roman"/>
                <a:cs typeface="Times New Roman"/>
              </a:rPr>
              <a:t>m</a:t>
            </a:r>
            <a:r>
              <a:rPr sz="15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)　　</a:t>
            </a:r>
            <a:r>
              <a:rPr sz="1500" b="0">
                <a:solidFill>
                  <a:srgbClr val="4A4E69"/>
                </a:solidFill>
                <a:latin typeface="Times New Roman"/>
                <a:ea typeface="Times New Roman"/>
                <a:cs typeface="Times New Roman"/>
              </a:rPr>
              <a:t>δ(a, b)</a:t>
            </a:r>
            <a:r>
              <a:rPr sz="15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 = 1（</a:t>
            </a:r>
            <a:r>
              <a:rPr sz="1500" b="0">
                <a:solidFill>
                  <a:srgbClr val="4A4E69"/>
                </a:solidFill>
                <a:latin typeface="Times New Roman"/>
                <a:ea typeface="Times New Roman"/>
                <a:cs typeface="Times New Roman"/>
              </a:rPr>
              <a:t>a = b</a:t>
            </a:r>
            <a:r>
              <a:rPr sz="15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 のとき）、0（それ以外）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926080"/>
            <a:ext cx="3511296" cy="2148840"/>
          </a:xfrm>
          <a:prstGeom prst="roundRect">
            <a:avLst>
              <a:gd name="adj" fmla="val 3404"/>
            </a:avLst>
          </a:prstGeom>
          <a:solidFill>
            <a:srgbClr val="D8F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77240" y="3108960"/>
            <a:ext cx="3054096" cy="384048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700" b="1">
                <a:solidFill>
                  <a:srgbClr val="2A9D8F"/>
                </a:solidFill>
                <a:latin typeface="BIZ UDGothic"/>
                <a:ea typeface="BIZ UDGothic"/>
                <a:cs typeface="BIZ UDGothic"/>
              </a:rPr>
              <a:t>空間の項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584448"/>
            <a:ext cx="3236976" cy="54864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900" b="0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σ</a:t>
            </a:r>
            <a:r>
              <a:rPr sz="1900" b="0" baseline="-40000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f</a:t>
            </a:r>
            <a:r>
              <a:rPr sz="1900" b="0" baseline="30000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2</a:t>
            </a:r>
            <a:r>
              <a:rPr sz="1900" b="0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ρ(r)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187952"/>
            <a:ext cx="3054096" cy="77724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3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位置が近いほど大きい。</a:t>
            </a:r>
            <a:r>
              <a:rPr sz="1300" b="0">
                <a:solidFill>
                  <a:srgbClr val="4A4E69"/>
                </a:solidFill>
                <a:latin typeface="Times New Roman"/>
                <a:ea typeface="Times New Roman"/>
                <a:cs typeface="Times New Roman"/>
              </a:rPr>
              <a:t>ρ</a:t>
            </a:r>
            <a:r>
              <a:rPr sz="13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 は matern52 などの形、</a:t>
            </a:r>
            <a:r>
              <a:rPr sz="1300" b="0">
                <a:solidFill>
                  <a:srgbClr val="4A4E69"/>
                </a:solidFill>
                <a:latin typeface="Times New Roman"/>
                <a:ea typeface="Times New Roman"/>
                <a:cs typeface="Times New Roman"/>
              </a:rPr>
              <a:t>r</a:t>
            </a:r>
            <a:r>
              <a:rPr sz="13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 = 距離 / </a:t>
            </a:r>
            <a:r>
              <a:rPr sz="1300" b="0">
                <a:solidFill>
                  <a:srgbClr val="4A4E69"/>
                </a:solidFill>
                <a:latin typeface="Times New Roman"/>
                <a:ea typeface="Times New Roman"/>
                <a:cs typeface="Times New Roman"/>
              </a:rPr>
              <a:t>ℓ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34256" y="2926080"/>
            <a:ext cx="3511296" cy="2148840"/>
          </a:xfrm>
          <a:prstGeom prst="roundRect">
            <a:avLst>
              <a:gd name="adj" fmla="val 3404"/>
            </a:avLst>
          </a:prstGeom>
          <a:solidFill>
            <a:srgbClr val="FBE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4562856" y="3108960"/>
            <a:ext cx="3054096" cy="384048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700" b="1">
                <a:solidFill>
                  <a:srgbClr val="E76F51"/>
                </a:solidFill>
                <a:latin typeface="BIZ UDGothic"/>
                <a:ea typeface="BIZ UDGothic"/>
                <a:cs typeface="BIZ UDGothic"/>
              </a:rPr>
              <a:t>Scan 方向の項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71416" y="3584448"/>
            <a:ext cx="3236976" cy="54864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900" b="0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τ</a:t>
            </a:r>
            <a:r>
              <a:rPr sz="1900" b="0" baseline="-40000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s</a:t>
            </a:r>
            <a:r>
              <a:rPr sz="1900" b="0" baseline="30000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2</a:t>
            </a:r>
            <a:r>
              <a:rPr sz="1900" b="0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δ(s, s′)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62856" y="4187952"/>
            <a:ext cx="3054096" cy="77724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3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2点の Scan 方向が同じなら </a:t>
            </a:r>
            <a:r>
              <a:rPr sz="1300" b="0">
                <a:solidFill>
                  <a:srgbClr val="4A4E69"/>
                </a:solidFill>
                <a:latin typeface="Times New Roman"/>
                <a:ea typeface="Times New Roman"/>
                <a:cs typeface="Times New Roman"/>
              </a:rPr>
              <a:t>τ</a:t>
            </a:r>
            <a:r>
              <a:rPr sz="1300" b="0" baseline="-40000">
                <a:solidFill>
                  <a:srgbClr val="4A4E69"/>
                </a:solidFill>
                <a:latin typeface="Times New Roman"/>
                <a:ea typeface="Times New Roman"/>
                <a:cs typeface="Times New Roman"/>
              </a:rPr>
              <a:t>s</a:t>
            </a:r>
            <a:r>
              <a:rPr sz="1300" b="0" baseline="30000">
                <a:solidFill>
                  <a:srgbClr val="4A4E69"/>
                </a:solidFill>
                <a:latin typeface="Times New Roman"/>
                <a:ea typeface="Times New Roman"/>
                <a:cs typeface="Times New Roman"/>
              </a:rPr>
              <a:t>2</a:t>
            </a:r>
            <a:r>
              <a:rPr sz="13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、違えば 0。距離には よらない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29016" y="2926080"/>
            <a:ext cx="3511296" cy="2148840"/>
          </a:xfrm>
          <a:prstGeom prst="roundRect">
            <a:avLst>
              <a:gd name="adj" fmla="val 3404"/>
            </a:avLst>
          </a:prstGeom>
          <a:solidFill>
            <a:srgbClr val="ECE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357616" y="3108960"/>
            <a:ext cx="3054096" cy="384048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700" b="1">
                <a:solidFill>
                  <a:srgbClr val="8D6A9F"/>
                </a:solidFill>
                <a:latin typeface="BIZ UDGothic"/>
                <a:ea typeface="BIZ UDGothic"/>
                <a:cs typeface="BIZ UDGothic"/>
              </a:rPr>
              <a:t>Mark 番号の項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66176" y="3584448"/>
            <a:ext cx="3236976" cy="54864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900" b="0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τ</a:t>
            </a:r>
            <a:r>
              <a:rPr sz="1900" b="0" baseline="-40000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m</a:t>
            </a:r>
            <a:r>
              <a:rPr sz="1900" b="0" baseline="30000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2</a:t>
            </a:r>
            <a:r>
              <a:rPr sz="1900" b="0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δ(m, m′)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57616" y="4187952"/>
            <a:ext cx="3054096" cy="77724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3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2点の Mark 番号が同じなら </a:t>
            </a:r>
            <a:r>
              <a:rPr sz="1300" b="0">
                <a:solidFill>
                  <a:srgbClr val="4A4E69"/>
                </a:solidFill>
                <a:latin typeface="Times New Roman"/>
                <a:ea typeface="Times New Roman"/>
                <a:cs typeface="Times New Roman"/>
              </a:rPr>
              <a:t>τ</a:t>
            </a:r>
            <a:r>
              <a:rPr sz="1300" b="0" baseline="-40000">
                <a:solidFill>
                  <a:srgbClr val="4A4E69"/>
                </a:solidFill>
                <a:latin typeface="Times New Roman"/>
                <a:ea typeface="Times New Roman"/>
                <a:cs typeface="Times New Roman"/>
              </a:rPr>
              <a:t>m</a:t>
            </a:r>
            <a:r>
              <a:rPr sz="1300" b="0" baseline="30000">
                <a:solidFill>
                  <a:srgbClr val="4A4E69"/>
                </a:solidFill>
                <a:latin typeface="Times New Roman"/>
                <a:ea typeface="Times New Roman"/>
                <a:cs typeface="Times New Roman"/>
              </a:rPr>
              <a:t>2</a:t>
            </a:r>
            <a:r>
              <a:rPr sz="13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、違えば 0。Wafer の端と端でも同じ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9525">
            <a:solidFill>
              <a:srgbClr val="DA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Oval 21"/>
          <p:cNvSpPr/>
          <p:nvPr/>
        </p:nvSpPr>
        <p:spPr>
          <a:xfrm>
            <a:off x="749808" y="5522976"/>
            <a:ext cx="521207" cy="521207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+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5349240"/>
            <a:ext cx="9994392" cy="86868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5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Shot 行の奇偶・その他の列を選ぶと、同じ形の項 </a:t>
            </a:r>
            <a:r>
              <a:rPr sz="1500" b="1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τ</a:t>
            </a:r>
            <a:r>
              <a:rPr sz="1500" b="1" baseline="30000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2</a:t>
            </a:r>
            <a:r>
              <a:rPr sz="1500" b="1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δ(…)</a:t>
            </a:r>
            <a:r>
              <a:rPr sz="15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 が1つずつ加わる。ノイズは </a:t>
            </a:r>
            <a:r>
              <a:rPr sz="1500" b="1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K</a:t>
            </a:r>
            <a:r>
              <a:rPr sz="1500" b="1" baseline="-40000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y</a:t>
            </a:r>
            <a:r>
              <a:rPr sz="1500" b="1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 = K + σ</a:t>
            </a:r>
            <a:r>
              <a:rPr sz="1500" b="1" baseline="-40000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n</a:t>
            </a:r>
            <a:r>
              <a:rPr sz="1500" b="1" baseline="30000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2</a:t>
            </a:r>
            <a:r>
              <a:rPr sz="1500" b="1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I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1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02　加法カーネル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1672" cy="6858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行列で見る ― 「同じ水準なら 1」の行列を重ねる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36576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9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加法カーネルと交互作用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5912" y="6473952"/>
            <a:ext cx="9144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r"/>
            <a:r>
              <a:rPr sz="10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11091672" cy="36576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4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例：Shot A（Scan 1）と、隣の Shot B（Scan 2）の Mark 1〜4（A1〜B4 の8点）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2148840"/>
            <a:ext cx="365760" cy="265176"/>
          </a:xfrm>
          <a:prstGeom prst="rect">
            <a:avLst/>
          </a:prstGeom>
          <a:noFill/>
        </p:spPr>
        <p:txBody>
          <a:bodyPr wrap="square" lIns="0" rIns="0" tIns="18288" bIns="18288" anchor="ctr"/>
          <a:lstStyle/>
          <a:p>
            <a:pPr algn="r"/>
            <a:r>
              <a:rPr sz="8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A1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911095"/>
            <a:ext cx="265176" cy="219456"/>
          </a:xfrm>
          <a:prstGeom prst="rect">
            <a:avLst/>
          </a:prstGeom>
          <a:noFill/>
        </p:spPr>
        <p:txBody>
          <a:bodyPr wrap="square" lIns="0" rIns="0" tIns="18288" bIns="18288" anchor="b"/>
          <a:lstStyle/>
          <a:p>
            <a:pPr algn="ctr"/>
            <a:r>
              <a:rPr sz="8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A1</a:t>
            </a:r>
          </a:p>
        </p:txBody>
      </p:sp>
      <p:sp>
        <p:nvSpPr>
          <p:cNvPr id="9" name="Rectangle 8"/>
          <p:cNvSpPr/>
          <p:nvPr/>
        </p:nvSpPr>
        <p:spPr>
          <a:xfrm>
            <a:off x="1005840" y="2148840"/>
            <a:ext cx="265176" cy="265176"/>
          </a:xfrm>
          <a:prstGeom prst="rect">
            <a:avLst/>
          </a:prstGeom>
          <a:solidFill>
            <a:srgbClr val="2A9D8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271016" y="2148840"/>
            <a:ext cx="265176" cy="265176"/>
          </a:xfrm>
          <a:prstGeom prst="rect">
            <a:avLst/>
          </a:prstGeom>
          <a:solidFill>
            <a:srgbClr val="46A99E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536192" y="2148840"/>
            <a:ext cx="265176" cy="265176"/>
          </a:xfrm>
          <a:prstGeom prst="rect">
            <a:avLst/>
          </a:prstGeom>
          <a:solidFill>
            <a:srgbClr val="64B6AD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801368" y="2148840"/>
            <a:ext cx="265176" cy="265176"/>
          </a:xfrm>
          <a:prstGeom prst="rect">
            <a:avLst/>
          </a:prstGeom>
          <a:solidFill>
            <a:srgbClr val="50AEA3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066543" y="2148840"/>
            <a:ext cx="265176" cy="265176"/>
          </a:xfrm>
          <a:prstGeom prst="rect">
            <a:avLst/>
          </a:prstGeom>
          <a:solidFill>
            <a:srgbClr val="56B0A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331720" y="2148840"/>
            <a:ext cx="265176" cy="265176"/>
          </a:xfrm>
          <a:prstGeom prst="rect">
            <a:avLst/>
          </a:prstGeom>
          <a:solidFill>
            <a:srgbClr val="8CC8C2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596896" y="2148840"/>
            <a:ext cx="265176" cy="265176"/>
          </a:xfrm>
          <a:prstGeom prst="rect">
            <a:avLst/>
          </a:prstGeom>
          <a:solidFill>
            <a:srgbClr val="9BCECA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862072" y="2148840"/>
            <a:ext cx="265176" cy="265176"/>
          </a:xfrm>
          <a:prstGeom prst="rect">
            <a:avLst/>
          </a:prstGeom>
          <a:solidFill>
            <a:srgbClr val="70BBB3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1792" y="2414016"/>
            <a:ext cx="365760" cy="265176"/>
          </a:xfrm>
          <a:prstGeom prst="rect">
            <a:avLst/>
          </a:prstGeom>
          <a:noFill/>
        </p:spPr>
        <p:txBody>
          <a:bodyPr wrap="square" lIns="0" rIns="0" tIns="18288" bIns="18288" anchor="ctr"/>
          <a:lstStyle/>
          <a:p>
            <a:pPr algn="r"/>
            <a:r>
              <a:rPr sz="8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A2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71016" y="1911095"/>
            <a:ext cx="265176" cy="219456"/>
          </a:xfrm>
          <a:prstGeom prst="rect">
            <a:avLst/>
          </a:prstGeom>
          <a:noFill/>
        </p:spPr>
        <p:txBody>
          <a:bodyPr wrap="square" lIns="0" rIns="0" tIns="18288" bIns="18288" anchor="b"/>
          <a:lstStyle/>
          <a:p>
            <a:pPr algn="ctr"/>
            <a:r>
              <a:rPr sz="8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A2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05840" y="2414016"/>
            <a:ext cx="265176" cy="265176"/>
          </a:xfrm>
          <a:prstGeom prst="rect">
            <a:avLst/>
          </a:prstGeom>
          <a:solidFill>
            <a:srgbClr val="46A99E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271016" y="2414016"/>
            <a:ext cx="265176" cy="265176"/>
          </a:xfrm>
          <a:prstGeom prst="rect">
            <a:avLst/>
          </a:prstGeom>
          <a:solidFill>
            <a:srgbClr val="2A9D8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536192" y="2414016"/>
            <a:ext cx="265176" cy="265176"/>
          </a:xfrm>
          <a:prstGeom prst="rect">
            <a:avLst/>
          </a:prstGeom>
          <a:solidFill>
            <a:srgbClr val="50AEA3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801368" y="2414016"/>
            <a:ext cx="265176" cy="265176"/>
          </a:xfrm>
          <a:prstGeom prst="rect">
            <a:avLst/>
          </a:prstGeom>
          <a:solidFill>
            <a:srgbClr val="64B6AD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066543" y="2414016"/>
            <a:ext cx="265176" cy="265176"/>
          </a:xfrm>
          <a:prstGeom prst="rect">
            <a:avLst/>
          </a:prstGeom>
          <a:solidFill>
            <a:srgbClr val="2D9E91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331720" y="2414016"/>
            <a:ext cx="265176" cy="265176"/>
          </a:xfrm>
          <a:prstGeom prst="rect">
            <a:avLst/>
          </a:prstGeom>
          <a:solidFill>
            <a:srgbClr val="56B0A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596896" y="2414016"/>
            <a:ext cx="265176" cy="265176"/>
          </a:xfrm>
          <a:prstGeom prst="rect">
            <a:avLst/>
          </a:prstGeom>
          <a:solidFill>
            <a:srgbClr val="70BBB3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862072" y="2414016"/>
            <a:ext cx="265176" cy="265176"/>
          </a:xfrm>
          <a:prstGeom prst="rect">
            <a:avLst/>
          </a:prstGeom>
          <a:solidFill>
            <a:srgbClr val="52AEA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1792" y="2679192"/>
            <a:ext cx="365760" cy="265176"/>
          </a:xfrm>
          <a:prstGeom prst="rect">
            <a:avLst/>
          </a:prstGeom>
          <a:noFill/>
        </p:spPr>
        <p:txBody>
          <a:bodyPr wrap="square" lIns="0" rIns="0" tIns="18288" bIns="18288" anchor="ctr"/>
          <a:lstStyle/>
          <a:p>
            <a:pPr algn="r"/>
            <a:r>
              <a:rPr sz="8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A3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36192" y="1911095"/>
            <a:ext cx="265176" cy="219456"/>
          </a:xfrm>
          <a:prstGeom prst="rect">
            <a:avLst/>
          </a:prstGeom>
          <a:noFill/>
        </p:spPr>
        <p:txBody>
          <a:bodyPr wrap="square" lIns="0" rIns="0" tIns="18288" bIns="18288" anchor="b"/>
          <a:lstStyle/>
          <a:p>
            <a:pPr algn="ctr"/>
            <a:r>
              <a:rPr sz="8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A3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05840" y="2679192"/>
            <a:ext cx="265176" cy="265176"/>
          </a:xfrm>
          <a:prstGeom prst="rect">
            <a:avLst/>
          </a:prstGeom>
          <a:solidFill>
            <a:srgbClr val="64B6AD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271016" y="2679192"/>
            <a:ext cx="265176" cy="265176"/>
          </a:xfrm>
          <a:prstGeom prst="rect">
            <a:avLst/>
          </a:prstGeom>
          <a:solidFill>
            <a:srgbClr val="50AEA3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536192" y="2679192"/>
            <a:ext cx="265176" cy="265176"/>
          </a:xfrm>
          <a:prstGeom prst="rect">
            <a:avLst/>
          </a:prstGeom>
          <a:solidFill>
            <a:srgbClr val="2A9D8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801368" y="2679192"/>
            <a:ext cx="265176" cy="265176"/>
          </a:xfrm>
          <a:prstGeom prst="rect">
            <a:avLst/>
          </a:prstGeom>
          <a:solidFill>
            <a:srgbClr val="46A99E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066543" y="2679192"/>
            <a:ext cx="265176" cy="265176"/>
          </a:xfrm>
          <a:prstGeom prst="rect">
            <a:avLst/>
          </a:prstGeom>
          <a:solidFill>
            <a:srgbClr val="52AEA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2331720" y="2679192"/>
            <a:ext cx="265176" cy="265176"/>
          </a:xfrm>
          <a:prstGeom prst="rect">
            <a:avLst/>
          </a:prstGeom>
          <a:solidFill>
            <a:srgbClr val="70BBB3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596896" y="2679192"/>
            <a:ext cx="265176" cy="265176"/>
          </a:xfrm>
          <a:prstGeom prst="rect">
            <a:avLst/>
          </a:prstGeom>
          <a:solidFill>
            <a:srgbClr val="56B0A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2862072" y="2679192"/>
            <a:ext cx="265176" cy="265176"/>
          </a:xfrm>
          <a:prstGeom prst="rect">
            <a:avLst/>
          </a:prstGeom>
          <a:solidFill>
            <a:srgbClr val="2D9E91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21792" y="2944368"/>
            <a:ext cx="365760" cy="265176"/>
          </a:xfrm>
          <a:prstGeom prst="rect">
            <a:avLst/>
          </a:prstGeom>
          <a:noFill/>
        </p:spPr>
        <p:txBody>
          <a:bodyPr wrap="square" lIns="0" rIns="0" tIns="18288" bIns="18288" anchor="ctr"/>
          <a:lstStyle/>
          <a:p>
            <a:pPr algn="r"/>
            <a:r>
              <a:rPr sz="8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A4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01368" y="1911095"/>
            <a:ext cx="265176" cy="219456"/>
          </a:xfrm>
          <a:prstGeom prst="rect">
            <a:avLst/>
          </a:prstGeom>
          <a:noFill/>
        </p:spPr>
        <p:txBody>
          <a:bodyPr wrap="square" lIns="0" rIns="0" tIns="18288" bIns="18288" anchor="b"/>
          <a:lstStyle/>
          <a:p>
            <a:pPr algn="ctr"/>
            <a:r>
              <a:rPr sz="8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A4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005840" y="2944368"/>
            <a:ext cx="265176" cy="265176"/>
          </a:xfrm>
          <a:prstGeom prst="rect">
            <a:avLst/>
          </a:prstGeom>
          <a:solidFill>
            <a:srgbClr val="50AEA3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271016" y="2944368"/>
            <a:ext cx="265176" cy="265176"/>
          </a:xfrm>
          <a:prstGeom prst="rect">
            <a:avLst/>
          </a:prstGeom>
          <a:solidFill>
            <a:srgbClr val="64B6AD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536192" y="2944368"/>
            <a:ext cx="265176" cy="265176"/>
          </a:xfrm>
          <a:prstGeom prst="rect">
            <a:avLst/>
          </a:prstGeom>
          <a:solidFill>
            <a:srgbClr val="46A99E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801368" y="2944368"/>
            <a:ext cx="265176" cy="265176"/>
          </a:xfrm>
          <a:prstGeom prst="rect">
            <a:avLst/>
          </a:prstGeom>
          <a:solidFill>
            <a:srgbClr val="2A9D8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2066543" y="2944368"/>
            <a:ext cx="265176" cy="265176"/>
          </a:xfrm>
          <a:prstGeom prst="rect">
            <a:avLst/>
          </a:prstGeom>
          <a:solidFill>
            <a:srgbClr val="70BBB3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2331720" y="2944368"/>
            <a:ext cx="265176" cy="265176"/>
          </a:xfrm>
          <a:prstGeom prst="rect">
            <a:avLst/>
          </a:prstGeom>
          <a:solidFill>
            <a:srgbClr val="9BCECA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2596896" y="2944368"/>
            <a:ext cx="265176" cy="265176"/>
          </a:xfrm>
          <a:prstGeom prst="rect">
            <a:avLst/>
          </a:prstGeom>
          <a:solidFill>
            <a:srgbClr val="8CC8C2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2862072" y="2944368"/>
            <a:ext cx="265176" cy="265176"/>
          </a:xfrm>
          <a:prstGeom prst="rect">
            <a:avLst/>
          </a:prstGeom>
          <a:solidFill>
            <a:srgbClr val="56B0A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21792" y="3209544"/>
            <a:ext cx="365760" cy="265176"/>
          </a:xfrm>
          <a:prstGeom prst="rect">
            <a:avLst/>
          </a:prstGeom>
          <a:noFill/>
        </p:spPr>
        <p:txBody>
          <a:bodyPr wrap="square" lIns="0" rIns="0" tIns="18288" bIns="18288" anchor="ctr"/>
          <a:lstStyle/>
          <a:p>
            <a:pPr algn="r"/>
            <a:r>
              <a:rPr sz="8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B1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066543" y="1911095"/>
            <a:ext cx="265176" cy="219456"/>
          </a:xfrm>
          <a:prstGeom prst="rect">
            <a:avLst/>
          </a:prstGeom>
          <a:noFill/>
        </p:spPr>
        <p:txBody>
          <a:bodyPr wrap="square" lIns="0" rIns="0" tIns="18288" bIns="18288" anchor="b"/>
          <a:lstStyle/>
          <a:p>
            <a:pPr algn="ctr"/>
            <a:r>
              <a:rPr sz="8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B1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005840" y="3209544"/>
            <a:ext cx="265176" cy="265176"/>
          </a:xfrm>
          <a:prstGeom prst="rect">
            <a:avLst/>
          </a:prstGeom>
          <a:solidFill>
            <a:srgbClr val="56B0A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1271016" y="3209544"/>
            <a:ext cx="265176" cy="265176"/>
          </a:xfrm>
          <a:prstGeom prst="rect">
            <a:avLst/>
          </a:prstGeom>
          <a:solidFill>
            <a:srgbClr val="2D9E91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1536192" y="3209544"/>
            <a:ext cx="265176" cy="265176"/>
          </a:xfrm>
          <a:prstGeom prst="rect">
            <a:avLst/>
          </a:prstGeom>
          <a:solidFill>
            <a:srgbClr val="52AEA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801368" y="3209544"/>
            <a:ext cx="265176" cy="265176"/>
          </a:xfrm>
          <a:prstGeom prst="rect">
            <a:avLst/>
          </a:prstGeom>
          <a:solidFill>
            <a:srgbClr val="70BBB3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2066543" y="3209544"/>
            <a:ext cx="265176" cy="265176"/>
          </a:xfrm>
          <a:prstGeom prst="rect">
            <a:avLst/>
          </a:prstGeom>
          <a:solidFill>
            <a:srgbClr val="2A9D8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2331720" y="3209544"/>
            <a:ext cx="265176" cy="265176"/>
          </a:xfrm>
          <a:prstGeom prst="rect">
            <a:avLst/>
          </a:prstGeom>
          <a:solidFill>
            <a:srgbClr val="46A99E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2596896" y="3209544"/>
            <a:ext cx="265176" cy="265176"/>
          </a:xfrm>
          <a:prstGeom prst="rect">
            <a:avLst/>
          </a:prstGeom>
          <a:solidFill>
            <a:srgbClr val="64B6AD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2862072" y="3209544"/>
            <a:ext cx="265176" cy="265176"/>
          </a:xfrm>
          <a:prstGeom prst="rect">
            <a:avLst/>
          </a:prstGeom>
          <a:solidFill>
            <a:srgbClr val="50AEA3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21792" y="3474720"/>
            <a:ext cx="365760" cy="265176"/>
          </a:xfrm>
          <a:prstGeom prst="rect">
            <a:avLst/>
          </a:prstGeom>
          <a:noFill/>
        </p:spPr>
        <p:txBody>
          <a:bodyPr wrap="square" lIns="0" rIns="0" tIns="18288" bIns="18288" anchor="ctr"/>
          <a:lstStyle/>
          <a:p>
            <a:pPr algn="r"/>
            <a:r>
              <a:rPr sz="8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B2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331720" y="1911095"/>
            <a:ext cx="265176" cy="219456"/>
          </a:xfrm>
          <a:prstGeom prst="rect">
            <a:avLst/>
          </a:prstGeom>
          <a:noFill/>
        </p:spPr>
        <p:txBody>
          <a:bodyPr wrap="square" lIns="0" rIns="0" tIns="18288" bIns="18288" anchor="b"/>
          <a:lstStyle/>
          <a:p>
            <a:pPr algn="ctr"/>
            <a:r>
              <a:rPr sz="8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B2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005840" y="3474720"/>
            <a:ext cx="265176" cy="265176"/>
          </a:xfrm>
          <a:prstGeom prst="rect">
            <a:avLst/>
          </a:prstGeom>
          <a:solidFill>
            <a:srgbClr val="8CC8C2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271016" y="3474720"/>
            <a:ext cx="265176" cy="265176"/>
          </a:xfrm>
          <a:prstGeom prst="rect">
            <a:avLst/>
          </a:prstGeom>
          <a:solidFill>
            <a:srgbClr val="56B0A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1536192" y="3474720"/>
            <a:ext cx="265176" cy="265176"/>
          </a:xfrm>
          <a:prstGeom prst="rect">
            <a:avLst/>
          </a:prstGeom>
          <a:solidFill>
            <a:srgbClr val="70BBB3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1801368" y="3474720"/>
            <a:ext cx="265176" cy="265176"/>
          </a:xfrm>
          <a:prstGeom prst="rect">
            <a:avLst/>
          </a:prstGeom>
          <a:solidFill>
            <a:srgbClr val="9BCECA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2066543" y="3474720"/>
            <a:ext cx="265176" cy="265176"/>
          </a:xfrm>
          <a:prstGeom prst="rect">
            <a:avLst/>
          </a:prstGeom>
          <a:solidFill>
            <a:srgbClr val="46A99E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2331720" y="3474720"/>
            <a:ext cx="265176" cy="265176"/>
          </a:xfrm>
          <a:prstGeom prst="rect">
            <a:avLst/>
          </a:prstGeom>
          <a:solidFill>
            <a:srgbClr val="2A9D8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2596896" y="3474720"/>
            <a:ext cx="265176" cy="265176"/>
          </a:xfrm>
          <a:prstGeom prst="rect">
            <a:avLst/>
          </a:prstGeom>
          <a:solidFill>
            <a:srgbClr val="50AEA3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2862072" y="3474720"/>
            <a:ext cx="265176" cy="265176"/>
          </a:xfrm>
          <a:prstGeom prst="rect">
            <a:avLst/>
          </a:prstGeom>
          <a:solidFill>
            <a:srgbClr val="64B6AD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21792" y="3739896"/>
            <a:ext cx="365760" cy="265176"/>
          </a:xfrm>
          <a:prstGeom prst="rect">
            <a:avLst/>
          </a:prstGeom>
          <a:noFill/>
        </p:spPr>
        <p:txBody>
          <a:bodyPr wrap="square" lIns="0" rIns="0" tIns="18288" bIns="18288" anchor="ctr"/>
          <a:lstStyle/>
          <a:p>
            <a:pPr algn="r"/>
            <a:r>
              <a:rPr sz="8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B3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596896" y="1911095"/>
            <a:ext cx="265176" cy="219456"/>
          </a:xfrm>
          <a:prstGeom prst="rect">
            <a:avLst/>
          </a:prstGeom>
          <a:noFill/>
        </p:spPr>
        <p:txBody>
          <a:bodyPr wrap="square" lIns="0" rIns="0" tIns="18288" bIns="18288" anchor="b"/>
          <a:lstStyle/>
          <a:p>
            <a:pPr algn="ctr"/>
            <a:r>
              <a:rPr sz="8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B3</a:t>
            </a:r>
          </a:p>
        </p:txBody>
      </p:sp>
      <p:sp>
        <p:nvSpPr>
          <p:cNvPr id="69" name="Rectangle 68"/>
          <p:cNvSpPr/>
          <p:nvPr/>
        </p:nvSpPr>
        <p:spPr>
          <a:xfrm>
            <a:off x="1005840" y="3739896"/>
            <a:ext cx="265176" cy="265176"/>
          </a:xfrm>
          <a:prstGeom prst="rect">
            <a:avLst/>
          </a:prstGeom>
          <a:solidFill>
            <a:srgbClr val="9BCECA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1271016" y="3739896"/>
            <a:ext cx="265176" cy="265176"/>
          </a:xfrm>
          <a:prstGeom prst="rect">
            <a:avLst/>
          </a:prstGeom>
          <a:solidFill>
            <a:srgbClr val="70BBB3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1536192" y="3739896"/>
            <a:ext cx="265176" cy="265176"/>
          </a:xfrm>
          <a:prstGeom prst="rect">
            <a:avLst/>
          </a:prstGeom>
          <a:solidFill>
            <a:srgbClr val="56B0A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1801368" y="3739896"/>
            <a:ext cx="265176" cy="265176"/>
          </a:xfrm>
          <a:prstGeom prst="rect">
            <a:avLst/>
          </a:prstGeom>
          <a:solidFill>
            <a:srgbClr val="8CC8C2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2066543" y="3739896"/>
            <a:ext cx="265176" cy="265176"/>
          </a:xfrm>
          <a:prstGeom prst="rect">
            <a:avLst/>
          </a:prstGeom>
          <a:solidFill>
            <a:srgbClr val="64B6AD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2331720" y="3739896"/>
            <a:ext cx="265176" cy="265176"/>
          </a:xfrm>
          <a:prstGeom prst="rect">
            <a:avLst/>
          </a:prstGeom>
          <a:solidFill>
            <a:srgbClr val="50AEA3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2596896" y="3739896"/>
            <a:ext cx="265176" cy="265176"/>
          </a:xfrm>
          <a:prstGeom prst="rect">
            <a:avLst/>
          </a:prstGeom>
          <a:solidFill>
            <a:srgbClr val="2A9D8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2862072" y="3739896"/>
            <a:ext cx="265176" cy="265176"/>
          </a:xfrm>
          <a:prstGeom prst="rect">
            <a:avLst/>
          </a:prstGeom>
          <a:solidFill>
            <a:srgbClr val="46A99E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21792" y="4005072"/>
            <a:ext cx="365760" cy="265176"/>
          </a:xfrm>
          <a:prstGeom prst="rect">
            <a:avLst/>
          </a:prstGeom>
          <a:noFill/>
        </p:spPr>
        <p:txBody>
          <a:bodyPr wrap="square" lIns="0" rIns="0" tIns="18288" bIns="18288" anchor="ctr"/>
          <a:lstStyle/>
          <a:p>
            <a:pPr algn="r"/>
            <a:r>
              <a:rPr sz="8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B4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862072" y="1911095"/>
            <a:ext cx="265176" cy="219456"/>
          </a:xfrm>
          <a:prstGeom prst="rect">
            <a:avLst/>
          </a:prstGeom>
          <a:noFill/>
        </p:spPr>
        <p:txBody>
          <a:bodyPr wrap="square" lIns="0" rIns="0" tIns="18288" bIns="18288" anchor="b"/>
          <a:lstStyle/>
          <a:p>
            <a:pPr algn="ctr"/>
            <a:r>
              <a:rPr sz="8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B4</a:t>
            </a:r>
          </a:p>
        </p:txBody>
      </p:sp>
      <p:sp>
        <p:nvSpPr>
          <p:cNvPr id="79" name="Rectangle 78"/>
          <p:cNvSpPr/>
          <p:nvPr/>
        </p:nvSpPr>
        <p:spPr>
          <a:xfrm>
            <a:off x="1005840" y="4005072"/>
            <a:ext cx="265176" cy="265176"/>
          </a:xfrm>
          <a:prstGeom prst="rect">
            <a:avLst/>
          </a:prstGeom>
          <a:solidFill>
            <a:srgbClr val="70BBB3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1271016" y="4005072"/>
            <a:ext cx="265176" cy="265176"/>
          </a:xfrm>
          <a:prstGeom prst="rect">
            <a:avLst/>
          </a:prstGeom>
          <a:solidFill>
            <a:srgbClr val="52AEA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1536192" y="4005072"/>
            <a:ext cx="265176" cy="265176"/>
          </a:xfrm>
          <a:prstGeom prst="rect">
            <a:avLst/>
          </a:prstGeom>
          <a:solidFill>
            <a:srgbClr val="2D9E91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1801368" y="4005072"/>
            <a:ext cx="265176" cy="265176"/>
          </a:xfrm>
          <a:prstGeom prst="rect">
            <a:avLst/>
          </a:prstGeom>
          <a:solidFill>
            <a:srgbClr val="56B0A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2066543" y="4005072"/>
            <a:ext cx="265176" cy="265176"/>
          </a:xfrm>
          <a:prstGeom prst="rect">
            <a:avLst/>
          </a:prstGeom>
          <a:solidFill>
            <a:srgbClr val="50AEA3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2331720" y="4005072"/>
            <a:ext cx="265176" cy="265176"/>
          </a:xfrm>
          <a:prstGeom prst="rect">
            <a:avLst/>
          </a:prstGeom>
          <a:solidFill>
            <a:srgbClr val="64B6AD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2596896" y="4005072"/>
            <a:ext cx="265176" cy="265176"/>
          </a:xfrm>
          <a:prstGeom prst="rect">
            <a:avLst/>
          </a:prstGeom>
          <a:solidFill>
            <a:srgbClr val="46A99E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2862072" y="4005072"/>
            <a:ext cx="265176" cy="265176"/>
          </a:xfrm>
          <a:prstGeom prst="rect">
            <a:avLst/>
          </a:prstGeom>
          <a:solidFill>
            <a:srgbClr val="2A9D8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594360" y="4343400"/>
            <a:ext cx="2532888" cy="54864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ctr"/>
            <a:r>
              <a:rPr sz="1200" b="1">
                <a:solidFill>
                  <a:srgbClr val="2A9D8F"/>
                </a:solidFill>
                <a:latin typeface="Times New Roman"/>
                <a:ea typeface="Times New Roman"/>
                <a:cs typeface="Times New Roman"/>
              </a:rPr>
              <a:t>σ</a:t>
            </a:r>
            <a:r>
              <a:rPr sz="1200" b="1" baseline="-40000">
                <a:solidFill>
                  <a:srgbClr val="2A9D8F"/>
                </a:solidFill>
                <a:latin typeface="Times New Roman"/>
                <a:ea typeface="Times New Roman"/>
                <a:cs typeface="Times New Roman"/>
              </a:rPr>
              <a:t>f</a:t>
            </a:r>
            <a:r>
              <a:rPr sz="1200" b="1" baseline="30000">
                <a:solidFill>
                  <a:srgbClr val="2A9D8F"/>
                </a:solidFill>
                <a:latin typeface="Times New Roman"/>
                <a:ea typeface="Times New Roman"/>
                <a:cs typeface="Times New Roman"/>
              </a:rPr>
              <a:t>2</a:t>
            </a:r>
            <a:r>
              <a:rPr sz="1200" b="1">
                <a:solidFill>
                  <a:srgbClr val="2A9D8F"/>
                </a:solidFill>
                <a:latin typeface="BIZ UDGothic"/>
                <a:ea typeface="BIZ UDGothic"/>
                <a:cs typeface="BIZ UDGothic"/>
              </a:rPr>
              <a:t> × 空間（近いほど濃い）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776472" y="2148840"/>
            <a:ext cx="365760" cy="265176"/>
          </a:xfrm>
          <a:prstGeom prst="rect">
            <a:avLst/>
          </a:prstGeom>
          <a:noFill/>
        </p:spPr>
        <p:txBody>
          <a:bodyPr wrap="square" lIns="0" rIns="0" tIns="18288" bIns="18288" anchor="ctr"/>
          <a:lstStyle/>
          <a:p>
            <a:pPr algn="r"/>
            <a:r>
              <a:rPr sz="8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A1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160520" y="1911095"/>
            <a:ext cx="265176" cy="219456"/>
          </a:xfrm>
          <a:prstGeom prst="rect">
            <a:avLst/>
          </a:prstGeom>
          <a:noFill/>
        </p:spPr>
        <p:txBody>
          <a:bodyPr wrap="square" lIns="0" rIns="0" tIns="18288" bIns="18288" anchor="b"/>
          <a:lstStyle/>
          <a:p>
            <a:pPr algn="ctr"/>
            <a:r>
              <a:rPr sz="8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A1</a:t>
            </a:r>
          </a:p>
        </p:txBody>
      </p:sp>
      <p:sp>
        <p:nvSpPr>
          <p:cNvPr id="90" name="Rectangle 89"/>
          <p:cNvSpPr/>
          <p:nvPr/>
        </p:nvSpPr>
        <p:spPr>
          <a:xfrm>
            <a:off x="4160520" y="2148840"/>
            <a:ext cx="265176" cy="265176"/>
          </a:xfrm>
          <a:prstGeom prst="rect">
            <a:avLst/>
          </a:prstGeom>
          <a:solidFill>
            <a:srgbClr val="E76F51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4425696" y="2148840"/>
            <a:ext cx="265176" cy="265176"/>
          </a:xfrm>
          <a:prstGeom prst="rect">
            <a:avLst/>
          </a:prstGeom>
          <a:solidFill>
            <a:srgbClr val="E76F51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4690872" y="2148840"/>
            <a:ext cx="265176" cy="265176"/>
          </a:xfrm>
          <a:prstGeom prst="rect">
            <a:avLst/>
          </a:prstGeom>
          <a:solidFill>
            <a:srgbClr val="E76F51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4956048" y="2148840"/>
            <a:ext cx="265176" cy="265176"/>
          </a:xfrm>
          <a:prstGeom prst="rect">
            <a:avLst/>
          </a:prstGeom>
          <a:solidFill>
            <a:srgbClr val="E76F51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5221224" y="2148840"/>
            <a:ext cx="265176" cy="265176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5486400" y="2148840"/>
            <a:ext cx="265176" cy="265176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5751575" y="2148840"/>
            <a:ext cx="265176" cy="265176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6016752" y="2148840"/>
            <a:ext cx="265176" cy="265176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3776472" y="2414016"/>
            <a:ext cx="365760" cy="265176"/>
          </a:xfrm>
          <a:prstGeom prst="rect">
            <a:avLst/>
          </a:prstGeom>
          <a:noFill/>
        </p:spPr>
        <p:txBody>
          <a:bodyPr wrap="square" lIns="0" rIns="0" tIns="18288" bIns="18288" anchor="ctr"/>
          <a:lstStyle/>
          <a:p>
            <a:pPr algn="r"/>
            <a:r>
              <a:rPr sz="8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A2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425696" y="1911095"/>
            <a:ext cx="265176" cy="219456"/>
          </a:xfrm>
          <a:prstGeom prst="rect">
            <a:avLst/>
          </a:prstGeom>
          <a:noFill/>
        </p:spPr>
        <p:txBody>
          <a:bodyPr wrap="square" lIns="0" rIns="0" tIns="18288" bIns="18288" anchor="b"/>
          <a:lstStyle/>
          <a:p>
            <a:pPr algn="ctr"/>
            <a:r>
              <a:rPr sz="8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A2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4160520" y="2414016"/>
            <a:ext cx="265176" cy="265176"/>
          </a:xfrm>
          <a:prstGeom prst="rect">
            <a:avLst/>
          </a:prstGeom>
          <a:solidFill>
            <a:srgbClr val="E76F51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4425696" y="2414016"/>
            <a:ext cx="265176" cy="265176"/>
          </a:xfrm>
          <a:prstGeom prst="rect">
            <a:avLst/>
          </a:prstGeom>
          <a:solidFill>
            <a:srgbClr val="E76F51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4690872" y="2414016"/>
            <a:ext cx="265176" cy="265176"/>
          </a:xfrm>
          <a:prstGeom prst="rect">
            <a:avLst/>
          </a:prstGeom>
          <a:solidFill>
            <a:srgbClr val="E76F51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4956048" y="2414016"/>
            <a:ext cx="265176" cy="265176"/>
          </a:xfrm>
          <a:prstGeom prst="rect">
            <a:avLst/>
          </a:prstGeom>
          <a:solidFill>
            <a:srgbClr val="E76F51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5221224" y="2414016"/>
            <a:ext cx="265176" cy="265176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5486400" y="2414016"/>
            <a:ext cx="265176" cy="265176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5751575" y="2414016"/>
            <a:ext cx="265176" cy="265176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6016752" y="2414016"/>
            <a:ext cx="265176" cy="265176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3776472" y="2679192"/>
            <a:ext cx="365760" cy="265176"/>
          </a:xfrm>
          <a:prstGeom prst="rect">
            <a:avLst/>
          </a:prstGeom>
          <a:noFill/>
        </p:spPr>
        <p:txBody>
          <a:bodyPr wrap="square" lIns="0" rIns="0" tIns="18288" bIns="18288" anchor="ctr"/>
          <a:lstStyle/>
          <a:p>
            <a:pPr algn="r"/>
            <a:r>
              <a:rPr sz="8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A3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4690872" y="1911095"/>
            <a:ext cx="265176" cy="219456"/>
          </a:xfrm>
          <a:prstGeom prst="rect">
            <a:avLst/>
          </a:prstGeom>
          <a:noFill/>
        </p:spPr>
        <p:txBody>
          <a:bodyPr wrap="square" lIns="0" rIns="0" tIns="18288" bIns="18288" anchor="b"/>
          <a:lstStyle/>
          <a:p>
            <a:pPr algn="ctr"/>
            <a:r>
              <a:rPr sz="8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A3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4160520" y="2679192"/>
            <a:ext cx="265176" cy="265176"/>
          </a:xfrm>
          <a:prstGeom prst="rect">
            <a:avLst/>
          </a:prstGeom>
          <a:solidFill>
            <a:srgbClr val="E76F51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4425696" y="2679192"/>
            <a:ext cx="265176" cy="265176"/>
          </a:xfrm>
          <a:prstGeom prst="rect">
            <a:avLst/>
          </a:prstGeom>
          <a:solidFill>
            <a:srgbClr val="E76F51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4690872" y="2679192"/>
            <a:ext cx="265176" cy="265176"/>
          </a:xfrm>
          <a:prstGeom prst="rect">
            <a:avLst/>
          </a:prstGeom>
          <a:solidFill>
            <a:srgbClr val="E76F51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4956048" y="2679192"/>
            <a:ext cx="265176" cy="265176"/>
          </a:xfrm>
          <a:prstGeom prst="rect">
            <a:avLst/>
          </a:prstGeom>
          <a:solidFill>
            <a:srgbClr val="E76F51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5221224" y="2679192"/>
            <a:ext cx="265176" cy="265176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5486400" y="2679192"/>
            <a:ext cx="265176" cy="265176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5751575" y="2679192"/>
            <a:ext cx="265176" cy="265176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6016752" y="2679192"/>
            <a:ext cx="265176" cy="265176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3776472" y="2944368"/>
            <a:ext cx="365760" cy="265176"/>
          </a:xfrm>
          <a:prstGeom prst="rect">
            <a:avLst/>
          </a:prstGeom>
          <a:noFill/>
        </p:spPr>
        <p:txBody>
          <a:bodyPr wrap="square" lIns="0" rIns="0" tIns="18288" bIns="18288" anchor="ctr"/>
          <a:lstStyle/>
          <a:p>
            <a:pPr algn="r"/>
            <a:r>
              <a:rPr sz="8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A4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4956048" y="1911095"/>
            <a:ext cx="265176" cy="219456"/>
          </a:xfrm>
          <a:prstGeom prst="rect">
            <a:avLst/>
          </a:prstGeom>
          <a:noFill/>
        </p:spPr>
        <p:txBody>
          <a:bodyPr wrap="square" lIns="0" rIns="0" tIns="18288" bIns="18288" anchor="b"/>
          <a:lstStyle/>
          <a:p>
            <a:pPr algn="ctr"/>
            <a:r>
              <a:rPr sz="8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A4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4160520" y="2944368"/>
            <a:ext cx="265176" cy="265176"/>
          </a:xfrm>
          <a:prstGeom prst="rect">
            <a:avLst/>
          </a:prstGeom>
          <a:solidFill>
            <a:srgbClr val="E76F51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4425696" y="2944368"/>
            <a:ext cx="265176" cy="265176"/>
          </a:xfrm>
          <a:prstGeom prst="rect">
            <a:avLst/>
          </a:prstGeom>
          <a:solidFill>
            <a:srgbClr val="E76F51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4690872" y="2944368"/>
            <a:ext cx="265176" cy="265176"/>
          </a:xfrm>
          <a:prstGeom prst="rect">
            <a:avLst/>
          </a:prstGeom>
          <a:solidFill>
            <a:srgbClr val="E76F51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4956048" y="2944368"/>
            <a:ext cx="265176" cy="265176"/>
          </a:xfrm>
          <a:prstGeom prst="rect">
            <a:avLst/>
          </a:prstGeom>
          <a:solidFill>
            <a:srgbClr val="E76F51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5221224" y="2944368"/>
            <a:ext cx="265176" cy="265176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5486400" y="2944368"/>
            <a:ext cx="265176" cy="265176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5751575" y="2944368"/>
            <a:ext cx="265176" cy="265176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6016752" y="2944368"/>
            <a:ext cx="265176" cy="265176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3776472" y="3209544"/>
            <a:ext cx="365760" cy="265176"/>
          </a:xfrm>
          <a:prstGeom prst="rect">
            <a:avLst/>
          </a:prstGeom>
          <a:noFill/>
        </p:spPr>
        <p:txBody>
          <a:bodyPr wrap="square" lIns="0" rIns="0" tIns="18288" bIns="18288" anchor="ctr"/>
          <a:lstStyle/>
          <a:p>
            <a:pPr algn="r"/>
            <a:r>
              <a:rPr sz="8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B1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5221224" y="1911095"/>
            <a:ext cx="265176" cy="219456"/>
          </a:xfrm>
          <a:prstGeom prst="rect">
            <a:avLst/>
          </a:prstGeom>
          <a:noFill/>
        </p:spPr>
        <p:txBody>
          <a:bodyPr wrap="square" lIns="0" rIns="0" tIns="18288" bIns="18288" anchor="b"/>
          <a:lstStyle/>
          <a:p>
            <a:pPr algn="ctr"/>
            <a:r>
              <a:rPr sz="8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B1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4160520" y="3209544"/>
            <a:ext cx="265176" cy="265176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Rectangle 130"/>
          <p:cNvSpPr/>
          <p:nvPr/>
        </p:nvSpPr>
        <p:spPr>
          <a:xfrm>
            <a:off x="4425696" y="3209544"/>
            <a:ext cx="265176" cy="265176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4690872" y="3209544"/>
            <a:ext cx="265176" cy="265176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4956048" y="3209544"/>
            <a:ext cx="265176" cy="265176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5221224" y="3209544"/>
            <a:ext cx="265176" cy="265176"/>
          </a:xfrm>
          <a:prstGeom prst="rect">
            <a:avLst/>
          </a:prstGeom>
          <a:solidFill>
            <a:srgbClr val="E76F51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Rectangle 134"/>
          <p:cNvSpPr/>
          <p:nvPr/>
        </p:nvSpPr>
        <p:spPr>
          <a:xfrm>
            <a:off x="5486400" y="3209544"/>
            <a:ext cx="265176" cy="265176"/>
          </a:xfrm>
          <a:prstGeom prst="rect">
            <a:avLst/>
          </a:prstGeom>
          <a:solidFill>
            <a:srgbClr val="E76F51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5751575" y="3209544"/>
            <a:ext cx="265176" cy="265176"/>
          </a:xfrm>
          <a:prstGeom prst="rect">
            <a:avLst/>
          </a:prstGeom>
          <a:solidFill>
            <a:srgbClr val="E76F51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Rectangle 136"/>
          <p:cNvSpPr/>
          <p:nvPr/>
        </p:nvSpPr>
        <p:spPr>
          <a:xfrm>
            <a:off x="6016752" y="3209544"/>
            <a:ext cx="265176" cy="265176"/>
          </a:xfrm>
          <a:prstGeom prst="rect">
            <a:avLst/>
          </a:prstGeom>
          <a:solidFill>
            <a:srgbClr val="E76F51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3776472" y="3474720"/>
            <a:ext cx="365760" cy="265176"/>
          </a:xfrm>
          <a:prstGeom prst="rect">
            <a:avLst/>
          </a:prstGeom>
          <a:noFill/>
        </p:spPr>
        <p:txBody>
          <a:bodyPr wrap="square" lIns="0" rIns="0" tIns="18288" bIns="18288" anchor="ctr"/>
          <a:lstStyle/>
          <a:p>
            <a:pPr algn="r"/>
            <a:r>
              <a:rPr sz="8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B2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5486400" y="1911095"/>
            <a:ext cx="265176" cy="219456"/>
          </a:xfrm>
          <a:prstGeom prst="rect">
            <a:avLst/>
          </a:prstGeom>
          <a:noFill/>
        </p:spPr>
        <p:txBody>
          <a:bodyPr wrap="square" lIns="0" rIns="0" tIns="18288" bIns="18288" anchor="b"/>
          <a:lstStyle/>
          <a:p>
            <a:pPr algn="ctr"/>
            <a:r>
              <a:rPr sz="8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B2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4160520" y="3474720"/>
            <a:ext cx="265176" cy="265176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4425696" y="3474720"/>
            <a:ext cx="265176" cy="265176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Rectangle 141"/>
          <p:cNvSpPr/>
          <p:nvPr/>
        </p:nvSpPr>
        <p:spPr>
          <a:xfrm>
            <a:off x="4690872" y="3474720"/>
            <a:ext cx="265176" cy="265176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Rectangle 142"/>
          <p:cNvSpPr/>
          <p:nvPr/>
        </p:nvSpPr>
        <p:spPr>
          <a:xfrm>
            <a:off x="4956048" y="3474720"/>
            <a:ext cx="265176" cy="265176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Rectangle 143"/>
          <p:cNvSpPr/>
          <p:nvPr/>
        </p:nvSpPr>
        <p:spPr>
          <a:xfrm>
            <a:off x="5221224" y="3474720"/>
            <a:ext cx="265176" cy="265176"/>
          </a:xfrm>
          <a:prstGeom prst="rect">
            <a:avLst/>
          </a:prstGeom>
          <a:solidFill>
            <a:srgbClr val="E76F51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5486400" y="3474720"/>
            <a:ext cx="265176" cy="265176"/>
          </a:xfrm>
          <a:prstGeom prst="rect">
            <a:avLst/>
          </a:prstGeom>
          <a:solidFill>
            <a:srgbClr val="E76F51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Rectangle 145"/>
          <p:cNvSpPr/>
          <p:nvPr/>
        </p:nvSpPr>
        <p:spPr>
          <a:xfrm>
            <a:off x="5751575" y="3474720"/>
            <a:ext cx="265176" cy="265176"/>
          </a:xfrm>
          <a:prstGeom prst="rect">
            <a:avLst/>
          </a:prstGeom>
          <a:solidFill>
            <a:srgbClr val="E76F51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Rectangle 146"/>
          <p:cNvSpPr/>
          <p:nvPr/>
        </p:nvSpPr>
        <p:spPr>
          <a:xfrm>
            <a:off x="6016752" y="3474720"/>
            <a:ext cx="265176" cy="265176"/>
          </a:xfrm>
          <a:prstGeom prst="rect">
            <a:avLst/>
          </a:prstGeom>
          <a:solidFill>
            <a:srgbClr val="E76F51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3776472" y="3739896"/>
            <a:ext cx="365760" cy="265176"/>
          </a:xfrm>
          <a:prstGeom prst="rect">
            <a:avLst/>
          </a:prstGeom>
          <a:noFill/>
        </p:spPr>
        <p:txBody>
          <a:bodyPr wrap="square" lIns="0" rIns="0" tIns="18288" bIns="18288" anchor="ctr"/>
          <a:lstStyle/>
          <a:p>
            <a:pPr algn="r"/>
            <a:r>
              <a:rPr sz="8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B3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5751575" y="1911095"/>
            <a:ext cx="265176" cy="219456"/>
          </a:xfrm>
          <a:prstGeom prst="rect">
            <a:avLst/>
          </a:prstGeom>
          <a:noFill/>
        </p:spPr>
        <p:txBody>
          <a:bodyPr wrap="square" lIns="0" rIns="0" tIns="18288" bIns="18288" anchor="b"/>
          <a:lstStyle/>
          <a:p>
            <a:pPr algn="ctr"/>
            <a:r>
              <a:rPr sz="8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B3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4160520" y="3739896"/>
            <a:ext cx="265176" cy="265176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Rectangle 150"/>
          <p:cNvSpPr/>
          <p:nvPr/>
        </p:nvSpPr>
        <p:spPr>
          <a:xfrm>
            <a:off x="4425696" y="3739896"/>
            <a:ext cx="265176" cy="265176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Rectangle 151"/>
          <p:cNvSpPr/>
          <p:nvPr/>
        </p:nvSpPr>
        <p:spPr>
          <a:xfrm>
            <a:off x="4690872" y="3739896"/>
            <a:ext cx="265176" cy="265176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Rectangle 152"/>
          <p:cNvSpPr/>
          <p:nvPr/>
        </p:nvSpPr>
        <p:spPr>
          <a:xfrm>
            <a:off x="4956048" y="3739896"/>
            <a:ext cx="265176" cy="265176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Rectangle 153"/>
          <p:cNvSpPr/>
          <p:nvPr/>
        </p:nvSpPr>
        <p:spPr>
          <a:xfrm>
            <a:off x="5221224" y="3739896"/>
            <a:ext cx="265176" cy="265176"/>
          </a:xfrm>
          <a:prstGeom prst="rect">
            <a:avLst/>
          </a:prstGeom>
          <a:solidFill>
            <a:srgbClr val="E76F51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Rectangle 154"/>
          <p:cNvSpPr/>
          <p:nvPr/>
        </p:nvSpPr>
        <p:spPr>
          <a:xfrm>
            <a:off x="5486400" y="3739896"/>
            <a:ext cx="265176" cy="265176"/>
          </a:xfrm>
          <a:prstGeom prst="rect">
            <a:avLst/>
          </a:prstGeom>
          <a:solidFill>
            <a:srgbClr val="E76F51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Rectangle 155"/>
          <p:cNvSpPr/>
          <p:nvPr/>
        </p:nvSpPr>
        <p:spPr>
          <a:xfrm>
            <a:off x="5751575" y="3739896"/>
            <a:ext cx="265176" cy="265176"/>
          </a:xfrm>
          <a:prstGeom prst="rect">
            <a:avLst/>
          </a:prstGeom>
          <a:solidFill>
            <a:srgbClr val="E76F51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6016752" y="3739896"/>
            <a:ext cx="265176" cy="265176"/>
          </a:xfrm>
          <a:prstGeom prst="rect">
            <a:avLst/>
          </a:prstGeom>
          <a:solidFill>
            <a:srgbClr val="E76F51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3776472" y="4005072"/>
            <a:ext cx="365760" cy="265176"/>
          </a:xfrm>
          <a:prstGeom prst="rect">
            <a:avLst/>
          </a:prstGeom>
          <a:noFill/>
        </p:spPr>
        <p:txBody>
          <a:bodyPr wrap="square" lIns="0" rIns="0" tIns="18288" bIns="18288" anchor="ctr"/>
          <a:lstStyle/>
          <a:p>
            <a:pPr algn="r"/>
            <a:r>
              <a:rPr sz="8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B4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6016752" y="1911095"/>
            <a:ext cx="265176" cy="219456"/>
          </a:xfrm>
          <a:prstGeom prst="rect">
            <a:avLst/>
          </a:prstGeom>
          <a:noFill/>
        </p:spPr>
        <p:txBody>
          <a:bodyPr wrap="square" lIns="0" rIns="0" tIns="18288" bIns="18288" anchor="b"/>
          <a:lstStyle/>
          <a:p>
            <a:pPr algn="ctr"/>
            <a:r>
              <a:rPr sz="8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B4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4160520" y="4005072"/>
            <a:ext cx="265176" cy="265176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Rectangle 160"/>
          <p:cNvSpPr/>
          <p:nvPr/>
        </p:nvSpPr>
        <p:spPr>
          <a:xfrm>
            <a:off x="4425696" y="4005072"/>
            <a:ext cx="265176" cy="265176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Rectangle 161"/>
          <p:cNvSpPr/>
          <p:nvPr/>
        </p:nvSpPr>
        <p:spPr>
          <a:xfrm>
            <a:off x="4690872" y="4005072"/>
            <a:ext cx="265176" cy="265176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Rectangle 162"/>
          <p:cNvSpPr/>
          <p:nvPr/>
        </p:nvSpPr>
        <p:spPr>
          <a:xfrm>
            <a:off x="4956048" y="4005072"/>
            <a:ext cx="265176" cy="265176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Rectangle 163"/>
          <p:cNvSpPr/>
          <p:nvPr/>
        </p:nvSpPr>
        <p:spPr>
          <a:xfrm>
            <a:off x="5221224" y="4005072"/>
            <a:ext cx="265176" cy="265176"/>
          </a:xfrm>
          <a:prstGeom prst="rect">
            <a:avLst/>
          </a:prstGeom>
          <a:solidFill>
            <a:srgbClr val="E76F51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5486400" y="4005072"/>
            <a:ext cx="265176" cy="265176"/>
          </a:xfrm>
          <a:prstGeom prst="rect">
            <a:avLst/>
          </a:prstGeom>
          <a:solidFill>
            <a:srgbClr val="E76F51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Rectangle 165"/>
          <p:cNvSpPr/>
          <p:nvPr/>
        </p:nvSpPr>
        <p:spPr>
          <a:xfrm>
            <a:off x="5751575" y="4005072"/>
            <a:ext cx="265176" cy="265176"/>
          </a:xfrm>
          <a:prstGeom prst="rect">
            <a:avLst/>
          </a:prstGeom>
          <a:solidFill>
            <a:srgbClr val="E76F51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Rectangle 166"/>
          <p:cNvSpPr/>
          <p:nvPr/>
        </p:nvSpPr>
        <p:spPr>
          <a:xfrm>
            <a:off x="6016752" y="4005072"/>
            <a:ext cx="265176" cy="265176"/>
          </a:xfrm>
          <a:prstGeom prst="rect">
            <a:avLst/>
          </a:prstGeom>
          <a:solidFill>
            <a:srgbClr val="E76F51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3749039" y="4343400"/>
            <a:ext cx="2532888" cy="54864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ctr"/>
            <a:r>
              <a:rPr sz="1200" b="1">
                <a:solidFill>
                  <a:srgbClr val="E76F51"/>
                </a:solidFill>
                <a:latin typeface="Times New Roman"/>
                <a:ea typeface="Times New Roman"/>
                <a:cs typeface="Times New Roman"/>
              </a:rPr>
              <a:t>τ</a:t>
            </a:r>
            <a:r>
              <a:rPr sz="1200" b="1" baseline="-40000">
                <a:solidFill>
                  <a:srgbClr val="E76F51"/>
                </a:solidFill>
                <a:latin typeface="Times New Roman"/>
                <a:ea typeface="Times New Roman"/>
                <a:cs typeface="Times New Roman"/>
              </a:rPr>
              <a:t>s</a:t>
            </a:r>
            <a:r>
              <a:rPr sz="1200" b="1" baseline="30000">
                <a:solidFill>
                  <a:srgbClr val="E76F51"/>
                </a:solidFill>
                <a:latin typeface="Times New Roman"/>
                <a:ea typeface="Times New Roman"/>
                <a:cs typeface="Times New Roman"/>
              </a:rPr>
              <a:t>2</a:t>
            </a:r>
            <a:r>
              <a:rPr sz="1200" b="1">
                <a:solidFill>
                  <a:srgbClr val="E76F51"/>
                </a:solidFill>
                <a:latin typeface="BIZ UDGothic"/>
                <a:ea typeface="BIZ UDGothic"/>
                <a:cs typeface="BIZ UDGothic"/>
              </a:rPr>
              <a:t> × 同じ Scan 方向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931152" y="2148840"/>
            <a:ext cx="365760" cy="265176"/>
          </a:xfrm>
          <a:prstGeom prst="rect">
            <a:avLst/>
          </a:prstGeom>
          <a:noFill/>
        </p:spPr>
        <p:txBody>
          <a:bodyPr wrap="square" lIns="0" rIns="0" tIns="18288" bIns="18288" anchor="ctr"/>
          <a:lstStyle/>
          <a:p>
            <a:pPr algn="r"/>
            <a:r>
              <a:rPr sz="8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A1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315200" y="1911095"/>
            <a:ext cx="265176" cy="219456"/>
          </a:xfrm>
          <a:prstGeom prst="rect">
            <a:avLst/>
          </a:prstGeom>
          <a:noFill/>
        </p:spPr>
        <p:txBody>
          <a:bodyPr wrap="square" lIns="0" rIns="0" tIns="18288" bIns="18288" anchor="b"/>
          <a:lstStyle/>
          <a:p>
            <a:pPr algn="ctr"/>
            <a:r>
              <a:rPr sz="8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A1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7315200" y="2148840"/>
            <a:ext cx="265176" cy="265176"/>
          </a:xfrm>
          <a:prstGeom prst="rect">
            <a:avLst/>
          </a:prstGeom>
          <a:solidFill>
            <a:srgbClr val="8D6A9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Rectangle 171"/>
          <p:cNvSpPr/>
          <p:nvPr/>
        </p:nvSpPr>
        <p:spPr>
          <a:xfrm>
            <a:off x="7580375" y="2148840"/>
            <a:ext cx="265176" cy="265176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7845552" y="2148840"/>
            <a:ext cx="265176" cy="265176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Rectangle 173"/>
          <p:cNvSpPr/>
          <p:nvPr/>
        </p:nvSpPr>
        <p:spPr>
          <a:xfrm>
            <a:off x="8110727" y="2148840"/>
            <a:ext cx="265176" cy="265176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Rectangle 174"/>
          <p:cNvSpPr/>
          <p:nvPr/>
        </p:nvSpPr>
        <p:spPr>
          <a:xfrm>
            <a:off x="8375904" y="2148840"/>
            <a:ext cx="265176" cy="265176"/>
          </a:xfrm>
          <a:prstGeom prst="rect">
            <a:avLst/>
          </a:prstGeom>
          <a:solidFill>
            <a:srgbClr val="8D6A9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Rectangle 175"/>
          <p:cNvSpPr/>
          <p:nvPr/>
        </p:nvSpPr>
        <p:spPr>
          <a:xfrm>
            <a:off x="8641080" y="2148840"/>
            <a:ext cx="265176" cy="265176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Rectangle 176"/>
          <p:cNvSpPr/>
          <p:nvPr/>
        </p:nvSpPr>
        <p:spPr>
          <a:xfrm>
            <a:off x="8906256" y="2148840"/>
            <a:ext cx="265176" cy="265176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Rectangle 177"/>
          <p:cNvSpPr/>
          <p:nvPr/>
        </p:nvSpPr>
        <p:spPr>
          <a:xfrm>
            <a:off x="9171432" y="2148840"/>
            <a:ext cx="265176" cy="265176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6931152" y="2414016"/>
            <a:ext cx="365760" cy="265176"/>
          </a:xfrm>
          <a:prstGeom prst="rect">
            <a:avLst/>
          </a:prstGeom>
          <a:noFill/>
        </p:spPr>
        <p:txBody>
          <a:bodyPr wrap="square" lIns="0" rIns="0" tIns="18288" bIns="18288" anchor="ctr"/>
          <a:lstStyle/>
          <a:p>
            <a:pPr algn="r"/>
            <a:r>
              <a:rPr sz="8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A2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7580375" y="1911095"/>
            <a:ext cx="265176" cy="219456"/>
          </a:xfrm>
          <a:prstGeom prst="rect">
            <a:avLst/>
          </a:prstGeom>
          <a:noFill/>
        </p:spPr>
        <p:txBody>
          <a:bodyPr wrap="square" lIns="0" rIns="0" tIns="18288" bIns="18288" anchor="b"/>
          <a:lstStyle/>
          <a:p>
            <a:pPr algn="ctr"/>
            <a:r>
              <a:rPr sz="8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A2</a:t>
            </a:r>
          </a:p>
        </p:txBody>
      </p:sp>
      <p:sp>
        <p:nvSpPr>
          <p:cNvPr id="181" name="Rectangle 180"/>
          <p:cNvSpPr/>
          <p:nvPr/>
        </p:nvSpPr>
        <p:spPr>
          <a:xfrm>
            <a:off x="7315200" y="2414016"/>
            <a:ext cx="265176" cy="265176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Rectangle 181"/>
          <p:cNvSpPr/>
          <p:nvPr/>
        </p:nvSpPr>
        <p:spPr>
          <a:xfrm>
            <a:off x="7580375" y="2414016"/>
            <a:ext cx="265176" cy="265176"/>
          </a:xfrm>
          <a:prstGeom prst="rect">
            <a:avLst/>
          </a:prstGeom>
          <a:solidFill>
            <a:srgbClr val="8D6A9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Rectangle 182"/>
          <p:cNvSpPr/>
          <p:nvPr/>
        </p:nvSpPr>
        <p:spPr>
          <a:xfrm>
            <a:off x="7845552" y="2414016"/>
            <a:ext cx="265176" cy="265176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Rectangle 183"/>
          <p:cNvSpPr/>
          <p:nvPr/>
        </p:nvSpPr>
        <p:spPr>
          <a:xfrm>
            <a:off x="8110727" y="2414016"/>
            <a:ext cx="265176" cy="265176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Rectangle 184"/>
          <p:cNvSpPr/>
          <p:nvPr/>
        </p:nvSpPr>
        <p:spPr>
          <a:xfrm>
            <a:off x="8375904" y="2414016"/>
            <a:ext cx="265176" cy="265176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Rectangle 185"/>
          <p:cNvSpPr/>
          <p:nvPr/>
        </p:nvSpPr>
        <p:spPr>
          <a:xfrm>
            <a:off x="8641080" y="2414016"/>
            <a:ext cx="265176" cy="265176"/>
          </a:xfrm>
          <a:prstGeom prst="rect">
            <a:avLst/>
          </a:prstGeom>
          <a:solidFill>
            <a:srgbClr val="8D6A9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Rectangle 186"/>
          <p:cNvSpPr/>
          <p:nvPr/>
        </p:nvSpPr>
        <p:spPr>
          <a:xfrm>
            <a:off x="8906256" y="2414016"/>
            <a:ext cx="265176" cy="265176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Rectangle 187"/>
          <p:cNvSpPr/>
          <p:nvPr/>
        </p:nvSpPr>
        <p:spPr>
          <a:xfrm>
            <a:off x="9171432" y="2414016"/>
            <a:ext cx="265176" cy="265176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TextBox 188"/>
          <p:cNvSpPr txBox="1"/>
          <p:nvPr/>
        </p:nvSpPr>
        <p:spPr>
          <a:xfrm>
            <a:off x="6931152" y="2679192"/>
            <a:ext cx="365760" cy="265176"/>
          </a:xfrm>
          <a:prstGeom prst="rect">
            <a:avLst/>
          </a:prstGeom>
          <a:noFill/>
        </p:spPr>
        <p:txBody>
          <a:bodyPr wrap="square" lIns="0" rIns="0" tIns="18288" bIns="18288" anchor="ctr"/>
          <a:lstStyle/>
          <a:p>
            <a:pPr algn="r"/>
            <a:r>
              <a:rPr sz="8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A3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7845552" y="1911095"/>
            <a:ext cx="265176" cy="219456"/>
          </a:xfrm>
          <a:prstGeom prst="rect">
            <a:avLst/>
          </a:prstGeom>
          <a:noFill/>
        </p:spPr>
        <p:txBody>
          <a:bodyPr wrap="square" lIns="0" rIns="0" tIns="18288" bIns="18288" anchor="b"/>
          <a:lstStyle/>
          <a:p>
            <a:pPr algn="ctr"/>
            <a:r>
              <a:rPr sz="8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A3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7315200" y="2679192"/>
            <a:ext cx="265176" cy="265176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Rectangle 191"/>
          <p:cNvSpPr/>
          <p:nvPr/>
        </p:nvSpPr>
        <p:spPr>
          <a:xfrm>
            <a:off x="7580375" y="2679192"/>
            <a:ext cx="265176" cy="265176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Rectangle 192"/>
          <p:cNvSpPr/>
          <p:nvPr/>
        </p:nvSpPr>
        <p:spPr>
          <a:xfrm>
            <a:off x="7845552" y="2679192"/>
            <a:ext cx="265176" cy="265176"/>
          </a:xfrm>
          <a:prstGeom prst="rect">
            <a:avLst/>
          </a:prstGeom>
          <a:solidFill>
            <a:srgbClr val="8D6A9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Rectangle 193"/>
          <p:cNvSpPr/>
          <p:nvPr/>
        </p:nvSpPr>
        <p:spPr>
          <a:xfrm>
            <a:off x="8110727" y="2679192"/>
            <a:ext cx="265176" cy="265176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Rectangle 194"/>
          <p:cNvSpPr/>
          <p:nvPr/>
        </p:nvSpPr>
        <p:spPr>
          <a:xfrm>
            <a:off x="8375904" y="2679192"/>
            <a:ext cx="265176" cy="265176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Rectangle 195"/>
          <p:cNvSpPr/>
          <p:nvPr/>
        </p:nvSpPr>
        <p:spPr>
          <a:xfrm>
            <a:off x="8641080" y="2679192"/>
            <a:ext cx="265176" cy="265176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Rectangle 196"/>
          <p:cNvSpPr/>
          <p:nvPr/>
        </p:nvSpPr>
        <p:spPr>
          <a:xfrm>
            <a:off x="8906256" y="2679192"/>
            <a:ext cx="265176" cy="265176"/>
          </a:xfrm>
          <a:prstGeom prst="rect">
            <a:avLst/>
          </a:prstGeom>
          <a:solidFill>
            <a:srgbClr val="8D6A9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Rectangle 197"/>
          <p:cNvSpPr/>
          <p:nvPr/>
        </p:nvSpPr>
        <p:spPr>
          <a:xfrm>
            <a:off x="9171432" y="2679192"/>
            <a:ext cx="265176" cy="265176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TextBox 198"/>
          <p:cNvSpPr txBox="1"/>
          <p:nvPr/>
        </p:nvSpPr>
        <p:spPr>
          <a:xfrm>
            <a:off x="6931152" y="2944368"/>
            <a:ext cx="365760" cy="265176"/>
          </a:xfrm>
          <a:prstGeom prst="rect">
            <a:avLst/>
          </a:prstGeom>
          <a:noFill/>
        </p:spPr>
        <p:txBody>
          <a:bodyPr wrap="square" lIns="0" rIns="0" tIns="18288" bIns="18288" anchor="ctr"/>
          <a:lstStyle/>
          <a:p>
            <a:pPr algn="r"/>
            <a:r>
              <a:rPr sz="8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A4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8110727" y="1911095"/>
            <a:ext cx="265176" cy="219456"/>
          </a:xfrm>
          <a:prstGeom prst="rect">
            <a:avLst/>
          </a:prstGeom>
          <a:noFill/>
        </p:spPr>
        <p:txBody>
          <a:bodyPr wrap="square" lIns="0" rIns="0" tIns="18288" bIns="18288" anchor="b"/>
          <a:lstStyle/>
          <a:p>
            <a:pPr algn="ctr"/>
            <a:r>
              <a:rPr sz="8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A4</a:t>
            </a:r>
          </a:p>
        </p:txBody>
      </p:sp>
      <p:sp>
        <p:nvSpPr>
          <p:cNvPr id="201" name="Rectangle 200"/>
          <p:cNvSpPr/>
          <p:nvPr/>
        </p:nvSpPr>
        <p:spPr>
          <a:xfrm>
            <a:off x="7315200" y="2944368"/>
            <a:ext cx="265176" cy="265176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Rectangle 201"/>
          <p:cNvSpPr/>
          <p:nvPr/>
        </p:nvSpPr>
        <p:spPr>
          <a:xfrm>
            <a:off x="7580375" y="2944368"/>
            <a:ext cx="265176" cy="265176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Rectangle 202"/>
          <p:cNvSpPr/>
          <p:nvPr/>
        </p:nvSpPr>
        <p:spPr>
          <a:xfrm>
            <a:off x="7845552" y="2944368"/>
            <a:ext cx="265176" cy="265176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Rectangle 203"/>
          <p:cNvSpPr/>
          <p:nvPr/>
        </p:nvSpPr>
        <p:spPr>
          <a:xfrm>
            <a:off x="8110727" y="2944368"/>
            <a:ext cx="265176" cy="265176"/>
          </a:xfrm>
          <a:prstGeom prst="rect">
            <a:avLst/>
          </a:prstGeom>
          <a:solidFill>
            <a:srgbClr val="8D6A9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Rectangle 204"/>
          <p:cNvSpPr/>
          <p:nvPr/>
        </p:nvSpPr>
        <p:spPr>
          <a:xfrm>
            <a:off x="8375904" y="2944368"/>
            <a:ext cx="265176" cy="265176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Rectangle 205"/>
          <p:cNvSpPr/>
          <p:nvPr/>
        </p:nvSpPr>
        <p:spPr>
          <a:xfrm>
            <a:off x="8641080" y="2944368"/>
            <a:ext cx="265176" cy="265176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Rectangle 206"/>
          <p:cNvSpPr/>
          <p:nvPr/>
        </p:nvSpPr>
        <p:spPr>
          <a:xfrm>
            <a:off x="8906256" y="2944368"/>
            <a:ext cx="265176" cy="265176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Rectangle 207"/>
          <p:cNvSpPr/>
          <p:nvPr/>
        </p:nvSpPr>
        <p:spPr>
          <a:xfrm>
            <a:off x="9171432" y="2944368"/>
            <a:ext cx="265176" cy="265176"/>
          </a:xfrm>
          <a:prstGeom prst="rect">
            <a:avLst/>
          </a:prstGeom>
          <a:solidFill>
            <a:srgbClr val="8D6A9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TextBox 208"/>
          <p:cNvSpPr txBox="1"/>
          <p:nvPr/>
        </p:nvSpPr>
        <p:spPr>
          <a:xfrm>
            <a:off x="6931152" y="3209544"/>
            <a:ext cx="365760" cy="265176"/>
          </a:xfrm>
          <a:prstGeom prst="rect">
            <a:avLst/>
          </a:prstGeom>
          <a:noFill/>
        </p:spPr>
        <p:txBody>
          <a:bodyPr wrap="square" lIns="0" rIns="0" tIns="18288" bIns="18288" anchor="ctr"/>
          <a:lstStyle/>
          <a:p>
            <a:pPr algn="r"/>
            <a:r>
              <a:rPr sz="8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B1</a:t>
            </a:r>
          </a:p>
        </p:txBody>
      </p:sp>
      <p:sp>
        <p:nvSpPr>
          <p:cNvPr id="210" name="TextBox 209"/>
          <p:cNvSpPr txBox="1"/>
          <p:nvPr/>
        </p:nvSpPr>
        <p:spPr>
          <a:xfrm>
            <a:off x="8375904" y="1911095"/>
            <a:ext cx="265176" cy="219456"/>
          </a:xfrm>
          <a:prstGeom prst="rect">
            <a:avLst/>
          </a:prstGeom>
          <a:noFill/>
        </p:spPr>
        <p:txBody>
          <a:bodyPr wrap="square" lIns="0" rIns="0" tIns="18288" bIns="18288" anchor="b"/>
          <a:lstStyle/>
          <a:p>
            <a:pPr algn="ctr"/>
            <a:r>
              <a:rPr sz="8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B1</a:t>
            </a:r>
          </a:p>
        </p:txBody>
      </p:sp>
      <p:sp>
        <p:nvSpPr>
          <p:cNvPr id="211" name="Rectangle 210"/>
          <p:cNvSpPr/>
          <p:nvPr/>
        </p:nvSpPr>
        <p:spPr>
          <a:xfrm>
            <a:off x="7315200" y="3209544"/>
            <a:ext cx="265176" cy="265176"/>
          </a:xfrm>
          <a:prstGeom prst="rect">
            <a:avLst/>
          </a:prstGeom>
          <a:solidFill>
            <a:srgbClr val="8D6A9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Rectangle 211"/>
          <p:cNvSpPr/>
          <p:nvPr/>
        </p:nvSpPr>
        <p:spPr>
          <a:xfrm>
            <a:off x="7580375" y="3209544"/>
            <a:ext cx="265176" cy="265176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Rectangle 212"/>
          <p:cNvSpPr/>
          <p:nvPr/>
        </p:nvSpPr>
        <p:spPr>
          <a:xfrm>
            <a:off x="7845552" y="3209544"/>
            <a:ext cx="265176" cy="265176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Rectangle 213"/>
          <p:cNvSpPr/>
          <p:nvPr/>
        </p:nvSpPr>
        <p:spPr>
          <a:xfrm>
            <a:off x="8110727" y="3209544"/>
            <a:ext cx="265176" cy="265176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Rectangle 214"/>
          <p:cNvSpPr/>
          <p:nvPr/>
        </p:nvSpPr>
        <p:spPr>
          <a:xfrm>
            <a:off x="8375904" y="3209544"/>
            <a:ext cx="265176" cy="265176"/>
          </a:xfrm>
          <a:prstGeom prst="rect">
            <a:avLst/>
          </a:prstGeom>
          <a:solidFill>
            <a:srgbClr val="8D6A9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Rectangle 215"/>
          <p:cNvSpPr/>
          <p:nvPr/>
        </p:nvSpPr>
        <p:spPr>
          <a:xfrm>
            <a:off x="8641080" y="3209544"/>
            <a:ext cx="265176" cy="265176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Rectangle 216"/>
          <p:cNvSpPr/>
          <p:nvPr/>
        </p:nvSpPr>
        <p:spPr>
          <a:xfrm>
            <a:off x="8906256" y="3209544"/>
            <a:ext cx="265176" cy="265176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Rectangle 217"/>
          <p:cNvSpPr/>
          <p:nvPr/>
        </p:nvSpPr>
        <p:spPr>
          <a:xfrm>
            <a:off x="9171432" y="3209544"/>
            <a:ext cx="265176" cy="265176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TextBox 218"/>
          <p:cNvSpPr txBox="1"/>
          <p:nvPr/>
        </p:nvSpPr>
        <p:spPr>
          <a:xfrm>
            <a:off x="6931152" y="3474720"/>
            <a:ext cx="365760" cy="265176"/>
          </a:xfrm>
          <a:prstGeom prst="rect">
            <a:avLst/>
          </a:prstGeom>
          <a:noFill/>
        </p:spPr>
        <p:txBody>
          <a:bodyPr wrap="square" lIns="0" rIns="0" tIns="18288" bIns="18288" anchor="ctr"/>
          <a:lstStyle/>
          <a:p>
            <a:pPr algn="r"/>
            <a:r>
              <a:rPr sz="8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B2</a:t>
            </a:r>
          </a:p>
        </p:txBody>
      </p:sp>
      <p:sp>
        <p:nvSpPr>
          <p:cNvPr id="220" name="TextBox 219"/>
          <p:cNvSpPr txBox="1"/>
          <p:nvPr/>
        </p:nvSpPr>
        <p:spPr>
          <a:xfrm>
            <a:off x="8641080" y="1911095"/>
            <a:ext cx="265176" cy="219456"/>
          </a:xfrm>
          <a:prstGeom prst="rect">
            <a:avLst/>
          </a:prstGeom>
          <a:noFill/>
        </p:spPr>
        <p:txBody>
          <a:bodyPr wrap="square" lIns="0" rIns="0" tIns="18288" bIns="18288" anchor="b"/>
          <a:lstStyle/>
          <a:p>
            <a:pPr algn="ctr"/>
            <a:r>
              <a:rPr sz="8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B2</a:t>
            </a:r>
          </a:p>
        </p:txBody>
      </p:sp>
      <p:sp>
        <p:nvSpPr>
          <p:cNvPr id="221" name="Rectangle 220"/>
          <p:cNvSpPr/>
          <p:nvPr/>
        </p:nvSpPr>
        <p:spPr>
          <a:xfrm>
            <a:off x="7315200" y="3474720"/>
            <a:ext cx="265176" cy="265176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Rectangle 221"/>
          <p:cNvSpPr/>
          <p:nvPr/>
        </p:nvSpPr>
        <p:spPr>
          <a:xfrm>
            <a:off x="7580375" y="3474720"/>
            <a:ext cx="265176" cy="265176"/>
          </a:xfrm>
          <a:prstGeom prst="rect">
            <a:avLst/>
          </a:prstGeom>
          <a:solidFill>
            <a:srgbClr val="8D6A9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Rectangle 222"/>
          <p:cNvSpPr/>
          <p:nvPr/>
        </p:nvSpPr>
        <p:spPr>
          <a:xfrm>
            <a:off x="7845552" y="3474720"/>
            <a:ext cx="265176" cy="265176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Rectangle 223"/>
          <p:cNvSpPr/>
          <p:nvPr/>
        </p:nvSpPr>
        <p:spPr>
          <a:xfrm>
            <a:off x="8110727" y="3474720"/>
            <a:ext cx="265176" cy="265176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Rectangle 224"/>
          <p:cNvSpPr/>
          <p:nvPr/>
        </p:nvSpPr>
        <p:spPr>
          <a:xfrm>
            <a:off x="8375904" y="3474720"/>
            <a:ext cx="265176" cy="265176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Rectangle 225"/>
          <p:cNvSpPr/>
          <p:nvPr/>
        </p:nvSpPr>
        <p:spPr>
          <a:xfrm>
            <a:off x="8641080" y="3474720"/>
            <a:ext cx="265176" cy="265176"/>
          </a:xfrm>
          <a:prstGeom prst="rect">
            <a:avLst/>
          </a:prstGeom>
          <a:solidFill>
            <a:srgbClr val="8D6A9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Rectangle 226"/>
          <p:cNvSpPr/>
          <p:nvPr/>
        </p:nvSpPr>
        <p:spPr>
          <a:xfrm>
            <a:off x="8906256" y="3474720"/>
            <a:ext cx="265176" cy="265176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Rectangle 227"/>
          <p:cNvSpPr/>
          <p:nvPr/>
        </p:nvSpPr>
        <p:spPr>
          <a:xfrm>
            <a:off x="9171432" y="3474720"/>
            <a:ext cx="265176" cy="265176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TextBox 228"/>
          <p:cNvSpPr txBox="1"/>
          <p:nvPr/>
        </p:nvSpPr>
        <p:spPr>
          <a:xfrm>
            <a:off x="6931152" y="3739896"/>
            <a:ext cx="365760" cy="265176"/>
          </a:xfrm>
          <a:prstGeom prst="rect">
            <a:avLst/>
          </a:prstGeom>
          <a:noFill/>
        </p:spPr>
        <p:txBody>
          <a:bodyPr wrap="square" lIns="0" rIns="0" tIns="18288" bIns="18288" anchor="ctr"/>
          <a:lstStyle/>
          <a:p>
            <a:pPr algn="r"/>
            <a:r>
              <a:rPr sz="8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B3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8906256" y="1911095"/>
            <a:ext cx="265176" cy="219456"/>
          </a:xfrm>
          <a:prstGeom prst="rect">
            <a:avLst/>
          </a:prstGeom>
          <a:noFill/>
        </p:spPr>
        <p:txBody>
          <a:bodyPr wrap="square" lIns="0" rIns="0" tIns="18288" bIns="18288" anchor="b"/>
          <a:lstStyle/>
          <a:p>
            <a:pPr algn="ctr"/>
            <a:r>
              <a:rPr sz="8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B3</a:t>
            </a:r>
          </a:p>
        </p:txBody>
      </p:sp>
      <p:sp>
        <p:nvSpPr>
          <p:cNvPr id="231" name="Rectangle 230"/>
          <p:cNvSpPr/>
          <p:nvPr/>
        </p:nvSpPr>
        <p:spPr>
          <a:xfrm>
            <a:off x="7315200" y="3739896"/>
            <a:ext cx="265176" cy="265176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Rectangle 231"/>
          <p:cNvSpPr/>
          <p:nvPr/>
        </p:nvSpPr>
        <p:spPr>
          <a:xfrm>
            <a:off x="7580375" y="3739896"/>
            <a:ext cx="265176" cy="265176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Rectangle 232"/>
          <p:cNvSpPr/>
          <p:nvPr/>
        </p:nvSpPr>
        <p:spPr>
          <a:xfrm>
            <a:off x="7845552" y="3739896"/>
            <a:ext cx="265176" cy="265176"/>
          </a:xfrm>
          <a:prstGeom prst="rect">
            <a:avLst/>
          </a:prstGeom>
          <a:solidFill>
            <a:srgbClr val="8D6A9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Rectangle 233"/>
          <p:cNvSpPr/>
          <p:nvPr/>
        </p:nvSpPr>
        <p:spPr>
          <a:xfrm>
            <a:off x="8110727" y="3739896"/>
            <a:ext cx="265176" cy="265176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Rectangle 234"/>
          <p:cNvSpPr/>
          <p:nvPr/>
        </p:nvSpPr>
        <p:spPr>
          <a:xfrm>
            <a:off x="8375904" y="3739896"/>
            <a:ext cx="265176" cy="265176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Rectangle 235"/>
          <p:cNvSpPr/>
          <p:nvPr/>
        </p:nvSpPr>
        <p:spPr>
          <a:xfrm>
            <a:off x="8641080" y="3739896"/>
            <a:ext cx="265176" cy="265176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Rectangle 236"/>
          <p:cNvSpPr/>
          <p:nvPr/>
        </p:nvSpPr>
        <p:spPr>
          <a:xfrm>
            <a:off x="8906256" y="3739896"/>
            <a:ext cx="265176" cy="265176"/>
          </a:xfrm>
          <a:prstGeom prst="rect">
            <a:avLst/>
          </a:prstGeom>
          <a:solidFill>
            <a:srgbClr val="8D6A9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Rectangle 237"/>
          <p:cNvSpPr/>
          <p:nvPr/>
        </p:nvSpPr>
        <p:spPr>
          <a:xfrm>
            <a:off x="9171432" y="3739896"/>
            <a:ext cx="265176" cy="265176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TextBox 238"/>
          <p:cNvSpPr txBox="1"/>
          <p:nvPr/>
        </p:nvSpPr>
        <p:spPr>
          <a:xfrm>
            <a:off x="6931152" y="4005072"/>
            <a:ext cx="365760" cy="265176"/>
          </a:xfrm>
          <a:prstGeom prst="rect">
            <a:avLst/>
          </a:prstGeom>
          <a:noFill/>
        </p:spPr>
        <p:txBody>
          <a:bodyPr wrap="square" lIns="0" rIns="0" tIns="18288" bIns="18288" anchor="ctr"/>
          <a:lstStyle/>
          <a:p>
            <a:pPr algn="r"/>
            <a:r>
              <a:rPr sz="8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B4</a:t>
            </a:r>
          </a:p>
        </p:txBody>
      </p:sp>
      <p:sp>
        <p:nvSpPr>
          <p:cNvPr id="240" name="TextBox 239"/>
          <p:cNvSpPr txBox="1"/>
          <p:nvPr/>
        </p:nvSpPr>
        <p:spPr>
          <a:xfrm>
            <a:off x="9171432" y="1911095"/>
            <a:ext cx="265176" cy="219456"/>
          </a:xfrm>
          <a:prstGeom prst="rect">
            <a:avLst/>
          </a:prstGeom>
          <a:noFill/>
        </p:spPr>
        <p:txBody>
          <a:bodyPr wrap="square" lIns="0" rIns="0" tIns="18288" bIns="18288" anchor="b"/>
          <a:lstStyle/>
          <a:p>
            <a:pPr algn="ctr"/>
            <a:r>
              <a:rPr sz="8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B4</a:t>
            </a:r>
          </a:p>
        </p:txBody>
      </p:sp>
      <p:sp>
        <p:nvSpPr>
          <p:cNvPr id="241" name="Rectangle 240"/>
          <p:cNvSpPr/>
          <p:nvPr/>
        </p:nvSpPr>
        <p:spPr>
          <a:xfrm>
            <a:off x="7315200" y="4005072"/>
            <a:ext cx="265176" cy="265176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Rectangle 241"/>
          <p:cNvSpPr/>
          <p:nvPr/>
        </p:nvSpPr>
        <p:spPr>
          <a:xfrm>
            <a:off x="7580375" y="4005072"/>
            <a:ext cx="265176" cy="265176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Rectangle 242"/>
          <p:cNvSpPr/>
          <p:nvPr/>
        </p:nvSpPr>
        <p:spPr>
          <a:xfrm>
            <a:off x="7845552" y="4005072"/>
            <a:ext cx="265176" cy="265176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Rectangle 243"/>
          <p:cNvSpPr/>
          <p:nvPr/>
        </p:nvSpPr>
        <p:spPr>
          <a:xfrm>
            <a:off x="8110727" y="4005072"/>
            <a:ext cx="265176" cy="265176"/>
          </a:xfrm>
          <a:prstGeom prst="rect">
            <a:avLst/>
          </a:prstGeom>
          <a:solidFill>
            <a:srgbClr val="8D6A9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Rectangle 244"/>
          <p:cNvSpPr/>
          <p:nvPr/>
        </p:nvSpPr>
        <p:spPr>
          <a:xfrm>
            <a:off x="8375904" y="4005072"/>
            <a:ext cx="265176" cy="265176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Rectangle 245"/>
          <p:cNvSpPr/>
          <p:nvPr/>
        </p:nvSpPr>
        <p:spPr>
          <a:xfrm>
            <a:off x="8641080" y="4005072"/>
            <a:ext cx="265176" cy="265176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Rectangle 246"/>
          <p:cNvSpPr/>
          <p:nvPr/>
        </p:nvSpPr>
        <p:spPr>
          <a:xfrm>
            <a:off x="8906256" y="4005072"/>
            <a:ext cx="265176" cy="265176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Rectangle 247"/>
          <p:cNvSpPr/>
          <p:nvPr/>
        </p:nvSpPr>
        <p:spPr>
          <a:xfrm>
            <a:off x="9171432" y="4005072"/>
            <a:ext cx="265176" cy="265176"/>
          </a:xfrm>
          <a:prstGeom prst="rect">
            <a:avLst/>
          </a:prstGeom>
          <a:solidFill>
            <a:srgbClr val="8D6A9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TextBox 248"/>
          <p:cNvSpPr txBox="1"/>
          <p:nvPr/>
        </p:nvSpPr>
        <p:spPr>
          <a:xfrm>
            <a:off x="6903720" y="4343400"/>
            <a:ext cx="2532888" cy="54864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ctr"/>
            <a:r>
              <a:rPr sz="1200" b="1">
                <a:solidFill>
                  <a:srgbClr val="8D6A9F"/>
                </a:solidFill>
                <a:latin typeface="Times New Roman"/>
                <a:ea typeface="Times New Roman"/>
                <a:cs typeface="Times New Roman"/>
              </a:rPr>
              <a:t>τ</a:t>
            </a:r>
            <a:r>
              <a:rPr sz="1200" b="1" baseline="-40000">
                <a:solidFill>
                  <a:srgbClr val="8D6A9F"/>
                </a:solidFill>
                <a:latin typeface="Times New Roman"/>
                <a:ea typeface="Times New Roman"/>
                <a:cs typeface="Times New Roman"/>
              </a:rPr>
              <a:t>m</a:t>
            </a:r>
            <a:r>
              <a:rPr sz="1200" b="1" baseline="30000">
                <a:solidFill>
                  <a:srgbClr val="8D6A9F"/>
                </a:solidFill>
                <a:latin typeface="Times New Roman"/>
                <a:ea typeface="Times New Roman"/>
                <a:cs typeface="Times New Roman"/>
              </a:rPr>
              <a:t>2</a:t>
            </a:r>
            <a:r>
              <a:rPr sz="1200" b="1">
                <a:solidFill>
                  <a:srgbClr val="8D6A9F"/>
                </a:solidFill>
                <a:latin typeface="BIZ UDGothic"/>
                <a:ea typeface="BIZ UDGothic"/>
                <a:cs typeface="BIZ UDGothic"/>
              </a:rPr>
              <a:t> × 同じ Mark 番号</a:t>
            </a:r>
          </a:p>
        </p:txBody>
      </p:sp>
      <p:sp>
        <p:nvSpPr>
          <p:cNvPr id="250" name="TextBox 249"/>
          <p:cNvSpPr txBox="1"/>
          <p:nvPr/>
        </p:nvSpPr>
        <p:spPr>
          <a:xfrm>
            <a:off x="3200400" y="2926080"/>
            <a:ext cx="457200" cy="54864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ctr"/>
            <a:r>
              <a:rPr sz="2800" b="1">
                <a:solidFill>
                  <a:srgbClr val="6C6F7F"/>
                </a:solidFill>
                <a:latin typeface="Times New Roman"/>
                <a:ea typeface="Times New Roman"/>
                <a:cs typeface="Times New Roman"/>
              </a:rPr>
              <a:t>+</a:t>
            </a:r>
          </a:p>
        </p:txBody>
      </p:sp>
      <p:sp>
        <p:nvSpPr>
          <p:cNvPr id="251" name="TextBox 250"/>
          <p:cNvSpPr txBox="1"/>
          <p:nvPr/>
        </p:nvSpPr>
        <p:spPr>
          <a:xfrm>
            <a:off x="6355079" y="2926080"/>
            <a:ext cx="457200" cy="54864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ctr"/>
            <a:r>
              <a:rPr sz="2800" b="1">
                <a:solidFill>
                  <a:srgbClr val="6C6F7F"/>
                </a:solidFill>
                <a:latin typeface="Times New Roman"/>
                <a:ea typeface="Times New Roman"/>
                <a:cs typeface="Times New Roman"/>
              </a:rPr>
              <a:t>+</a:t>
            </a:r>
          </a:p>
        </p:txBody>
      </p:sp>
      <p:sp>
        <p:nvSpPr>
          <p:cNvPr id="252" name="Rounded Rectangle 251"/>
          <p:cNvSpPr/>
          <p:nvPr/>
        </p:nvSpPr>
        <p:spPr>
          <a:xfrm>
            <a:off x="9829800" y="2148840"/>
            <a:ext cx="1810512" cy="2651760"/>
          </a:xfrm>
          <a:prstGeom prst="roundRect">
            <a:avLst>
              <a:gd name="adj" fmla="val 4040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3" name="TextBox 252"/>
          <p:cNvSpPr txBox="1"/>
          <p:nvPr/>
        </p:nvSpPr>
        <p:spPr>
          <a:xfrm>
            <a:off x="9921240" y="2240280"/>
            <a:ext cx="1645920" cy="32004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3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読み方</a:t>
            </a:r>
          </a:p>
        </p:txBody>
      </p:sp>
      <p:sp>
        <p:nvSpPr>
          <p:cNvPr id="254" name="TextBox 253"/>
          <p:cNvSpPr txBox="1"/>
          <p:nvPr/>
        </p:nvSpPr>
        <p:spPr>
          <a:xfrm>
            <a:off x="9921240" y="2606040"/>
            <a:ext cx="1645920" cy="214884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対角（自分）はすべての項が効く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A1 と B1：空間と Mark だけでつながる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A1 と A2：空間と Scan だけでつながる</a:t>
            </a:r>
          </a:p>
        </p:txBody>
      </p:sp>
      <p:sp>
        <p:nvSpPr>
          <p:cNvPr id="255" name="Rounded Rectangle 25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9525">
            <a:solidFill>
              <a:srgbClr val="DA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6" name="Oval 255"/>
          <p:cNvSpPr/>
          <p:nvPr/>
        </p:nvSpPr>
        <p:spPr>
          <a:xfrm>
            <a:off x="749808" y="5522976"/>
            <a:ext cx="521207" cy="521207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∑</a:t>
            </a:r>
          </a:p>
        </p:txBody>
      </p:sp>
      <p:sp>
        <p:nvSpPr>
          <p:cNvPr id="257" name="TextBox 256"/>
          <p:cNvSpPr txBox="1"/>
          <p:nvPr/>
        </p:nvSpPr>
        <p:spPr>
          <a:xfrm>
            <a:off x="1463040" y="5349240"/>
            <a:ext cx="9994392" cy="86868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400" b="1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K = σ</a:t>
            </a:r>
            <a:r>
              <a:rPr sz="1400" b="1" baseline="-40000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f</a:t>
            </a:r>
            <a:r>
              <a:rPr sz="1400" b="1" baseline="30000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2</a:t>
            </a:r>
            <a:r>
              <a:rPr sz="1400" b="1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K</a:t>
            </a:r>
            <a:r>
              <a:rPr sz="1400" b="1" baseline="-40000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空間</a:t>
            </a:r>
            <a:r>
              <a:rPr sz="1400" b="1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 + τ</a:t>
            </a:r>
            <a:r>
              <a:rPr sz="1400" b="1" baseline="-40000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s</a:t>
            </a:r>
            <a:r>
              <a:rPr sz="1400" b="1" baseline="30000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2</a:t>
            </a:r>
            <a:r>
              <a:rPr sz="1400" b="1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S + τ</a:t>
            </a:r>
            <a:r>
              <a:rPr sz="1400" b="1" baseline="-40000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m</a:t>
            </a:r>
            <a:r>
              <a:rPr sz="1400" b="1" baseline="30000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2</a:t>
            </a:r>
            <a:r>
              <a:rPr sz="1400" b="1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M</a:t>
            </a:r>
            <a:r>
              <a:rPr sz="14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（</a:t>
            </a:r>
            <a:r>
              <a:rPr sz="1400" b="1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S</a:t>
            </a:r>
            <a:r>
              <a:rPr sz="14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・</a:t>
            </a:r>
            <a:r>
              <a:rPr sz="1400" b="1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M</a:t>
            </a:r>
            <a:r>
              <a:rPr sz="14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 は 0 と 1 の行列）。足しても正定値のまま（どの項も共分散になる形）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1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02　加法カーネル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1672" cy="6858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変量効果として読む ― 同じ水準の点は「同じずれ」を共有する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36576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9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加法カーネルと交互作用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5912" y="6473952"/>
            <a:ext cx="9144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r"/>
            <a:r>
              <a:rPr sz="10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417320"/>
            <a:ext cx="11091672" cy="960120"/>
          </a:xfrm>
          <a:prstGeom prst="roundRect">
            <a:avLst>
              <a:gd name="adj" fmla="val 7619"/>
            </a:avLst>
          </a:prstGeom>
          <a:solidFill>
            <a:srgbClr val="222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48640" y="1417320"/>
            <a:ext cx="11091672" cy="96012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ctr"/>
            <a:r>
              <a:rPr sz="2400" b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y = β</a:t>
            </a:r>
            <a:r>
              <a:rPr sz="2400" b="0" baseline="-4000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0</a:t>
            </a:r>
            <a:r>
              <a:rPr sz="2400" b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 + f(x) + u</a:t>
            </a:r>
            <a:r>
              <a:rPr sz="2400" b="0" baseline="-4000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s</a:t>
            </a:r>
            <a:r>
              <a:rPr sz="2400" b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 + u</a:t>
            </a:r>
            <a:r>
              <a:rPr sz="2400" b="0" baseline="-4000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m</a:t>
            </a:r>
            <a:r>
              <a:rPr sz="2400" b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 + ε</a:t>
            </a:r>
            <a:r>
              <a:rPr sz="2400" b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 ,　 </a:t>
            </a:r>
            <a:r>
              <a:rPr sz="2400" b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u</a:t>
            </a:r>
            <a:r>
              <a:rPr sz="2400" b="0" baseline="-4000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s</a:t>
            </a:r>
            <a:r>
              <a:rPr sz="2400" b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 ~ N(0, τ</a:t>
            </a:r>
            <a:r>
              <a:rPr sz="2400" b="0" baseline="-4000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s</a:t>
            </a:r>
            <a:r>
              <a:rPr sz="2400" b="0" baseline="3000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2</a:t>
            </a:r>
            <a:r>
              <a:rPr sz="2400" b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)</a:t>
            </a:r>
            <a:r>
              <a:rPr sz="2400" b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 ,　 </a:t>
            </a:r>
            <a:r>
              <a:rPr sz="2400" b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u</a:t>
            </a:r>
            <a:r>
              <a:rPr sz="2400" b="0" baseline="-4000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m</a:t>
            </a:r>
            <a:r>
              <a:rPr sz="2400" b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 ~ N(0, τ</a:t>
            </a:r>
            <a:r>
              <a:rPr sz="2400" b="0" baseline="-4000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m</a:t>
            </a:r>
            <a:r>
              <a:rPr sz="2400" b="0" baseline="3000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2</a:t>
            </a:r>
            <a:r>
              <a:rPr sz="2400" b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514600"/>
            <a:ext cx="5577840" cy="4572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7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共分散を計算すると、加法カーネルそのものになる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017520"/>
            <a:ext cx="5577840" cy="1143000"/>
          </a:xfrm>
          <a:prstGeom prst="roundRect">
            <a:avLst>
              <a:gd name="adj" fmla="val 6400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40080" y="3017520"/>
            <a:ext cx="5394960" cy="11430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ctr"/>
            <a:r>
              <a:rPr sz="1700" b="0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Cov(y</a:t>
            </a:r>
            <a:r>
              <a:rPr sz="1700" b="0" baseline="-40000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i</a:t>
            </a:r>
            <a:r>
              <a:rPr sz="1700" b="0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, y</a:t>
            </a:r>
            <a:r>
              <a:rPr sz="1700" b="0" baseline="-40000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j</a:t>
            </a:r>
            <a:r>
              <a:rPr sz="1700" b="0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) = σ</a:t>
            </a:r>
            <a:r>
              <a:rPr sz="1700" b="0" baseline="-40000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f</a:t>
            </a:r>
            <a:r>
              <a:rPr sz="1700" b="0" baseline="30000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2</a:t>
            </a:r>
            <a:r>
              <a:rPr sz="1700" b="0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ρ(r</a:t>
            </a:r>
            <a:r>
              <a:rPr sz="1700" b="0" baseline="-40000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ij</a:t>
            </a:r>
            <a:r>
              <a:rPr sz="1700" b="0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) + τ</a:t>
            </a:r>
            <a:r>
              <a:rPr sz="1700" b="0" baseline="-40000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s</a:t>
            </a:r>
            <a:r>
              <a:rPr sz="1700" b="0" baseline="30000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2</a:t>
            </a:r>
            <a:r>
              <a:rPr sz="1700" b="0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δ(s</a:t>
            </a:r>
            <a:r>
              <a:rPr sz="1700" b="0" baseline="-40000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i</a:t>
            </a:r>
            <a:r>
              <a:rPr sz="1700" b="0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, s</a:t>
            </a:r>
            <a:r>
              <a:rPr sz="1700" b="0" baseline="-40000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j</a:t>
            </a:r>
            <a:r>
              <a:rPr sz="1700" b="0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) + τ</a:t>
            </a:r>
            <a:r>
              <a:rPr sz="1700" b="0" baseline="-40000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m</a:t>
            </a:r>
            <a:r>
              <a:rPr sz="1700" b="0" baseline="30000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2</a:t>
            </a:r>
            <a:r>
              <a:rPr sz="1700" b="0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δ(m</a:t>
            </a:r>
            <a:r>
              <a:rPr sz="1700" b="0" baseline="-40000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i</a:t>
            </a:r>
            <a:r>
              <a:rPr sz="1700" b="0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, m</a:t>
            </a:r>
            <a:r>
              <a:rPr sz="1700" b="0" baseline="-40000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j</a:t>
            </a:r>
            <a:r>
              <a:rPr sz="1700" b="0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) + σ</a:t>
            </a:r>
            <a:r>
              <a:rPr sz="1700" b="0" baseline="-40000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n</a:t>
            </a:r>
            <a:r>
              <a:rPr sz="1700" b="0" baseline="30000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2</a:t>
            </a:r>
            <a:r>
              <a:rPr sz="1700" b="0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δ</a:t>
            </a:r>
            <a:r>
              <a:rPr sz="1700" b="0" baseline="-40000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ij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297680"/>
            <a:ext cx="5577840" cy="100584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 marL="181610" indent="-181610">
              <a:spcAft>
                <a:spcPts val="400"/>
              </a:spcAft>
              <a:buChar char="•"/>
            </a:pPr>
            <a:r>
              <a:rPr sz="1300" b="0">
                <a:solidFill>
                  <a:srgbClr val="4A4E69"/>
                </a:solidFill>
                <a:latin typeface="Times New Roman"/>
                <a:ea typeface="Times New Roman"/>
                <a:cs typeface="Times New Roman"/>
              </a:rPr>
              <a:t>u</a:t>
            </a:r>
            <a:r>
              <a:rPr sz="1300" b="0" baseline="-40000">
                <a:solidFill>
                  <a:srgbClr val="4A4E69"/>
                </a:solidFill>
                <a:latin typeface="Times New Roman"/>
                <a:ea typeface="Times New Roman"/>
                <a:cs typeface="Times New Roman"/>
              </a:rPr>
              <a:t>s</a:t>
            </a:r>
            <a:r>
              <a:rPr sz="13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：Scan 方向ごとに1つの値（Scan 1 のずれ、Scan 2 のずれ）</a:t>
            </a:r>
          </a:p>
          <a:p>
            <a:pPr algn="l" marL="181610" indent="-181610">
              <a:spcAft>
                <a:spcPts val="400"/>
              </a:spcAft>
              <a:buChar char="•"/>
            </a:pPr>
            <a:r>
              <a:rPr sz="1300" b="0">
                <a:solidFill>
                  <a:srgbClr val="4A4E69"/>
                </a:solidFill>
                <a:latin typeface="Times New Roman"/>
                <a:ea typeface="Times New Roman"/>
                <a:cs typeface="Times New Roman"/>
              </a:rPr>
              <a:t>u</a:t>
            </a:r>
            <a:r>
              <a:rPr sz="1300" b="0" baseline="-40000">
                <a:solidFill>
                  <a:srgbClr val="4A4E69"/>
                </a:solidFill>
                <a:latin typeface="Times New Roman"/>
                <a:ea typeface="Times New Roman"/>
                <a:cs typeface="Times New Roman"/>
              </a:rPr>
              <a:t>m</a:t>
            </a:r>
            <a:r>
              <a:rPr sz="13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：Mark 番号ごとに1つの値。同じ水準の点はすべて同じ値を足す</a:t>
            </a:r>
          </a:p>
          <a:p>
            <a:pPr algn="l" marL="181610" indent="-181610">
              <a:spcAft>
                <a:spcPts val="400"/>
              </a:spcAft>
              <a:buChar char="•"/>
            </a:pPr>
            <a:r>
              <a:rPr sz="1300" b="0">
                <a:solidFill>
                  <a:srgbClr val="4A4E69"/>
                </a:solidFill>
                <a:latin typeface="Times New Roman"/>
                <a:ea typeface="Times New Roman"/>
                <a:cs typeface="Times New Roman"/>
              </a:rPr>
              <a:t>f</a:t>
            </a:r>
            <a:r>
              <a:rPr sz="13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・</a:t>
            </a:r>
            <a:r>
              <a:rPr sz="1300" b="0">
                <a:solidFill>
                  <a:srgbClr val="4A4E69"/>
                </a:solidFill>
                <a:latin typeface="Times New Roman"/>
                <a:ea typeface="Times New Roman"/>
                <a:cs typeface="Times New Roman"/>
              </a:rPr>
              <a:t>u</a:t>
            </a:r>
            <a:r>
              <a:rPr sz="13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・</a:t>
            </a:r>
            <a:r>
              <a:rPr sz="1300" b="0">
                <a:solidFill>
                  <a:srgbClr val="4A4E69"/>
                </a:solidFill>
                <a:latin typeface="Times New Roman"/>
                <a:ea typeface="Times New Roman"/>
                <a:cs typeface="Times New Roman"/>
              </a:rPr>
              <a:t>ε</a:t>
            </a:r>
            <a:r>
              <a:rPr sz="13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 は互いに独立と考える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492240" y="2514600"/>
          <a:ext cx="5148071" cy="2267712"/>
        </p:xfrm>
        <a:graphic>
          <a:graphicData uri="http://schemas.openxmlformats.org/drawingml/2006/table">
            <a:tbl>
              <a:tblPr firstRow="0" bandRow="0"/>
              <a:tblGrid>
                <a:gridCol w="1097280"/>
                <a:gridCol w="4050791"/>
              </a:tblGrid>
              <a:tr h="566928"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τ が表すもの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223B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τ</a:t>
                      </a:r>
                      <a:r>
                        <a:rPr sz="1300" b="0" baseline="-40000">
                          <a:solidFill>
                            <a:srgbClr val="22223B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s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Scan 方向によるずれの大きさ（標準偏差、nm）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223B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τ</a:t>
                      </a:r>
                      <a:r>
                        <a:rPr sz="1300" b="0" baseline="-40000">
                          <a:solidFill>
                            <a:srgbClr val="22223B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m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Mark 番号によるずれの大きさ（標準偏差、nm）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223B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τ → 0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その変数のずれは無い（項が消える）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Rounded Rectangle 1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Oval 13"/>
          <p:cNvSpPr/>
          <p:nvPr/>
        </p:nvSpPr>
        <p:spPr>
          <a:xfrm>
            <a:off x="749808" y="5522976"/>
            <a:ext cx="521207" cy="521207"/>
          </a:xfrm>
          <a:prstGeom prst="ellipse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63040" y="5349240"/>
            <a:ext cx="9994392" cy="86868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5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固定効果は「ずれの値」をそのまま推定する。変量効果は「ずれの大きさ τ」を推定し、ずれの値はデータから予測する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1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02　加法カーネル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1672" cy="6858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予測でどう効くか ― 3つの部分に分けられる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36576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9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加法カーネルと交互作用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5912" y="6473952"/>
            <a:ext cx="9144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r"/>
            <a:r>
              <a:rPr sz="10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417320"/>
            <a:ext cx="11091672" cy="960120"/>
          </a:xfrm>
          <a:prstGeom prst="roundRect">
            <a:avLst>
              <a:gd name="adj" fmla="val 7619"/>
            </a:avLst>
          </a:prstGeom>
          <a:solidFill>
            <a:srgbClr val="222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48640" y="1417320"/>
            <a:ext cx="11091672" cy="96012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ctr"/>
            <a:r>
              <a:rPr sz="2100" b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ŷ</a:t>
            </a:r>
            <a:r>
              <a:rPr sz="2100" b="0" baseline="-4000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*</a:t>
            </a:r>
            <a:r>
              <a:rPr sz="2100" b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 = β̂</a:t>
            </a:r>
            <a:r>
              <a:rPr sz="2100" b="0" baseline="-4000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0</a:t>
            </a:r>
            <a:r>
              <a:rPr sz="2100" b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 + Σ</a:t>
            </a:r>
            <a:r>
              <a:rPr sz="2100" b="0" baseline="-4000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i</a:t>
            </a:r>
            <a:r>
              <a:rPr sz="2100" b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[σ</a:t>
            </a:r>
            <a:r>
              <a:rPr sz="2100" b="0" baseline="-4000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f</a:t>
            </a:r>
            <a:r>
              <a:rPr sz="2100" b="0" baseline="3000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2</a:t>
            </a:r>
            <a:r>
              <a:rPr sz="2100" b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ρ(r</a:t>
            </a:r>
            <a:r>
              <a:rPr sz="2100" b="0" baseline="-4000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*i</a:t>
            </a:r>
            <a:r>
              <a:rPr sz="2100" b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) + τ</a:t>
            </a:r>
            <a:r>
              <a:rPr sz="2100" b="0" baseline="-4000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s</a:t>
            </a:r>
            <a:r>
              <a:rPr sz="2100" b="0" baseline="3000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2</a:t>
            </a:r>
            <a:r>
              <a:rPr sz="2100" b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δ(s</a:t>
            </a:r>
            <a:r>
              <a:rPr sz="2100" b="0" baseline="-4000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*</a:t>
            </a:r>
            <a:r>
              <a:rPr sz="2100" b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, s</a:t>
            </a:r>
            <a:r>
              <a:rPr sz="2100" b="0" baseline="-4000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i</a:t>
            </a:r>
            <a:r>
              <a:rPr sz="2100" b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) + τ</a:t>
            </a:r>
            <a:r>
              <a:rPr sz="2100" b="0" baseline="-4000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m</a:t>
            </a:r>
            <a:r>
              <a:rPr sz="2100" b="0" baseline="3000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2</a:t>
            </a:r>
            <a:r>
              <a:rPr sz="2100" b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δ(m</a:t>
            </a:r>
            <a:r>
              <a:rPr sz="2100" b="0" baseline="-4000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*</a:t>
            </a:r>
            <a:r>
              <a:rPr sz="2100" b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, m</a:t>
            </a:r>
            <a:r>
              <a:rPr sz="2100" b="0" baseline="-4000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i</a:t>
            </a:r>
            <a:r>
              <a:rPr sz="2100" b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)]α</a:t>
            </a:r>
            <a:r>
              <a:rPr sz="2100" b="0" baseline="-4000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i</a:t>
            </a:r>
            <a:r>
              <a:rPr sz="2100" b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 ,　</a:t>
            </a:r>
            <a:r>
              <a:rPr sz="2100" b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α = K</a:t>
            </a:r>
            <a:r>
              <a:rPr sz="2100" b="0" baseline="-4000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y</a:t>
            </a:r>
            <a:r>
              <a:rPr sz="2100" b="0" baseline="3000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−1</a:t>
            </a:r>
            <a:r>
              <a:rPr sz="2100" b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(y − β̂</a:t>
            </a:r>
            <a:r>
              <a:rPr sz="2100" b="0" baseline="-4000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0</a:t>
            </a:r>
            <a:r>
              <a:rPr sz="2100" b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697480"/>
            <a:ext cx="3511296" cy="2011680"/>
          </a:xfrm>
          <a:prstGeom prst="roundRect">
            <a:avLst>
              <a:gd name="adj" fmla="val 3636"/>
            </a:avLst>
          </a:prstGeom>
          <a:solidFill>
            <a:srgbClr val="D8F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77240" y="2880360"/>
            <a:ext cx="3054096" cy="384048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700" b="1">
                <a:solidFill>
                  <a:srgbClr val="2A9D8F"/>
                </a:solidFill>
                <a:latin typeface="BIZ UDGothic"/>
                <a:ea typeface="BIZ UDGothic"/>
                <a:cs typeface="BIZ UDGothic"/>
              </a:rPr>
              <a:t>空間の推定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355848"/>
            <a:ext cx="3236976" cy="54864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900" b="0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Σ</a:t>
            </a:r>
            <a:r>
              <a:rPr sz="1900" b="0" baseline="-40000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i</a:t>
            </a:r>
            <a:r>
              <a:rPr sz="1900" b="0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 σ</a:t>
            </a:r>
            <a:r>
              <a:rPr sz="1900" b="0" baseline="-40000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f</a:t>
            </a:r>
            <a:r>
              <a:rPr sz="1900" b="0" baseline="30000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2</a:t>
            </a:r>
            <a:r>
              <a:rPr sz="1900" b="0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ρ(r</a:t>
            </a:r>
            <a:r>
              <a:rPr sz="1900" b="0" baseline="-40000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*i</a:t>
            </a:r>
            <a:r>
              <a:rPr sz="1900" b="0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) α</a:t>
            </a:r>
            <a:r>
              <a:rPr sz="1900" b="0" baseline="-40000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959352"/>
            <a:ext cx="3054096" cy="64008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3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近くの学習点の情報で決まる滑らかな成分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38827" y="2697480"/>
            <a:ext cx="3511296" cy="2011680"/>
          </a:xfrm>
          <a:prstGeom prst="roundRect">
            <a:avLst>
              <a:gd name="adj" fmla="val 3636"/>
            </a:avLst>
          </a:prstGeom>
          <a:solidFill>
            <a:srgbClr val="FBE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4567427" y="2880360"/>
            <a:ext cx="3054096" cy="384048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700" b="1">
                <a:solidFill>
                  <a:srgbClr val="E76F51"/>
                </a:solidFill>
                <a:latin typeface="BIZ UDGothic"/>
                <a:ea typeface="BIZ UDGothic"/>
                <a:cs typeface="BIZ UDGothic"/>
              </a:rPr>
              <a:t>Scan のずれの推定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75988" y="3355848"/>
            <a:ext cx="3236976" cy="54864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900" b="0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û</a:t>
            </a:r>
            <a:r>
              <a:rPr sz="1900" b="0" baseline="-40000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s</a:t>
            </a:r>
            <a:r>
              <a:rPr sz="1900" b="0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 = τ</a:t>
            </a:r>
            <a:r>
              <a:rPr sz="1900" b="0" baseline="-40000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s</a:t>
            </a:r>
            <a:r>
              <a:rPr sz="1900" b="0" baseline="30000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2</a:t>
            </a:r>
            <a:r>
              <a:rPr sz="1900" b="0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 Σ α</a:t>
            </a:r>
            <a:r>
              <a:rPr sz="1900" b="0" baseline="-40000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67427" y="3959352"/>
            <a:ext cx="3054096" cy="64008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3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和は、Scan 方向が予測する点と同じ学習点について（同じ Scan の学習点すべてから求める）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29015" y="2697480"/>
            <a:ext cx="3511296" cy="2011680"/>
          </a:xfrm>
          <a:prstGeom prst="roundRect">
            <a:avLst>
              <a:gd name="adj" fmla="val 3636"/>
            </a:avLst>
          </a:prstGeom>
          <a:solidFill>
            <a:srgbClr val="ECE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357615" y="2880360"/>
            <a:ext cx="3054096" cy="384048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700" b="1">
                <a:solidFill>
                  <a:srgbClr val="8D6A9F"/>
                </a:solidFill>
                <a:latin typeface="BIZ UDGothic"/>
                <a:ea typeface="BIZ UDGothic"/>
                <a:cs typeface="BIZ UDGothic"/>
              </a:rPr>
              <a:t>Mark のずれの推定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66175" y="3355848"/>
            <a:ext cx="3236976" cy="54864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900" b="0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û</a:t>
            </a:r>
            <a:r>
              <a:rPr sz="1900" b="0" baseline="-40000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m</a:t>
            </a:r>
            <a:r>
              <a:rPr sz="1900" b="0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 = τ</a:t>
            </a:r>
            <a:r>
              <a:rPr sz="1900" b="0" baseline="-40000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m</a:t>
            </a:r>
            <a:r>
              <a:rPr sz="1900" b="0" baseline="30000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2</a:t>
            </a:r>
            <a:r>
              <a:rPr sz="1900" b="0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 Σ α</a:t>
            </a:r>
            <a:r>
              <a:rPr sz="1900" b="0" baseline="-40000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5" y="3959352"/>
            <a:ext cx="3054096" cy="64008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3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和は、Mark 番号が予測する点と同じ学習点について（同じ Mark の学習点すべてから求める）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4937760"/>
            <a:ext cx="5449824" cy="1188720"/>
          </a:xfrm>
          <a:prstGeom prst="roundRect">
            <a:avLst>
              <a:gd name="adj" fmla="val 6153"/>
            </a:avLst>
          </a:prstGeom>
          <a:solidFill>
            <a:srgbClr val="FFFFFF"/>
          </a:solidFill>
          <a:ln w="9525">
            <a:solidFill>
              <a:srgbClr val="DA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731520" y="4937760"/>
            <a:ext cx="1280160" cy="118872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ctr"/>
            <a:r>
              <a:rPr sz="3000" b="1">
                <a:solidFill>
                  <a:srgbClr val="E76F51"/>
                </a:solidFill>
                <a:latin typeface="BIZ UDGothic"/>
                <a:ea typeface="BIZ UDGothic"/>
                <a:cs typeface="BIZ UDGothic"/>
              </a:rPr>
              <a:t>縮む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03120" y="4937760"/>
            <a:ext cx="3749039" cy="118872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3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点が少ない水準・ノイズが大きいときは、ずれの推定が 0 の方へ縮む（</a:t>
            </a:r>
            <a:r>
              <a:rPr sz="1300" b="0">
                <a:solidFill>
                  <a:srgbClr val="4A4E69"/>
                </a:solidFill>
                <a:latin typeface="Times New Roman"/>
                <a:ea typeface="Times New Roman"/>
                <a:cs typeface="Times New Roman"/>
              </a:rPr>
              <a:t>τ</a:t>
            </a:r>
            <a:r>
              <a:rPr sz="13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 と </a:t>
            </a:r>
            <a:r>
              <a:rPr sz="1300" b="0">
                <a:solidFill>
                  <a:srgbClr val="4A4E69"/>
                </a:solidFill>
                <a:latin typeface="Times New Roman"/>
                <a:ea typeface="Times New Roman"/>
                <a:cs typeface="Times New Roman"/>
              </a:rPr>
              <a:t>σ</a:t>
            </a:r>
            <a:r>
              <a:rPr sz="1300" b="0" baseline="-40000">
                <a:solidFill>
                  <a:srgbClr val="4A4E69"/>
                </a:solidFill>
                <a:latin typeface="Times New Roman"/>
                <a:ea typeface="Times New Roman"/>
                <a:cs typeface="Times New Roman"/>
              </a:rPr>
              <a:t>n</a:t>
            </a:r>
            <a:r>
              <a:rPr sz="13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 の比で決まる）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90488" y="4937760"/>
            <a:ext cx="5449824" cy="1188720"/>
          </a:xfrm>
          <a:prstGeom prst="roundRect">
            <a:avLst>
              <a:gd name="adj" fmla="val 6153"/>
            </a:avLst>
          </a:prstGeom>
          <a:solidFill>
            <a:srgbClr val="FFFFFF"/>
          </a:solidFill>
          <a:ln w="9525">
            <a:solidFill>
              <a:srgbClr val="DA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6373368" y="4937760"/>
            <a:ext cx="1280160" cy="118872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ctr"/>
            <a:r>
              <a:rPr sz="3000" b="1">
                <a:solidFill>
                  <a:srgbClr val="E76F51"/>
                </a:solidFill>
                <a:latin typeface="BIZ UDGothic"/>
                <a:ea typeface="BIZ UDGothic"/>
                <a:cs typeface="BIZ UDGothic"/>
              </a:rPr>
              <a:t>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44967" y="4937760"/>
            <a:ext cx="3749039" cy="118872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3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学習点に無い水準は </a:t>
            </a:r>
            <a:r>
              <a:rPr sz="1300" b="0">
                <a:solidFill>
                  <a:srgbClr val="4A4E69"/>
                </a:solidFill>
                <a:latin typeface="Times New Roman"/>
                <a:ea typeface="Times New Roman"/>
                <a:cs typeface="Times New Roman"/>
              </a:rPr>
              <a:t>δ = 0</a:t>
            </a:r>
            <a:r>
              <a:rPr sz="13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 なので、その項は効かない（平均に戻る）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1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02　加法カーネル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1672" cy="6858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同時推定（固定効果）との違い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36576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9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加法カーネルと交互作用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5912" y="6473952"/>
            <a:ext cx="9144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r"/>
            <a:r>
              <a:rPr sz="10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10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417320"/>
          <a:ext cx="11091672" cy="3712464"/>
        </p:xfrm>
        <a:graphic>
          <a:graphicData uri="http://schemas.openxmlformats.org/drawingml/2006/table">
            <a:tbl>
              <a:tblPr firstRow="0" bandRow="0"/>
              <a:tblGrid>
                <a:gridCol w="2377440"/>
                <a:gridCol w="4343400"/>
                <a:gridCol w="4370832"/>
              </a:tblGrid>
              <a:tr h="530352"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観点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同時推定（basis、固定効果）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加法カーネル（additive、変量効果）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効果の表し方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効果コード（水準の数 − 1 列）を平均に入れる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223B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τ</a:t>
                      </a:r>
                      <a:r>
                        <a:rPr sz="1300" b="0" baseline="30000">
                          <a:solidFill>
                            <a:srgbClr val="22223B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2</a:t>
                      </a:r>
                      <a:r>
                        <a:rPr sz="13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[同じ水準] をカーネルに足す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推定するもの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水準ごとの係数 β（一般化最小二乗）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ずれの大きさ </a:t>
                      </a:r>
                      <a:r>
                        <a:rPr sz="1300" b="0">
                          <a:solidFill>
                            <a:srgbClr val="22223B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τ</a:t>
                      </a:r>
                      <a:r>
                        <a:rPr sz="13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（尤度最大化）。ずれの値は予測する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点が少ない水準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そのまま推定する（ばらつきやすい）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0 の方へ縮めて推定する（縮小推定）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効果が無いとき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係数は小さくなるが、推定の誤差の分だけ残る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223B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τ</a:t>
                      </a:r>
                      <a:r>
                        <a:rPr sz="13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 が下限まで小さくなり、項がほぼ消える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学習点に無い水準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効果 0（全水準の平均として扱う）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効果 0（その項が効かない）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増えるもの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平均の係数（水準の数に応じて）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ハイパーパラメータ </a:t>
                      </a:r>
                      <a:r>
                        <a:rPr sz="1300" b="0">
                          <a:solidFill>
                            <a:srgbClr val="22223B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τ</a:t>
                      </a:r>
                      <a:r>
                        <a:rPr sz="13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（変数ごとに1つ）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Oval 7"/>
          <p:cNvSpPr/>
          <p:nvPr/>
        </p:nvSpPr>
        <p:spPr>
          <a:xfrm>
            <a:off x="749808" y="5522976"/>
            <a:ext cx="521207" cy="521207"/>
          </a:xfrm>
          <a:prstGeom prst="ellipse">
            <a:avLst/>
          </a:prstGeom>
          <a:solidFill>
            <a:srgbClr val="8D6A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5349240"/>
            <a:ext cx="9994392" cy="86868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5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混合（mixed）は、Mark 番号だけ変量効果（</a:t>
            </a:r>
            <a:r>
              <a:rPr sz="1500" b="1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τ</a:t>
            </a:r>
            <a:r>
              <a:rPr sz="1500" b="1" baseline="-40000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m</a:t>
            </a:r>
            <a:r>
              <a:rPr sz="1500" b="1" baseline="30000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2</a:t>
            </a:r>
            <a:r>
              <a:rPr sz="1500" b="1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δ</a:t>
            </a:r>
            <a:r>
              <a:rPr sz="15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）、Scan 方向などは固定効果（効果コード）にする中間の形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1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03　交互作用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1672" cy="6858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交互作用とは ― 組み合わせでだけ現れるずれ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36576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9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加法カーネルと交互作用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5912" y="6473952"/>
            <a:ext cx="9144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r"/>
            <a:r>
              <a:rPr sz="10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11091672" cy="36576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4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例：Scan 方向（行）× Mark 番号（列）ごとのずれ [nm]（説明用に作った数値）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874519"/>
          <a:ext cx="4983480" cy="1645920"/>
        </p:xfrm>
        <a:graphic>
          <a:graphicData uri="http://schemas.openxmlformats.org/drawingml/2006/table">
            <a:tbl>
              <a:tblPr firstRow="0" bandRow="0"/>
              <a:tblGrid>
                <a:gridCol w="1143000"/>
                <a:gridCol w="960120"/>
                <a:gridCol w="960120"/>
                <a:gridCol w="960120"/>
                <a:gridCol w="960120"/>
              </a:tblGrid>
              <a:tr h="548640"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M1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M2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M3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M4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Scan 1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+2.5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+0.0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-0.5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+2.0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Scan 2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+0.5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-2.0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-2.5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+0.0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3611880"/>
            <a:ext cx="4983480" cy="82296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3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主効果だけ：各セル = 行のずれ + 列のずれ</a:t>
            </a:r>
          </a:p>
          <a:p>
            <a:pPr algn="l"/>
            <a:r>
              <a:rPr sz="13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（Scan を変えると、全 Mark が同じだけ動く）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656832" y="1874519"/>
          <a:ext cx="4983480" cy="1645920"/>
        </p:xfrm>
        <a:graphic>
          <a:graphicData uri="http://schemas.openxmlformats.org/drawingml/2006/table">
            <a:tbl>
              <a:tblPr firstRow="0" bandRow="0"/>
              <a:tblGrid>
                <a:gridCol w="1143000"/>
                <a:gridCol w="960120"/>
                <a:gridCol w="960120"/>
                <a:gridCol w="960120"/>
                <a:gridCol w="960120"/>
              </a:tblGrid>
              <a:tr h="548640"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M1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M2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M3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M4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Scan 1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+2.5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+0.0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+1.5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BF1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+2.0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Scan 2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+0.5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-2.0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-2.5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+0.0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656832" y="3611880"/>
            <a:ext cx="4983480" cy="82296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3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交互作用あり：Scan 1 × M3 だけ +2.0 上乗せ</a:t>
            </a:r>
          </a:p>
          <a:p>
            <a:pPr algn="l"/>
            <a:r>
              <a:rPr sz="13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（Scan を変えたときの動きが Mark で違う）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0" y="2194560"/>
            <a:ext cx="822960" cy="73152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ctr"/>
            <a:r>
              <a:rPr sz="3000" b="1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663440"/>
            <a:ext cx="11091672" cy="1005840"/>
          </a:xfrm>
          <a:prstGeom prst="roundRect">
            <a:avLst>
              <a:gd name="adj" fmla="val 7272"/>
            </a:avLst>
          </a:prstGeom>
          <a:solidFill>
            <a:srgbClr val="FBF1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Oval 12"/>
          <p:cNvSpPr/>
          <p:nvPr/>
        </p:nvSpPr>
        <p:spPr>
          <a:xfrm>
            <a:off x="749808" y="4905755"/>
            <a:ext cx="521207" cy="521207"/>
          </a:xfrm>
          <a:prstGeom prst="ellipse">
            <a:avLst/>
          </a:prstGeom>
          <a:solidFill>
            <a:srgbClr val="9C74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3040" y="4663440"/>
            <a:ext cx="9994392" cy="100584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5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主効果（</a:t>
            </a:r>
            <a:r>
              <a:rPr sz="1500" b="1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u</a:t>
            </a:r>
            <a:r>
              <a:rPr sz="1500" b="1" baseline="-40000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s</a:t>
            </a:r>
            <a:r>
              <a:rPr sz="15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・</a:t>
            </a:r>
            <a:r>
              <a:rPr sz="1500" b="1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u</a:t>
            </a:r>
            <a:r>
              <a:rPr sz="1500" b="1" baseline="-40000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m</a:t>
            </a:r>
            <a:r>
              <a:rPr sz="15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）だけでは、表の各行を平行に動かすことしかできない。特定の組み合わせの上乗せには、組み合わせごとのずれ </a:t>
            </a:r>
            <a:r>
              <a:rPr sz="1500" b="1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u</a:t>
            </a:r>
            <a:r>
              <a:rPr sz="1500" b="1" baseline="-40000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sm</a:t>
            </a:r>
            <a:r>
              <a:rPr sz="15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 が要る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1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03　交互作用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1672" cy="6858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交互作用の項 ― 「両方が同じなら τ²」を足す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36576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9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加法カーネルと交互作用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5912" y="6473952"/>
            <a:ext cx="9144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r"/>
            <a:r>
              <a:rPr sz="10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417320"/>
            <a:ext cx="11091672" cy="960120"/>
          </a:xfrm>
          <a:prstGeom prst="roundRect">
            <a:avLst>
              <a:gd name="adj" fmla="val 7619"/>
            </a:avLst>
          </a:prstGeom>
          <a:solidFill>
            <a:srgbClr val="222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48640" y="1417320"/>
            <a:ext cx="11091672" cy="96012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ctr"/>
            <a:r>
              <a:rPr sz="2400" b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k(z, z′) = σ</a:t>
            </a:r>
            <a:r>
              <a:rPr sz="2400" b="0" baseline="-4000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f</a:t>
            </a:r>
            <a:r>
              <a:rPr sz="2400" b="0" baseline="3000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2</a:t>
            </a:r>
            <a:r>
              <a:rPr sz="2400" b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ρ(r) + τ</a:t>
            </a:r>
            <a:r>
              <a:rPr sz="2400" b="0" baseline="-4000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s</a:t>
            </a:r>
            <a:r>
              <a:rPr sz="2400" b="0" baseline="3000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2</a:t>
            </a:r>
            <a:r>
              <a:rPr sz="2400" b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δ(s,s′) + τ</a:t>
            </a:r>
            <a:r>
              <a:rPr sz="2400" b="0" baseline="-4000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m</a:t>
            </a:r>
            <a:r>
              <a:rPr sz="2400" b="0" baseline="3000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2</a:t>
            </a:r>
            <a:r>
              <a:rPr sz="2400" b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δ(m,m′) + τ</a:t>
            </a:r>
            <a:r>
              <a:rPr sz="2400" b="0" baseline="-4000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sm</a:t>
            </a:r>
            <a:r>
              <a:rPr sz="2400" b="0" baseline="3000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2</a:t>
            </a:r>
            <a:r>
              <a:rPr sz="2400" b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δ(s,s′)δ(m,m′)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2971800"/>
            <a:ext cx="365760" cy="246888"/>
          </a:xfrm>
          <a:prstGeom prst="rect">
            <a:avLst/>
          </a:prstGeom>
          <a:noFill/>
        </p:spPr>
        <p:txBody>
          <a:bodyPr wrap="square" lIns="0" rIns="0" tIns="18288" bIns="18288" anchor="ctr"/>
          <a:lstStyle/>
          <a:p>
            <a:pPr algn="r"/>
            <a:r>
              <a:rPr sz="8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A1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734056"/>
            <a:ext cx="246888" cy="219456"/>
          </a:xfrm>
          <a:prstGeom prst="rect">
            <a:avLst/>
          </a:prstGeom>
          <a:noFill/>
        </p:spPr>
        <p:txBody>
          <a:bodyPr wrap="square" lIns="0" rIns="0" tIns="18288" bIns="18288" anchor="b"/>
          <a:lstStyle/>
          <a:p>
            <a:pPr algn="ctr"/>
            <a:r>
              <a:rPr sz="8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A1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05840" y="2971800"/>
            <a:ext cx="246888" cy="246888"/>
          </a:xfrm>
          <a:prstGeom prst="rect">
            <a:avLst/>
          </a:prstGeom>
          <a:solidFill>
            <a:srgbClr val="E76F51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252728" y="2971800"/>
            <a:ext cx="246888" cy="246888"/>
          </a:xfrm>
          <a:prstGeom prst="rect">
            <a:avLst/>
          </a:prstGeom>
          <a:solidFill>
            <a:srgbClr val="E76F51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499616" y="2971800"/>
            <a:ext cx="246888" cy="246888"/>
          </a:xfrm>
          <a:prstGeom prst="rect">
            <a:avLst/>
          </a:prstGeom>
          <a:solidFill>
            <a:srgbClr val="E76F51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746504" y="2971800"/>
            <a:ext cx="246888" cy="246888"/>
          </a:xfrm>
          <a:prstGeom prst="rect">
            <a:avLst/>
          </a:prstGeom>
          <a:solidFill>
            <a:srgbClr val="E76F51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993392" y="2971800"/>
            <a:ext cx="246888" cy="246888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240280" y="2971800"/>
            <a:ext cx="246888" cy="246888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487168" y="2971800"/>
            <a:ext cx="246888" cy="246888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734056" y="2971800"/>
            <a:ext cx="246888" cy="246888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1792" y="3218688"/>
            <a:ext cx="365760" cy="246888"/>
          </a:xfrm>
          <a:prstGeom prst="rect">
            <a:avLst/>
          </a:prstGeom>
          <a:noFill/>
        </p:spPr>
        <p:txBody>
          <a:bodyPr wrap="square" lIns="0" rIns="0" tIns="18288" bIns="18288" anchor="ctr"/>
          <a:lstStyle/>
          <a:p>
            <a:pPr algn="r"/>
            <a:r>
              <a:rPr sz="8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A2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52728" y="2734056"/>
            <a:ext cx="246888" cy="219456"/>
          </a:xfrm>
          <a:prstGeom prst="rect">
            <a:avLst/>
          </a:prstGeom>
          <a:noFill/>
        </p:spPr>
        <p:txBody>
          <a:bodyPr wrap="square" lIns="0" rIns="0" tIns="18288" bIns="18288" anchor="b"/>
          <a:lstStyle/>
          <a:p>
            <a:pPr algn="ctr"/>
            <a:r>
              <a:rPr sz="8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A2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05840" y="3218688"/>
            <a:ext cx="246888" cy="246888"/>
          </a:xfrm>
          <a:prstGeom prst="rect">
            <a:avLst/>
          </a:prstGeom>
          <a:solidFill>
            <a:srgbClr val="E76F51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252728" y="3218688"/>
            <a:ext cx="246888" cy="246888"/>
          </a:xfrm>
          <a:prstGeom prst="rect">
            <a:avLst/>
          </a:prstGeom>
          <a:solidFill>
            <a:srgbClr val="E76F51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499616" y="3218688"/>
            <a:ext cx="246888" cy="246888"/>
          </a:xfrm>
          <a:prstGeom prst="rect">
            <a:avLst/>
          </a:prstGeom>
          <a:solidFill>
            <a:srgbClr val="E76F51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746504" y="3218688"/>
            <a:ext cx="246888" cy="246888"/>
          </a:xfrm>
          <a:prstGeom prst="rect">
            <a:avLst/>
          </a:prstGeom>
          <a:solidFill>
            <a:srgbClr val="E76F51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993392" y="3218688"/>
            <a:ext cx="246888" cy="246888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240280" y="3218688"/>
            <a:ext cx="246888" cy="246888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487168" y="3218688"/>
            <a:ext cx="246888" cy="246888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734056" y="3218688"/>
            <a:ext cx="246888" cy="246888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1792" y="3465576"/>
            <a:ext cx="365760" cy="246888"/>
          </a:xfrm>
          <a:prstGeom prst="rect">
            <a:avLst/>
          </a:prstGeom>
          <a:noFill/>
        </p:spPr>
        <p:txBody>
          <a:bodyPr wrap="square" lIns="0" rIns="0" tIns="18288" bIns="18288" anchor="ctr"/>
          <a:lstStyle/>
          <a:p>
            <a:pPr algn="r"/>
            <a:r>
              <a:rPr sz="8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A3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99616" y="2734056"/>
            <a:ext cx="246888" cy="219456"/>
          </a:xfrm>
          <a:prstGeom prst="rect">
            <a:avLst/>
          </a:prstGeom>
          <a:noFill/>
        </p:spPr>
        <p:txBody>
          <a:bodyPr wrap="square" lIns="0" rIns="0" tIns="18288" bIns="18288" anchor="b"/>
          <a:lstStyle/>
          <a:p>
            <a:pPr algn="ctr"/>
            <a:r>
              <a:rPr sz="8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A3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005840" y="3465576"/>
            <a:ext cx="246888" cy="246888"/>
          </a:xfrm>
          <a:prstGeom prst="rect">
            <a:avLst/>
          </a:prstGeom>
          <a:solidFill>
            <a:srgbClr val="E76F51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252728" y="3465576"/>
            <a:ext cx="246888" cy="246888"/>
          </a:xfrm>
          <a:prstGeom prst="rect">
            <a:avLst/>
          </a:prstGeom>
          <a:solidFill>
            <a:srgbClr val="E76F51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499616" y="3465576"/>
            <a:ext cx="246888" cy="246888"/>
          </a:xfrm>
          <a:prstGeom prst="rect">
            <a:avLst/>
          </a:prstGeom>
          <a:solidFill>
            <a:srgbClr val="E76F51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746504" y="3465576"/>
            <a:ext cx="246888" cy="246888"/>
          </a:xfrm>
          <a:prstGeom prst="rect">
            <a:avLst/>
          </a:prstGeom>
          <a:solidFill>
            <a:srgbClr val="E76F51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993392" y="3465576"/>
            <a:ext cx="246888" cy="246888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240280" y="3465576"/>
            <a:ext cx="246888" cy="246888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2487168" y="3465576"/>
            <a:ext cx="246888" cy="246888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734056" y="3465576"/>
            <a:ext cx="246888" cy="246888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21792" y="3712464"/>
            <a:ext cx="365760" cy="246888"/>
          </a:xfrm>
          <a:prstGeom prst="rect">
            <a:avLst/>
          </a:prstGeom>
          <a:noFill/>
        </p:spPr>
        <p:txBody>
          <a:bodyPr wrap="square" lIns="0" rIns="0" tIns="18288" bIns="18288" anchor="ctr"/>
          <a:lstStyle/>
          <a:p>
            <a:pPr algn="r"/>
            <a:r>
              <a:rPr sz="8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A4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746504" y="2734056"/>
            <a:ext cx="246888" cy="219456"/>
          </a:xfrm>
          <a:prstGeom prst="rect">
            <a:avLst/>
          </a:prstGeom>
          <a:noFill/>
        </p:spPr>
        <p:txBody>
          <a:bodyPr wrap="square" lIns="0" rIns="0" tIns="18288" bIns="18288" anchor="b"/>
          <a:lstStyle/>
          <a:p>
            <a:pPr algn="ctr"/>
            <a:r>
              <a:rPr sz="8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A4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005840" y="3712464"/>
            <a:ext cx="246888" cy="246888"/>
          </a:xfrm>
          <a:prstGeom prst="rect">
            <a:avLst/>
          </a:prstGeom>
          <a:solidFill>
            <a:srgbClr val="E76F51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252728" y="3712464"/>
            <a:ext cx="246888" cy="246888"/>
          </a:xfrm>
          <a:prstGeom prst="rect">
            <a:avLst/>
          </a:prstGeom>
          <a:solidFill>
            <a:srgbClr val="E76F51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499616" y="3712464"/>
            <a:ext cx="246888" cy="246888"/>
          </a:xfrm>
          <a:prstGeom prst="rect">
            <a:avLst/>
          </a:prstGeom>
          <a:solidFill>
            <a:srgbClr val="E76F51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746504" y="3712464"/>
            <a:ext cx="246888" cy="246888"/>
          </a:xfrm>
          <a:prstGeom prst="rect">
            <a:avLst/>
          </a:prstGeom>
          <a:solidFill>
            <a:srgbClr val="E76F51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993392" y="3712464"/>
            <a:ext cx="246888" cy="246888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2240280" y="3712464"/>
            <a:ext cx="246888" cy="246888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2487168" y="3712464"/>
            <a:ext cx="246888" cy="246888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2734056" y="3712464"/>
            <a:ext cx="246888" cy="246888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21792" y="3959352"/>
            <a:ext cx="365760" cy="246888"/>
          </a:xfrm>
          <a:prstGeom prst="rect">
            <a:avLst/>
          </a:prstGeom>
          <a:noFill/>
        </p:spPr>
        <p:txBody>
          <a:bodyPr wrap="square" lIns="0" rIns="0" tIns="18288" bIns="18288" anchor="ctr"/>
          <a:lstStyle/>
          <a:p>
            <a:pPr algn="r"/>
            <a:r>
              <a:rPr sz="8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B1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993392" y="2734056"/>
            <a:ext cx="246888" cy="219456"/>
          </a:xfrm>
          <a:prstGeom prst="rect">
            <a:avLst/>
          </a:prstGeom>
          <a:noFill/>
        </p:spPr>
        <p:txBody>
          <a:bodyPr wrap="square" lIns="0" rIns="0" tIns="18288" bIns="18288" anchor="b"/>
          <a:lstStyle/>
          <a:p>
            <a:pPr algn="ctr"/>
            <a:r>
              <a:rPr sz="8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B1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005840" y="3959352"/>
            <a:ext cx="246888" cy="246888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1252728" y="3959352"/>
            <a:ext cx="246888" cy="246888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499616" y="3959352"/>
            <a:ext cx="246888" cy="246888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1746504" y="3959352"/>
            <a:ext cx="246888" cy="246888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1993392" y="3959352"/>
            <a:ext cx="246888" cy="246888"/>
          </a:xfrm>
          <a:prstGeom prst="rect">
            <a:avLst/>
          </a:prstGeom>
          <a:solidFill>
            <a:srgbClr val="E76F51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2240280" y="3959352"/>
            <a:ext cx="246888" cy="246888"/>
          </a:xfrm>
          <a:prstGeom prst="rect">
            <a:avLst/>
          </a:prstGeom>
          <a:solidFill>
            <a:srgbClr val="E76F51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2487168" y="3959352"/>
            <a:ext cx="246888" cy="246888"/>
          </a:xfrm>
          <a:prstGeom prst="rect">
            <a:avLst/>
          </a:prstGeom>
          <a:solidFill>
            <a:srgbClr val="E76F51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2734056" y="3959352"/>
            <a:ext cx="246888" cy="246888"/>
          </a:xfrm>
          <a:prstGeom prst="rect">
            <a:avLst/>
          </a:prstGeom>
          <a:solidFill>
            <a:srgbClr val="E76F51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1792" y="4206240"/>
            <a:ext cx="365760" cy="246888"/>
          </a:xfrm>
          <a:prstGeom prst="rect">
            <a:avLst/>
          </a:prstGeom>
          <a:noFill/>
        </p:spPr>
        <p:txBody>
          <a:bodyPr wrap="square" lIns="0" rIns="0" tIns="18288" bIns="18288" anchor="ctr"/>
          <a:lstStyle/>
          <a:p>
            <a:pPr algn="r"/>
            <a:r>
              <a:rPr sz="8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B2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240280" y="2734056"/>
            <a:ext cx="246888" cy="219456"/>
          </a:xfrm>
          <a:prstGeom prst="rect">
            <a:avLst/>
          </a:prstGeom>
          <a:noFill/>
        </p:spPr>
        <p:txBody>
          <a:bodyPr wrap="square" lIns="0" rIns="0" tIns="18288" bIns="18288" anchor="b"/>
          <a:lstStyle/>
          <a:p>
            <a:pPr algn="ctr"/>
            <a:r>
              <a:rPr sz="8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B2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005840" y="4206240"/>
            <a:ext cx="246888" cy="246888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1252728" y="4206240"/>
            <a:ext cx="246888" cy="246888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1499616" y="4206240"/>
            <a:ext cx="246888" cy="246888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1746504" y="4206240"/>
            <a:ext cx="246888" cy="246888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1993392" y="4206240"/>
            <a:ext cx="246888" cy="246888"/>
          </a:xfrm>
          <a:prstGeom prst="rect">
            <a:avLst/>
          </a:prstGeom>
          <a:solidFill>
            <a:srgbClr val="E76F51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2240280" y="4206240"/>
            <a:ext cx="246888" cy="246888"/>
          </a:xfrm>
          <a:prstGeom prst="rect">
            <a:avLst/>
          </a:prstGeom>
          <a:solidFill>
            <a:srgbClr val="E76F51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2487168" y="4206240"/>
            <a:ext cx="246888" cy="246888"/>
          </a:xfrm>
          <a:prstGeom prst="rect">
            <a:avLst/>
          </a:prstGeom>
          <a:solidFill>
            <a:srgbClr val="E76F51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2734056" y="4206240"/>
            <a:ext cx="246888" cy="246888"/>
          </a:xfrm>
          <a:prstGeom prst="rect">
            <a:avLst/>
          </a:prstGeom>
          <a:solidFill>
            <a:srgbClr val="E76F51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21792" y="4453128"/>
            <a:ext cx="365760" cy="246888"/>
          </a:xfrm>
          <a:prstGeom prst="rect">
            <a:avLst/>
          </a:prstGeom>
          <a:noFill/>
        </p:spPr>
        <p:txBody>
          <a:bodyPr wrap="square" lIns="0" rIns="0" tIns="18288" bIns="18288" anchor="ctr"/>
          <a:lstStyle/>
          <a:p>
            <a:pPr algn="r"/>
            <a:r>
              <a:rPr sz="8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B3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487168" y="2734056"/>
            <a:ext cx="246888" cy="219456"/>
          </a:xfrm>
          <a:prstGeom prst="rect">
            <a:avLst/>
          </a:prstGeom>
          <a:noFill/>
        </p:spPr>
        <p:txBody>
          <a:bodyPr wrap="square" lIns="0" rIns="0" tIns="18288" bIns="18288" anchor="b"/>
          <a:lstStyle/>
          <a:p>
            <a:pPr algn="ctr"/>
            <a:r>
              <a:rPr sz="8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B3</a:t>
            </a:r>
          </a:p>
        </p:txBody>
      </p:sp>
      <p:sp>
        <p:nvSpPr>
          <p:cNvPr id="70" name="Rectangle 69"/>
          <p:cNvSpPr/>
          <p:nvPr/>
        </p:nvSpPr>
        <p:spPr>
          <a:xfrm>
            <a:off x="1005840" y="4453128"/>
            <a:ext cx="246888" cy="246888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1252728" y="4453128"/>
            <a:ext cx="246888" cy="246888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1499616" y="4453128"/>
            <a:ext cx="246888" cy="246888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1746504" y="4453128"/>
            <a:ext cx="246888" cy="246888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1993392" y="4453128"/>
            <a:ext cx="246888" cy="246888"/>
          </a:xfrm>
          <a:prstGeom prst="rect">
            <a:avLst/>
          </a:prstGeom>
          <a:solidFill>
            <a:srgbClr val="E76F51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2240280" y="4453128"/>
            <a:ext cx="246888" cy="246888"/>
          </a:xfrm>
          <a:prstGeom prst="rect">
            <a:avLst/>
          </a:prstGeom>
          <a:solidFill>
            <a:srgbClr val="E76F51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2487168" y="4453128"/>
            <a:ext cx="246888" cy="246888"/>
          </a:xfrm>
          <a:prstGeom prst="rect">
            <a:avLst/>
          </a:prstGeom>
          <a:solidFill>
            <a:srgbClr val="E76F51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2734056" y="4453128"/>
            <a:ext cx="246888" cy="246888"/>
          </a:xfrm>
          <a:prstGeom prst="rect">
            <a:avLst/>
          </a:prstGeom>
          <a:solidFill>
            <a:srgbClr val="E76F51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21792" y="4700016"/>
            <a:ext cx="365760" cy="246888"/>
          </a:xfrm>
          <a:prstGeom prst="rect">
            <a:avLst/>
          </a:prstGeom>
          <a:noFill/>
        </p:spPr>
        <p:txBody>
          <a:bodyPr wrap="square" lIns="0" rIns="0" tIns="18288" bIns="18288" anchor="ctr"/>
          <a:lstStyle/>
          <a:p>
            <a:pPr algn="r"/>
            <a:r>
              <a:rPr sz="8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B4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734056" y="2734056"/>
            <a:ext cx="246888" cy="219456"/>
          </a:xfrm>
          <a:prstGeom prst="rect">
            <a:avLst/>
          </a:prstGeom>
          <a:noFill/>
        </p:spPr>
        <p:txBody>
          <a:bodyPr wrap="square" lIns="0" rIns="0" tIns="18288" bIns="18288" anchor="b"/>
          <a:lstStyle/>
          <a:p>
            <a:pPr algn="ctr"/>
            <a:r>
              <a:rPr sz="8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B4</a:t>
            </a:r>
          </a:p>
        </p:txBody>
      </p:sp>
      <p:sp>
        <p:nvSpPr>
          <p:cNvPr id="80" name="Rectangle 79"/>
          <p:cNvSpPr/>
          <p:nvPr/>
        </p:nvSpPr>
        <p:spPr>
          <a:xfrm>
            <a:off x="1005840" y="4700016"/>
            <a:ext cx="246888" cy="246888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1252728" y="4700016"/>
            <a:ext cx="246888" cy="246888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1499616" y="4700016"/>
            <a:ext cx="246888" cy="246888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1746504" y="4700016"/>
            <a:ext cx="246888" cy="246888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993392" y="4700016"/>
            <a:ext cx="246888" cy="246888"/>
          </a:xfrm>
          <a:prstGeom prst="rect">
            <a:avLst/>
          </a:prstGeom>
          <a:solidFill>
            <a:srgbClr val="E76F51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2240280" y="4700016"/>
            <a:ext cx="246888" cy="246888"/>
          </a:xfrm>
          <a:prstGeom prst="rect">
            <a:avLst/>
          </a:prstGeom>
          <a:solidFill>
            <a:srgbClr val="E76F51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2487168" y="4700016"/>
            <a:ext cx="246888" cy="246888"/>
          </a:xfrm>
          <a:prstGeom prst="rect">
            <a:avLst/>
          </a:prstGeom>
          <a:solidFill>
            <a:srgbClr val="E76F51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2734056" y="4700016"/>
            <a:ext cx="246888" cy="246888"/>
          </a:xfrm>
          <a:prstGeom prst="rect">
            <a:avLst/>
          </a:prstGeom>
          <a:solidFill>
            <a:srgbClr val="E76F51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594360" y="5020056"/>
            <a:ext cx="2386584" cy="54864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ctr"/>
            <a:r>
              <a:rPr sz="1200" b="1">
                <a:solidFill>
                  <a:srgbClr val="E76F51"/>
                </a:solidFill>
                <a:latin typeface="Times New Roman"/>
                <a:ea typeface="Times New Roman"/>
                <a:cs typeface="Times New Roman"/>
              </a:rPr>
              <a:t>S</a:t>
            </a:r>
            <a:r>
              <a:rPr sz="1200" b="1">
                <a:solidFill>
                  <a:srgbClr val="E76F51"/>
                </a:solidFill>
                <a:latin typeface="BIZ UDGothic"/>
                <a:ea typeface="BIZ UDGothic"/>
                <a:cs typeface="BIZ UDGothic"/>
              </a:rPr>
              <a:t>：同じ Scan 方向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3026664" y="3657600"/>
            <a:ext cx="457200" cy="54864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ctr"/>
            <a:r>
              <a:rPr sz="2400" b="1">
                <a:solidFill>
                  <a:srgbClr val="6C6F7F"/>
                </a:solidFill>
                <a:latin typeface="Times New Roman"/>
                <a:ea typeface="Times New Roman"/>
                <a:cs typeface="Times New Roman"/>
              </a:rPr>
              <a:t>⊙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319272" y="2971800"/>
            <a:ext cx="365760" cy="246888"/>
          </a:xfrm>
          <a:prstGeom prst="rect">
            <a:avLst/>
          </a:prstGeom>
          <a:noFill/>
        </p:spPr>
        <p:txBody>
          <a:bodyPr wrap="square" lIns="0" rIns="0" tIns="18288" bIns="18288" anchor="ctr"/>
          <a:lstStyle/>
          <a:p>
            <a:pPr algn="r"/>
            <a:r>
              <a:rPr sz="8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A1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703320" y="2734056"/>
            <a:ext cx="246888" cy="219456"/>
          </a:xfrm>
          <a:prstGeom prst="rect">
            <a:avLst/>
          </a:prstGeom>
          <a:noFill/>
        </p:spPr>
        <p:txBody>
          <a:bodyPr wrap="square" lIns="0" rIns="0" tIns="18288" bIns="18288" anchor="b"/>
          <a:lstStyle/>
          <a:p>
            <a:pPr algn="ctr"/>
            <a:r>
              <a:rPr sz="8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A1</a:t>
            </a:r>
          </a:p>
        </p:txBody>
      </p:sp>
      <p:sp>
        <p:nvSpPr>
          <p:cNvPr id="92" name="Rectangle 91"/>
          <p:cNvSpPr/>
          <p:nvPr/>
        </p:nvSpPr>
        <p:spPr>
          <a:xfrm>
            <a:off x="3703320" y="2971800"/>
            <a:ext cx="246888" cy="246888"/>
          </a:xfrm>
          <a:prstGeom prst="rect">
            <a:avLst/>
          </a:prstGeom>
          <a:solidFill>
            <a:srgbClr val="8D6A9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3950208" y="2971800"/>
            <a:ext cx="246888" cy="246888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4197096" y="2971800"/>
            <a:ext cx="246888" cy="246888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4443983" y="2971800"/>
            <a:ext cx="246888" cy="246888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4690872" y="2971800"/>
            <a:ext cx="246888" cy="246888"/>
          </a:xfrm>
          <a:prstGeom prst="rect">
            <a:avLst/>
          </a:prstGeom>
          <a:solidFill>
            <a:srgbClr val="8D6A9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4937760" y="2971800"/>
            <a:ext cx="246888" cy="246888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5184648" y="2971800"/>
            <a:ext cx="246888" cy="246888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5431536" y="2971800"/>
            <a:ext cx="246888" cy="246888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3319272" y="3218688"/>
            <a:ext cx="365760" cy="246888"/>
          </a:xfrm>
          <a:prstGeom prst="rect">
            <a:avLst/>
          </a:prstGeom>
          <a:noFill/>
        </p:spPr>
        <p:txBody>
          <a:bodyPr wrap="square" lIns="0" rIns="0" tIns="18288" bIns="18288" anchor="ctr"/>
          <a:lstStyle/>
          <a:p>
            <a:pPr algn="r"/>
            <a:r>
              <a:rPr sz="8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A2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3950208" y="2734056"/>
            <a:ext cx="246888" cy="219456"/>
          </a:xfrm>
          <a:prstGeom prst="rect">
            <a:avLst/>
          </a:prstGeom>
          <a:noFill/>
        </p:spPr>
        <p:txBody>
          <a:bodyPr wrap="square" lIns="0" rIns="0" tIns="18288" bIns="18288" anchor="b"/>
          <a:lstStyle/>
          <a:p>
            <a:pPr algn="ctr"/>
            <a:r>
              <a:rPr sz="8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A2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3703320" y="3218688"/>
            <a:ext cx="246888" cy="246888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3950208" y="3218688"/>
            <a:ext cx="246888" cy="246888"/>
          </a:xfrm>
          <a:prstGeom prst="rect">
            <a:avLst/>
          </a:prstGeom>
          <a:solidFill>
            <a:srgbClr val="8D6A9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4197096" y="3218688"/>
            <a:ext cx="246888" cy="246888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4443983" y="3218688"/>
            <a:ext cx="246888" cy="246888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4690872" y="3218688"/>
            <a:ext cx="246888" cy="246888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4937760" y="3218688"/>
            <a:ext cx="246888" cy="246888"/>
          </a:xfrm>
          <a:prstGeom prst="rect">
            <a:avLst/>
          </a:prstGeom>
          <a:solidFill>
            <a:srgbClr val="8D6A9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5184648" y="3218688"/>
            <a:ext cx="246888" cy="246888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5431536" y="3218688"/>
            <a:ext cx="246888" cy="246888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3319272" y="3465576"/>
            <a:ext cx="365760" cy="246888"/>
          </a:xfrm>
          <a:prstGeom prst="rect">
            <a:avLst/>
          </a:prstGeom>
          <a:noFill/>
        </p:spPr>
        <p:txBody>
          <a:bodyPr wrap="square" lIns="0" rIns="0" tIns="18288" bIns="18288" anchor="ctr"/>
          <a:lstStyle/>
          <a:p>
            <a:pPr algn="r"/>
            <a:r>
              <a:rPr sz="8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A3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4197096" y="2734056"/>
            <a:ext cx="246888" cy="219456"/>
          </a:xfrm>
          <a:prstGeom prst="rect">
            <a:avLst/>
          </a:prstGeom>
          <a:noFill/>
        </p:spPr>
        <p:txBody>
          <a:bodyPr wrap="square" lIns="0" rIns="0" tIns="18288" bIns="18288" anchor="b"/>
          <a:lstStyle/>
          <a:p>
            <a:pPr algn="ctr"/>
            <a:r>
              <a:rPr sz="8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A3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3703320" y="3465576"/>
            <a:ext cx="246888" cy="246888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3950208" y="3465576"/>
            <a:ext cx="246888" cy="246888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4197096" y="3465576"/>
            <a:ext cx="246888" cy="246888"/>
          </a:xfrm>
          <a:prstGeom prst="rect">
            <a:avLst/>
          </a:prstGeom>
          <a:solidFill>
            <a:srgbClr val="8D6A9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4443983" y="3465576"/>
            <a:ext cx="246888" cy="246888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4690872" y="3465576"/>
            <a:ext cx="246888" cy="246888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4937760" y="3465576"/>
            <a:ext cx="246888" cy="246888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5184648" y="3465576"/>
            <a:ext cx="246888" cy="246888"/>
          </a:xfrm>
          <a:prstGeom prst="rect">
            <a:avLst/>
          </a:prstGeom>
          <a:solidFill>
            <a:srgbClr val="8D6A9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5431536" y="3465576"/>
            <a:ext cx="246888" cy="246888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3319272" y="3712464"/>
            <a:ext cx="365760" cy="246888"/>
          </a:xfrm>
          <a:prstGeom prst="rect">
            <a:avLst/>
          </a:prstGeom>
          <a:noFill/>
        </p:spPr>
        <p:txBody>
          <a:bodyPr wrap="square" lIns="0" rIns="0" tIns="18288" bIns="18288" anchor="ctr"/>
          <a:lstStyle/>
          <a:p>
            <a:pPr algn="r"/>
            <a:r>
              <a:rPr sz="8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A4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443983" y="2734056"/>
            <a:ext cx="246888" cy="219456"/>
          </a:xfrm>
          <a:prstGeom prst="rect">
            <a:avLst/>
          </a:prstGeom>
          <a:noFill/>
        </p:spPr>
        <p:txBody>
          <a:bodyPr wrap="square" lIns="0" rIns="0" tIns="18288" bIns="18288" anchor="b"/>
          <a:lstStyle/>
          <a:p>
            <a:pPr algn="ctr"/>
            <a:r>
              <a:rPr sz="8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A4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3703320" y="3712464"/>
            <a:ext cx="246888" cy="246888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3950208" y="3712464"/>
            <a:ext cx="246888" cy="246888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4197096" y="3712464"/>
            <a:ext cx="246888" cy="246888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4443983" y="3712464"/>
            <a:ext cx="246888" cy="246888"/>
          </a:xfrm>
          <a:prstGeom prst="rect">
            <a:avLst/>
          </a:prstGeom>
          <a:solidFill>
            <a:srgbClr val="8D6A9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4690872" y="3712464"/>
            <a:ext cx="246888" cy="246888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4937760" y="3712464"/>
            <a:ext cx="246888" cy="246888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5184648" y="3712464"/>
            <a:ext cx="246888" cy="246888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Rectangle 128"/>
          <p:cNvSpPr/>
          <p:nvPr/>
        </p:nvSpPr>
        <p:spPr>
          <a:xfrm>
            <a:off x="5431536" y="3712464"/>
            <a:ext cx="246888" cy="246888"/>
          </a:xfrm>
          <a:prstGeom prst="rect">
            <a:avLst/>
          </a:prstGeom>
          <a:solidFill>
            <a:srgbClr val="8D6A9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3319272" y="3959352"/>
            <a:ext cx="365760" cy="246888"/>
          </a:xfrm>
          <a:prstGeom prst="rect">
            <a:avLst/>
          </a:prstGeom>
          <a:noFill/>
        </p:spPr>
        <p:txBody>
          <a:bodyPr wrap="square" lIns="0" rIns="0" tIns="18288" bIns="18288" anchor="ctr"/>
          <a:lstStyle/>
          <a:p>
            <a:pPr algn="r"/>
            <a:r>
              <a:rPr sz="8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B1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4690872" y="2734056"/>
            <a:ext cx="246888" cy="219456"/>
          </a:xfrm>
          <a:prstGeom prst="rect">
            <a:avLst/>
          </a:prstGeom>
          <a:noFill/>
        </p:spPr>
        <p:txBody>
          <a:bodyPr wrap="square" lIns="0" rIns="0" tIns="18288" bIns="18288" anchor="b"/>
          <a:lstStyle/>
          <a:p>
            <a:pPr algn="ctr"/>
            <a:r>
              <a:rPr sz="8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B1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703320" y="3959352"/>
            <a:ext cx="246888" cy="246888"/>
          </a:xfrm>
          <a:prstGeom prst="rect">
            <a:avLst/>
          </a:prstGeom>
          <a:solidFill>
            <a:srgbClr val="8D6A9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3950208" y="3959352"/>
            <a:ext cx="246888" cy="246888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4197096" y="3959352"/>
            <a:ext cx="246888" cy="246888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Rectangle 134"/>
          <p:cNvSpPr/>
          <p:nvPr/>
        </p:nvSpPr>
        <p:spPr>
          <a:xfrm>
            <a:off x="4443983" y="3959352"/>
            <a:ext cx="246888" cy="246888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4690872" y="3959352"/>
            <a:ext cx="246888" cy="246888"/>
          </a:xfrm>
          <a:prstGeom prst="rect">
            <a:avLst/>
          </a:prstGeom>
          <a:solidFill>
            <a:srgbClr val="8D6A9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Rectangle 136"/>
          <p:cNvSpPr/>
          <p:nvPr/>
        </p:nvSpPr>
        <p:spPr>
          <a:xfrm>
            <a:off x="4937760" y="3959352"/>
            <a:ext cx="246888" cy="246888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Rectangle 137"/>
          <p:cNvSpPr/>
          <p:nvPr/>
        </p:nvSpPr>
        <p:spPr>
          <a:xfrm>
            <a:off x="5184648" y="3959352"/>
            <a:ext cx="246888" cy="246888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Rectangle 138"/>
          <p:cNvSpPr/>
          <p:nvPr/>
        </p:nvSpPr>
        <p:spPr>
          <a:xfrm>
            <a:off x="5431536" y="3959352"/>
            <a:ext cx="246888" cy="246888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3319272" y="4206240"/>
            <a:ext cx="365760" cy="246888"/>
          </a:xfrm>
          <a:prstGeom prst="rect">
            <a:avLst/>
          </a:prstGeom>
          <a:noFill/>
        </p:spPr>
        <p:txBody>
          <a:bodyPr wrap="square" lIns="0" rIns="0" tIns="18288" bIns="18288" anchor="ctr"/>
          <a:lstStyle/>
          <a:p>
            <a:pPr algn="r"/>
            <a:r>
              <a:rPr sz="8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B2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4937760" y="2734056"/>
            <a:ext cx="246888" cy="219456"/>
          </a:xfrm>
          <a:prstGeom prst="rect">
            <a:avLst/>
          </a:prstGeom>
          <a:noFill/>
        </p:spPr>
        <p:txBody>
          <a:bodyPr wrap="square" lIns="0" rIns="0" tIns="18288" bIns="18288" anchor="b"/>
          <a:lstStyle/>
          <a:p>
            <a:pPr algn="ctr"/>
            <a:r>
              <a:rPr sz="8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B2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3703320" y="4206240"/>
            <a:ext cx="246888" cy="246888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Rectangle 142"/>
          <p:cNvSpPr/>
          <p:nvPr/>
        </p:nvSpPr>
        <p:spPr>
          <a:xfrm>
            <a:off x="3950208" y="4206240"/>
            <a:ext cx="246888" cy="246888"/>
          </a:xfrm>
          <a:prstGeom prst="rect">
            <a:avLst/>
          </a:prstGeom>
          <a:solidFill>
            <a:srgbClr val="8D6A9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Rectangle 143"/>
          <p:cNvSpPr/>
          <p:nvPr/>
        </p:nvSpPr>
        <p:spPr>
          <a:xfrm>
            <a:off x="4197096" y="4206240"/>
            <a:ext cx="246888" cy="246888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4443983" y="4206240"/>
            <a:ext cx="246888" cy="246888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Rectangle 145"/>
          <p:cNvSpPr/>
          <p:nvPr/>
        </p:nvSpPr>
        <p:spPr>
          <a:xfrm>
            <a:off x="4690872" y="4206240"/>
            <a:ext cx="246888" cy="246888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Rectangle 146"/>
          <p:cNvSpPr/>
          <p:nvPr/>
        </p:nvSpPr>
        <p:spPr>
          <a:xfrm>
            <a:off x="4937760" y="4206240"/>
            <a:ext cx="246888" cy="246888"/>
          </a:xfrm>
          <a:prstGeom prst="rect">
            <a:avLst/>
          </a:prstGeom>
          <a:solidFill>
            <a:srgbClr val="8D6A9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Rectangle 147"/>
          <p:cNvSpPr/>
          <p:nvPr/>
        </p:nvSpPr>
        <p:spPr>
          <a:xfrm>
            <a:off x="5184648" y="4206240"/>
            <a:ext cx="246888" cy="246888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5431536" y="4206240"/>
            <a:ext cx="246888" cy="246888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3319272" y="4453128"/>
            <a:ext cx="365760" cy="246888"/>
          </a:xfrm>
          <a:prstGeom prst="rect">
            <a:avLst/>
          </a:prstGeom>
          <a:noFill/>
        </p:spPr>
        <p:txBody>
          <a:bodyPr wrap="square" lIns="0" rIns="0" tIns="18288" bIns="18288" anchor="ctr"/>
          <a:lstStyle/>
          <a:p>
            <a:pPr algn="r"/>
            <a:r>
              <a:rPr sz="8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B3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5184648" y="2734056"/>
            <a:ext cx="246888" cy="219456"/>
          </a:xfrm>
          <a:prstGeom prst="rect">
            <a:avLst/>
          </a:prstGeom>
          <a:noFill/>
        </p:spPr>
        <p:txBody>
          <a:bodyPr wrap="square" lIns="0" rIns="0" tIns="18288" bIns="18288" anchor="b"/>
          <a:lstStyle/>
          <a:p>
            <a:pPr algn="ctr"/>
            <a:r>
              <a:rPr sz="8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B3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3703320" y="4453128"/>
            <a:ext cx="246888" cy="246888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Rectangle 152"/>
          <p:cNvSpPr/>
          <p:nvPr/>
        </p:nvSpPr>
        <p:spPr>
          <a:xfrm>
            <a:off x="3950208" y="4453128"/>
            <a:ext cx="246888" cy="246888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Rectangle 153"/>
          <p:cNvSpPr/>
          <p:nvPr/>
        </p:nvSpPr>
        <p:spPr>
          <a:xfrm>
            <a:off x="4197096" y="4453128"/>
            <a:ext cx="246888" cy="246888"/>
          </a:xfrm>
          <a:prstGeom prst="rect">
            <a:avLst/>
          </a:prstGeom>
          <a:solidFill>
            <a:srgbClr val="8D6A9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Rectangle 154"/>
          <p:cNvSpPr/>
          <p:nvPr/>
        </p:nvSpPr>
        <p:spPr>
          <a:xfrm>
            <a:off x="4443983" y="4453128"/>
            <a:ext cx="246888" cy="246888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Rectangle 155"/>
          <p:cNvSpPr/>
          <p:nvPr/>
        </p:nvSpPr>
        <p:spPr>
          <a:xfrm>
            <a:off x="4690872" y="4453128"/>
            <a:ext cx="246888" cy="246888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4937760" y="4453128"/>
            <a:ext cx="246888" cy="246888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Rectangle 157"/>
          <p:cNvSpPr/>
          <p:nvPr/>
        </p:nvSpPr>
        <p:spPr>
          <a:xfrm>
            <a:off x="5184648" y="4453128"/>
            <a:ext cx="246888" cy="246888"/>
          </a:xfrm>
          <a:prstGeom prst="rect">
            <a:avLst/>
          </a:prstGeom>
          <a:solidFill>
            <a:srgbClr val="8D6A9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Rectangle 158"/>
          <p:cNvSpPr/>
          <p:nvPr/>
        </p:nvSpPr>
        <p:spPr>
          <a:xfrm>
            <a:off x="5431536" y="4453128"/>
            <a:ext cx="246888" cy="246888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3319272" y="4700016"/>
            <a:ext cx="365760" cy="246888"/>
          </a:xfrm>
          <a:prstGeom prst="rect">
            <a:avLst/>
          </a:prstGeom>
          <a:noFill/>
        </p:spPr>
        <p:txBody>
          <a:bodyPr wrap="square" lIns="0" rIns="0" tIns="18288" bIns="18288" anchor="ctr"/>
          <a:lstStyle/>
          <a:p>
            <a:pPr algn="r"/>
            <a:r>
              <a:rPr sz="8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B4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5431536" y="2734056"/>
            <a:ext cx="246888" cy="219456"/>
          </a:xfrm>
          <a:prstGeom prst="rect">
            <a:avLst/>
          </a:prstGeom>
          <a:noFill/>
        </p:spPr>
        <p:txBody>
          <a:bodyPr wrap="square" lIns="0" rIns="0" tIns="18288" bIns="18288" anchor="b"/>
          <a:lstStyle/>
          <a:p>
            <a:pPr algn="ctr"/>
            <a:r>
              <a:rPr sz="8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B4</a:t>
            </a:r>
          </a:p>
        </p:txBody>
      </p:sp>
      <p:sp>
        <p:nvSpPr>
          <p:cNvPr id="162" name="Rectangle 161"/>
          <p:cNvSpPr/>
          <p:nvPr/>
        </p:nvSpPr>
        <p:spPr>
          <a:xfrm>
            <a:off x="3703320" y="4700016"/>
            <a:ext cx="246888" cy="246888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Rectangle 162"/>
          <p:cNvSpPr/>
          <p:nvPr/>
        </p:nvSpPr>
        <p:spPr>
          <a:xfrm>
            <a:off x="3950208" y="4700016"/>
            <a:ext cx="246888" cy="246888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Rectangle 163"/>
          <p:cNvSpPr/>
          <p:nvPr/>
        </p:nvSpPr>
        <p:spPr>
          <a:xfrm>
            <a:off x="4197096" y="4700016"/>
            <a:ext cx="246888" cy="246888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4443983" y="4700016"/>
            <a:ext cx="246888" cy="246888"/>
          </a:xfrm>
          <a:prstGeom prst="rect">
            <a:avLst/>
          </a:prstGeom>
          <a:solidFill>
            <a:srgbClr val="8D6A9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Rectangle 165"/>
          <p:cNvSpPr/>
          <p:nvPr/>
        </p:nvSpPr>
        <p:spPr>
          <a:xfrm>
            <a:off x="4690872" y="4700016"/>
            <a:ext cx="246888" cy="246888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Rectangle 166"/>
          <p:cNvSpPr/>
          <p:nvPr/>
        </p:nvSpPr>
        <p:spPr>
          <a:xfrm>
            <a:off x="4937760" y="4700016"/>
            <a:ext cx="246888" cy="246888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Rectangle 167"/>
          <p:cNvSpPr/>
          <p:nvPr/>
        </p:nvSpPr>
        <p:spPr>
          <a:xfrm>
            <a:off x="5184648" y="4700016"/>
            <a:ext cx="246888" cy="246888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Rectangle 168"/>
          <p:cNvSpPr/>
          <p:nvPr/>
        </p:nvSpPr>
        <p:spPr>
          <a:xfrm>
            <a:off x="5431536" y="4700016"/>
            <a:ext cx="246888" cy="246888"/>
          </a:xfrm>
          <a:prstGeom prst="rect">
            <a:avLst/>
          </a:prstGeom>
          <a:solidFill>
            <a:srgbClr val="8D6A9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3291839" y="5020056"/>
            <a:ext cx="2386584" cy="54864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ctr"/>
            <a:r>
              <a:rPr sz="1200" b="1">
                <a:solidFill>
                  <a:srgbClr val="8D6A9F"/>
                </a:solidFill>
                <a:latin typeface="Times New Roman"/>
                <a:ea typeface="Times New Roman"/>
                <a:cs typeface="Times New Roman"/>
              </a:rPr>
              <a:t>M</a:t>
            </a:r>
            <a:r>
              <a:rPr sz="1200" b="1">
                <a:solidFill>
                  <a:srgbClr val="8D6A9F"/>
                </a:solidFill>
                <a:latin typeface="BIZ UDGothic"/>
                <a:ea typeface="BIZ UDGothic"/>
                <a:cs typeface="BIZ UDGothic"/>
              </a:rPr>
              <a:t>：同じ Mark 番号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724144" y="3657600"/>
            <a:ext cx="457200" cy="54864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ctr"/>
            <a:r>
              <a:rPr sz="2800" b="1">
                <a:solidFill>
                  <a:srgbClr val="6C6F7F"/>
                </a:solidFill>
                <a:latin typeface="Times New Roman"/>
                <a:ea typeface="Times New Roman"/>
                <a:cs typeface="Times New Roman"/>
              </a:rPr>
              <a:t>=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016752" y="2971800"/>
            <a:ext cx="365760" cy="246888"/>
          </a:xfrm>
          <a:prstGeom prst="rect">
            <a:avLst/>
          </a:prstGeom>
          <a:noFill/>
        </p:spPr>
        <p:txBody>
          <a:bodyPr wrap="square" lIns="0" rIns="0" tIns="18288" bIns="18288" anchor="ctr"/>
          <a:lstStyle/>
          <a:p>
            <a:pPr algn="r"/>
            <a:r>
              <a:rPr sz="8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A1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400800" y="2734056"/>
            <a:ext cx="246888" cy="219456"/>
          </a:xfrm>
          <a:prstGeom prst="rect">
            <a:avLst/>
          </a:prstGeom>
          <a:noFill/>
        </p:spPr>
        <p:txBody>
          <a:bodyPr wrap="square" lIns="0" rIns="0" tIns="18288" bIns="18288" anchor="b"/>
          <a:lstStyle/>
          <a:p>
            <a:pPr algn="ctr"/>
            <a:r>
              <a:rPr sz="8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A1</a:t>
            </a:r>
          </a:p>
        </p:txBody>
      </p:sp>
      <p:sp>
        <p:nvSpPr>
          <p:cNvPr id="174" name="Rectangle 173"/>
          <p:cNvSpPr/>
          <p:nvPr/>
        </p:nvSpPr>
        <p:spPr>
          <a:xfrm>
            <a:off x="6400800" y="2971800"/>
            <a:ext cx="246888" cy="246888"/>
          </a:xfrm>
          <a:prstGeom prst="rect">
            <a:avLst/>
          </a:prstGeom>
          <a:solidFill>
            <a:srgbClr val="9C7412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Rectangle 174"/>
          <p:cNvSpPr/>
          <p:nvPr/>
        </p:nvSpPr>
        <p:spPr>
          <a:xfrm>
            <a:off x="6647688" y="2971800"/>
            <a:ext cx="246888" cy="246888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Rectangle 175"/>
          <p:cNvSpPr/>
          <p:nvPr/>
        </p:nvSpPr>
        <p:spPr>
          <a:xfrm>
            <a:off x="6894576" y="2971800"/>
            <a:ext cx="246888" cy="246888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Rectangle 176"/>
          <p:cNvSpPr/>
          <p:nvPr/>
        </p:nvSpPr>
        <p:spPr>
          <a:xfrm>
            <a:off x="7141464" y="2971800"/>
            <a:ext cx="246888" cy="246888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Rectangle 177"/>
          <p:cNvSpPr/>
          <p:nvPr/>
        </p:nvSpPr>
        <p:spPr>
          <a:xfrm>
            <a:off x="7388352" y="2971800"/>
            <a:ext cx="246888" cy="246888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Rectangle 178"/>
          <p:cNvSpPr/>
          <p:nvPr/>
        </p:nvSpPr>
        <p:spPr>
          <a:xfrm>
            <a:off x="7635240" y="2971800"/>
            <a:ext cx="246888" cy="246888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Rectangle 179"/>
          <p:cNvSpPr/>
          <p:nvPr/>
        </p:nvSpPr>
        <p:spPr>
          <a:xfrm>
            <a:off x="7882128" y="2971800"/>
            <a:ext cx="246888" cy="246888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8129016" y="2971800"/>
            <a:ext cx="246888" cy="246888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TextBox 181"/>
          <p:cNvSpPr txBox="1"/>
          <p:nvPr/>
        </p:nvSpPr>
        <p:spPr>
          <a:xfrm>
            <a:off x="6016752" y="3218688"/>
            <a:ext cx="365760" cy="246888"/>
          </a:xfrm>
          <a:prstGeom prst="rect">
            <a:avLst/>
          </a:prstGeom>
          <a:noFill/>
        </p:spPr>
        <p:txBody>
          <a:bodyPr wrap="square" lIns="0" rIns="0" tIns="18288" bIns="18288" anchor="ctr"/>
          <a:lstStyle/>
          <a:p>
            <a:pPr algn="r"/>
            <a:r>
              <a:rPr sz="8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A2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6647688" y="2734056"/>
            <a:ext cx="246888" cy="219456"/>
          </a:xfrm>
          <a:prstGeom prst="rect">
            <a:avLst/>
          </a:prstGeom>
          <a:noFill/>
        </p:spPr>
        <p:txBody>
          <a:bodyPr wrap="square" lIns="0" rIns="0" tIns="18288" bIns="18288" anchor="b"/>
          <a:lstStyle/>
          <a:p>
            <a:pPr algn="ctr"/>
            <a:r>
              <a:rPr sz="8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A2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6400800" y="3218688"/>
            <a:ext cx="246888" cy="246888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Rectangle 184"/>
          <p:cNvSpPr/>
          <p:nvPr/>
        </p:nvSpPr>
        <p:spPr>
          <a:xfrm>
            <a:off x="6647688" y="3218688"/>
            <a:ext cx="246888" cy="246888"/>
          </a:xfrm>
          <a:prstGeom prst="rect">
            <a:avLst/>
          </a:prstGeom>
          <a:solidFill>
            <a:srgbClr val="9C7412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Rectangle 185"/>
          <p:cNvSpPr/>
          <p:nvPr/>
        </p:nvSpPr>
        <p:spPr>
          <a:xfrm>
            <a:off x="6894576" y="3218688"/>
            <a:ext cx="246888" cy="246888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Rectangle 186"/>
          <p:cNvSpPr/>
          <p:nvPr/>
        </p:nvSpPr>
        <p:spPr>
          <a:xfrm>
            <a:off x="7141464" y="3218688"/>
            <a:ext cx="246888" cy="246888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Rectangle 187"/>
          <p:cNvSpPr/>
          <p:nvPr/>
        </p:nvSpPr>
        <p:spPr>
          <a:xfrm>
            <a:off x="7388352" y="3218688"/>
            <a:ext cx="246888" cy="246888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Rectangle 188"/>
          <p:cNvSpPr/>
          <p:nvPr/>
        </p:nvSpPr>
        <p:spPr>
          <a:xfrm>
            <a:off x="7635240" y="3218688"/>
            <a:ext cx="246888" cy="246888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Rectangle 189"/>
          <p:cNvSpPr/>
          <p:nvPr/>
        </p:nvSpPr>
        <p:spPr>
          <a:xfrm>
            <a:off x="7882128" y="3218688"/>
            <a:ext cx="246888" cy="246888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Rectangle 190"/>
          <p:cNvSpPr/>
          <p:nvPr/>
        </p:nvSpPr>
        <p:spPr>
          <a:xfrm>
            <a:off x="8129016" y="3218688"/>
            <a:ext cx="246888" cy="246888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6016752" y="3465576"/>
            <a:ext cx="365760" cy="246888"/>
          </a:xfrm>
          <a:prstGeom prst="rect">
            <a:avLst/>
          </a:prstGeom>
          <a:noFill/>
        </p:spPr>
        <p:txBody>
          <a:bodyPr wrap="square" lIns="0" rIns="0" tIns="18288" bIns="18288" anchor="ctr"/>
          <a:lstStyle/>
          <a:p>
            <a:pPr algn="r"/>
            <a:r>
              <a:rPr sz="8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A3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6894576" y="2734056"/>
            <a:ext cx="246888" cy="219456"/>
          </a:xfrm>
          <a:prstGeom prst="rect">
            <a:avLst/>
          </a:prstGeom>
          <a:noFill/>
        </p:spPr>
        <p:txBody>
          <a:bodyPr wrap="square" lIns="0" rIns="0" tIns="18288" bIns="18288" anchor="b"/>
          <a:lstStyle/>
          <a:p>
            <a:pPr algn="ctr"/>
            <a:r>
              <a:rPr sz="8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A3</a:t>
            </a:r>
          </a:p>
        </p:txBody>
      </p:sp>
      <p:sp>
        <p:nvSpPr>
          <p:cNvPr id="194" name="Rectangle 193"/>
          <p:cNvSpPr/>
          <p:nvPr/>
        </p:nvSpPr>
        <p:spPr>
          <a:xfrm>
            <a:off x="6400800" y="3465576"/>
            <a:ext cx="246888" cy="246888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Rectangle 194"/>
          <p:cNvSpPr/>
          <p:nvPr/>
        </p:nvSpPr>
        <p:spPr>
          <a:xfrm>
            <a:off x="6647688" y="3465576"/>
            <a:ext cx="246888" cy="246888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Rectangle 195"/>
          <p:cNvSpPr/>
          <p:nvPr/>
        </p:nvSpPr>
        <p:spPr>
          <a:xfrm>
            <a:off x="6894576" y="3465576"/>
            <a:ext cx="246888" cy="246888"/>
          </a:xfrm>
          <a:prstGeom prst="rect">
            <a:avLst/>
          </a:prstGeom>
          <a:solidFill>
            <a:srgbClr val="9C7412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Rectangle 196"/>
          <p:cNvSpPr/>
          <p:nvPr/>
        </p:nvSpPr>
        <p:spPr>
          <a:xfrm>
            <a:off x="7141464" y="3465576"/>
            <a:ext cx="246888" cy="246888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Rectangle 197"/>
          <p:cNvSpPr/>
          <p:nvPr/>
        </p:nvSpPr>
        <p:spPr>
          <a:xfrm>
            <a:off x="7388352" y="3465576"/>
            <a:ext cx="246888" cy="246888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Rectangle 198"/>
          <p:cNvSpPr/>
          <p:nvPr/>
        </p:nvSpPr>
        <p:spPr>
          <a:xfrm>
            <a:off x="7635240" y="3465576"/>
            <a:ext cx="246888" cy="246888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Rectangle 199"/>
          <p:cNvSpPr/>
          <p:nvPr/>
        </p:nvSpPr>
        <p:spPr>
          <a:xfrm>
            <a:off x="7882128" y="3465576"/>
            <a:ext cx="246888" cy="246888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Rectangle 200"/>
          <p:cNvSpPr/>
          <p:nvPr/>
        </p:nvSpPr>
        <p:spPr>
          <a:xfrm>
            <a:off x="8129016" y="3465576"/>
            <a:ext cx="246888" cy="246888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TextBox 201"/>
          <p:cNvSpPr txBox="1"/>
          <p:nvPr/>
        </p:nvSpPr>
        <p:spPr>
          <a:xfrm>
            <a:off x="6016752" y="3712464"/>
            <a:ext cx="365760" cy="246888"/>
          </a:xfrm>
          <a:prstGeom prst="rect">
            <a:avLst/>
          </a:prstGeom>
          <a:noFill/>
        </p:spPr>
        <p:txBody>
          <a:bodyPr wrap="square" lIns="0" rIns="0" tIns="18288" bIns="18288" anchor="ctr"/>
          <a:lstStyle/>
          <a:p>
            <a:pPr algn="r"/>
            <a:r>
              <a:rPr sz="8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A4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7141464" y="2734056"/>
            <a:ext cx="246888" cy="219456"/>
          </a:xfrm>
          <a:prstGeom prst="rect">
            <a:avLst/>
          </a:prstGeom>
          <a:noFill/>
        </p:spPr>
        <p:txBody>
          <a:bodyPr wrap="square" lIns="0" rIns="0" tIns="18288" bIns="18288" anchor="b"/>
          <a:lstStyle/>
          <a:p>
            <a:pPr algn="ctr"/>
            <a:r>
              <a:rPr sz="8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A4</a:t>
            </a:r>
          </a:p>
        </p:txBody>
      </p:sp>
      <p:sp>
        <p:nvSpPr>
          <p:cNvPr id="204" name="Rectangle 203"/>
          <p:cNvSpPr/>
          <p:nvPr/>
        </p:nvSpPr>
        <p:spPr>
          <a:xfrm>
            <a:off x="6400800" y="3712464"/>
            <a:ext cx="246888" cy="246888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Rectangle 204"/>
          <p:cNvSpPr/>
          <p:nvPr/>
        </p:nvSpPr>
        <p:spPr>
          <a:xfrm>
            <a:off x="6647688" y="3712464"/>
            <a:ext cx="246888" cy="246888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Rectangle 205"/>
          <p:cNvSpPr/>
          <p:nvPr/>
        </p:nvSpPr>
        <p:spPr>
          <a:xfrm>
            <a:off x="6894576" y="3712464"/>
            <a:ext cx="246888" cy="246888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Rectangle 206"/>
          <p:cNvSpPr/>
          <p:nvPr/>
        </p:nvSpPr>
        <p:spPr>
          <a:xfrm>
            <a:off x="7141464" y="3712464"/>
            <a:ext cx="246888" cy="246888"/>
          </a:xfrm>
          <a:prstGeom prst="rect">
            <a:avLst/>
          </a:prstGeom>
          <a:solidFill>
            <a:srgbClr val="9C7412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Rectangle 207"/>
          <p:cNvSpPr/>
          <p:nvPr/>
        </p:nvSpPr>
        <p:spPr>
          <a:xfrm>
            <a:off x="7388352" y="3712464"/>
            <a:ext cx="246888" cy="246888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Rectangle 208"/>
          <p:cNvSpPr/>
          <p:nvPr/>
        </p:nvSpPr>
        <p:spPr>
          <a:xfrm>
            <a:off x="7635240" y="3712464"/>
            <a:ext cx="246888" cy="246888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Rectangle 209"/>
          <p:cNvSpPr/>
          <p:nvPr/>
        </p:nvSpPr>
        <p:spPr>
          <a:xfrm>
            <a:off x="7882128" y="3712464"/>
            <a:ext cx="246888" cy="246888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Rectangle 210"/>
          <p:cNvSpPr/>
          <p:nvPr/>
        </p:nvSpPr>
        <p:spPr>
          <a:xfrm>
            <a:off x="8129016" y="3712464"/>
            <a:ext cx="246888" cy="246888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TextBox 211"/>
          <p:cNvSpPr txBox="1"/>
          <p:nvPr/>
        </p:nvSpPr>
        <p:spPr>
          <a:xfrm>
            <a:off x="6016752" y="3959352"/>
            <a:ext cx="365760" cy="246888"/>
          </a:xfrm>
          <a:prstGeom prst="rect">
            <a:avLst/>
          </a:prstGeom>
          <a:noFill/>
        </p:spPr>
        <p:txBody>
          <a:bodyPr wrap="square" lIns="0" rIns="0" tIns="18288" bIns="18288" anchor="ctr"/>
          <a:lstStyle/>
          <a:p>
            <a:pPr algn="r"/>
            <a:r>
              <a:rPr sz="8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B1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7388352" y="2734056"/>
            <a:ext cx="246888" cy="219456"/>
          </a:xfrm>
          <a:prstGeom prst="rect">
            <a:avLst/>
          </a:prstGeom>
          <a:noFill/>
        </p:spPr>
        <p:txBody>
          <a:bodyPr wrap="square" lIns="0" rIns="0" tIns="18288" bIns="18288" anchor="b"/>
          <a:lstStyle/>
          <a:p>
            <a:pPr algn="ctr"/>
            <a:r>
              <a:rPr sz="8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B1</a:t>
            </a:r>
          </a:p>
        </p:txBody>
      </p:sp>
      <p:sp>
        <p:nvSpPr>
          <p:cNvPr id="214" name="Rectangle 213"/>
          <p:cNvSpPr/>
          <p:nvPr/>
        </p:nvSpPr>
        <p:spPr>
          <a:xfrm>
            <a:off x="6400800" y="3959352"/>
            <a:ext cx="246888" cy="246888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Rectangle 214"/>
          <p:cNvSpPr/>
          <p:nvPr/>
        </p:nvSpPr>
        <p:spPr>
          <a:xfrm>
            <a:off x="6647688" y="3959352"/>
            <a:ext cx="246888" cy="246888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Rectangle 215"/>
          <p:cNvSpPr/>
          <p:nvPr/>
        </p:nvSpPr>
        <p:spPr>
          <a:xfrm>
            <a:off x="6894576" y="3959352"/>
            <a:ext cx="246888" cy="246888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Rectangle 216"/>
          <p:cNvSpPr/>
          <p:nvPr/>
        </p:nvSpPr>
        <p:spPr>
          <a:xfrm>
            <a:off x="7141464" y="3959352"/>
            <a:ext cx="246888" cy="246888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Rectangle 217"/>
          <p:cNvSpPr/>
          <p:nvPr/>
        </p:nvSpPr>
        <p:spPr>
          <a:xfrm>
            <a:off x="7388352" y="3959352"/>
            <a:ext cx="246888" cy="246888"/>
          </a:xfrm>
          <a:prstGeom prst="rect">
            <a:avLst/>
          </a:prstGeom>
          <a:solidFill>
            <a:srgbClr val="9C7412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Rectangle 218"/>
          <p:cNvSpPr/>
          <p:nvPr/>
        </p:nvSpPr>
        <p:spPr>
          <a:xfrm>
            <a:off x="7635240" y="3959352"/>
            <a:ext cx="246888" cy="246888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Rectangle 219"/>
          <p:cNvSpPr/>
          <p:nvPr/>
        </p:nvSpPr>
        <p:spPr>
          <a:xfrm>
            <a:off x="7882128" y="3959352"/>
            <a:ext cx="246888" cy="246888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Rectangle 220"/>
          <p:cNvSpPr/>
          <p:nvPr/>
        </p:nvSpPr>
        <p:spPr>
          <a:xfrm>
            <a:off x="8129016" y="3959352"/>
            <a:ext cx="246888" cy="246888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TextBox 221"/>
          <p:cNvSpPr txBox="1"/>
          <p:nvPr/>
        </p:nvSpPr>
        <p:spPr>
          <a:xfrm>
            <a:off x="6016752" y="4206240"/>
            <a:ext cx="365760" cy="246888"/>
          </a:xfrm>
          <a:prstGeom prst="rect">
            <a:avLst/>
          </a:prstGeom>
          <a:noFill/>
        </p:spPr>
        <p:txBody>
          <a:bodyPr wrap="square" lIns="0" rIns="0" tIns="18288" bIns="18288" anchor="ctr"/>
          <a:lstStyle/>
          <a:p>
            <a:pPr algn="r"/>
            <a:r>
              <a:rPr sz="8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B2</a:t>
            </a:r>
          </a:p>
        </p:txBody>
      </p:sp>
      <p:sp>
        <p:nvSpPr>
          <p:cNvPr id="223" name="TextBox 222"/>
          <p:cNvSpPr txBox="1"/>
          <p:nvPr/>
        </p:nvSpPr>
        <p:spPr>
          <a:xfrm>
            <a:off x="7635240" y="2734056"/>
            <a:ext cx="246888" cy="219456"/>
          </a:xfrm>
          <a:prstGeom prst="rect">
            <a:avLst/>
          </a:prstGeom>
          <a:noFill/>
        </p:spPr>
        <p:txBody>
          <a:bodyPr wrap="square" lIns="0" rIns="0" tIns="18288" bIns="18288" anchor="b"/>
          <a:lstStyle/>
          <a:p>
            <a:pPr algn="ctr"/>
            <a:r>
              <a:rPr sz="8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B2</a:t>
            </a:r>
          </a:p>
        </p:txBody>
      </p:sp>
      <p:sp>
        <p:nvSpPr>
          <p:cNvPr id="224" name="Rectangle 223"/>
          <p:cNvSpPr/>
          <p:nvPr/>
        </p:nvSpPr>
        <p:spPr>
          <a:xfrm>
            <a:off x="6400800" y="4206240"/>
            <a:ext cx="246888" cy="246888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Rectangle 224"/>
          <p:cNvSpPr/>
          <p:nvPr/>
        </p:nvSpPr>
        <p:spPr>
          <a:xfrm>
            <a:off x="6647688" y="4206240"/>
            <a:ext cx="246888" cy="246888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Rectangle 225"/>
          <p:cNvSpPr/>
          <p:nvPr/>
        </p:nvSpPr>
        <p:spPr>
          <a:xfrm>
            <a:off x="6894576" y="4206240"/>
            <a:ext cx="246888" cy="246888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Rectangle 226"/>
          <p:cNvSpPr/>
          <p:nvPr/>
        </p:nvSpPr>
        <p:spPr>
          <a:xfrm>
            <a:off x="7141464" y="4206240"/>
            <a:ext cx="246888" cy="246888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Rectangle 227"/>
          <p:cNvSpPr/>
          <p:nvPr/>
        </p:nvSpPr>
        <p:spPr>
          <a:xfrm>
            <a:off x="7388352" y="4206240"/>
            <a:ext cx="246888" cy="246888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Rectangle 228"/>
          <p:cNvSpPr/>
          <p:nvPr/>
        </p:nvSpPr>
        <p:spPr>
          <a:xfrm>
            <a:off x="7635240" y="4206240"/>
            <a:ext cx="246888" cy="246888"/>
          </a:xfrm>
          <a:prstGeom prst="rect">
            <a:avLst/>
          </a:prstGeom>
          <a:solidFill>
            <a:srgbClr val="9C7412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Rectangle 229"/>
          <p:cNvSpPr/>
          <p:nvPr/>
        </p:nvSpPr>
        <p:spPr>
          <a:xfrm>
            <a:off x="7882128" y="4206240"/>
            <a:ext cx="246888" cy="246888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Rectangle 230"/>
          <p:cNvSpPr/>
          <p:nvPr/>
        </p:nvSpPr>
        <p:spPr>
          <a:xfrm>
            <a:off x="8129016" y="4206240"/>
            <a:ext cx="246888" cy="246888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TextBox 231"/>
          <p:cNvSpPr txBox="1"/>
          <p:nvPr/>
        </p:nvSpPr>
        <p:spPr>
          <a:xfrm>
            <a:off x="6016752" y="4453128"/>
            <a:ext cx="365760" cy="246888"/>
          </a:xfrm>
          <a:prstGeom prst="rect">
            <a:avLst/>
          </a:prstGeom>
          <a:noFill/>
        </p:spPr>
        <p:txBody>
          <a:bodyPr wrap="square" lIns="0" rIns="0" tIns="18288" bIns="18288" anchor="ctr"/>
          <a:lstStyle/>
          <a:p>
            <a:pPr algn="r"/>
            <a:r>
              <a:rPr sz="8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B3</a:t>
            </a:r>
          </a:p>
        </p:txBody>
      </p:sp>
      <p:sp>
        <p:nvSpPr>
          <p:cNvPr id="233" name="TextBox 232"/>
          <p:cNvSpPr txBox="1"/>
          <p:nvPr/>
        </p:nvSpPr>
        <p:spPr>
          <a:xfrm>
            <a:off x="7882128" y="2734056"/>
            <a:ext cx="246888" cy="219456"/>
          </a:xfrm>
          <a:prstGeom prst="rect">
            <a:avLst/>
          </a:prstGeom>
          <a:noFill/>
        </p:spPr>
        <p:txBody>
          <a:bodyPr wrap="square" lIns="0" rIns="0" tIns="18288" bIns="18288" anchor="b"/>
          <a:lstStyle/>
          <a:p>
            <a:pPr algn="ctr"/>
            <a:r>
              <a:rPr sz="8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B3</a:t>
            </a:r>
          </a:p>
        </p:txBody>
      </p:sp>
      <p:sp>
        <p:nvSpPr>
          <p:cNvPr id="234" name="Rectangle 233"/>
          <p:cNvSpPr/>
          <p:nvPr/>
        </p:nvSpPr>
        <p:spPr>
          <a:xfrm>
            <a:off x="6400800" y="4453128"/>
            <a:ext cx="246888" cy="246888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Rectangle 234"/>
          <p:cNvSpPr/>
          <p:nvPr/>
        </p:nvSpPr>
        <p:spPr>
          <a:xfrm>
            <a:off x="6647688" y="4453128"/>
            <a:ext cx="246888" cy="246888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Rectangle 235"/>
          <p:cNvSpPr/>
          <p:nvPr/>
        </p:nvSpPr>
        <p:spPr>
          <a:xfrm>
            <a:off x="6894576" y="4453128"/>
            <a:ext cx="246888" cy="246888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Rectangle 236"/>
          <p:cNvSpPr/>
          <p:nvPr/>
        </p:nvSpPr>
        <p:spPr>
          <a:xfrm>
            <a:off x="7141464" y="4453128"/>
            <a:ext cx="246888" cy="246888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Rectangle 237"/>
          <p:cNvSpPr/>
          <p:nvPr/>
        </p:nvSpPr>
        <p:spPr>
          <a:xfrm>
            <a:off x="7388352" y="4453128"/>
            <a:ext cx="246888" cy="246888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Rectangle 238"/>
          <p:cNvSpPr/>
          <p:nvPr/>
        </p:nvSpPr>
        <p:spPr>
          <a:xfrm>
            <a:off x="7635240" y="4453128"/>
            <a:ext cx="246888" cy="246888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Rectangle 239"/>
          <p:cNvSpPr/>
          <p:nvPr/>
        </p:nvSpPr>
        <p:spPr>
          <a:xfrm>
            <a:off x="7882128" y="4453128"/>
            <a:ext cx="246888" cy="246888"/>
          </a:xfrm>
          <a:prstGeom prst="rect">
            <a:avLst/>
          </a:prstGeom>
          <a:solidFill>
            <a:srgbClr val="9C7412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Rectangle 240"/>
          <p:cNvSpPr/>
          <p:nvPr/>
        </p:nvSpPr>
        <p:spPr>
          <a:xfrm>
            <a:off x="8129016" y="4453128"/>
            <a:ext cx="246888" cy="246888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TextBox 241"/>
          <p:cNvSpPr txBox="1"/>
          <p:nvPr/>
        </p:nvSpPr>
        <p:spPr>
          <a:xfrm>
            <a:off x="6016752" y="4700016"/>
            <a:ext cx="365760" cy="246888"/>
          </a:xfrm>
          <a:prstGeom prst="rect">
            <a:avLst/>
          </a:prstGeom>
          <a:noFill/>
        </p:spPr>
        <p:txBody>
          <a:bodyPr wrap="square" lIns="0" rIns="0" tIns="18288" bIns="18288" anchor="ctr"/>
          <a:lstStyle/>
          <a:p>
            <a:pPr algn="r"/>
            <a:r>
              <a:rPr sz="8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B4</a:t>
            </a:r>
          </a:p>
        </p:txBody>
      </p:sp>
      <p:sp>
        <p:nvSpPr>
          <p:cNvPr id="243" name="TextBox 242"/>
          <p:cNvSpPr txBox="1"/>
          <p:nvPr/>
        </p:nvSpPr>
        <p:spPr>
          <a:xfrm>
            <a:off x="8129016" y="2734056"/>
            <a:ext cx="246888" cy="219456"/>
          </a:xfrm>
          <a:prstGeom prst="rect">
            <a:avLst/>
          </a:prstGeom>
          <a:noFill/>
        </p:spPr>
        <p:txBody>
          <a:bodyPr wrap="square" lIns="0" rIns="0" tIns="18288" bIns="18288" anchor="b"/>
          <a:lstStyle/>
          <a:p>
            <a:pPr algn="ctr"/>
            <a:r>
              <a:rPr sz="8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B4</a:t>
            </a:r>
          </a:p>
        </p:txBody>
      </p:sp>
      <p:sp>
        <p:nvSpPr>
          <p:cNvPr id="244" name="Rectangle 243"/>
          <p:cNvSpPr/>
          <p:nvPr/>
        </p:nvSpPr>
        <p:spPr>
          <a:xfrm>
            <a:off x="6400800" y="4700016"/>
            <a:ext cx="246888" cy="246888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Rectangle 244"/>
          <p:cNvSpPr/>
          <p:nvPr/>
        </p:nvSpPr>
        <p:spPr>
          <a:xfrm>
            <a:off x="6647688" y="4700016"/>
            <a:ext cx="246888" cy="246888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Rectangle 245"/>
          <p:cNvSpPr/>
          <p:nvPr/>
        </p:nvSpPr>
        <p:spPr>
          <a:xfrm>
            <a:off x="6894576" y="4700016"/>
            <a:ext cx="246888" cy="246888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Rectangle 246"/>
          <p:cNvSpPr/>
          <p:nvPr/>
        </p:nvSpPr>
        <p:spPr>
          <a:xfrm>
            <a:off x="7141464" y="4700016"/>
            <a:ext cx="246888" cy="246888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Rectangle 247"/>
          <p:cNvSpPr/>
          <p:nvPr/>
        </p:nvSpPr>
        <p:spPr>
          <a:xfrm>
            <a:off x="7388352" y="4700016"/>
            <a:ext cx="246888" cy="246888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Rectangle 248"/>
          <p:cNvSpPr/>
          <p:nvPr/>
        </p:nvSpPr>
        <p:spPr>
          <a:xfrm>
            <a:off x="7635240" y="4700016"/>
            <a:ext cx="246888" cy="246888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Rectangle 249"/>
          <p:cNvSpPr/>
          <p:nvPr/>
        </p:nvSpPr>
        <p:spPr>
          <a:xfrm>
            <a:off x="7882128" y="4700016"/>
            <a:ext cx="246888" cy="246888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Rectangle 250"/>
          <p:cNvSpPr/>
          <p:nvPr/>
        </p:nvSpPr>
        <p:spPr>
          <a:xfrm>
            <a:off x="8129016" y="4700016"/>
            <a:ext cx="246888" cy="246888"/>
          </a:xfrm>
          <a:prstGeom prst="rect">
            <a:avLst/>
          </a:prstGeom>
          <a:solidFill>
            <a:srgbClr val="9C7412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TextBox 251"/>
          <p:cNvSpPr txBox="1"/>
          <p:nvPr/>
        </p:nvSpPr>
        <p:spPr>
          <a:xfrm>
            <a:off x="5989320" y="5020056"/>
            <a:ext cx="2386584" cy="54864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ctr"/>
            <a:r>
              <a:rPr sz="1200" b="1">
                <a:solidFill>
                  <a:srgbClr val="9C7412"/>
                </a:solidFill>
                <a:latin typeface="Times New Roman"/>
                <a:ea typeface="Times New Roman"/>
                <a:cs typeface="Times New Roman"/>
              </a:rPr>
              <a:t>S⊙M</a:t>
            </a:r>
            <a:r>
              <a:rPr sz="1200" b="1">
                <a:solidFill>
                  <a:srgbClr val="9C7412"/>
                </a:solidFill>
                <a:latin typeface="BIZ UDGothic"/>
                <a:ea typeface="BIZ UDGothic"/>
                <a:cs typeface="BIZ UDGothic"/>
              </a:rPr>
              <a:t>：両方が同じ（要素ごとの積）</a:t>
            </a:r>
          </a:p>
        </p:txBody>
      </p:sp>
      <p:sp>
        <p:nvSpPr>
          <p:cNvPr id="253" name="Rounded Rectangle 252"/>
          <p:cNvSpPr/>
          <p:nvPr/>
        </p:nvSpPr>
        <p:spPr>
          <a:xfrm>
            <a:off x="8823960" y="2697480"/>
            <a:ext cx="2816352" cy="3291840"/>
          </a:xfrm>
          <a:prstGeom prst="roundRect">
            <a:avLst>
              <a:gd name="adj" fmla="val 2597"/>
            </a:avLst>
          </a:prstGeom>
          <a:solidFill>
            <a:srgbClr val="FBF1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4" name="TextBox 253"/>
          <p:cNvSpPr txBox="1"/>
          <p:nvPr/>
        </p:nvSpPr>
        <p:spPr>
          <a:xfrm>
            <a:off x="8961120" y="2788920"/>
            <a:ext cx="2560320" cy="36576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400" b="1">
                <a:solidFill>
                  <a:srgbClr val="9C7412"/>
                </a:solidFill>
                <a:latin typeface="BIZ UDGothic"/>
                <a:ea typeface="BIZ UDGothic"/>
                <a:cs typeface="BIZ UDGothic"/>
              </a:rPr>
              <a:t>変量効果で読むと</a:t>
            </a:r>
          </a:p>
        </p:txBody>
      </p:sp>
      <p:sp>
        <p:nvSpPr>
          <p:cNvPr id="255" name="TextBox 254"/>
          <p:cNvSpPr txBox="1"/>
          <p:nvPr/>
        </p:nvSpPr>
        <p:spPr>
          <a:xfrm>
            <a:off x="8961120" y="3200400"/>
            <a:ext cx="2560320" cy="27432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「同じ Scan で同じ Mark」の組ごとのずれ </a:t>
            </a:r>
            <a:r>
              <a:rPr sz="1200" b="0">
                <a:solidFill>
                  <a:srgbClr val="4A4E69"/>
                </a:solidFill>
                <a:latin typeface="Times New Roman"/>
                <a:ea typeface="Times New Roman"/>
                <a:cs typeface="Times New Roman"/>
              </a:rPr>
              <a:t>u</a:t>
            </a:r>
            <a:r>
              <a:rPr sz="1200" b="0" baseline="-40000">
                <a:solidFill>
                  <a:srgbClr val="4A4E69"/>
                </a:solidFill>
                <a:latin typeface="Times New Roman"/>
                <a:ea typeface="Times New Roman"/>
                <a:cs typeface="Times New Roman"/>
              </a:rPr>
              <a:t>sm</a:t>
            </a:r>
            <a:r>
              <a:rPr sz="1200" b="0">
                <a:solidFill>
                  <a:srgbClr val="4A4E69"/>
                </a:solidFill>
                <a:latin typeface="Times New Roman"/>
                <a:ea typeface="Times New Roman"/>
                <a:cs typeface="Times New Roman"/>
              </a:rPr>
              <a:t> ~ N(0, τ</a:t>
            </a:r>
            <a:r>
              <a:rPr sz="1200" b="0" baseline="-40000">
                <a:solidFill>
                  <a:srgbClr val="4A4E69"/>
                </a:solidFill>
                <a:latin typeface="Times New Roman"/>
                <a:ea typeface="Times New Roman"/>
                <a:cs typeface="Times New Roman"/>
              </a:rPr>
              <a:t>sm</a:t>
            </a:r>
            <a:r>
              <a:rPr sz="1200" b="0" baseline="30000">
                <a:solidFill>
                  <a:srgbClr val="4A4E69"/>
                </a:solidFill>
                <a:latin typeface="Times New Roman"/>
                <a:ea typeface="Times New Roman"/>
                <a:cs typeface="Times New Roman"/>
              </a:rPr>
              <a:t>2</a:t>
            </a:r>
            <a:r>
              <a:rPr sz="1200" b="0">
                <a:solidFill>
                  <a:srgbClr val="4A4E69"/>
                </a:solidFill>
                <a:latin typeface="Times New Roman"/>
                <a:ea typeface="Times New Roman"/>
                <a:cs typeface="Times New Roman"/>
              </a:rPr>
              <a:t>)</a:t>
            </a:r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 を足す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この8点では Shot A と B の Scan が違うので、両方が同じなのは自分だけ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実際の Wafer では、同じ Scan 方向の別の Shot の同じ Mark どうし（例：A1 と、2つ隣の Shot の Mark 1）がつながる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1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03　交互作用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1672" cy="6858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選んだ質的変数の全ペアを入れる（3つ以上の積は入れない）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36576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9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加法カーネルと交互作用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5912" y="6473952"/>
            <a:ext cx="9144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r"/>
            <a:r>
              <a:rPr sz="10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13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417320"/>
            <a:ext cx="11091672" cy="960120"/>
          </a:xfrm>
          <a:prstGeom prst="roundRect">
            <a:avLst>
              <a:gd name="adj" fmla="val 7619"/>
            </a:avLst>
          </a:prstGeom>
          <a:solidFill>
            <a:srgbClr val="222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48640" y="1417320"/>
            <a:ext cx="11091672" cy="96012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ctr"/>
            <a:r>
              <a:rPr sz="2600" b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k = σ</a:t>
            </a:r>
            <a:r>
              <a:rPr sz="2600" b="0" baseline="-4000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f</a:t>
            </a:r>
            <a:r>
              <a:rPr sz="2600" b="0" baseline="3000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2</a:t>
            </a:r>
            <a:r>
              <a:rPr sz="2600" b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ρ(r) + Σ</a:t>
            </a:r>
            <a:r>
              <a:rPr sz="2600" b="0" baseline="-4000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f</a:t>
            </a:r>
            <a:r>
              <a:rPr sz="2600" b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 τ</a:t>
            </a:r>
            <a:r>
              <a:rPr sz="2600" b="0" baseline="-4000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f</a:t>
            </a:r>
            <a:r>
              <a:rPr sz="2600" b="0" baseline="3000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2</a:t>
            </a:r>
            <a:r>
              <a:rPr sz="2600" b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δ</a:t>
            </a:r>
            <a:r>
              <a:rPr sz="2600" b="0" baseline="-4000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f</a:t>
            </a:r>
            <a:r>
              <a:rPr sz="2600" b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 + Σ</a:t>
            </a:r>
            <a:r>
              <a:rPr sz="2600" b="0" baseline="-4000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f&lt;g</a:t>
            </a:r>
            <a:r>
              <a:rPr sz="2600" b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 τ</a:t>
            </a:r>
            <a:r>
              <a:rPr sz="2600" b="0" baseline="-4000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fg</a:t>
            </a:r>
            <a:r>
              <a:rPr sz="2600" b="0" baseline="3000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2</a:t>
            </a:r>
            <a:r>
              <a:rPr sz="2600" b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δ</a:t>
            </a:r>
            <a:r>
              <a:rPr sz="2600" b="0" baseline="-4000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f</a:t>
            </a:r>
            <a:r>
              <a:rPr sz="2600" b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δ</a:t>
            </a:r>
            <a:r>
              <a:rPr sz="2600" b="0" baseline="-4000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g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697480"/>
          <a:ext cx="11091671" cy="2011680"/>
        </p:xfrm>
        <a:graphic>
          <a:graphicData uri="http://schemas.openxmlformats.org/drawingml/2006/table">
            <a:tbl>
              <a:tblPr firstRow="0" bandRow="0"/>
              <a:tblGrid>
                <a:gridCol w="3840480"/>
                <a:gridCol w="1737360"/>
                <a:gridCol w="3749039"/>
                <a:gridCol w="1764792"/>
              </a:tblGrid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選んだ質的変数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主効果の τ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交互作用の τ（ペア）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τ の合計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Scan 方向・Mark 番号（初期設定）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1（Scan×Mark）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3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＋ Shot 行の奇偶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3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3（Scan×Mark、Scan×行、Mark×行）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6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＋ その他の列（例：Chuck）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4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6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10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892040"/>
            <a:ext cx="3511296" cy="1234440"/>
          </a:xfrm>
          <a:prstGeom prst="roundRect">
            <a:avLst>
              <a:gd name="adj" fmla="val 5925"/>
            </a:avLst>
          </a:prstGeom>
          <a:solidFill>
            <a:srgbClr val="FFFFFF"/>
          </a:solidFill>
          <a:ln w="9525">
            <a:solidFill>
              <a:srgbClr val="DA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Oval 9"/>
          <p:cNvSpPr/>
          <p:nvPr/>
        </p:nvSpPr>
        <p:spPr>
          <a:xfrm>
            <a:off x="731520" y="5074920"/>
            <a:ext cx="457200" cy="457200"/>
          </a:xfrm>
          <a:prstGeom prst="ellipse">
            <a:avLst/>
          </a:prstGeom>
          <a:solidFill>
            <a:srgbClr val="9C74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25880" y="5029200"/>
            <a:ext cx="2651760" cy="36576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4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変数が p 個なら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25880" y="5394960"/>
            <a:ext cx="2651760" cy="7315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主効果 p 個 ＋ 交互作用 p(p−1)/2 個の τ を推定する。多いほど最適化に時間がかかる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38827" y="4892040"/>
            <a:ext cx="3511296" cy="1234440"/>
          </a:xfrm>
          <a:prstGeom prst="roundRect">
            <a:avLst>
              <a:gd name="adj" fmla="val 5925"/>
            </a:avLst>
          </a:prstGeom>
          <a:solidFill>
            <a:srgbClr val="FFFFFF"/>
          </a:solidFill>
          <a:ln w="9525">
            <a:solidFill>
              <a:srgbClr val="DA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Oval 13"/>
          <p:cNvSpPr/>
          <p:nvPr/>
        </p:nvSpPr>
        <p:spPr>
          <a:xfrm>
            <a:off x="4521707" y="5074920"/>
            <a:ext cx="457200" cy="457200"/>
          </a:xfrm>
          <a:prstGeom prst="ellipse">
            <a:avLst/>
          </a:prstGeom>
          <a:solidFill>
            <a:srgbClr val="9C74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16067" y="5029200"/>
            <a:ext cx="2651760" cy="36576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4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学習点で水準が1つの変数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16067" y="5394960"/>
            <a:ext cx="2651760" cy="7315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その変数と、その変数を含むペアは使わない（推定できないため）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29015" y="4892040"/>
            <a:ext cx="3511296" cy="1234440"/>
          </a:xfrm>
          <a:prstGeom prst="roundRect">
            <a:avLst>
              <a:gd name="adj" fmla="val 5925"/>
            </a:avLst>
          </a:prstGeom>
          <a:solidFill>
            <a:srgbClr val="FFFFFF"/>
          </a:solidFill>
          <a:ln w="9525">
            <a:solidFill>
              <a:srgbClr val="DA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Oval 17"/>
          <p:cNvSpPr/>
          <p:nvPr/>
        </p:nvSpPr>
        <p:spPr>
          <a:xfrm>
            <a:off x="8311895" y="5074920"/>
            <a:ext cx="457200" cy="457200"/>
          </a:xfrm>
          <a:prstGeom prst="ellipse">
            <a:avLst/>
          </a:prstGeom>
          <a:solidFill>
            <a:srgbClr val="9C74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06255" y="5029200"/>
            <a:ext cx="2651760" cy="36576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4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3つ以上の積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06255" y="5394960"/>
            <a:ext cx="2651760" cy="7315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Scan×Mark×行 のような3変数の組み合わせは入れない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1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03　交互作用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1672" cy="6858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ほかの「＋交互作用」との違い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36576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9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加法カーネルと交互作用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5912" y="6473952"/>
            <a:ext cx="9144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r"/>
            <a:r>
              <a:rPr sz="10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14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463040"/>
            <a:ext cx="3511296" cy="3657600"/>
          </a:xfrm>
          <a:prstGeom prst="roundRect">
            <a:avLst>
              <a:gd name="adj" fmla="val 2083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77240" y="1600200"/>
            <a:ext cx="3054096" cy="41148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800" b="1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同時推定＋交互作用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011680"/>
            <a:ext cx="3054096" cy="32004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300" b="0">
                <a:solidFill>
                  <a:srgbClr val="6C6F7F"/>
                </a:solidFill>
                <a:latin typeface="Times New Roman"/>
                <a:ea typeface="Times New Roman"/>
                <a:cs typeface="Times New Roman"/>
              </a:rPr>
              <a:t>basis_int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423160"/>
            <a:ext cx="3054096" cy="36576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4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平均に入れる（固定効果）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880360"/>
            <a:ext cx="3236976" cy="82296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600" b="0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h = [1, c</a:t>
            </a:r>
            <a:r>
              <a:rPr sz="1600" b="0" baseline="-40000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s</a:t>
            </a:r>
            <a:r>
              <a:rPr sz="1600" b="0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, c</a:t>
            </a:r>
            <a:r>
              <a:rPr sz="1600" b="0" baseline="-40000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m</a:t>
            </a:r>
            <a:r>
              <a:rPr sz="1600" b="0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, c</a:t>
            </a:r>
            <a:r>
              <a:rPr sz="1600" b="0" baseline="-40000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s</a:t>
            </a:r>
            <a:r>
              <a:rPr sz="1600" b="0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⊙c</a:t>
            </a:r>
            <a:r>
              <a:rPr sz="1600" b="0" baseline="-40000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m</a:t>
            </a:r>
            <a:r>
              <a:rPr sz="1600" b="0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]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749039"/>
            <a:ext cx="3054096" cy="128016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3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効果コードの列どうしの積を、平均の基底に加える。組み合わせごとの係数をそのまま推定する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38827" y="1463040"/>
            <a:ext cx="3511296" cy="3657600"/>
          </a:xfrm>
          <a:prstGeom prst="roundRect">
            <a:avLst>
              <a:gd name="adj" fmla="val 2083"/>
            </a:avLst>
          </a:prstGeom>
          <a:solidFill>
            <a:srgbClr val="D8F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4567427" y="1600200"/>
            <a:ext cx="3054096" cy="41148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800" b="1">
                <a:solidFill>
                  <a:srgbClr val="2A9D8F"/>
                </a:solidFill>
                <a:latin typeface="BIZ UDGothic"/>
                <a:ea typeface="BIZ UDGothic"/>
                <a:cs typeface="BIZ UDGothic"/>
              </a:rPr>
              <a:t>加法カーネル＋交互作用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67427" y="2011680"/>
            <a:ext cx="3054096" cy="32004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300" b="0">
                <a:solidFill>
                  <a:srgbClr val="6C6F7F"/>
                </a:solidFill>
                <a:latin typeface="Times New Roman"/>
                <a:ea typeface="Times New Roman"/>
                <a:cs typeface="Times New Roman"/>
              </a:rPr>
              <a:t>additive_int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67427" y="2423160"/>
            <a:ext cx="3054096" cy="36576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4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カーネルに入れる（変量効果）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75988" y="2880360"/>
            <a:ext cx="3236976" cy="82296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600" b="0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+ τ</a:t>
            </a:r>
            <a:r>
              <a:rPr sz="1600" b="0" baseline="-40000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sm</a:t>
            </a:r>
            <a:r>
              <a:rPr sz="1600" b="0" baseline="30000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2</a:t>
            </a:r>
            <a:r>
              <a:rPr sz="1600" b="0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δ(s,s′)δ(m,m′)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67427" y="3749039"/>
            <a:ext cx="3054096" cy="128016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3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主効果も交互作用もカーネルの項。平均は定数だけ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29015" y="1463040"/>
            <a:ext cx="3511296" cy="3657600"/>
          </a:xfrm>
          <a:prstGeom prst="roundRect">
            <a:avLst>
              <a:gd name="adj" fmla="val 2083"/>
            </a:avLst>
          </a:prstGeom>
          <a:solidFill>
            <a:srgbClr val="ECE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8357615" y="1600200"/>
            <a:ext cx="3054096" cy="41148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800" b="1">
                <a:solidFill>
                  <a:srgbClr val="8D6A9F"/>
                </a:solidFill>
                <a:latin typeface="BIZ UDGothic"/>
                <a:ea typeface="BIZ UDGothic"/>
                <a:cs typeface="BIZ UDGothic"/>
              </a:rPr>
              <a:t>混合＋交互作用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57615" y="2011680"/>
            <a:ext cx="3054096" cy="32004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300" b="0">
                <a:solidFill>
                  <a:srgbClr val="6C6F7F"/>
                </a:solidFill>
                <a:latin typeface="Times New Roman"/>
                <a:ea typeface="Times New Roman"/>
                <a:cs typeface="Times New Roman"/>
              </a:rPr>
              <a:t>mixed_int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57615" y="2423160"/>
            <a:ext cx="3054096" cy="36576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4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主効果は混合、交互作用はカーネル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66175" y="2880360"/>
            <a:ext cx="3236976" cy="82296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600" b="0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h = [1, c</a:t>
            </a:r>
            <a:r>
              <a:rPr sz="1600" b="0" baseline="-40000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s</a:t>
            </a:r>
            <a:r>
              <a:rPr sz="1600" b="0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]</a:t>
            </a:r>
            <a:r>
              <a:rPr sz="1600" b="0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 ,　</a:t>
            </a:r>
            <a:r>
              <a:rPr sz="1600" b="0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+ τ</a:t>
            </a:r>
            <a:r>
              <a:rPr sz="1600" b="0" baseline="-40000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m</a:t>
            </a:r>
            <a:r>
              <a:rPr sz="1600" b="0" baseline="30000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2</a:t>
            </a:r>
            <a:r>
              <a:rPr sz="1600" b="0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δ</a:t>
            </a:r>
            <a:r>
              <a:rPr sz="1600" b="0" baseline="-40000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m</a:t>
            </a:r>
            <a:r>
              <a:rPr sz="1600" b="0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 + τ</a:t>
            </a:r>
            <a:r>
              <a:rPr sz="1600" b="0" baseline="-40000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sm</a:t>
            </a:r>
            <a:r>
              <a:rPr sz="1600" b="0" baseline="30000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2</a:t>
            </a:r>
            <a:r>
              <a:rPr sz="1600" b="0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δ</a:t>
            </a:r>
            <a:r>
              <a:rPr sz="1600" b="0" baseline="-40000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s</a:t>
            </a:r>
            <a:r>
              <a:rPr sz="1600" b="0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δ</a:t>
            </a:r>
            <a:r>
              <a:rPr sz="1600" b="0" baseline="-40000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7615" y="3749039"/>
            <a:ext cx="3054096" cy="128016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3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Mark 以外の主効果は効果コード（固定）、Mark の主効果と全ペアの交互作用はカーネル（変量）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9525">
            <a:solidFill>
              <a:srgbClr val="DA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Oval 24"/>
          <p:cNvSpPr/>
          <p:nvPr/>
        </p:nvSpPr>
        <p:spPr>
          <a:xfrm>
            <a:off x="749808" y="5522976"/>
            <a:ext cx="521207" cy="521207"/>
          </a:xfrm>
          <a:prstGeom prst="ellipse">
            <a:avLst/>
          </a:prstGeom>
          <a:solidFill>
            <a:srgbClr val="9C74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63040" y="5349240"/>
            <a:ext cx="9994392" cy="86868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400" b="1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c</a:t>
            </a:r>
            <a:r>
              <a:rPr sz="1400" b="1" baseline="-40000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s</a:t>
            </a:r>
            <a:r>
              <a:rPr sz="14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・</a:t>
            </a:r>
            <a:r>
              <a:rPr sz="1400" b="1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c</a:t>
            </a:r>
            <a:r>
              <a:rPr sz="1400" b="1" baseline="-40000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m</a:t>
            </a:r>
            <a:r>
              <a:rPr sz="14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 は効果コード（和が 0 になる 0・±1 の列）、</a:t>
            </a:r>
            <a:r>
              <a:rPr sz="1400" b="1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⊙</a:t>
            </a:r>
            <a:r>
              <a:rPr sz="14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 は列どうしの要素ごとの積。交互作用は平均に入れると係数が増え、カーネルに入れると </a:t>
            </a:r>
            <a:r>
              <a:rPr sz="1400" b="1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τ</a:t>
            </a:r>
            <a:r>
              <a:rPr sz="14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 が1つ増える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1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04　計算例と使い方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1672" cy="6858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ハイパーパラメータの推定 ― τ も一緒に尤度で選ぶ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36576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9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加法カーネルと交互作用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5912" y="6473952"/>
            <a:ext cx="9144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r"/>
            <a:r>
              <a:rPr sz="10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15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417320"/>
            <a:ext cx="11091672" cy="960120"/>
          </a:xfrm>
          <a:prstGeom prst="roundRect">
            <a:avLst>
              <a:gd name="adj" fmla="val 7619"/>
            </a:avLst>
          </a:prstGeom>
          <a:solidFill>
            <a:srgbClr val="222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48640" y="1417320"/>
            <a:ext cx="11091672" cy="96012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ctr"/>
            <a:r>
              <a:rPr sz="2300" b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−log L(θ) = ½(y − Hβ̂)</a:t>
            </a:r>
            <a:r>
              <a:rPr sz="2300" b="0" baseline="3000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T</a:t>
            </a:r>
            <a:r>
              <a:rPr sz="2300" b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K</a:t>
            </a:r>
            <a:r>
              <a:rPr sz="2300" b="0" baseline="-4000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y</a:t>
            </a:r>
            <a:r>
              <a:rPr sz="2300" b="0" baseline="3000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−1</a:t>
            </a:r>
            <a:r>
              <a:rPr sz="2300" b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(y − Hβ̂) + ½ log|K</a:t>
            </a:r>
            <a:r>
              <a:rPr sz="2300" b="0" baseline="-4000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y</a:t>
            </a:r>
            <a:r>
              <a:rPr sz="2300" b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| + (n/2) log 2π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651760"/>
          <a:ext cx="8229600" cy="2377440"/>
        </p:xfrm>
        <a:graphic>
          <a:graphicData uri="http://schemas.openxmlformats.org/drawingml/2006/table">
            <a:tbl>
              <a:tblPr firstRow="0" bandRow="0"/>
              <a:tblGrid>
                <a:gridCol w="3017520"/>
                <a:gridCol w="2468880"/>
                <a:gridCol w="2743200"/>
              </a:tblGrid>
              <a:tr h="475488"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ハイパーパラメータ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初期値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探す範囲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長さスケール </a:t>
                      </a:r>
                      <a:r>
                        <a:rPr sz="1300" b="0">
                          <a:solidFill>
                            <a:srgbClr val="22223B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ℓ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説明変数の標準偏差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223B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  <a:r>
                        <a:rPr sz="1300" b="0" baseline="30000">
                          <a:solidFill>
                            <a:srgbClr val="22223B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−3</a:t>
                      </a:r>
                      <a:r>
                        <a:rPr sz="13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 〜 </a:t>
                      </a:r>
                      <a:r>
                        <a:rPr sz="1300" b="0">
                          <a:solidFill>
                            <a:srgbClr val="22223B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  <a:r>
                        <a:rPr sz="1300" b="0" baseline="30000">
                          <a:solidFill>
                            <a:srgbClr val="22223B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3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空間の大きさ </a:t>
                      </a:r>
                      <a:r>
                        <a:rPr sz="1300" b="0">
                          <a:solidFill>
                            <a:srgbClr val="22223B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σ</a:t>
                      </a:r>
                      <a:r>
                        <a:rPr sz="1300" b="0" baseline="-40000">
                          <a:solidFill>
                            <a:srgbClr val="22223B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f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223B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std(y)/√2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223B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  <a:r>
                        <a:rPr sz="1300" b="0" baseline="30000">
                          <a:solidFill>
                            <a:srgbClr val="22223B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−3</a:t>
                      </a:r>
                      <a:r>
                        <a:rPr sz="13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 〜 </a:t>
                      </a:r>
                      <a:r>
                        <a:rPr sz="1300" b="0">
                          <a:solidFill>
                            <a:srgbClr val="22223B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  <a:r>
                        <a:rPr sz="1300" b="0" baseline="30000">
                          <a:solidFill>
                            <a:srgbClr val="22223B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3</a:t>
                      </a:r>
                      <a:r>
                        <a:rPr sz="13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 × </a:t>
                      </a:r>
                      <a:r>
                        <a:rPr sz="1300" b="0">
                          <a:solidFill>
                            <a:srgbClr val="22223B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std(y)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質的変数の </a:t>
                      </a:r>
                      <a:r>
                        <a:rPr sz="1300" b="0">
                          <a:solidFill>
                            <a:srgbClr val="22223B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τ</a:t>
                      </a:r>
                      <a:r>
                        <a:rPr sz="13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（項ごと）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223B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0.2 × std(y)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223B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  <a:r>
                        <a:rPr sz="1300" b="0" baseline="30000">
                          <a:solidFill>
                            <a:srgbClr val="22223B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−4</a:t>
                      </a:r>
                      <a:r>
                        <a:rPr sz="13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 〜 </a:t>
                      </a:r>
                      <a:r>
                        <a:rPr sz="1300" b="0">
                          <a:solidFill>
                            <a:srgbClr val="22223B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  <a:r>
                        <a:rPr sz="13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 × </a:t>
                      </a:r>
                      <a:r>
                        <a:rPr sz="1300" b="0">
                          <a:solidFill>
                            <a:srgbClr val="22223B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std(y)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ノイズ </a:t>
                      </a:r>
                      <a:r>
                        <a:rPr sz="1300" b="0">
                          <a:solidFill>
                            <a:srgbClr val="22223B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σ</a:t>
                      </a:r>
                      <a:r>
                        <a:rPr sz="1300" b="0" baseline="-40000">
                          <a:solidFill>
                            <a:srgbClr val="22223B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n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223B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std(y)/√2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223B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  <a:r>
                        <a:rPr sz="1300" b="0" baseline="30000">
                          <a:solidFill>
                            <a:srgbClr val="22223B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−2</a:t>
                      </a:r>
                      <a:r>
                        <a:rPr sz="13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 〜 </a:t>
                      </a:r>
                      <a:r>
                        <a:rPr sz="1300" b="0">
                          <a:solidFill>
                            <a:srgbClr val="22223B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  <a:r>
                        <a:rPr sz="13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 × </a:t>
                      </a:r>
                      <a:r>
                        <a:rPr sz="1300" b="0">
                          <a:solidFill>
                            <a:srgbClr val="22223B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std(y)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9052560" y="2651760"/>
            <a:ext cx="2587752" cy="2377440"/>
          </a:xfrm>
          <a:prstGeom prst="roundRect">
            <a:avLst>
              <a:gd name="adj" fmla="val 3076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9189720" y="2743200"/>
            <a:ext cx="2377440" cy="32004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3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探し方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89720" y="3108960"/>
            <a:ext cx="2377440" cy="1874519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>
              <a:spcAft>
                <a:spcPts val="500"/>
              </a:spcAft>
            </a:pPr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対数の値 </a:t>
            </a:r>
            <a:r>
              <a:rPr sz="1200" b="0">
                <a:solidFill>
                  <a:srgbClr val="4A4E69"/>
                </a:solidFill>
                <a:latin typeface="Times New Roman"/>
                <a:ea typeface="Times New Roman"/>
                <a:cs typeface="Times New Roman"/>
              </a:rPr>
              <a:t>θ</a:t>
            </a:r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 = (log </a:t>
            </a:r>
            <a:r>
              <a:rPr sz="1200" b="0">
                <a:solidFill>
                  <a:srgbClr val="4A4E69"/>
                </a:solidFill>
                <a:latin typeface="Times New Roman"/>
                <a:ea typeface="Times New Roman"/>
                <a:cs typeface="Times New Roman"/>
              </a:rPr>
              <a:t>ℓ</a:t>
            </a:r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, log </a:t>
            </a:r>
            <a:r>
              <a:rPr sz="1200" b="0">
                <a:solidFill>
                  <a:srgbClr val="4A4E69"/>
                </a:solidFill>
                <a:latin typeface="Times New Roman"/>
                <a:ea typeface="Times New Roman"/>
                <a:cs typeface="Times New Roman"/>
              </a:rPr>
              <a:t>σ</a:t>
            </a:r>
            <a:r>
              <a:rPr sz="1200" b="0" baseline="-40000">
                <a:solidFill>
                  <a:srgbClr val="4A4E69"/>
                </a:solidFill>
                <a:latin typeface="Times New Roman"/>
                <a:ea typeface="Times New Roman"/>
                <a:cs typeface="Times New Roman"/>
              </a:rPr>
              <a:t>f</a:t>
            </a:r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, log </a:t>
            </a:r>
            <a:r>
              <a:rPr sz="1200" b="0">
                <a:solidFill>
                  <a:srgbClr val="4A4E69"/>
                </a:solidFill>
                <a:latin typeface="Times New Roman"/>
                <a:ea typeface="Times New Roman"/>
                <a:cs typeface="Times New Roman"/>
              </a:rPr>
              <a:t>τ</a:t>
            </a:r>
            <a:r>
              <a:rPr sz="1200" b="0" baseline="-40000">
                <a:solidFill>
                  <a:srgbClr val="4A4E69"/>
                </a:solidFill>
                <a:latin typeface="Times New Roman"/>
                <a:ea typeface="Times New Roman"/>
                <a:cs typeface="Times New Roman"/>
              </a:rPr>
              <a:t>1</a:t>
            </a:r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…, log </a:t>
            </a:r>
            <a:r>
              <a:rPr sz="1200" b="0">
                <a:solidFill>
                  <a:srgbClr val="4A4E69"/>
                </a:solidFill>
                <a:latin typeface="Times New Roman"/>
                <a:ea typeface="Times New Roman"/>
                <a:cs typeface="Times New Roman"/>
              </a:rPr>
              <a:t>σ</a:t>
            </a:r>
            <a:r>
              <a:rPr sz="1200" b="0" baseline="-40000">
                <a:solidFill>
                  <a:srgbClr val="4A4E69"/>
                </a:solidFill>
                <a:latin typeface="Times New Roman"/>
                <a:ea typeface="Times New Roman"/>
                <a:cs typeface="Times New Roman"/>
              </a:rPr>
              <a:t>n</a:t>
            </a:r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) を、上下限つきの L-BFGS で動かす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勾配：</a:t>
            </a:r>
            <a:r>
              <a:rPr sz="1200" b="0">
                <a:solidFill>
                  <a:srgbClr val="4A4E69"/>
                </a:solidFill>
                <a:latin typeface="Times New Roman"/>
                <a:ea typeface="Times New Roman"/>
                <a:cs typeface="Times New Roman"/>
              </a:rPr>
              <a:t>∂K/∂ log τ</a:t>
            </a:r>
            <a:r>
              <a:rPr sz="1200" b="0" baseline="-40000">
                <a:solidFill>
                  <a:srgbClr val="4A4E69"/>
                </a:solidFill>
                <a:latin typeface="Times New Roman"/>
                <a:ea typeface="Times New Roman"/>
                <a:cs typeface="Times New Roman"/>
              </a:rPr>
              <a:t>k</a:t>
            </a:r>
            <a:r>
              <a:rPr sz="1200" b="0">
                <a:solidFill>
                  <a:srgbClr val="4A4E69"/>
                </a:solidFill>
                <a:latin typeface="Times New Roman"/>
                <a:ea typeface="Times New Roman"/>
                <a:cs typeface="Times New Roman"/>
              </a:rPr>
              <a:t> = 2τ</a:t>
            </a:r>
            <a:r>
              <a:rPr sz="1200" b="0" baseline="-40000">
                <a:solidFill>
                  <a:srgbClr val="4A4E69"/>
                </a:solidFill>
                <a:latin typeface="Times New Roman"/>
                <a:ea typeface="Times New Roman"/>
                <a:cs typeface="Times New Roman"/>
              </a:rPr>
              <a:t>k</a:t>
            </a:r>
            <a:r>
              <a:rPr sz="1200" b="0" baseline="30000">
                <a:solidFill>
                  <a:srgbClr val="4A4E69"/>
                </a:solidFill>
                <a:latin typeface="Times New Roman"/>
                <a:ea typeface="Times New Roman"/>
                <a:cs typeface="Times New Roman"/>
              </a:rPr>
              <a:t>2</a:t>
            </a:r>
            <a:r>
              <a:rPr sz="1200" b="0">
                <a:solidFill>
                  <a:srgbClr val="4A4E69"/>
                </a:solidFill>
                <a:latin typeface="Times New Roman"/>
                <a:ea typeface="Times New Roman"/>
                <a:cs typeface="Times New Roman"/>
              </a:rPr>
              <a:t>D</a:t>
            </a:r>
            <a:r>
              <a:rPr sz="1200" b="0" baseline="-40000">
                <a:solidFill>
                  <a:srgbClr val="4A4E69"/>
                </a:solidFill>
                <a:latin typeface="Times New Roman"/>
                <a:ea typeface="Times New Roman"/>
                <a:cs typeface="Times New Roman"/>
              </a:rPr>
              <a:t>k</a:t>
            </a:r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（</a:t>
            </a:r>
            <a:r>
              <a:rPr sz="1200" b="0">
                <a:solidFill>
                  <a:srgbClr val="4A4E69"/>
                </a:solidFill>
                <a:latin typeface="Times New Roman"/>
                <a:ea typeface="Times New Roman"/>
                <a:cs typeface="Times New Roman"/>
              </a:rPr>
              <a:t>D</a:t>
            </a:r>
            <a:r>
              <a:rPr sz="1200" b="0" baseline="-40000">
                <a:solidFill>
                  <a:srgbClr val="4A4E69"/>
                </a:solidFill>
                <a:latin typeface="Times New Roman"/>
                <a:ea typeface="Times New Roman"/>
                <a:cs typeface="Times New Roman"/>
              </a:rPr>
              <a:t>k</a:t>
            </a:r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 は 0・1 の行列）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9525">
            <a:solidFill>
              <a:srgbClr val="DA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Oval 12"/>
          <p:cNvSpPr/>
          <p:nvPr/>
        </p:nvSpPr>
        <p:spPr>
          <a:xfrm>
            <a:off x="749808" y="5522976"/>
            <a:ext cx="521207" cy="521207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3040" y="5349240"/>
            <a:ext cx="9994392" cy="86868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4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β（平均）は一般化最小二乗で消去して、ハイパーパラメータだけを探す。</a:t>
            </a:r>
            <a:r>
              <a:rPr sz="1400" b="1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τ</a:t>
            </a:r>
            <a:r>
              <a:rPr sz="14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 が下限（</a:t>
            </a:r>
            <a:r>
              <a:rPr sz="1400" b="1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10</a:t>
            </a:r>
            <a:r>
              <a:rPr sz="1400" b="1" baseline="30000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−4</a:t>
            </a:r>
            <a:r>
              <a:rPr sz="14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 × </a:t>
            </a:r>
            <a:r>
              <a:rPr sz="1400" b="1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std(y)</a:t>
            </a:r>
            <a:r>
              <a:rPr sz="14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）に張り付いたら「その変数のずれは無い」と読める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1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04　計算例と使い方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1672" cy="6858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計算例 ① ― 模擬データで推定したハイパーパラメータ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36576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9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加法カーネルと交互作用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5912" y="6473952"/>
            <a:ext cx="9144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r"/>
            <a:r>
              <a:rPr sz="10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11091672" cy="41148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4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模擬データ（同梱の sample_alignment.csv）SIM01 (EXP01)・I最適 15 Shot（学習 60 点）・GPR matern52・説明変数 X,Y,半径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874519"/>
          <a:ext cx="11091672" cy="3145536"/>
        </p:xfrm>
        <a:graphic>
          <a:graphicData uri="http://schemas.openxmlformats.org/drawingml/2006/table">
            <a:tbl>
              <a:tblPr firstRow="0" bandRow="0"/>
              <a:tblGrid>
                <a:gridCol w="3959352"/>
                <a:gridCol w="1783080"/>
                <a:gridCol w="1783080"/>
                <a:gridCol w="1783080"/>
                <a:gridCol w="1783080"/>
              </a:tblGrid>
              <a:tr h="393192"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ハイパーパラメータ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X：加法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X：加法＋交互作用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Y：加法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Y：加法＋交互作用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長さスケール </a:t>
                      </a:r>
                      <a:r>
                        <a:rPr sz="1300" b="0">
                          <a:solidFill>
                            <a:srgbClr val="22223B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ℓ</a:t>
                      </a:r>
                      <a:r>
                        <a:rPr sz="13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（半径で割った単位）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0.124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0.124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0.464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0.481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空間の大きさ </a:t>
                      </a:r>
                      <a:r>
                        <a:rPr sz="1300" b="0">
                          <a:solidFill>
                            <a:srgbClr val="22223B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σ</a:t>
                      </a:r>
                      <a:r>
                        <a:rPr sz="1300" b="0" baseline="-40000">
                          <a:solidFill>
                            <a:srgbClr val="22223B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f</a:t>
                      </a:r>
                      <a:r>
                        <a:rPr sz="13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 [nm]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2.89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2.89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10.77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10.47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Scan 方向 </a:t>
                      </a:r>
                      <a:r>
                        <a:rPr sz="1300" b="0">
                          <a:solidFill>
                            <a:srgbClr val="22223B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τ</a:t>
                      </a:r>
                      <a:r>
                        <a:rPr sz="1300" b="0" baseline="-40000">
                          <a:solidFill>
                            <a:srgbClr val="22223B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s</a:t>
                      </a:r>
                      <a:r>
                        <a:rPr sz="13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 [nm]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0.62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0.62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≈0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≈0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Mark 番号 </a:t>
                      </a:r>
                      <a:r>
                        <a:rPr sz="1300" b="0">
                          <a:solidFill>
                            <a:srgbClr val="22223B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τ</a:t>
                      </a:r>
                      <a:r>
                        <a:rPr sz="1300" b="0" baseline="-40000">
                          <a:solidFill>
                            <a:srgbClr val="22223B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m</a:t>
                      </a:r>
                      <a:r>
                        <a:rPr sz="13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 [nm]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1.32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1.32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0.83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≈0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Scan×Mark </a:t>
                      </a:r>
                      <a:r>
                        <a:rPr sz="1300" b="0">
                          <a:solidFill>
                            <a:srgbClr val="22223B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τ</a:t>
                      </a:r>
                      <a:r>
                        <a:rPr sz="1300" b="0" baseline="-40000">
                          <a:solidFill>
                            <a:srgbClr val="22223B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sm</a:t>
                      </a:r>
                      <a:r>
                        <a:rPr sz="13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 [nm]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BF1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—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BF1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≈0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BF1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—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BF1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1.34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BF1D6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ノイズ </a:t>
                      </a:r>
                      <a:r>
                        <a:rPr sz="1300" b="0">
                          <a:solidFill>
                            <a:srgbClr val="22223B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σ</a:t>
                      </a:r>
                      <a:r>
                        <a:rPr sz="1300" b="0" baseline="-40000">
                          <a:solidFill>
                            <a:srgbClr val="22223B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n</a:t>
                      </a:r>
                      <a:r>
                        <a:rPr sz="13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 [nm]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0.03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0.03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1.02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1.05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評価点の RMSE [nm]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2.01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2.01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2.86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2.97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5074920"/>
            <a:ext cx="11091672" cy="2743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1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≈0：0.01 nm 未満（探す範囲の下限の近くまで小さくなった値）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5394960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Oval 9"/>
          <p:cNvSpPr/>
          <p:nvPr/>
        </p:nvSpPr>
        <p:spPr>
          <a:xfrm>
            <a:off x="749808" y="5568696"/>
            <a:ext cx="521207" cy="521207"/>
          </a:xfrm>
          <a:prstGeom prst="ellipse">
            <a:avLst/>
          </a:prstGeom>
          <a:solidFill>
            <a:srgbClr val="9C74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5394960"/>
            <a:ext cx="9994392" cy="86868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4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X：交互作用の無いデータなので </a:t>
            </a:r>
            <a:r>
              <a:rPr sz="1400" b="1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τ</a:t>
            </a:r>
            <a:r>
              <a:rPr sz="1400" b="1" baseline="-40000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sm</a:t>
            </a:r>
            <a:r>
              <a:rPr sz="14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 ≈ 0。Y（加法＋交互作用）：</a:t>
            </a:r>
            <a:r>
              <a:rPr sz="1400" b="1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τ</a:t>
            </a:r>
            <a:r>
              <a:rPr sz="1400" b="1" baseline="-40000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s</a:t>
            </a:r>
            <a:r>
              <a:rPr sz="14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・</a:t>
            </a:r>
            <a:r>
              <a:rPr sz="1400" b="1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τ</a:t>
            </a:r>
            <a:r>
              <a:rPr sz="1400" b="1" baseline="-40000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m</a:t>
            </a:r>
            <a:r>
              <a:rPr sz="14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 が ≈0 になり、代わりに </a:t>
            </a:r>
            <a:r>
              <a:rPr sz="1400" b="1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τ</a:t>
            </a:r>
            <a:r>
              <a:rPr sz="1400" b="1" baseline="-40000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sm</a:t>
            </a:r>
            <a:r>
              <a:rPr sz="14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 = 1.34 nm。組み合わせごとのずれ（8 通り）は主効果も表せるので、どちらに割り振るかは尤度しだい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1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04　計算例と使い方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1672" cy="6858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計算例 ② ― 2点の共分散は、どの項でつながるか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36576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9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加法カーネルと交互作用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5912" y="6473952"/>
            <a:ext cx="9144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r"/>
            <a:r>
              <a:rPr sz="10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11091672" cy="41148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4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基準の点：評価点の1つ（Scan 1・Mark 3、x = 10.0 mm, y = 142.0 mm）と、近くの4種類の点（加法カーネル＋交互作用、X 成分）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874519"/>
          <a:ext cx="11091672" cy="2743200"/>
        </p:xfrm>
        <a:graphic>
          <a:graphicData uri="http://schemas.openxmlformats.org/drawingml/2006/table">
            <a:tbl>
              <a:tblPr firstRow="0" bandRow="0"/>
              <a:tblGrid>
                <a:gridCol w="3566160"/>
                <a:gridCol w="1143000"/>
                <a:gridCol w="1325880"/>
                <a:gridCol w="1325880"/>
                <a:gridCol w="1325880"/>
                <a:gridCol w="1188720"/>
                <a:gridCol w="1216152"/>
              </a:tblGrid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相手の点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距離 [mm]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空間 </a:t>
                      </a:r>
                      <a:r>
                        <a:rPr sz="1300" b="1">
                          <a:solidFill>
                            <a:srgbClr val="FFFFFF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σ</a:t>
                      </a:r>
                      <a:r>
                        <a:rPr sz="1300" b="1" baseline="-40000">
                          <a:solidFill>
                            <a:srgbClr val="FFFFFF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f</a:t>
                      </a:r>
                      <a:r>
                        <a:rPr sz="1300" b="1" baseline="30000">
                          <a:solidFill>
                            <a:srgbClr val="FFFFFF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2</a:t>
                      </a:r>
                      <a:r>
                        <a:rPr sz="1300" b="1">
                          <a:solidFill>
                            <a:srgbClr val="FFFFFF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ρ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Scan </a:t>
                      </a:r>
                      <a:r>
                        <a:rPr sz="1300" b="1">
                          <a:solidFill>
                            <a:srgbClr val="FFFFFF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τ</a:t>
                      </a:r>
                      <a:r>
                        <a:rPr sz="1300" b="1" baseline="-40000">
                          <a:solidFill>
                            <a:srgbClr val="FFFFFF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s</a:t>
                      </a:r>
                      <a:r>
                        <a:rPr sz="1300" b="1" baseline="30000">
                          <a:solidFill>
                            <a:srgbClr val="FFFFFF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2</a:t>
                      </a:r>
                      <a:r>
                        <a:rPr sz="1300" b="1">
                          <a:solidFill>
                            <a:srgbClr val="FFFFFF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δ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Mark </a:t>
                      </a:r>
                      <a:r>
                        <a:rPr sz="1300" b="1">
                          <a:solidFill>
                            <a:srgbClr val="FFFFFF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τ</a:t>
                      </a:r>
                      <a:r>
                        <a:rPr sz="1300" b="1" baseline="-40000">
                          <a:solidFill>
                            <a:srgbClr val="FFFFFF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m</a:t>
                      </a:r>
                      <a:r>
                        <a:rPr sz="1300" b="1" baseline="30000">
                          <a:solidFill>
                            <a:srgbClr val="FFFFFF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2</a:t>
                      </a:r>
                      <a:r>
                        <a:rPr sz="1300" b="1">
                          <a:solidFill>
                            <a:srgbClr val="FFFFFF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δ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Scan×Mark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合計 [nm²]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同じ Shot・別の Mark（Scan 同じ）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20.0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4.03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0.39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0.00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0.00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4.42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別の Shot・同じ Mark・Scan 違う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22.0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3.56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0.00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1.75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0.00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5.30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別の Shot・同じ Mark・Scan 同じ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26.0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1.21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0.39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1.75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0.00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3.35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別の Shot・別の Mark・Scan 違う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2.0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8.28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0.00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0.00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0.00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8.28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（自分自身）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0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8.36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0.39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1.75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0.00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10.49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48640" y="5257800"/>
            <a:ext cx="11091672" cy="914400"/>
          </a:xfrm>
          <a:prstGeom prst="roundRect">
            <a:avLst>
              <a:gd name="adj" fmla="val 8000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Oval 8"/>
          <p:cNvSpPr/>
          <p:nvPr/>
        </p:nvSpPr>
        <p:spPr>
          <a:xfrm>
            <a:off x="749808" y="5454396"/>
            <a:ext cx="521207" cy="521207"/>
          </a:xfrm>
          <a:prstGeom prst="ellipse">
            <a:avLst/>
          </a:prstGeom>
          <a:solidFill>
            <a:srgbClr val="9C74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3040" y="5257800"/>
            <a:ext cx="9994392" cy="9144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5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同じ Mark 番号の点は、離れていても </a:t>
            </a:r>
            <a:r>
              <a:rPr sz="1500" b="1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τ</a:t>
            </a:r>
            <a:r>
              <a:rPr sz="1500" b="1" baseline="-40000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m</a:t>
            </a:r>
            <a:r>
              <a:rPr sz="1500" b="1" baseline="30000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2</a:t>
            </a:r>
            <a:r>
              <a:rPr sz="15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 でつながる。Scan 方向が同じなら さらに </a:t>
            </a:r>
            <a:r>
              <a:rPr sz="1500" b="1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τ</a:t>
            </a:r>
            <a:r>
              <a:rPr sz="1500" b="1" baseline="-40000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s</a:t>
            </a:r>
            <a:r>
              <a:rPr sz="1500" b="1" baseline="30000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2</a:t>
            </a:r>
            <a:r>
              <a:rPr sz="15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。空間の項だけでは、離れた点どうしは ほぼ つながらない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1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04　計算例と使い方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1672" cy="6858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計算例 ③ ― 1点の推定値の内訳と、推定した水準のずれ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36576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9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加法カーネルと交互作用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5912" y="6473952"/>
            <a:ext cx="9144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r"/>
            <a:r>
              <a:rPr sz="10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18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08760"/>
            <a:ext cx="1417320" cy="1234440"/>
          </a:xfrm>
          <a:prstGeom prst="roundRect">
            <a:avLst>
              <a:gd name="adj" fmla="val 5925"/>
            </a:avLst>
          </a:prstGeom>
          <a:solidFill>
            <a:srgbClr val="FFFFFF"/>
          </a:solidFill>
          <a:ln w="9525">
            <a:solidFill>
              <a:srgbClr val="DA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48640" y="1572768"/>
            <a:ext cx="1417320" cy="41148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ctr"/>
            <a:r>
              <a:rPr sz="1200" b="1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β̂₀（平均）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965960"/>
            <a:ext cx="1417320" cy="64008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ctr"/>
            <a:r>
              <a:rPr sz="26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+0.35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65960" y="1508760"/>
            <a:ext cx="320040" cy="123444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ctr"/>
            <a:r>
              <a:rPr sz="2200" b="1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+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286000" y="1508760"/>
            <a:ext cx="1417320" cy="1234440"/>
          </a:xfrm>
          <a:prstGeom prst="roundRect">
            <a:avLst>
              <a:gd name="adj" fmla="val 5925"/>
            </a:avLst>
          </a:prstGeom>
          <a:solidFill>
            <a:srgbClr val="FFFFFF"/>
          </a:solidFill>
          <a:ln w="9525">
            <a:solidFill>
              <a:srgbClr val="DA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2286000" y="1572768"/>
            <a:ext cx="1417320" cy="41148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ctr"/>
            <a:r>
              <a:rPr sz="1200" b="1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空間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86000" y="1965960"/>
            <a:ext cx="1417320" cy="64008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ctr"/>
            <a:r>
              <a:rPr sz="2600" b="1">
                <a:solidFill>
                  <a:srgbClr val="2A9D8F"/>
                </a:solidFill>
                <a:latin typeface="BIZ UDGothic"/>
                <a:ea typeface="BIZ UDGothic"/>
                <a:cs typeface="BIZ UDGothic"/>
              </a:rPr>
              <a:t>+4.55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03320" y="1508760"/>
            <a:ext cx="320040" cy="123444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ctr"/>
            <a:r>
              <a:rPr sz="2200" b="1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+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023359" y="1508760"/>
            <a:ext cx="1417320" cy="1234440"/>
          </a:xfrm>
          <a:prstGeom prst="roundRect">
            <a:avLst>
              <a:gd name="adj" fmla="val 5925"/>
            </a:avLst>
          </a:prstGeom>
          <a:solidFill>
            <a:srgbClr val="FFFFFF"/>
          </a:solidFill>
          <a:ln w="9525">
            <a:solidFill>
              <a:srgbClr val="DA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4023359" y="1572768"/>
            <a:ext cx="1417320" cy="41148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ctr"/>
            <a:r>
              <a:rPr sz="1200" b="1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Scan のずれ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23359" y="1965960"/>
            <a:ext cx="1417320" cy="64008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ctr"/>
            <a:r>
              <a:rPr sz="2600" b="1">
                <a:solidFill>
                  <a:srgbClr val="E76F51"/>
                </a:solidFill>
                <a:latin typeface="BIZ UDGothic"/>
                <a:ea typeface="BIZ UDGothic"/>
                <a:cs typeface="BIZ UDGothic"/>
              </a:rPr>
              <a:t>+0.35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40679" y="1508760"/>
            <a:ext cx="320040" cy="123444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ctr"/>
            <a:r>
              <a:rPr sz="2200" b="1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+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760719" y="1508760"/>
            <a:ext cx="1417320" cy="1234440"/>
          </a:xfrm>
          <a:prstGeom prst="roundRect">
            <a:avLst>
              <a:gd name="adj" fmla="val 5925"/>
            </a:avLst>
          </a:prstGeom>
          <a:solidFill>
            <a:srgbClr val="FFFFFF"/>
          </a:solidFill>
          <a:ln w="9525">
            <a:solidFill>
              <a:srgbClr val="DA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760719" y="1572768"/>
            <a:ext cx="1417320" cy="41148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ctr"/>
            <a:r>
              <a:rPr sz="1200" b="1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Mark のずれ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760719" y="1965960"/>
            <a:ext cx="1417320" cy="64008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ctr"/>
            <a:r>
              <a:rPr sz="2600" b="1">
                <a:solidFill>
                  <a:srgbClr val="8D6A9F"/>
                </a:solidFill>
                <a:latin typeface="BIZ UDGothic"/>
                <a:ea typeface="BIZ UDGothic"/>
                <a:cs typeface="BIZ UDGothic"/>
              </a:rPr>
              <a:t>-0.51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78039" y="1508760"/>
            <a:ext cx="320040" cy="123444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ctr"/>
            <a:r>
              <a:rPr sz="2200" b="1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+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498079" y="1508760"/>
            <a:ext cx="1417320" cy="1234440"/>
          </a:xfrm>
          <a:prstGeom prst="roundRect">
            <a:avLst>
              <a:gd name="adj" fmla="val 5925"/>
            </a:avLst>
          </a:prstGeom>
          <a:solidFill>
            <a:srgbClr val="FFFFFF"/>
          </a:solidFill>
          <a:ln w="9525">
            <a:solidFill>
              <a:srgbClr val="DA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7498079" y="1572768"/>
            <a:ext cx="1417320" cy="41148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ctr"/>
            <a:r>
              <a:rPr sz="1200" b="1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Scan×Mark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98079" y="1965960"/>
            <a:ext cx="1417320" cy="64008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ctr"/>
            <a:r>
              <a:rPr sz="2600" b="1">
                <a:solidFill>
                  <a:srgbClr val="9C7412"/>
                </a:solidFill>
                <a:latin typeface="BIZ UDGothic"/>
                <a:ea typeface="BIZ UDGothic"/>
                <a:cs typeface="BIZ UDGothic"/>
              </a:rPr>
              <a:t>0.00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15400" y="1508760"/>
            <a:ext cx="320040" cy="123444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ctr"/>
            <a:r>
              <a:rPr sz="2200" b="1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=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235440" y="1508760"/>
            <a:ext cx="1783080" cy="1234440"/>
          </a:xfrm>
          <a:prstGeom prst="roundRect">
            <a:avLst>
              <a:gd name="adj" fmla="val 5925"/>
            </a:avLst>
          </a:prstGeom>
          <a:solidFill>
            <a:srgbClr val="222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9235440" y="1572768"/>
            <a:ext cx="1783080" cy="41148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ctr"/>
            <a:r>
              <a:rPr sz="1200" b="1">
                <a:solidFill>
                  <a:srgbClr val="A9ACC6"/>
                </a:solidFill>
                <a:latin typeface="BIZ UDGothic"/>
                <a:ea typeface="BIZ UDGothic"/>
                <a:cs typeface="BIZ UDGothic"/>
              </a:rPr>
              <a:t>推定値 [nm]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35440" y="1965960"/>
            <a:ext cx="1783080" cy="64008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ctr"/>
            <a:r>
              <a:rPr sz="26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+4.74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2834640"/>
            <a:ext cx="11091672" cy="36576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3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（この点の実測値は +5.63 nm。単位 nm、X 成分）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548640" y="3337560"/>
          <a:ext cx="7342632" cy="1371600"/>
        </p:xfrm>
        <a:graphic>
          <a:graphicData uri="http://schemas.openxmlformats.org/drawingml/2006/table">
            <a:tbl>
              <a:tblPr firstRow="0" bandRow="0"/>
              <a:tblGrid>
                <a:gridCol w="3429000"/>
                <a:gridCol w="978408"/>
                <a:gridCol w="978408"/>
                <a:gridCol w="978408"/>
                <a:gridCol w="978408"/>
              </a:tblGrid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Mark 番号のずれ [nm]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M1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M2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M3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M4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加法カーネル（変量効果の予測 </a:t>
                      </a:r>
                      <a:r>
                        <a:rPr sz="1300" b="0">
                          <a:solidFill>
                            <a:srgbClr val="22223B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û</a:t>
                      </a:r>
                      <a:r>
                        <a:rPr sz="1300" b="0" baseline="-40000">
                          <a:solidFill>
                            <a:srgbClr val="22223B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m</a:t>
                      </a:r>
                      <a:r>
                        <a:rPr sz="13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0.00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-1.29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-0.51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+1.80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同時推定（固定効果の係数）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+0.01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-1.63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-0.60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+2.22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8366760" y="3337560"/>
          <a:ext cx="3273552" cy="1371600"/>
        </p:xfrm>
        <a:graphic>
          <a:graphicData uri="http://schemas.openxmlformats.org/drawingml/2006/table">
            <a:tbl>
              <a:tblPr firstRow="0" bandRow="0"/>
              <a:tblGrid>
                <a:gridCol w="1645920"/>
                <a:gridCol w="813816"/>
                <a:gridCol w="813816"/>
              </a:tblGrid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Scan 方向のずれ [nm]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Scan 1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Scan 2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加法カーネル </a:t>
                      </a:r>
                      <a:r>
                        <a:rPr sz="1200" b="0">
                          <a:solidFill>
                            <a:srgbClr val="22223B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û</a:t>
                      </a:r>
                      <a:r>
                        <a:rPr sz="1200" b="0" baseline="-40000">
                          <a:solidFill>
                            <a:srgbClr val="22223B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s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+0.35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-0.35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同時推定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+0.83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-0.83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ounded Rectangle 31"/>
          <p:cNvSpPr/>
          <p:nvPr/>
        </p:nvSpPr>
        <p:spPr>
          <a:xfrm>
            <a:off x="548640" y="5074920"/>
            <a:ext cx="11091672" cy="1051560"/>
          </a:xfrm>
          <a:prstGeom prst="roundRect">
            <a:avLst>
              <a:gd name="adj" fmla="val 6956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Oval 32"/>
          <p:cNvSpPr/>
          <p:nvPr/>
        </p:nvSpPr>
        <p:spPr>
          <a:xfrm>
            <a:off x="749808" y="5340096"/>
            <a:ext cx="521207" cy="521207"/>
          </a:xfrm>
          <a:prstGeom prst="ellipse">
            <a:avLst/>
          </a:prstGeom>
          <a:solidFill>
            <a:srgbClr val="9C74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463040" y="5074920"/>
            <a:ext cx="9994392" cy="105156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4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変量効果の予測は、固定効果の係数より 0 に近い（この例で Mark は約 8 割、Scan は約 4 割の大きさ）。符号と並びは同じ。</a:t>
            </a:r>
            <a:r>
              <a:rPr sz="1400" b="1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τ</a:t>
            </a:r>
            <a:r>
              <a:rPr sz="14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 が小さい変数ほど強く縮むのが目安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1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04　計算例と使い方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1672" cy="6858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計算例 ④ ― 質的変数の扱い方で、推定誤差はどう変わるか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36576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9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加法カーネルと交互作用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5912" y="6473952"/>
            <a:ext cx="9144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r"/>
            <a:r>
              <a:rPr sz="10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19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48640" y="1371600"/>
          <a:ext cx="7680960" cy="4754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8503920" y="1463040"/>
            <a:ext cx="3136392" cy="4572000"/>
          </a:xfrm>
          <a:prstGeom prst="roundRect">
            <a:avLst>
              <a:gd name="adj" fmla="val 2332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641080" y="1554480"/>
            <a:ext cx="2880360" cy="32004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3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読み方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41080" y="1920240"/>
            <a:ext cx="2880360" cy="402336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質的変数を使わないと、Scan・Mark のずれが残り、誤差が大きい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固定効果（同時推定）と変量効果（加法カーネル）は、どちらもずれを取り込める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交互作用の無いデータなので、＋交互作用では良くならない（推定する </a:t>
            </a:r>
            <a:r>
              <a:rPr sz="1200" b="0">
                <a:solidFill>
                  <a:srgbClr val="4A4E69"/>
                </a:solidFill>
                <a:latin typeface="Times New Roman"/>
                <a:ea typeface="Times New Roman"/>
                <a:cs typeface="Times New Roman"/>
              </a:rPr>
              <a:t>τ</a:t>
            </a:r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 が増える分、少し悪くなることもある）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この例で 15 Shot の最小は「加法カーネル」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1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04　計算例と使い方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1672" cy="6858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アプリでの場所 ― どの関数が、どの項を作るか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36576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9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加法カーネルと交互作用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5912" y="6473952"/>
            <a:ext cx="9144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r"/>
            <a:r>
              <a:rPr sz="10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20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417320"/>
          <a:ext cx="11091672" cy="3200400"/>
        </p:xfrm>
        <a:graphic>
          <a:graphicData uri="http://schemas.openxmlformats.org/drawingml/2006/table">
            <a:tbl>
              <a:tblPr firstRow="0" bandRow="0"/>
              <a:tblGrid>
                <a:gridCol w="2468880"/>
                <a:gridCol w="3794760"/>
                <a:gridCol w="4828032"/>
              </a:tblGrid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役割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関数（+alignest/+models）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中身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扱い方の一覧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gprFactorModes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8通りの名前と画面の表示名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項（0・1 の行列）を作る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gprModeSetup（factorDesigns・component）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主効果は [水準が同じ]、交互作用は2つの行列の要素ごとの積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カーネルを計算する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gprKernel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空間のカーネル ＋ Σ </a:t>
                      </a:r>
                      <a:r>
                        <a:rPr sz="1200" b="0">
                          <a:solidFill>
                            <a:srgbClr val="22223B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τ</a:t>
                      </a:r>
                      <a:r>
                        <a:rPr sz="1200" b="0" baseline="30000">
                          <a:solidFill>
                            <a:srgbClr val="22223B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2</a:t>
                      </a:r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 × [同じ水準] の行列。勾配も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初期値・範囲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gprInitialParams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τ</a:t>
                      </a:r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 は 0.2 × std(y) から、</a:t>
                      </a:r>
                      <a:r>
                        <a:rPr sz="1200" b="0">
                          <a:solidFill>
                            <a:srgbClr val="22223B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  <a:r>
                        <a:rPr sz="1200" b="0" baseline="30000">
                          <a:solidFill>
                            <a:srgbClr val="22223B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−4</a:t>
                      </a:r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〜</a:t>
                      </a:r>
                      <a:r>
                        <a:rPr sz="1200" b="0">
                          <a:solidFill>
                            <a:srgbClr val="22223B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 × std(y) の範囲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尤度と勾配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gprObjective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β を消去した負の対数周辺尤度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予測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gprPredict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Hβ̂ + K</a:t>
                      </a:r>
                      <a:r>
                        <a:rPr sz="1200" b="0" baseline="-40000">
                          <a:solidFill>
                            <a:srgbClr val="22223B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*</a:t>
                      </a:r>
                      <a:r>
                        <a:rPr sz="1200" b="0">
                          <a:solidFill>
                            <a:srgbClr val="22223B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α</a:t>
                      </a:r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（</a:t>
                      </a:r>
                      <a:r>
                        <a:rPr sz="1200" b="0">
                          <a:solidFill>
                            <a:srgbClr val="22223B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K</a:t>
                      </a:r>
                      <a:r>
                        <a:rPr sz="1200" b="0" baseline="-40000">
                          <a:solidFill>
                            <a:srgbClr val="22223B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*</a:t>
                      </a:r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 に質的変数の項も入る）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48640" y="4846320"/>
            <a:ext cx="3511296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A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31520" y="4919472"/>
            <a:ext cx="3145536" cy="32004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4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画面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257800"/>
            <a:ext cx="3145536" cy="82296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15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「2. 評価の設定」の GPR の「質的変数の扱い」で、加法カーネル・加法カーネル＋交互作用を選ぶ（複数選ぶと比べる）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38827" y="4846320"/>
            <a:ext cx="3511296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A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4521707" y="4919472"/>
            <a:ext cx="3145536" cy="32004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4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質的変数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21707" y="5257800"/>
            <a:ext cx="3145536" cy="82296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15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使う変数は「質的変数」で選ぶ（X 成分・Y 成分で別にもできる）。Shot 行の奇偶・その他の列も同じ形の項になる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29015" y="4846320"/>
            <a:ext cx="3511296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A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311895" y="4919472"/>
            <a:ext cx="3145536" cy="32004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4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Excel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11895" y="5257800"/>
            <a:ext cx="3145536" cy="82296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15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「Waferごと」の「ハイパーパラメータ」に tau_scan_X・tau_mark_X・tau_scan_mark_X（Y も）として出る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1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04　計算例と使い方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1672" cy="6858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使い分けと注意点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36576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9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加法カーネルと交互作用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5912" y="6473952"/>
            <a:ext cx="9144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r"/>
            <a:r>
              <a:rPr sz="10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21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463040"/>
            <a:ext cx="3511296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9525">
            <a:solidFill>
              <a:srgbClr val="DA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777240" y="1691640"/>
            <a:ext cx="548640" cy="54864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1691640"/>
            <a:ext cx="2468880" cy="54864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6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効かない変数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77440"/>
            <a:ext cx="3054096" cy="11430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300" b="0">
                <a:solidFill>
                  <a:srgbClr val="4A4E69"/>
                </a:solidFill>
                <a:latin typeface="Times New Roman"/>
                <a:ea typeface="Times New Roman"/>
                <a:cs typeface="Times New Roman"/>
              </a:rPr>
              <a:t>τ</a:t>
            </a:r>
            <a:r>
              <a:rPr sz="13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 が下限へ小さくなり、自動で弱まる。ただし </a:t>
            </a:r>
            <a:r>
              <a:rPr sz="1300" b="0">
                <a:solidFill>
                  <a:srgbClr val="4A4E69"/>
                </a:solidFill>
                <a:latin typeface="Times New Roman"/>
                <a:ea typeface="Times New Roman"/>
                <a:cs typeface="Times New Roman"/>
              </a:rPr>
              <a:t>τ</a:t>
            </a:r>
            <a:r>
              <a:rPr sz="13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 の数だけ計算が増える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38827" y="1463040"/>
            <a:ext cx="3511296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9525">
            <a:solidFill>
              <a:srgbClr val="DA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4567427" y="1691640"/>
            <a:ext cx="548640" cy="548640"/>
          </a:xfrm>
          <a:prstGeom prst="ellipse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53227" y="1691640"/>
            <a:ext cx="2468880" cy="54864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6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水準が1つ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67427" y="2377440"/>
            <a:ext cx="3054096" cy="11430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3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学習点で水準が1つしかない変数（Scan 方向が1種類など）は使わない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29015" y="1463040"/>
            <a:ext cx="3511296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9525">
            <a:solidFill>
              <a:srgbClr val="DA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8357615" y="1691640"/>
            <a:ext cx="548640" cy="548640"/>
          </a:xfrm>
          <a:prstGeom prst="ellipse">
            <a:avLst/>
          </a:prstGeom>
          <a:solidFill>
            <a:srgbClr val="8D6A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=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43415" y="1691640"/>
            <a:ext cx="2468880" cy="54864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6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同じ分け方の変数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57615" y="2377440"/>
            <a:ext cx="3054096" cy="11430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3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Scan 方向と Shot 行の奇偶が同じ分け方だと、同じ行列が2つ。どちらに割り振るか決まらない（予測は同じ）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840480"/>
            <a:ext cx="3511296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9525">
            <a:solidFill>
              <a:srgbClr val="DA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Oval 18"/>
          <p:cNvSpPr/>
          <p:nvPr/>
        </p:nvSpPr>
        <p:spPr>
          <a:xfrm>
            <a:off x="777240" y="4069080"/>
            <a:ext cx="548640" cy="548640"/>
          </a:xfrm>
          <a:prstGeom prst="ellipse">
            <a:avLst/>
          </a:prstGeom>
          <a:solidFill>
            <a:srgbClr val="9C74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×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63040" y="4069080"/>
            <a:ext cx="2468880" cy="54864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6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主効果と交互作用の重なり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4754880"/>
            <a:ext cx="3054096" cy="11430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3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組み合わせごとのずれは主効果も表せる。</a:t>
            </a:r>
            <a:r>
              <a:rPr sz="1300" b="0">
                <a:solidFill>
                  <a:srgbClr val="4A4E69"/>
                </a:solidFill>
                <a:latin typeface="Times New Roman"/>
                <a:ea typeface="Times New Roman"/>
                <a:cs typeface="Times New Roman"/>
              </a:rPr>
              <a:t>τ</a:t>
            </a:r>
            <a:r>
              <a:rPr sz="13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 の割り振りが変わっても、予測は近い（計算例①の Y）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38827" y="3840480"/>
            <a:ext cx="3511296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9525">
            <a:solidFill>
              <a:srgbClr val="DA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Oval 22"/>
          <p:cNvSpPr/>
          <p:nvPr/>
        </p:nvSpPr>
        <p:spPr>
          <a:xfrm>
            <a:off x="4567427" y="4069080"/>
            <a:ext cx="548640" cy="548640"/>
          </a:xfrm>
          <a:prstGeom prst="ellipse">
            <a:avLst/>
          </a:prstGeom>
          <a:solidFill>
            <a:srgbClr val="222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∅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53227" y="4069080"/>
            <a:ext cx="2468880" cy="54864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6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学習に無い水準・組み合わせ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67427" y="4754880"/>
            <a:ext cx="3054096" cy="11430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3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その項は効かず、平均に戻る。交互作用は、組み合わせが学習 Shot にそろっていると効く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29015" y="3840480"/>
            <a:ext cx="3511296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9525">
            <a:solidFill>
              <a:srgbClr val="DA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Oval 26"/>
          <p:cNvSpPr/>
          <p:nvPr/>
        </p:nvSpPr>
        <p:spPr>
          <a:xfrm>
            <a:off x="8357615" y="4069080"/>
            <a:ext cx="548640" cy="54864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43415" y="4069080"/>
            <a:ext cx="2468880" cy="54864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6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選び方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57615" y="4754880"/>
            <a:ext cx="3054096" cy="11430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3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結果一覧の RMSE・基準の手法との比較で、使わない・同時推定・加法カーネル（＋交互作用）を比べる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22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11091672" cy="7315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32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まとめと次のステップ</a:t>
            </a:r>
          </a:p>
        </p:txBody>
      </p:sp>
      <p:sp>
        <p:nvSpPr>
          <p:cNvPr id="3" name="Oval 2"/>
          <p:cNvSpPr/>
          <p:nvPr/>
        </p:nvSpPr>
        <p:spPr>
          <a:xfrm>
            <a:off x="731520" y="1709928"/>
            <a:ext cx="502920" cy="502920"/>
          </a:xfrm>
          <a:prstGeom prst="ellipse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63040" y="1600200"/>
            <a:ext cx="5394960" cy="73152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700" b="0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加法カーネル = 空間のカーネル ＋ 変数ごとの </a:t>
            </a:r>
            <a:r>
              <a:rPr sz="1700" b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τ</a:t>
            </a:r>
            <a:r>
              <a:rPr sz="1700" b="0" baseline="3000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2</a:t>
            </a:r>
            <a:r>
              <a:rPr sz="1700" b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δ</a:t>
            </a:r>
            <a:r>
              <a:rPr sz="1700" b="0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（同じ水準なら </a:t>
            </a:r>
            <a:r>
              <a:rPr sz="1700" b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τ</a:t>
            </a:r>
            <a:r>
              <a:rPr sz="1700" b="0" baseline="3000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2</a:t>
            </a:r>
            <a:r>
              <a:rPr sz="1700" b="0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）</a:t>
            </a:r>
          </a:p>
        </p:txBody>
      </p:sp>
      <p:sp>
        <p:nvSpPr>
          <p:cNvPr id="5" name="Oval 4"/>
          <p:cNvSpPr/>
          <p:nvPr/>
        </p:nvSpPr>
        <p:spPr>
          <a:xfrm>
            <a:off x="731520" y="2788920"/>
            <a:ext cx="502920" cy="50292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2679191"/>
            <a:ext cx="5394960" cy="73152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700" b="0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水準ごとのずれを変量効果として扱う。ずれは予測され、情報が少ないと 0 へ縮む</a:t>
            </a:r>
          </a:p>
        </p:txBody>
      </p:sp>
      <p:sp>
        <p:nvSpPr>
          <p:cNvPr id="7" name="Oval 6"/>
          <p:cNvSpPr/>
          <p:nvPr/>
        </p:nvSpPr>
        <p:spPr>
          <a:xfrm>
            <a:off x="731520" y="3867911"/>
            <a:ext cx="502920" cy="502920"/>
          </a:xfrm>
          <a:prstGeom prst="ellipse">
            <a:avLst/>
          </a:prstGeom>
          <a:solidFill>
            <a:srgbClr val="8D6A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3758183"/>
            <a:ext cx="5394960" cy="73152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700" b="0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＋交互作用 = 全ペアの </a:t>
            </a:r>
            <a:r>
              <a:rPr sz="1700" b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τ</a:t>
            </a:r>
            <a:r>
              <a:rPr sz="1700" b="0" baseline="-4000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fg</a:t>
            </a:r>
            <a:r>
              <a:rPr sz="1700" b="0" baseline="3000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2</a:t>
            </a:r>
            <a:r>
              <a:rPr sz="1700" b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δ</a:t>
            </a:r>
            <a:r>
              <a:rPr sz="1700" b="0" baseline="-4000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f</a:t>
            </a:r>
            <a:r>
              <a:rPr sz="1700" b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δ</a:t>
            </a:r>
            <a:r>
              <a:rPr sz="1700" b="0" baseline="-4000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g</a:t>
            </a:r>
            <a:r>
              <a:rPr sz="1700" b="0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（両方が同じなら </a:t>
            </a:r>
            <a:r>
              <a:rPr sz="1700" b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τ</a:t>
            </a:r>
            <a:r>
              <a:rPr sz="1700" b="0" baseline="3000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2</a:t>
            </a:r>
            <a:r>
              <a:rPr sz="1700" b="0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）。3変数の積は入れない</a:t>
            </a:r>
          </a:p>
        </p:txBody>
      </p:sp>
      <p:sp>
        <p:nvSpPr>
          <p:cNvPr id="9" name="Oval 8"/>
          <p:cNvSpPr/>
          <p:nvPr/>
        </p:nvSpPr>
        <p:spPr>
          <a:xfrm>
            <a:off x="731520" y="4946904"/>
            <a:ext cx="502920" cy="502920"/>
          </a:xfrm>
          <a:prstGeom prst="ellipse">
            <a:avLst/>
          </a:pr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3040" y="4837176"/>
            <a:ext cx="5394960" cy="73152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700" b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τ</a:t>
            </a:r>
            <a:r>
              <a:rPr sz="1700" b="0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 は空間のハイパーパラメータと一緒に尤度で推定。主効果と交互作用でずれを分け合うことがあるので、</a:t>
            </a:r>
            <a:r>
              <a:rPr sz="1700" b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τ</a:t>
            </a:r>
            <a:r>
              <a:rPr sz="1700" b="0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 はまとめて読む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086600" y="1463040"/>
            <a:ext cx="4553712" cy="4572000"/>
          </a:xfrm>
          <a:prstGeom prst="roundRect">
            <a:avLst>
              <a:gd name="adj" fmla="val 1606"/>
            </a:avLst>
          </a:prstGeom>
          <a:solidFill>
            <a:srgbClr val="343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Oval 11"/>
          <p:cNvSpPr/>
          <p:nvPr/>
        </p:nvSpPr>
        <p:spPr>
          <a:xfrm>
            <a:off x="7360920" y="1691640"/>
            <a:ext cx="594360" cy="59436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▶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38160" y="1691640"/>
            <a:ext cx="3273552" cy="59436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7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次のステップ：実データで確かめる</a:t>
            </a:r>
          </a:p>
        </p:txBody>
      </p:sp>
      <p:sp>
        <p:nvSpPr>
          <p:cNvPr id="14" name="Oval 13"/>
          <p:cNvSpPr/>
          <p:nvPr/>
        </p:nvSpPr>
        <p:spPr>
          <a:xfrm>
            <a:off x="7406640" y="2697480"/>
            <a:ext cx="384048" cy="384048"/>
          </a:xfrm>
          <a:prstGeom prst="ellipse">
            <a:avLst/>
          </a:prstGeom>
          <a:solidFill>
            <a:srgbClr val="A9AC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01000" y="2569464"/>
            <a:ext cx="3410712" cy="6858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350" b="0">
                <a:solidFill>
                  <a:srgbClr val="D9DBEA"/>
                </a:solidFill>
                <a:latin typeface="BIZ UDGothic"/>
                <a:ea typeface="BIZ UDGothic"/>
                <a:cs typeface="BIZ UDGothic"/>
              </a:rPr>
              <a:t>結果一覧で、使わない・同時推定・加法カーネル（＋交互作用）の RMSE を比べる</a:t>
            </a:r>
          </a:p>
        </p:txBody>
      </p:sp>
      <p:sp>
        <p:nvSpPr>
          <p:cNvPr id="16" name="Oval 15"/>
          <p:cNvSpPr/>
          <p:nvPr/>
        </p:nvSpPr>
        <p:spPr>
          <a:xfrm>
            <a:off x="7406640" y="3538728"/>
            <a:ext cx="384048" cy="384048"/>
          </a:xfrm>
          <a:prstGeom prst="ellipse">
            <a:avLst/>
          </a:prstGeom>
          <a:solidFill>
            <a:srgbClr val="A9AC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01000" y="3410712"/>
            <a:ext cx="3410712" cy="6858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350" b="0">
                <a:solidFill>
                  <a:srgbClr val="D9DBEA"/>
                </a:solidFill>
                <a:latin typeface="BIZ UDGothic"/>
                <a:ea typeface="BIZ UDGothic"/>
                <a:cs typeface="BIZ UDGothic"/>
              </a:rPr>
              <a:t>Excel の tau_scan・tau_mark・tau_scan_mark を見て、効いている変数を確かめる</a:t>
            </a:r>
          </a:p>
        </p:txBody>
      </p:sp>
      <p:sp>
        <p:nvSpPr>
          <p:cNvPr id="18" name="Oval 17"/>
          <p:cNvSpPr/>
          <p:nvPr/>
        </p:nvSpPr>
        <p:spPr>
          <a:xfrm>
            <a:off x="7406640" y="4379976"/>
            <a:ext cx="384048" cy="384048"/>
          </a:xfrm>
          <a:prstGeom prst="ellipse">
            <a:avLst/>
          </a:prstGeom>
          <a:solidFill>
            <a:srgbClr val="A9AC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01000" y="4251960"/>
            <a:ext cx="3410712" cy="6858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350" b="0">
                <a:solidFill>
                  <a:srgbClr val="D9DBEA"/>
                </a:solidFill>
                <a:latin typeface="Times New Roman"/>
                <a:ea typeface="Times New Roman"/>
                <a:cs typeface="Times New Roman"/>
              </a:rPr>
              <a:t>τ</a:t>
            </a:r>
            <a:r>
              <a:rPr sz="1350" b="0" baseline="-40000">
                <a:solidFill>
                  <a:srgbClr val="D9DBEA"/>
                </a:solidFill>
                <a:latin typeface="Times New Roman"/>
                <a:ea typeface="Times New Roman"/>
                <a:cs typeface="Times New Roman"/>
              </a:rPr>
              <a:t>sm</a:t>
            </a:r>
            <a:r>
              <a:rPr sz="1350" b="0">
                <a:solidFill>
                  <a:srgbClr val="D9DBEA"/>
                </a:solidFill>
                <a:latin typeface="BIZ UDGothic"/>
                <a:ea typeface="BIZ UDGothic"/>
                <a:cs typeface="BIZ UDGothic"/>
              </a:rPr>
              <a:t> が大きく RMSE も良くなれば、交互作用を残す</a:t>
            </a:r>
          </a:p>
        </p:txBody>
      </p:sp>
      <p:sp>
        <p:nvSpPr>
          <p:cNvPr id="20" name="Oval 19"/>
          <p:cNvSpPr/>
          <p:nvPr/>
        </p:nvSpPr>
        <p:spPr>
          <a:xfrm>
            <a:off x="7406640" y="5221224"/>
            <a:ext cx="384048" cy="384048"/>
          </a:xfrm>
          <a:prstGeom prst="ellipse">
            <a:avLst/>
          </a:prstGeom>
          <a:solidFill>
            <a:srgbClr val="A9AC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01000" y="5093208"/>
            <a:ext cx="3410712" cy="6858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350" b="0">
                <a:solidFill>
                  <a:srgbClr val="D9DBEA"/>
                </a:solidFill>
                <a:latin typeface="BIZ UDGothic"/>
                <a:ea typeface="BIZ UDGothic"/>
                <a:cs typeface="BIZ UDGothic"/>
              </a:rPr>
              <a:t>効かない変数は外して、計算を軽くする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6473952"/>
            <a:ext cx="36576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900" b="0">
                <a:solidFill>
                  <a:srgbClr val="A9ACC6"/>
                </a:solidFill>
                <a:latin typeface="BIZ UDGothic"/>
                <a:ea typeface="BIZ UDGothic"/>
                <a:cs typeface="BIZ UDGothic"/>
              </a:rPr>
              <a:t>加法カーネルと交互作用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25912" y="6473952"/>
            <a:ext cx="9144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r"/>
            <a:r>
              <a:rPr sz="1000" b="0">
                <a:solidFill>
                  <a:srgbClr val="A9ACC6"/>
                </a:solidFill>
                <a:latin typeface="BIZ UDGothic"/>
                <a:ea typeface="BIZ UDGothic"/>
                <a:cs typeface="BIZ UDGothic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66928"/>
            <a:ext cx="11091672" cy="6858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参考文献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73952"/>
            <a:ext cx="36576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9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加法カーネルと交互作用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5912" y="6473952"/>
            <a:ext cx="9144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r"/>
            <a:r>
              <a:rPr sz="10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91672" cy="402336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>
              <a:spcAft>
                <a:spcPts val="800"/>
              </a:spcAft>
            </a:pPr>
            <a:r>
              <a:rPr sz="1150" b="0">
                <a:solidFill>
                  <a:srgbClr val="22223B"/>
                </a:solidFill>
                <a:latin typeface="Arial"/>
                <a:ea typeface="Arial"/>
                <a:cs typeface="Arial"/>
              </a:rPr>
              <a:t>[1]  C. E. Rasmussen, C. K. I. Williams (2006). Gaussian Processes for Machine Learning. MIT Press.（4章：カーネルの和・積）</a:t>
            </a:r>
          </a:p>
          <a:p>
            <a:pPr algn="l">
              <a:spcAft>
                <a:spcPts val="800"/>
              </a:spcAft>
            </a:pPr>
            <a:r>
              <a:rPr sz="1150" b="0">
                <a:solidFill>
                  <a:srgbClr val="22223B"/>
                </a:solidFill>
                <a:latin typeface="Arial"/>
                <a:ea typeface="Arial"/>
                <a:cs typeface="Arial"/>
              </a:rPr>
              <a:t>[2]  P. Z. G. Qian, H. Wu, C. F. J. Wu (2008). Gaussian process models for computer experiments with qualitative and quantitative factors. Technometrics, 50(3), 383–396.</a:t>
            </a:r>
          </a:p>
          <a:p>
            <a:pPr algn="l">
              <a:spcAft>
                <a:spcPts val="800"/>
              </a:spcAft>
            </a:pPr>
            <a:r>
              <a:rPr sz="1150" b="0">
                <a:solidFill>
                  <a:srgbClr val="22223B"/>
                </a:solidFill>
                <a:latin typeface="Arial"/>
                <a:ea typeface="Arial"/>
                <a:cs typeface="Arial"/>
              </a:rPr>
              <a:t>[3]  O. Roustant, E. Padonou, Y. Deville, A. Clément, G. Perrin, J. Giorla, H. Wynn (2020). Group kernels for Gaussian process metamodels with categorical inputs. SIAM/ASA Journal on Uncertainty Quantification, 8(2), 775–806.</a:t>
            </a:r>
          </a:p>
          <a:p>
            <a:pPr algn="l">
              <a:spcAft>
                <a:spcPts val="800"/>
              </a:spcAft>
            </a:pPr>
            <a:r>
              <a:rPr sz="1150" b="0">
                <a:solidFill>
                  <a:srgbClr val="22223B"/>
                </a:solidFill>
                <a:latin typeface="Arial"/>
                <a:ea typeface="Arial"/>
                <a:cs typeface="Arial"/>
              </a:rPr>
              <a:t>[4]  G. K. Robinson (1991). That BLUP is a good thing: the estimation of random effects. Statistical Science, 6(1), 15–32.</a:t>
            </a:r>
          </a:p>
          <a:p>
            <a:pPr algn="l">
              <a:spcAft>
                <a:spcPts val="800"/>
              </a:spcAft>
            </a:pPr>
            <a:r>
              <a:rPr sz="1150" b="0">
                <a:solidFill>
                  <a:srgbClr val="22223B"/>
                </a:solidFill>
                <a:latin typeface="Arial"/>
                <a:ea typeface="Arial"/>
                <a:cs typeface="Arial"/>
              </a:rPr>
              <a:t>[5]  D. Duvenaud (2014). Automatic Model Construction with Gaussian Processes. PhD thesis, University of Cambridge.</a:t>
            </a:r>
          </a:p>
          <a:p>
            <a:pPr algn="l">
              <a:spcAft>
                <a:spcPts val="800"/>
              </a:spcAft>
            </a:pPr>
            <a:r>
              <a:rPr sz="1150" b="0">
                <a:solidFill>
                  <a:srgbClr val="22223B"/>
                </a:solidFill>
                <a:latin typeface="Arial"/>
                <a:ea typeface="Arial"/>
                <a:cs typeface="Arial"/>
              </a:rPr>
              <a:t>[6]  MathWorks. fitrgp（Gaussian process regression model）documentation. MATLAB R2022b.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5532120"/>
            <a:ext cx="11091672" cy="640080"/>
          </a:xfrm>
          <a:prstGeom prst="roundRect">
            <a:avLst>
              <a:gd name="adj" fmla="val 11428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731520" y="5605272"/>
            <a:ext cx="493776" cy="493776"/>
          </a:xfrm>
          <a:prstGeom prst="ellipse">
            <a:avLst/>
          </a:prstGeom>
          <a:solidFill>
            <a:srgbClr val="4A4E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5532120"/>
            <a:ext cx="10085832" cy="64008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20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本資料の式は、アプリの実装（matlab_app/+alignest/+models の gprModeSetup・gprKernel・gprInitialParams・gprObjective）に合わせた。計算例は同梱の模擬データを MATLAB R2022b で計算した値。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BIZ UD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BIZ UD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加法カーネルと交互作用の解説</dc:title>
  <dc:subject>アプリの GPR の質的変数の扱い（加法カーネル・交互作用）の解説</dc:subject>
  <dc:creator>alignment-estimation-benchmark</dc:creator>
  <cp:lastModifiedBy>alignment-estimation-benchmark</cp:lastModifiedBy>
  <cp:revision>1</cp:revision>
  <dcterms:created xsi:type="dcterms:W3CDTF">2026-09-13T09:19:14Z</dcterms:created>
  <dcterms:modified xsi:type="dcterms:W3CDTF">2026-09-13T09:19:14Z</dcterms:modified>
</cp:coreProperties>
</file>