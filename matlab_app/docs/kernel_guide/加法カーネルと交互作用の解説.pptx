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6"/>
    <p:sldId id="278" r:id="rId5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23.xml"/><Relationship Id="rId6" Type="http://schemas.openxmlformats.org/officeDocument/2006/relationships/slide" Target="slides/slide2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内訳</c:v>
                </c:pt>
              </c:strCache>
            </c:strRef>
          </c:tx>
          <c:dPt>
            <c:idx val="0"/>
            <c:spPr>
              <a:solidFill>
                <a:srgbClr val="2A9D8F"/>
              </a:solidFill>
              <a:ln>
                <a:solidFill>
                  <a:srgbClr val="22223B"/>
                </a:solidFill>
              </a:ln>
            </c:spPr>
          </c:dPt>
          <c:dPt>
            <c:idx val="1"/>
            <c:spPr>
              <a:solidFill>
                <a:srgbClr val="E76F51"/>
              </a:solidFill>
              <a:ln>
                <a:solidFill>
                  <a:srgbClr val="22223B"/>
                </a:solidFill>
              </a:ln>
            </c:spPr>
          </c:dPt>
          <c:dPt>
            <c:idx val="2"/>
            <c:spPr>
              <a:solidFill>
                <a:srgbClr val="8D6A9F"/>
              </a:solidFill>
              <a:ln>
                <a:solidFill>
                  <a:srgbClr val="22223B"/>
                </a:solidFill>
              </a:ln>
            </c:spPr>
          </c:dPt>
          <c:dPt>
            <c:idx val="3"/>
            <c:spPr>
              <a:solidFill>
                <a:srgbClr val="9C7412"/>
              </a:solidFill>
              <a:ln>
                <a:solidFill>
                  <a:srgbClr val="22223B"/>
                </a:solidFill>
              </a:ln>
            </c:spPr>
          </c:dPt>
          <c:dPt>
            <c:idx val="4"/>
            <c:spPr>
              <a:solidFill>
                <a:srgbClr val="A9ACC6"/>
              </a:solidFill>
              <a:ln>
                <a:solidFill>
                  <a:srgbClr val="22223B"/>
                </a:solidFill>
              </a:ln>
            </c:spPr>
          </c:dPt>
          <c:dLbls>
            <c:dLbl>
              <c:idx val="3"/>
              <c:delete val="1"/>
            </c:dLbl>
            <c:dLbl>
              <c:idx val="4"/>
              <c:delete val="1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space</c:v>
                </c:pt>
                <c:pt idx="1">
                  <c:v>scan</c:v>
                </c:pt>
                <c:pt idx="2">
                  <c:v>mark</c:v>
                </c:pt>
                <c:pt idx="3">
                  <c:v>scan_mark</c:v>
                </c:pt>
                <c:pt idx="4">
                  <c:v>noise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0.7964700667337481</c:v>
                </c:pt>
                <c:pt idx="1">
                  <c:v>0.03679656371712272</c:v>
                </c:pt>
                <c:pt idx="2">
                  <c:v>0.16663688757148454</c:v>
                </c:pt>
                <c:pt idx="3">
                  <c:v>2.4945798007381997e-08</c:v>
                </c:pt>
                <c:pt idx="4">
                  <c:v>9.645703184668722e-05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学習 15 Shot</c:v>
                </c:pt>
              </c:strCache>
            </c:strRef>
          </c:tx>
          <c:spPr>
            <a:solidFill>
              <a:srgbClr val="22223B"/>
            </a:solidFill>
          </c:spPr>
          <c:cat>
            <c:strRef>
              <c:f>Sheet1!$A$2:$A$8</c:f>
              <c:strCache>
                <c:ptCount val="7"/>
                <c:pt idx="0">
                  <c:v>使わない</c:v>
                </c:pt>
                <c:pt idx="1">
                  <c:v>同時推定</c:v>
                </c:pt>
                <c:pt idx="2">
                  <c:v>同時推定
＋交互作用</c:v>
                </c:pt>
                <c:pt idx="3">
                  <c:v>加法カーネル</c:v>
                </c:pt>
                <c:pt idx="4">
                  <c:v>加法カーネル
＋交互作用</c:v>
                </c:pt>
                <c:pt idx="5">
                  <c:v>混合</c:v>
                </c:pt>
                <c:pt idx="6">
                  <c:v>混合
＋交互作用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3.336130195034779</c:v>
                </c:pt>
                <c:pt idx="1">
                  <c:v>2.398390429716778</c:v>
                </c:pt>
                <c:pt idx="2">
                  <c:v>2.6530988123419483</c:v>
                </c:pt>
                <c:pt idx="3">
                  <c:v>2.387498114772721</c:v>
                </c:pt>
                <c:pt idx="4">
                  <c:v>2.459708957561999</c:v>
                </c:pt>
                <c:pt idx="5">
                  <c:v>2.4254332681323945</c:v>
                </c:pt>
                <c:pt idx="6">
                  <c:v>2.48553614415568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学習 30 Shot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Sheet1!$A$2:$A$8</c:f>
              <c:strCache>
                <c:ptCount val="7"/>
                <c:pt idx="0">
                  <c:v>使わない</c:v>
                </c:pt>
                <c:pt idx="1">
                  <c:v>同時推定</c:v>
                </c:pt>
                <c:pt idx="2">
                  <c:v>同時推定
＋交互作用</c:v>
                </c:pt>
                <c:pt idx="3">
                  <c:v>加法カーネル</c:v>
                </c:pt>
                <c:pt idx="4">
                  <c:v>加法カーネル
＋交互作用</c:v>
                </c:pt>
                <c:pt idx="5">
                  <c:v>混合</c:v>
                </c:pt>
                <c:pt idx="6">
                  <c:v>混合
＋交互作用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2.6101884253064034</c:v>
                </c:pt>
                <c:pt idx="1">
                  <c:v>1.2889351757590266</c:v>
                </c:pt>
                <c:pt idx="2">
                  <c:v>1.347796666812518</c:v>
                </c:pt>
                <c:pt idx="3">
                  <c:v>1.2986635033382767</c:v>
                </c:pt>
                <c:pt idx="4">
                  <c:v>1.309257056418664</c:v>
                </c:pt>
                <c:pt idx="5">
                  <c:v>1.2871666198320888</c:v>
                </c:pt>
                <c:pt idx="6">
                  <c:v>1.2953636994874398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2222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ADDE6"/>
            </a:solidFill>
          </a:ln>
        </c:spPr>
        <c:txPr>
          <a:bodyPr/>
          <a:lstStyle/>
          <a:p>
            <a:pPr>
              <a:defRPr sz="1100">
                <a:solidFill>
                  <a:srgbClr val="22223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DD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C6F7F"/>
                    </a:solidFill>
                    <a:latin typeface="BIZ UDGothic"/>
                    <a:ea typeface="BIZ UDGothic"/>
                    <a:cs typeface="BIZ UDGothic"/>
                  </a:rPr>
                  <a:t>RMSE（X・Y 合計）[nm]、Wafer 5 枚の平均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C6F7F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4A4E69"/>
          </a:solidFill>
          <a:latin typeface="BIZ UDGothi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アプリの GPR で「加法カーネル」「加法カーネル＋交互作用」を選んだときに、カーネルがどんな式になっているかを説明する資料。右の図は、模擬データの1枚で推定したハイパーパラメータから、1点の値の分散が各項にどれだけ割り振られたか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4章構成。前提 → 加法カーネル → 交互作用 → 計算例と使い方の順に進む。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アライメントの計測値には、Wafer 上の位置で滑らかに変わる成分のほかに、Scan 方向や Mark 番号で決まる段差がある。質的変数（カテゴリーの変数）として推定に入れると、段差を説明できる。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GPR（ガウス過程回帰）は、平均の部分・カーネル・ノイズで決まる。質的変数は、平均の部分に入れる方法と、カーネルに入れる方法がある。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アプリの「質的変数の扱い」の8通り。平均の部分に効果コードを入れるのが固定効果、カーネルに同じ水準の項を足すのが変量効果。[同じ水準] は、2点の水準が同じなら 1、違えば 0 という意味。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加法カーネルは、空間のカーネルに、質的変数ごとの「水準が同じなら τ²」の項を足したもの。τ は変数ごとに1つのハイパーパラメータで、空間の長さスケールなどと一緒に推定する。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カーネル行列で見ると、空間の行列に、Scan 方向が同じ組だけ 1 の行列 S と、Mark 番号が同じ組だけ 1 の行列 M を、それぞれ τ² 倍して足したもの。S・M はグループごとに全部 1 のブロックなので正定値（半正定値）で、和もカーネルになる。空間の濃さは説明用に長さスケール 45 mm（matern52）で描いた。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加法カーネルは、水準ごとのずれを平均0・分散 τ² の確率変数（変量効果）として扱うことと同じ。同じ水準の点は同じずれを足すので、その分だけ共分散が τ² 大きくなる。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予測値は、空間の部分と、質的変数ごとの部分に分けられる。質的変数の部分は、同じ水準の学習点の α の和に τ² を掛けたもので、その水準のずれの予測（BLUP）になっている。固定効果と違い、情報が少ないと 0 に縮む。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同じ質的変数でも、平均に入れる（固定効果）か、カーネルに入れる（変量効果）かで、推定のふるまいが変わる。効果の有無がはっきりしない変数は、変量効果だと自動で弱められる。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交互作用は、2つの質的変数の組み合わせでだけ現れるずれ。主効果の足し算では表せないので、組み合わせごとのずれを別に置く。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交互作用の項は、Scan 方向が同じ行列 S と Mark 番号が同じ行列 M の、要素ごとの積（アダマール積）に τ_sm² を掛けたもの。8点の例では Shot A と B の Scan が違うので対角だけが 1 になるが、実際の Wafer では同じ Scan 方向の別の Shot の同じ Mark どうしがつながる。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アプリの「＋交互作用」は、選んだ質的変数（X・Y 成分ごとの選択）の全ペアについて、両方が同じなら τ² の項を足す。3変数以上の組み合わせは入れない。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交互作用を平均の部分に入れる（basis_int）と、組み合わせごとの係数を固定効果として推定する。カーネルに入れる（additive_int・mixed_int）と、組み合わせごとのずれを変量効果として扱う。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 は、空間の長さスケール・大きさ・ノイズと一緒に、対数周辺尤度を最大にして決める。アプリでは Toolbox を使わずに、上下限つきの L-BFGS（alignest.optim.minimizeBox）で解析的な勾配を使って探す。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同梱の模擬データは、Scan 方向の差と Mark 番号ごとのずれを入れて作り、交互作用は入れていない。X 成分では τ_sm が下限付近まで小さくなり、データに交互作用が無いことと合っている。Y 成分では τ_s・τ_m が小さくなり、τ_sm がずれを引き受けた。Scan 2 × Mark 4 の 8 通りの組み合わせごとのずれは、主効果の足し算も表せるので、どの項に割り振るかがデータだけでは決まりにくい（予測値はどちらでも近い）。値は Excel の「Waferごと」のハイパーパラメータ（tau_scan_X・tau_mark_X・tau_scan_mark_X など）と同じ。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推定したハイパーパラメータで、2点のカーネルの値（共分散）を項ごとに分けた。0 の欄は、その項の条件（同じ水準）を満たさないため。自分自身との値は、各項の分散の和（ノイズを除く）。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推定値 = 平均 + 空間 + 質的変数の各項。質的変数の項は、その水準の学習点の α の和に τ² を掛けた値（変量効果の予測、BLUP）。同じ学習点で同時推定（固定効果）にしたときの効果の値と比べると、符号と並びは同じで、0 の方へ縮んでいる。τ が小さい Scan 方向ほど強く縮む。固定効果の値は別のモデル（ハイパーパラメータも別に推定）なので、比はおおよその目安。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同梱の模擬データ（5枚）で、GPR matern52（X,Y,半径）の質的変数の扱い方を変えて、評価点の RMSE（X・Y 合計）の Wafer 平均を比べた。学習 Shot は制約付き I 最適で 15・30 Shot。模擬データには交互作用が無いので、交互作用の項の効果は小さい。実データで交互作用がある場合は結果が変わるので、アプリの結果一覧で確かめる。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加法カーネルの項は gprModeSetup で 0・1 の行列として作り、gprKernel で τ² を掛けて空間のカーネルに足す。推定した τ は Excel のハイパーパラメータの欄で確かめられる。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加法カーネルは効かない変数を自動で弱められるが、ハイパーパラメータが増えるので計算時間は増える。同じ分け方の変数を2つ選ぶと、どちらの τ に割り振るかが決まらない（予測値は変わらない）。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加法カーネルと交互作用の要点。実データでは、交互作用の有無はデータ次第なので、アプリの結果一覧とハイパーパラメータで確かめる。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カーネルの和で質的変数を扱う考え方は [1][2][3]、変量効果の予測（BLUP）は [4]、加法カーネルは [5]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技術解説資料 ｜ 面内推定評価ツール（GPR）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640080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6035040" cy="11887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200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GPR で質的変数（Scan 方向・Mark 番号）を</a:t>
            </a:r>
          </a:p>
          <a:p>
            <a:pPr algn="l"/>
            <a:r>
              <a:rPr sz="200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どのようなカーネルで扱っているか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6035040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2026年10月 ｜ 計算例は同梱の模擬データを MATLAB R2022b で計算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8580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例：模擬データ Wafer 1・X 成分の分散の内訳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98079" y="1051560"/>
          <a:ext cx="38404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242316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k(z,z)+σ</a:t>
            </a:r>
            <a:r>
              <a:rPr sz="18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8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4590288"/>
            <a:ext cx="164592" cy="16459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4526280"/>
            <a:ext cx="3566160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空間 </a:t>
            </a:r>
            <a:r>
              <a:rPr sz="13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3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3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　80%　（8.36 nm²）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4892040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4828032"/>
            <a:ext cx="3566160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Scan 方向 </a:t>
            </a:r>
            <a:r>
              <a:rPr sz="13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3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3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　4%　（0.39 nm²）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5193792"/>
            <a:ext cx="164592" cy="164592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29784"/>
            <a:ext cx="3566160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Mark 番号 </a:t>
            </a:r>
            <a:r>
              <a:rPr sz="13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3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3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　17%　（1.75 nm²）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5495544"/>
            <a:ext cx="164592" cy="164592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431536"/>
            <a:ext cx="3566160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Scan×Mark </a:t>
            </a:r>
            <a:r>
              <a:rPr sz="13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3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sm</a:t>
            </a:r>
            <a:r>
              <a:rPr sz="13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　0%　（0.00 nm²）</a:t>
            </a:r>
          </a:p>
        </p:txBody>
      </p:sp>
      <p:sp>
        <p:nvSpPr>
          <p:cNvPr id="17" name="Oval 16"/>
          <p:cNvSpPr/>
          <p:nvPr/>
        </p:nvSpPr>
        <p:spPr>
          <a:xfrm>
            <a:off x="7818120" y="5797296"/>
            <a:ext cx="164592" cy="164592"/>
          </a:xfrm>
          <a:prstGeom prst="ellipse">
            <a:avLst/>
          </a:prstGeom>
          <a:solidFill>
            <a:srgbClr val="A9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5733288"/>
            <a:ext cx="3566160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ノイズ </a:t>
            </a:r>
            <a:r>
              <a:rPr sz="13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3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3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　0%　（0.00 nm²）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この資料で学ぶこと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777240"/>
          </a:xfrm>
          <a:prstGeom prst="roundRect">
            <a:avLst>
              <a:gd name="adj" fmla="val 9411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9808" y="1545336"/>
            <a:ext cx="521207" cy="521207"/>
          </a:xfrm>
          <a:prstGeom prst="ellipse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94392" cy="7772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ゴール：アプリの「加法カーネル」「加法カーネル＋交互作用」が、どんな式のカーネルで、推定値にどう効くかを説明できる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2569464" cy="3611880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59" y="2788920"/>
            <a:ext cx="640080" cy="64008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2264" y="2788920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/>
            <a:r>
              <a:rPr sz="3000" b="1">
                <a:solidFill>
                  <a:srgbClr val="DADDE6"/>
                </a:solidFill>
                <a:latin typeface="BIZ UDGothic"/>
                <a:ea typeface="BIZ UDGothic"/>
                <a:cs typeface="BIZ UD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611880"/>
            <a:ext cx="2020824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9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GPR と質的変数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160520"/>
            <a:ext cx="2020824" cy="1371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前提の整理。なぜ質的変数を入れるか、GPR の式、質的変数の8通りの扱い方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623560"/>
            <a:ext cx="2020824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p.3–5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2424" y="2514600"/>
            <a:ext cx="2569464" cy="3611880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666744" y="2788920"/>
            <a:ext cx="640080" cy="6400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788920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/>
            <a:r>
              <a:rPr sz="3000" b="1">
                <a:solidFill>
                  <a:srgbClr val="DADDE6"/>
                </a:solidFill>
                <a:latin typeface="BIZ UDGothic"/>
                <a:ea typeface="BIZ UDGothic"/>
                <a:cs typeface="BIZ UD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3611880"/>
            <a:ext cx="2020824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9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加法カーネル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4160520"/>
            <a:ext cx="2020824" cy="1371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「同じ水準なら τ²」を足すカーネル。行列・変量効果・予測での効き方、固定効果との違い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5623560"/>
            <a:ext cx="2020824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p.6–10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2514600"/>
            <a:ext cx="2569464" cy="3611880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510527" y="2788920"/>
            <a:ext cx="640080" cy="640080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2788920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/>
            <a:r>
              <a:rPr sz="3000" b="1">
                <a:solidFill>
                  <a:srgbClr val="DADDE6"/>
                </a:solidFill>
                <a:latin typeface="BIZ UDGothic"/>
                <a:ea typeface="BIZ UDGothic"/>
                <a:cs typeface="BIZ UD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3611880"/>
            <a:ext cx="2020824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9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交互作用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4160520"/>
            <a:ext cx="2020824" cy="1371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「両方が同じなら τ²」の項。全ペアの入れ方、平均に入れる交互作用・混合との違い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7" y="5623560"/>
            <a:ext cx="2020824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p.11–14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9992" y="2514600"/>
            <a:ext cx="2569464" cy="3611880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354312" y="2788920"/>
            <a:ext cx="640080" cy="640080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43616" y="2788920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r"/>
            <a:r>
              <a:rPr sz="3000" b="1">
                <a:solidFill>
                  <a:srgbClr val="DADDE6"/>
                </a:solidFill>
                <a:latin typeface="BIZ UDGothic"/>
                <a:ea typeface="BIZ UDGothic"/>
                <a:cs typeface="BIZ UD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3611880"/>
            <a:ext cx="2020824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9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計算例と使い方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4160520"/>
            <a:ext cx="2020824" cy="1371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ハイパーパラメータの推定、模擬データでの数値例、アプリでの場所、使い分けと注意点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5623560"/>
            <a:ext cx="2020824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p.15–21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前提：GPR と質的変数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なぜ質的変数を入れるか ― 計測値は3つの成分の足し算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450592" cy="91440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450592" cy="9144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7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計測値 </a:t>
            </a:r>
            <a:r>
              <a:rPr sz="17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1508760"/>
            <a:ext cx="429768" cy="9144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600" b="1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450592" cy="914400"/>
          </a:xfrm>
          <a:prstGeom prst="roundRect">
            <a:avLst>
              <a:gd name="adj" fmla="val 8000"/>
            </a:avLst>
          </a:prstGeom>
          <a:solidFill>
            <a:srgbClr val="D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2450592" cy="9144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7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空間の滑らかな成分 </a:t>
            </a:r>
            <a:r>
              <a:rPr sz="1700" b="1">
                <a:solidFill>
                  <a:srgbClr val="2A9D8F"/>
                </a:solidFill>
                <a:latin typeface="Times New Roman"/>
                <a:ea typeface="Times New Roman"/>
                <a:cs typeface="Times New Roman"/>
              </a:rPr>
              <a:t>f(x)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1508760"/>
            <a:ext cx="429768" cy="9144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600" b="1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2450592" cy="914400"/>
          </a:xfrm>
          <a:prstGeom prst="roundRect">
            <a:avLst>
              <a:gd name="adj" fmla="val 8000"/>
            </a:avLst>
          </a:prstGeom>
          <a:solidFill>
            <a:srgbClr val="FB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2450592" cy="9144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7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rPr>
              <a:t>水準ごとのずれ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508760"/>
            <a:ext cx="429768" cy="9144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600" b="1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508760"/>
            <a:ext cx="2450592" cy="91440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89720" y="1508760"/>
            <a:ext cx="2450592" cy="9144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7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ノイズ </a:t>
            </a:r>
            <a:r>
              <a:rPr sz="1700" b="1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60320"/>
            <a:ext cx="11091672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水準ごとのずれ：Wafer 上の位置では決まらず、「どの水準か」で決まる段差。空間の滑らかな関数だけでは表しにくい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54680"/>
            <a:ext cx="256946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8328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Scan 方向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露光の走査の向き（1・2）。向きごとに全体が少しずれる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2424" y="3154680"/>
            <a:ext cx="256946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621024" y="3383280"/>
            <a:ext cx="548640" cy="548640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4" y="338328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Mark 番号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1024" y="40690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Shot 内の Mark の位置（1〜4 など）。位置ごとに決まったずれがある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7" y="3154680"/>
            <a:ext cx="256946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464807" y="338328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7" y="338328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 行の奇数・偶数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40690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Shot 配列の行の奇偶。選んだときだけ使う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79992" y="3154680"/>
            <a:ext cx="256946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308592" y="3383280"/>
            <a:ext cx="548640" cy="548640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338328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ファイルのその他の列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40690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Chuck など、標準の項目以外の列。選んだときだけ使う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5431536"/>
            <a:ext cx="521207" cy="521207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25780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問い：水準ごとのずれを、平均の式に入れる（固定効果）か、カーネルに入れる（変量効果）か → 後者が「加法カーネル」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前提：GPR と質的変数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GPR の式 ― 平均・カーネル・ノイズの3つで決まる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1672" cy="9601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 = h(x)</a:t>
            </a:r>
            <a:r>
              <a:rPr sz="24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β + f(x) + ε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,　 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 ~ GP(0, k(x, x′))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,　 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ε ~ N(0, σ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4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3511296" cy="2286000"/>
          </a:xfrm>
          <a:prstGeom prst="roundRect">
            <a:avLst>
              <a:gd name="adj" fmla="val 32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926080"/>
            <a:ext cx="2962656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800" b="1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平均の部分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20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h(x)</a:t>
            </a:r>
            <a:r>
              <a:rPr sz="20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0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023360"/>
            <a:ext cx="2962656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定数（と、固定効果にする質的変数の効果コード）。β は一般化最小二乗で求める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827" y="2697480"/>
            <a:ext cx="3511296" cy="2286000"/>
          </a:xfrm>
          <a:prstGeom prst="roundRect">
            <a:avLst>
              <a:gd name="adj" fmla="val 3200"/>
            </a:avLst>
          </a:prstGeom>
          <a:solidFill>
            <a:srgbClr val="D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13147" y="2926080"/>
            <a:ext cx="2962656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8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カーネル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707" y="3429000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20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k(x, x′)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3147" y="4023360"/>
            <a:ext cx="2962656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2点の値がどれだけ似ているか（共分散）。アプリの既定は matern52：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3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300" b="0" baseline="3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(1+√5r+5r</a:t>
            </a:r>
            <a:r>
              <a:rPr sz="1300" b="0" baseline="3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/3)e</a:t>
            </a:r>
            <a:r>
              <a:rPr sz="1300" b="0" baseline="3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−√5r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、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= 距離 / 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5" y="2697480"/>
            <a:ext cx="3511296" cy="2286000"/>
          </a:xfrm>
          <a:prstGeom prst="roundRect">
            <a:avLst>
              <a:gd name="adj" fmla="val 32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03336" y="2926080"/>
            <a:ext cx="2962656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800" b="1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ノイズ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5" y="3429000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20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20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0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4023360"/>
            <a:ext cx="2962656" cy="9144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計測のばらつき。カーネルの対角に足す（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3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 = K + σ</a:t>
            </a:r>
            <a:r>
              <a:rPr sz="13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300" b="0" baseline="3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49808" y="5431536"/>
            <a:ext cx="521207" cy="521207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5780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予測：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ŷ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*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 = h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*</a:t>
            </a:r>
            <a:r>
              <a:rPr sz="15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β̂ + k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*</a:t>
            </a:r>
            <a:r>
              <a:rPr sz="15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15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−1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(y − Hβ̂)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。ハイパーパラメータ（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・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・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・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）は対数周辺尤度を最大にして選ぶ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01　前提：GPR と質的変数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質的変数の扱い方は8通り ― 平均に入れるか、カーネルに入れるか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2" cy="3867912"/>
        </p:xfrm>
        <a:graphic>
          <a:graphicData uri="http://schemas.openxmlformats.org/drawingml/2006/table">
            <a:tbl>
              <a:tblPr firstRow="0" bandRow="0"/>
              <a:tblGrid>
                <a:gridCol w="3337560"/>
                <a:gridCol w="3246120"/>
                <a:gridCol w="3044952"/>
                <a:gridCol w="1463040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扱い方（id の末尾）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平均の部分（固定効果）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カーネル（変量効果）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交互作用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使わない（none）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定数だけ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空間だけ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—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同時推定（basis）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定数 ＋ 効果コード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空間だけ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—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Backfitting（backfit）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質的変数の効果と GPR を交互に当てはめ直す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空間だけ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—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同時推定＋交互作用（basis_int）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＋ 効果コードの積（全ペア）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空間だけ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平均に入れる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加法カーネル（additive）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定数だけ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空間 ＋ 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2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[同じ水準]（変数ごと）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—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加法カーネル＋交互作用（additive_int）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定数だけ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＋ 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2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[両方同じ]（全ペア）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カーネルに入れる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D8F0ED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混合（mixed）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定数 ＋ Mark 以外の効果コード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空間 ＋ 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2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sz="12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[Mark が同じ]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—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混合＋交互作用（mixed_int）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定数 ＋ Mark 以外の効果コード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＋ 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2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[両方同じ]（全ペア）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カーネルに入れる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5545836"/>
            <a:ext cx="521207" cy="521207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440680"/>
            <a:ext cx="9994392" cy="7315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この資料の主役は、色を付けた2行：加法カーネル（additive）と、加法カーネル＋交互作用（additive_int）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加法カーネル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加法カーネルの式 ― 「同じ水準なら τ²」を足す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601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k(z, z′) = σ</a:t>
            </a:r>
            <a:r>
              <a:rPr sz="27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27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ρ(r) + τ</a:t>
            </a:r>
            <a:r>
              <a:rPr sz="27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7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δ(s, s′) + τ</a:t>
            </a:r>
            <a:r>
              <a:rPr sz="27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7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δ(m, m′)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91672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5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5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= (位置 </a:t>
            </a:r>
            <a:r>
              <a:rPr sz="15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5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, Scan 方向 </a:t>
            </a:r>
            <a:r>
              <a:rPr sz="15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5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, Mark 番号 </a:t>
            </a:r>
            <a:r>
              <a:rPr sz="15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5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)　　</a:t>
            </a:r>
            <a:r>
              <a:rPr sz="15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δ(a, b)</a:t>
            </a:r>
            <a:r>
              <a:rPr sz="15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= 1（</a:t>
            </a:r>
            <a:r>
              <a:rPr sz="15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a = b</a:t>
            </a:r>
            <a:r>
              <a:rPr sz="15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のとき）、0（それ以外）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D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054096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空間の項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84448"/>
            <a:ext cx="3236976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9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ρ(r)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87952"/>
            <a:ext cx="3054096" cy="7772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位置が近いほど大きい。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ρ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は matern52 などの形、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= 距離 / 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92608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B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62856" y="3108960"/>
            <a:ext cx="3054096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rPr>
              <a:t>Scan 方向の項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3584448"/>
            <a:ext cx="3236976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9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δ(s, s′)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4187952"/>
            <a:ext cx="3054096" cy="7772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2点の Scan 方向が同じなら 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3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300" b="0" baseline="3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、違えば 0。距離には よらない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292608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ECE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57616" y="3108960"/>
            <a:ext cx="3054096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rPr>
              <a:t>Mark 番号の項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3584448"/>
            <a:ext cx="3236976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9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δ(m, m′)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4187952"/>
            <a:ext cx="3054096" cy="7772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2点の Mark 番号が同じなら 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3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300" b="0" baseline="3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、違えば 0。Wafer の端と端でも同じ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49808" y="5522976"/>
            <a:ext cx="521207" cy="521207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Shot 行の奇偶・その他の列を選ぶと、同じ形の項 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5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δ(…)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が1つずつ加わる。ノイズは 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 = K + σ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5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加法カーネル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行列で見る ― 「同じ水準なら 1」の行列を重ねる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例：Shot A（Scan 1）と、隣の Shot B（Scan 2）の Mark 1〜4（A1〜B4 の8点）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148840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48840"/>
            <a:ext cx="265176" cy="265176"/>
          </a:xfrm>
          <a:prstGeom prst="rect">
            <a:avLst/>
          </a:prstGeom>
          <a:solidFill>
            <a:srgbClr val="2A9D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71016" y="2148840"/>
            <a:ext cx="265176" cy="265176"/>
          </a:xfrm>
          <a:prstGeom prst="rect">
            <a:avLst/>
          </a:prstGeom>
          <a:solidFill>
            <a:srgbClr val="46A99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36192" y="2148840"/>
            <a:ext cx="265176" cy="265176"/>
          </a:xfrm>
          <a:prstGeom prst="rect">
            <a:avLst/>
          </a:prstGeom>
          <a:solidFill>
            <a:srgbClr val="64B6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01368" y="2148840"/>
            <a:ext cx="265176" cy="265176"/>
          </a:xfrm>
          <a:prstGeom prst="rect">
            <a:avLst/>
          </a:prstGeom>
          <a:solidFill>
            <a:srgbClr val="50AEA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66543" y="2148840"/>
            <a:ext cx="265176" cy="265176"/>
          </a:xfrm>
          <a:prstGeom prst="rect">
            <a:avLst/>
          </a:prstGeom>
          <a:solidFill>
            <a:srgbClr val="56B0A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148840"/>
            <a:ext cx="265176" cy="265176"/>
          </a:xfrm>
          <a:prstGeom prst="rect">
            <a:avLst/>
          </a:prstGeom>
          <a:solidFill>
            <a:srgbClr val="8CC8C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6896" y="2148840"/>
            <a:ext cx="265176" cy="265176"/>
          </a:xfrm>
          <a:prstGeom prst="rect">
            <a:avLst/>
          </a:prstGeom>
          <a:solidFill>
            <a:srgbClr val="9BCEC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62072" y="2148840"/>
            <a:ext cx="265176" cy="265176"/>
          </a:xfrm>
          <a:prstGeom prst="rect">
            <a:avLst/>
          </a:prstGeom>
          <a:solidFill>
            <a:srgbClr val="70BBB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414016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2414016"/>
            <a:ext cx="265176" cy="265176"/>
          </a:xfrm>
          <a:prstGeom prst="rect">
            <a:avLst/>
          </a:prstGeom>
          <a:solidFill>
            <a:srgbClr val="46A99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71016" y="2414016"/>
            <a:ext cx="265176" cy="265176"/>
          </a:xfrm>
          <a:prstGeom prst="rect">
            <a:avLst/>
          </a:prstGeom>
          <a:solidFill>
            <a:srgbClr val="2A9D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36192" y="2414016"/>
            <a:ext cx="265176" cy="265176"/>
          </a:xfrm>
          <a:prstGeom prst="rect">
            <a:avLst/>
          </a:prstGeom>
          <a:solidFill>
            <a:srgbClr val="50AEA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01368" y="2414016"/>
            <a:ext cx="265176" cy="265176"/>
          </a:xfrm>
          <a:prstGeom prst="rect">
            <a:avLst/>
          </a:prstGeom>
          <a:solidFill>
            <a:srgbClr val="64B6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66543" y="2414016"/>
            <a:ext cx="265176" cy="265176"/>
          </a:xfrm>
          <a:prstGeom prst="rect">
            <a:avLst/>
          </a:prstGeom>
          <a:solidFill>
            <a:srgbClr val="2D9E9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414016"/>
            <a:ext cx="265176" cy="265176"/>
          </a:xfrm>
          <a:prstGeom prst="rect">
            <a:avLst/>
          </a:prstGeom>
          <a:solidFill>
            <a:srgbClr val="56B0A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96896" y="2414016"/>
            <a:ext cx="265176" cy="265176"/>
          </a:xfrm>
          <a:prstGeom prst="rect">
            <a:avLst/>
          </a:prstGeom>
          <a:solidFill>
            <a:srgbClr val="70BBB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62072" y="2414016"/>
            <a:ext cx="265176" cy="265176"/>
          </a:xfrm>
          <a:prstGeom prst="rect">
            <a:avLst/>
          </a:prstGeom>
          <a:solidFill>
            <a:srgbClr val="52AEA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2679192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2679192"/>
            <a:ext cx="265176" cy="265176"/>
          </a:xfrm>
          <a:prstGeom prst="rect">
            <a:avLst/>
          </a:prstGeom>
          <a:solidFill>
            <a:srgbClr val="64B6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71016" y="2679192"/>
            <a:ext cx="265176" cy="265176"/>
          </a:xfrm>
          <a:prstGeom prst="rect">
            <a:avLst/>
          </a:prstGeom>
          <a:solidFill>
            <a:srgbClr val="50AEA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36192" y="2679192"/>
            <a:ext cx="265176" cy="265176"/>
          </a:xfrm>
          <a:prstGeom prst="rect">
            <a:avLst/>
          </a:prstGeom>
          <a:solidFill>
            <a:srgbClr val="2A9D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01368" y="2679192"/>
            <a:ext cx="265176" cy="265176"/>
          </a:xfrm>
          <a:prstGeom prst="rect">
            <a:avLst/>
          </a:prstGeom>
          <a:solidFill>
            <a:srgbClr val="46A99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66543" y="2679192"/>
            <a:ext cx="265176" cy="265176"/>
          </a:xfrm>
          <a:prstGeom prst="rect">
            <a:avLst/>
          </a:prstGeom>
          <a:solidFill>
            <a:srgbClr val="52AEA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31720" y="2679192"/>
            <a:ext cx="265176" cy="265176"/>
          </a:xfrm>
          <a:prstGeom prst="rect">
            <a:avLst/>
          </a:prstGeom>
          <a:solidFill>
            <a:srgbClr val="70BBB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96896" y="2679192"/>
            <a:ext cx="265176" cy="265176"/>
          </a:xfrm>
          <a:prstGeom prst="rect">
            <a:avLst/>
          </a:prstGeom>
          <a:solidFill>
            <a:srgbClr val="56B0A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62072" y="2679192"/>
            <a:ext cx="265176" cy="265176"/>
          </a:xfrm>
          <a:prstGeom prst="rect">
            <a:avLst/>
          </a:prstGeom>
          <a:solidFill>
            <a:srgbClr val="2D9E9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2944368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1368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2944368"/>
            <a:ext cx="265176" cy="265176"/>
          </a:xfrm>
          <a:prstGeom prst="rect">
            <a:avLst/>
          </a:prstGeom>
          <a:solidFill>
            <a:srgbClr val="50AEA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71016" y="2944368"/>
            <a:ext cx="265176" cy="265176"/>
          </a:xfrm>
          <a:prstGeom prst="rect">
            <a:avLst/>
          </a:prstGeom>
          <a:solidFill>
            <a:srgbClr val="64B6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36192" y="2944368"/>
            <a:ext cx="265176" cy="265176"/>
          </a:xfrm>
          <a:prstGeom prst="rect">
            <a:avLst/>
          </a:prstGeom>
          <a:solidFill>
            <a:srgbClr val="46A99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01368" y="2944368"/>
            <a:ext cx="265176" cy="265176"/>
          </a:xfrm>
          <a:prstGeom prst="rect">
            <a:avLst/>
          </a:prstGeom>
          <a:solidFill>
            <a:srgbClr val="2A9D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66543" y="2944368"/>
            <a:ext cx="265176" cy="265176"/>
          </a:xfrm>
          <a:prstGeom prst="rect">
            <a:avLst/>
          </a:prstGeom>
          <a:solidFill>
            <a:srgbClr val="70BBB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331720" y="2944368"/>
            <a:ext cx="265176" cy="265176"/>
          </a:xfrm>
          <a:prstGeom prst="rect">
            <a:avLst/>
          </a:prstGeom>
          <a:solidFill>
            <a:srgbClr val="9BCEC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96896" y="2944368"/>
            <a:ext cx="265176" cy="265176"/>
          </a:xfrm>
          <a:prstGeom prst="rect">
            <a:avLst/>
          </a:prstGeom>
          <a:solidFill>
            <a:srgbClr val="8CC8C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62072" y="2944368"/>
            <a:ext cx="265176" cy="265176"/>
          </a:xfrm>
          <a:prstGeom prst="rect">
            <a:avLst/>
          </a:prstGeom>
          <a:solidFill>
            <a:srgbClr val="56B0A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3209544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66543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" y="3209544"/>
            <a:ext cx="265176" cy="265176"/>
          </a:xfrm>
          <a:prstGeom prst="rect">
            <a:avLst/>
          </a:prstGeom>
          <a:solidFill>
            <a:srgbClr val="56B0A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71016" y="3209544"/>
            <a:ext cx="265176" cy="265176"/>
          </a:xfrm>
          <a:prstGeom prst="rect">
            <a:avLst/>
          </a:prstGeom>
          <a:solidFill>
            <a:srgbClr val="2D9E9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536192" y="3209544"/>
            <a:ext cx="265176" cy="265176"/>
          </a:xfrm>
          <a:prstGeom prst="rect">
            <a:avLst/>
          </a:prstGeom>
          <a:solidFill>
            <a:srgbClr val="52AEA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01368" y="3209544"/>
            <a:ext cx="265176" cy="265176"/>
          </a:xfrm>
          <a:prstGeom prst="rect">
            <a:avLst/>
          </a:prstGeom>
          <a:solidFill>
            <a:srgbClr val="70BBB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66543" y="3209544"/>
            <a:ext cx="265176" cy="265176"/>
          </a:xfrm>
          <a:prstGeom prst="rect">
            <a:avLst/>
          </a:prstGeom>
          <a:solidFill>
            <a:srgbClr val="2A9D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1720" y="3209544"/>
            <a:ext cx="265176" cy="265176"/>
          </a:xfrm>
          <a:prstGeom prst="rect">
            <a:avLst/>
          </a:prstGeom>
          <a:solidFill>
            <a:srgbClr val="46A99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96896" y="3209544"/>
            <a:ext cx="265176" cy="265176"/>
          </a:xfrm>
          <a:prstGeom prst="rect">
            <a:avLst/>
          </a:prstGeom>
          <a:solidFill>
            <a:srgbClr val="64B6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62072" y="3209544"/>
            <a:ext cx="265176" cy="265176"/>
          </a:xfrm>
          <a:prstGeom prst="rect">
            <a:avLst/>
          </a:prstGeom>
          <a:solidFill>
            <a:srgbClr val="50AEA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" y="3474720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720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5840" y="3474720"/>
            <a:ext cx="265176" cy="265176"/>
          </a:xfrm>
          <a:prstGeom prst="rect">
            <a:avLst/>
          </a:prstGeom>
          <a:solidFill>
            <a:srgbClr val="8CC8C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71016" y="3474720"/>
            <a:ext cx="265176" cy="265176"/>
          </a:xfrm>
          <a:prstGeom prst="rect">
            <a:avLst/>
          </a:prstGeom>
          <a:solidFill>
            <a:srgbClr val="56B0A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536192" y="3474720"/>
            <a:ext cx="265176" cy="265176"/>
          </a:xfrm>
          <a:prstGeom prst="rect">
            <a:avLst/>
          </a:prstGeom>
          <a:solidFill>
            <a:srgbClr val="70BBB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801368" y="3474720"/>
            <a:ext cx="265176" cy="265176"/>
          </a:xfrm>
          <a:prstGeom prst="rect">
            <a:avLst/>
          </a:prstGeom>
          <a:solidFill>
            <a:srgbClr val="9BCEC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66543" y="3474720"/>
            <a:ext cx="265176" cy="265176"/>
          </a:xfrm>
          <a:prstGeom prst="rect">
            <a:avLst/>
          </a:prstGeom>
          <a:solidFill>
            <a:srgbClr val="46A99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331720" y="3474720"/>
            <a:ext cx="265176" cy="265176"/>
          </a:xfrm>
          <a:prstGeom prst="rect">
            <a:avLst/>
          </a:prstGeom>
          <a:solidFill>
            <a:srgbClr val="2A9D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596896" y="3474720"/>
            <a:ext cx="265176" cy="265176"/>
          </a:xfrm>
          <a:prstGeom prst="rect">
            <a:avLst/>
          </a:prstGeom>
          <a:solidFill>
            <a:srgbClr val="50AEA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862072" y="3474720"/>
            <a:ext cx="265176" cy="265176"/>
          </a:xfrm>
          <a:prstGeom prst="rect">
            <a:avLst/>
          </a:prstGeom>
          <a:solidFill>
            <a:srgbClr val="64B6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" y="3739896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96896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05840" y="3739896"/>
            <a:ext cx="265176" cy="265176"/>
          </a:xfrm>
          <a:prstGeom prst="rect">
            <a:avLst/>
          </a:prstGeom>
          <a:solidFill>
            <a:srgbClr val="9BCEC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271016" y="3739896"/>
            <a:ext cx="265176" cy="265176"/>
          </a:xfrm>
          <a:prstGeom prst="rect">
            <a:avLst/>
          </a:prstGeom>
          <a:solidFill>
            <a:srgbClr val="70BBB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536192" y="3739896"/>
            <a:ext cx="265176" cy="265176"/>
          </a:xfrm>
          <a:prstGeom prst="rect">
            <a:avLst/>
          </a:prstGeom>
          <a:solidFill>
            <a:srgbClr val="56B0A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801368" y="3739896"/>
            <a:ext cx="265176" cy="265176"/>
          </a:xfrm>
          <a:prstGeom prst="rect">
            <a:avLst/>
          </a:prstGeom>
          <a:solidFill>
            <a:srgbClr val="8CC8C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066543" y="3739896"/>
            <a:ext cx="265176" cy="265176"/>
          </a:xfrm>
          <a:prstGeom prst="rect">
            <a:avLst/>
          </a:prstGeom>
          <a:solidFill>
            <a:srgbClr val="64B6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31720" y="3739896"/>
            <a:ext cx="265176" cy="265176"/>
          </a:xfrm>
          <a:prstGeom prst="rect">
            <a:avLst/>
          </a:prstGeom>
          <a:solidFill>
            <a:srgbClr val="50AEA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596896" y="3739896"/>
            <a:ext cx="265176" cy="265176"/>
          </a:xfrm>
          <a:prstGeom prst="rect">
            <a:avLst/>
          </a:prstGeom>
          <a:solidFill>
            <a:srgbClr val="2A9D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862072" y="3739896"/>
            <a:ext cx="265176" cy="265176"/>
          </a:xfrm>
          <a:prstGeom prst="rect">
            <a:avLst/>
          </a:prstGeom>
          <a:solidFill>
            <a:srgbClr val="46A99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1792" y="4005072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62072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5840" y="4005072"/>
            <a:ext cx="265176" cy="265176"/>
          </a:xfrm>
          <a:prstGeom prst="rect">
            <a:avLst/>
          </a:prstGeom>
          <a:solidFill>
            <a:srgbClr val="70BBB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271016" y="4005072"/>
            <a:ext cx="265176" cy="265176"/>
          </a:xfrm>
          <a:prstGeom prst="rect">
            <a:avLst/>
          </a:prstGeom>
          <a:solidFill>
            <a:srgbClr val="52AEA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536192" y="4005072"/>
            <a:ext cx="265176" cy="265176"/>
          </a:xfrm>
          <a:prstGeom prst="rect">
            <a:avLst/>
          </a:prstGeom>
          <a:solidFill>
            <a:srgbClr val="2D9E9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01368" y="4005072"/>
            <a:ext cx="265176" cy="265176"/>
          </a:xfrm>
          <a:prstGeom prst="rect">
            <a:avLst/>
          </a:prstGeom>
          <a:solidFill>
            <a:srgbClr val="56B0A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066543" y="4005072"/>
            <a:ext cx="265176" cy="265176"/>
          </a:xfrm>
          <a:prstGeom prst="rect">
            <a:avLst/>
          </a:prstGeom>
          <a:solidFill>
            <a:srgbClr val="50AEA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331720" y="4005072"/>
            <a:ext cx="265176" cy="265176"/>
          </a:xfrm>
          <a:prstGeom prst="rect">
            <a:avLst/>
          </a:prstGeom>
          <a:solidFill>
            <a:srgbClr val="64B6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96896" y="4005072"/>
            <a:ext cx="265176" cy="265176"/>
          </a:xfrm>
          <a:prstGeom prst="rect">
            <a:avLst/>
          </a:prstGeom>
          <a:solidFill>
            <a:srgbClr val="46A99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862072" y="4005072"/>
            <a:ext cx="265176" cy="265176"/>
          </a:xfrm>
          <a:prstGeom prst="rect">
            <a:avLst/>
          </a:prstGeom>
          <a:solidFill>
            <a:srgbClr val="2A9D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4360" y="4343400"/>
            <a:ext cx="2532888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2A9D8F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200" b="1" baseline="-40000">
                <a:solidFill>
                  <a:srgbClr val="2A9D8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200" b="1" baseline="30000">
                <a:solidFill>
                  <a:srgbClr val="2A9D8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 × 空間（近いほど濃い）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76472" y="2148840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60520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60520" y="2148840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425696" y="2148840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690872" y="2148840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956048" y="2148840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221224" y="214884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486400" y="214884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751575" y="214884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016752" y="214884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776472" y="2414016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25696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60520" y="2414016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425696" y="2414016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690872" y="2414016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956048" y="2414016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221224" y="241401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486400" y="241401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751575" y="241401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016752" y="241401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776472" y="2679192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60520" y="2679192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425696" y="2679192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690872" y="2679192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956048" y="2679192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221224" y="267919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86400" y="267919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751575" y="267919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16752" y="267919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776472" y="2944368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956048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160520" y="2944368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425696" y="2944368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690872" y="2944368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956048" y="2944368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221224" y="2944368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486400" y="2944368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751575" y="2944368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016752" y="2944368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776472" y="3209544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221224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160520" y="3209544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25696" y="3209544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90872" y="3209544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956048" y="3209544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221224" y="3209544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486400" y="3209544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751575" y="3209544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016752" y="3209544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76472" y="3474720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486400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160520" y="347472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425696" y="347472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690872" y="347472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956048" y="347472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221224" y="3474720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86400" y="3474720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751575" y="3474720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016752" y="3474720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776472" y="3739896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51575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160520" y="373989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425696" y="373989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690872" y="373989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956048" y="373989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221224" y="3739896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486400" y="3739896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751575" y="3739896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016752" y="3739896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776472" y="4005072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016752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160520" y="400507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425696" y="400507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690872" y="400507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956048" y="400507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221224" y="4005072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486400" y="4005072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751575" y="4005072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016752" y="4005072"/>
            <a:ext cx="265176" cy="265176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749039" y="4343400"/>
            <a:ext cx="2532888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E76F51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200" b="1" baseline="-40000">
                <a:solidFill>
                  <a:srgbClr val="E76F51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200" b="1" baseline="30000">
                <a:solidFill>
                  <a:srgbClr val="E76F51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rPr>
              <a:t> × 同じ Scan 方向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31152" y="2148840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315200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315200" y="2148840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80375" y="214884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845552" y="214884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110727" y="214884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375904" y="2148840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641080" y="214884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906256" y="214884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171432" y="214884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931152" y="2414016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580375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315200" y="241401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580375" y="2414016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845552" y="241401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110727" y="241401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375904" y="241401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641080" y="2414016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906256" y="241401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1432" y="241401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931152" y="2679192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845552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7315200" y="267919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580375" y="267919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845552" y="2679192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110727" y="267919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375904" y="267919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641080" y="267919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906256" y="2679192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1432" y="267919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931152" y="2944368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110727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315200" y="2944368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580375" y="2944368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845552" y="2944368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110727" y="2944368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375904" y="2944368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641080" y="2944368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906256" y="2944368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171432" y="2944368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6931152" y="3209544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375904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315200" y="3209544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580375" y="3209544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845552" y="3209544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110727" y="3209544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375904" y="3209544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641080" y="3209544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906256" y="3209544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171432" y="3209544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6931152" y="3474720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641080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7315200" y="347472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580375" y="3474720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845552" y="347472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110727" y="347472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375904" y="347472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641080" y="3474720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906256" y="347472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171432" y="3474720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931152" y="3739896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906256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315200" y="373989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580375" y="373989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845552" y="3739896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110727" y="373989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375904" y="373989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641080" y="373989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8906256" y="3739896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171432" y="3739896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931152" y="4005072"/>
            <a:ext cx="365760" cy="265176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171432" y="1911095"/>
            <a:ext cx="265176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315200" y="400507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7580375" y="400507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845552" y="400507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10727" y="4005072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375904" y="400507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641080" y="400507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906256" y="4005072"/>
            <a:ext cx="265176" cy="265176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171432" y="4005072"/>
            <a:ext cx="265176" cy="265176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903720" y="4343400"/>
            <a:ext cx="2532888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8D6A9F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200" b="1" baseline="-40000">
                <a:solidFill>
                  <a:srgbClr val="8D6A9F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200" b="1" baseline="30000">
                <a:solidFill>
                  <a:srgbClr val="8D6A9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rPr>
              <a:t> × 同じ Mark 番号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200400" y="2926080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800" b="1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6355079" y="2926080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800" b="1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9829800" y="2148840"/>
            <a:ext cx="1810512" cy="2651760"/>
          </a:xfrm>
          <a:prstGeom prst="roundRect">
            <a:avLst>
              <a:gd name="adj" fmla="val 404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TextBox 252"/>
          <p:cNvSpPr txBox="1"/>
          <p:nvPr/>
        </p:nvSpPr>
        <p:spPr>
          <a:xfrm>
            <a:off x="9921240" y="224028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読み方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9921240" y="2606040"/>
            <a:ext cx="1645920" cy="21488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対角（自分）はすべての項が効く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A1 と B1：空間と Mark だけでつながる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A1 と A2：空間と Scan だけでつながる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Oval 255"/>
          <p:cNvSpPr/>
          <p:nvPr/>
        </p:nvSpPr>
        <p:spPr>
          <a:xfrm>
            <a:off x="749808" y="5522976"/>
            <a:ext cx="521207" cy="521207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∑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463040" y="534924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K = σ</a:t>
            </a:r>
            <a:r>
              <a:rPr sz="14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4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4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空間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 + τ</a:t>
            </a:r>
            <a:r>
              <a:rPr sz="14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4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 + τ</a:t>
            </a:r>
            <a:r>
              <a:rPr sz="14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4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（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・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は 0 と 1 の行列）。足しても正定値のまま（どの項も共分散になる形）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加法カーネル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変量効果として読む ― 同じ水準の点は「同じずれ」を共有する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601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 = β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+ f(x) + u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+ u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+ ε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,　 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~ N(0, τ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4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,　 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~ N(0, τ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4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5577840" cy="457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共分散を計算すると、加法カーネルそのものになる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5394960" cy="11430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Cov(y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, y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) = σ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7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ρ(r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ij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) + τ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7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δ(s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, s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) + τ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7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δ(m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, m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) + σ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7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7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7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ij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5577840" cy="10058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3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：Scan 方向ごとに1つの値（Scan 1 のずれ、Scan 2 のずれ）</a:t>
            </a:r>
          </a:p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3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：Mark 番号ごとに1つの値。同じ水準の点はすべて同じ値を足す</a:t>
            </a:r>
          </a:p>
          <a:p>
            <a:pPr algn="l" marL="181610" indent="-181610">
              <a:spcAft>
                <a:spcPts val="400"/>
              </a:spcAft>
              <a:buChar char="•"/>
            </a:pP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・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・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ε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は互いに独立と考える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2514600"/>
          <a:ext cx="5148071" cy="22677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4050791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τ が表すもの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方向によるずれの大きさ（標準偏差、nm）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Mark 番号によるずれの大きさ（標準偏差、nm）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 → 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その変数のずれは無い（項が消える）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5522976"/>
            <a:ext cx="521207" cy="521207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4924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固定効果は「ずれの値」をそのまま推定する。変量効果は「ずれの大きさ τ」を推定し、ずれの値はデータから予測する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加法カーネル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予測でどう効くか ― 3つの部分に分けられる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601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ŷ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*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= β̂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+ Σ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[σ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21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ρ(r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*i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) + τ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1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δ(s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*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, s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) + τ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1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δ(m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*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, m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)]α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,　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α = K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21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−1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(y − β̂</a:t>
            </a:r>
            <a:r>
              <a:rPr sz="21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D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3054096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空間の推定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55848"/>
            <a:ext cx="3236976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 σ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9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ρ(r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*i</a:t>
            </a:r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) α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9352"/>
            <a:ext cx="3054096" cy="6400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近くの学習点の情報で決まる滑らかな成分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827" y="269748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FB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67427" y="2880360"/>
            <a:ext cx="3054096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rPr>
              <a:t>Scan のずれの推定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5988" y="3355848"/>
            <a:ext cx="3236976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û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 = τ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9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 Σ α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7427" y="3959352"/>
            <a:ext cx="3054096" cy="6400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和は、Scan 方向が予測する点と同じ学習点について（同じ Scan の学習点すべてから求める）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5" y="2697480"/>
            <a:ext cx="3511296" cy="2011680"/>
          </a:xfrm>
          <a:prstGeom prst="roundRect">
            <a:avLst>
              <a:gd name="adj" fmla="val 3636"/>
            </a:avLst>
          </a:prstGeom>
          <a:solidFill>
            <a:srgbClr val="ECE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57615" y="2880360"/>
            <a:ext cx="3054096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7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rPr>
              <a:t>Mark のずれの推定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3355848"/>
            <a:ext cx="3236976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û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 = τ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9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 Σ α</a:t>
            </a:r>
            <a:r>
              <a:rPr sz="19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3959352"/>
            <a:ext cx="3054096" cy="6400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和は、Mark 番号が予測する点と同じ学習点について（同じ Mark の学習点すべてから求める）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37760"/>
            <a:ext cx="5449824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1280160" cy="11887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30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rPr>
              <a:t>縮む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937760"/>
            <a:ext cx="3749039" cy="11887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点が少ない水準・ノイズが大きいときは、ずれの推定が 0 の方へ縮む（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と 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3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の比で決まる）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4937760"/>
            <a:ext cx="5449824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73368" y="4937760"/>
            <a:ext cx="1280160" cy="11887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30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4937760"/>
            <a:ext cx="3749039" cy="11887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学習点に無い水準は 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δ = 0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なので、その項は効かない（平均に戻る）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02　加法カーネル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同時推定（固定効果）との違い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2" cy="3712464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4343400"/>
                <a:gridCol w="4370832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観点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同時推定（basis、固定効果）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加法カーネル（additive、変量効果）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効果の表し方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効果コード（水準の数 − 1 列）を平均に入れる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[同じ水準] をカーネルに足す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推定するもの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水準ごとの係数 β（一般化最小二乗）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ずれの大きさ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（尤度最大化）。ずれの値は予測する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点が少ない水準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そのまま推定する（ばらつきやすい）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 の方へ縮めて推定する（縮小推定）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効果が無いとき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係数は小さくなるが、推定の誤差の分だけ残る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が下限まで小さくなり、項がほぼ消える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学習点に無い水準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効果 0（全水準の平均として扱う）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効果 0（その項が効かない）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増えるもの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平均の係数（水準の数に応じて）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ハイパーパラメータ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（変数ごとに1つ）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5522976"/>
            <a:ext cx="521207" cy="521207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34924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混合（mixed）は、Mark 番号だけ変量効果（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5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）、Scan 方向などは固定効果（効果コード）にする中間の形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交互作用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交互作用とは ― 組み合わせでだけ現れるずれ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例：Scan 方向（行）× Mark 番号（列）ごとのずれ [nm]（説明用に作った数値）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4983480" cy="1645920"/>
        </p:xfrm>
        <a:graphic>
          <a:graphicData uri="http://schemas.openxmlformats.org/drawingml/2006/table">
            <a:tbl>
              <a:tblPr firstRow="0" bandRow="0"/>
              <a:tblGrid>
                <a:gridCol w="1143000"/>
                <a:gridCol w="960120"/>
                <a:gridCol w="960120"/>
                <a:gridCol w="960120"/>
                <a:gridCol w="96012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M4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+2.5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+0.0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-0.5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+2.0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+0.5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-2.0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-2.5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+0.0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11880"/>
            <a:ext cx="4983480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主効果だけ：各セル = 行のずれ + 列のずれ</a:t>
            </a:r>
          </a:p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（Scan を変えると、全 Mark が同じだけ動く）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56832" y="1874519"/>
          <a:ext cx="4983480" cy="1645920"/>
        </p:xfrm>
        <a:graphic>
          <a:graphicData uri="http://schemas.openxmlformats.org/drawingml/2006/table">
            <a:tbl>
              <a:tblPr firstRow="0" bandRow="0"/>
              <a:tblGrid>
                <a:gridCol w="1143000"/>
                <a:gridCol w="960120"/>
                <a:gridCol w="960120"/>
                <a:gridCol w="960120"/>
                <a:gridCol w="96012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M4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+2.5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+0.0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+1.5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+2.0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+0.5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-2.0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-2.5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+0.0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56832" y="3611880"/>
            <a:ext cx="4983480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交互作用あり：Scan 1 × M3 だけ +2.0 上乗せ</a:t>
            </a:r>
          </a:p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（Scan を変えたときの動きが Mark で違う）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19456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30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1091672" cy="1005840"/>
          </a:xfrm>
          <a:prstGeom prst="roundRect">
            <a:avLst>
              <a:gd name="adj" fmla="val 7272"/>
            </a:avLst>
          </a:prstGeom>
          <a:solidFill>
            <a:srgbClr val="FB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49808" y="4905755"/>
            <a:ext cx="521207" cy="521207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663440"/>
            <a:ext cx="9994392" cy="10058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主効果（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・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）だけでは、表の各行を平行に動かすことしかできない。特定の組み合わせの上乗せには、組み合わせごとのずれ 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sm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が要る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交互作用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交互作用の項 ― 「両方が同じなら τ²」を足す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601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k(z, z′) = σ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24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ρ(r) + τ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4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δ(s,s′) + τ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4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δ(m,m′) + τ</a:t>
            </a:r>
            <a:r>
              <a:rPr sz="24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sm</a:t>
            </a:r>
            <a:r>
              <a:rPr sz="24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δ(s,s′)δ(m,m′)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971800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71800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52728" y="2971800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99616" y="2971800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46504" y="2971800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93392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40280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34056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218688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218688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52728" y="3218688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99616" y="3218688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46504" y="3218688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93392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40280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87168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34056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465576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9616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3465576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52728" y="3465576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99616" y="3465576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46504" y="3465576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93392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40280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87168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34056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712464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46504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3712464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52728" y="3712464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99616" y="3712464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46504" y="3712464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93392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40280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87168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34056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3959352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93392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5840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52728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99616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746504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93392" y="3959352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40280" y="3959352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87168" y="3959352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34056" y="3959352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4206240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52728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99616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746504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993392" y="4206240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40280" y="4206240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487168" y="4206240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34056" y="4206240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4453128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87168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5840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52728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99616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46504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993392" y="4453128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40280" y="4453128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87168" y="4453128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34056" y="4453128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" y="4700016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34056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5840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252728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499616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746504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993392" y="4700016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240280" y="4700016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487168" y="4700016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34056" y="4700016"/>
            <a:ext cx="246888" cy="246888"/>
          </a:xfrm>
          <a:prstGeom prst="rect">
            <a:avLst/>
          </a:prstGeom>
          <a:solidFill>
            <a:srgbClr val="E76F5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5020056"/>
            <a:ext cx="2386584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E76F51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2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rPr>
              <a:t>：同じ Scan 方向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26664" y="3657600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400" b="1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19272" y="2971800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03320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703320" y="2971800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950208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197096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43983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690872" y="2971800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937760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184648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31536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319272" y="3218688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50208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703320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950208" y="3218688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197096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443983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690872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937760" y="3218688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184648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31536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19272" y="3465576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97096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703320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950208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197096" y="3465576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443983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90872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937760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184648" y="3465576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431536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319272" y="3712464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443983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703320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50208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197096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443983" y="3712464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690872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937760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184648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431536" y="3712464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319272" y="3959352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690872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703320" y="3959352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950208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197096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43983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0872" y="3959352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37760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184648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431536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319272" y="4206240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937760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703320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950208" y="4206240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197096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443983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690872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937760" y="4206240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184648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431536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319272" y="4453128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84648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703320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950208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197096" y="4453128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443983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690872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937760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184648" y="4453128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431536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319272" y="4700016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431536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703320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950208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197096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443983" y="4700016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690872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937760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184648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431536" y="4700016"/>
            <a:ext cx="246888" cy="246888"/>
          </a:xfrm>
          <a:prstGeom prst="rect">
            <a:avLst/>
          </a:prstGeom>
          <a:solidFill>
            <a:srgbClr val="8D6A9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291839" y="5020056"/>
            <a:ext cx="2386584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8D6A9F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2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rPr>
              <a:t>：同じ Mark 番号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724144" y="3657600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800" b="1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016752" y="2971800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400800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400800" y="2971800"/>
            <a:ext cx="246888" cy="246888"/>
          </a:xfrm>
          <a:prstGeom prst="rect">
            <a:avLst/>
          </a:prstGeom>
          <a:solidFill>
            <a:srgbClr val="9C741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647688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894576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141464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388352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635240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82128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9016" y="297180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016752" y="3218688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647688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400800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647688" y="3218688"/>
            <a:ext cx="246888" cy="246888"/>
          </a:xfrm>
          <a:prstGeom prst="rect">
            <a:avLst/>
          </a:prstGeom>
          <a:solidFill>
            <a:srgbClr val="9C741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894576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141464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88352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635240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882128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129016" y="321868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016752" y="3465576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94576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A3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400800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647688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894576" y="3465576"/>
            <a:ext cx="246888" cy="246888"/>
          </a:xfrm>
          <a:prstGeom prst="rect">
            <a:avLst/>
          </a:prstGeom>
          <a:solidFill>
            <a:srgbClr val="9C741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141464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388352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635240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882128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129016" y="346557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016752" y="3712464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141464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A4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400800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647688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894576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141464" y="3712464"/>
            <a:ext cx="246888" cy="246888"/>
          </a:xfrm>
          <a:prstGeom prst="rect">
            <a:avLst/>
          </a:prstGeom>
          <a:solidFill>
            <a:srgbClr val="9C741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388352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635240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882128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129016" y="3712464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016752" y="3959352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388352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400800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47688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94576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7141464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388352" y="3959352"/>
            <a:ext cx="246888" cy="246888"/>
          </a:xfrm>
          <a:prstGeom prst="rect">
            <a:avLst/>
          </a:prstGeom>
          <a:solidFill>
            <a:srgbClr val="9C741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635240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882128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129016" y="3959352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6016752" y="4206240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635240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B2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6400800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647688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894576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141464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88352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635240" y="4206240"/>
            <a:ext cx="246888" cy="246888"/>
          </a:xfrm>
          <a:prstGeom prst="rect">
            <a:avLst/>
          </a:prstGeom>
          <a:solidFill>
            <a:srgbClr val="9C741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882128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8129016" y="4206240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016752" y="4453128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882128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B3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400800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6647688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6894576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141464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388352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635240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882128" y="4453128"/>
            <a:ext cx="246888" cy="246888"/>
          </a:xfrm>
          <a:prstGeom prst="rect">
            <a:avLst/>
          </a:prstGeom>
          <a:solidFill>
            <a:srgbClr val="9C741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8129016" y="4453128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6016752" y="4700016"/>
            <a:ext cx="365760" cy="246888"/>
          </a:xfrm>
          <a:prstGeom prst="rect">
            <a:avLst/>
          </a:prstGeom>
          <a:noFill/>
        </p:spPr>
        <p:txBody>
          <a:bodyPr wrap="square" lIns="0" rIns="0" tIns="18288" bIns="18288" anchor="ctr"/>
          <a:lstStyle/>
          <a:p>
            <a:pPr algn="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129016" y="2734056"/>
            <a:ext cx="246888" cy="219456"/>
          </a:xfrm>
          <a:prstGeom prst="rect">
            <a:avLst/>
          </a:prstGeom>
          <a:noFill/>
        </p:spPr>
        <p:txBody>
          <a:bodyPr wrap="square" lIns="0" rIns="0" tIns="18288" bIns="18288" anchor="b"/>
          <a:lstStyle/>
          <a:p>
            <a:pPr algn="ctr"/>
            <a:r>
              <a:rPr sz="8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B4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6400800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47688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894576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141464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388352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635240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882128" y="4700016"/>
            <a:ext cx="246888" cy="246888"/>
          </a:xfrm>
          <a:prstGeom prst="rect">
            <a:avLst/>
          </a:prstGeom>
          <a:solidFill>
            <a:srgbClr val="F3F4F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29016" y="4700016"/>
            <a:ext cx="246888" cy="246888"/>
          </a:xfrm>
          <a:prstGeom prst="rect">
            <a:avLst/>
          </a:prstGeom>
          <a:solidFill>
            <a:srgbClr val="9C741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989320" y="5020056"/>
            <a:ext cx="2386584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9C7412"/>
                </a:solidFill>
                <a:latin typeface="Times New Roman"/>
                <a:ea typeface="Times New Roman"/>
                <a:cs typeface="Times New Roman"/>
              </a:rPr>
              <a:t>S⊙M</a:t>
            </a:r>
            <a:r>
              <a:rPr sz="1200" b="1">
                <a:solidFill>
                  <a:srgbClr val="9C7412"/>
                </a:solidFill>
                <a:latin typeface="BIZ UDGothic"/>
                <a:ea typeface="BIZ UDGothic"/>
                <a:cs typeface="BIZ UDGothic"/>
              </a:rPr>
              <a:t>：両方が同じ（要素ごとの積）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8823960" y="2697480"/>
            <a:ext cx="2816352" cy="3291840"/>
          </a:xfrm>
          <a:prstGeom prst="roundRect">
            <a:avLst>
              <a:gd name="adj" fmla="val 2597"/>
            </a:avLst>
          </a:prstGeom>
          <a:solidFill>
            <a:srgbClr val="FB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TextBox 253"/>
          <p:cNvSpPr txBox="1"/>
          <p:nvPr/>
        </p:nvSpPr>
        <p:spPr>
          <a:xfrm>
            <a:off x="8961120" y="2788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9C7412"/>
                </a:solidFill>
                <a:latin typeface="BIZ UDGothic"/>
                <a:ea typeface="BIZ UDGothic"/>
                <a:cs typeface="BIZ UDGothic"/>
              </a:rPr>
              <a:t>変量効果で読むと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8961120" y="3200400"/>
            <a:ext cx="2560320" cy="27432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「同じ Scan で同じ Mark」の組ごとのずれ 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2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sm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 ~ N(0, τ</a:t>
            </a:r>
            <a:r>
              <a:rPr sz="12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sm</a:t>
            </a:r>
            <a:r>
              <a:rPr sz="1200" b="0" baseline="3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を足す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この8点では Shot A と B の Scan が違うので、両方が同じなのは自分だけ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実際の Wafer では、同じ Scan 方向の別の Shot の同じ Mark どうし（例：A1 と、2つ隣の Shot の Mark 1）がつながる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交互作用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選んだ質的変数の全ペアを入れる（3つ以上の積は入れない）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601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 = σ</a:t>
            </a:r>
            <a:r>
              <a:rPr sz="26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26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ρ(r) + Σ</a:t>
            </a:r>
            <a:r>
              <a:rPr sz="26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2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τ</a:t>
            </a:r>
            <a:r>
              <a:rPr sz="26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26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26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2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+ Σ</a:t>
            </a:r>
            <a:r>
              <a:rPr sz="26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f&lt;g</a:t>
            </a:r>
            <a:r>
              <a:rPr sz="2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τ</a:t>
            </a:r>
            <a:r>
              <a:rPr sz="26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fg</a:t>
            </a:r>
            <a:r>
              <a:rPr sz="26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26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2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26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697480"/>
          <a:ext cx="11091671" cy="2011680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1737360"/>
                <a:gridCol w="3749039"/>
                <a:gridCol w="176479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選んだ質的変数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主効果の τ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交互作用の τ（ペア）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τ の合計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方向・Mark 番号（初期設定）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1（Scan×Mark）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＋ Shot 行の奇偶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3（Scan×Mark、Scan×行、Mark×行）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6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＋ その他の列（例：Chuck）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4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6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892040"/>
            <a:ext cx="3511296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31520" y="5074920"/>
            <a:ext cx="457200" cy="457200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0292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変数が p 個なら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39496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主効果 p 個 ＋ 交互作用 p(p−1)/2 個の τ を推定する。多いほど最適化に時間がかかる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827" y="4892040"/>
            <a:ext cx="3511296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521707" y="5074920"/>
            <a:ext cx="457200" cy="457200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6067" y="50292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学習点で水準が1つの変数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6067" y="539496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その変数と、その変数を含むペアは使わない（推定できないため）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5" y="4892040"/>
            <a:ext cx="3511296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311895" y="5074920"/>
            <a:ext cx="457200" cy="457200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5" y="50292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3つ以上の積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5" y="539496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Scan×Mark×行 のような3変数の組み合わせは入れない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03　交互作用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ほかの「＋交互作用」との違い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11296" cy="3657600"/>
          </a:xfrm>
          <a:prstGeom prst="roundRect">
            <a:avLst>
              <a:gd name="adj" fmla="val 2083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054096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800" b="1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同時推定＋交互作用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054096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basis_int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054096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平均に入れる（固定効果）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3236976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h = [1, c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, c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, c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⊙c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3054096" cy="12801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効果コードの列どうしの積を、平均の基底に加える。組み合わせごとの係数をそのまま推定する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827" y="1463040"/>
            <a:ext cx="3511296" cy="3657600"/>
          </a:xfrm>
          <a:prstGeom prst="roundRect">
            <a:avLst>
              <a:gd name="adj" fmla="val 2083"/>
            </a:avLst>
          </a:prstGeom>
          <a:solidFill>
            <a:srgbClr val="D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67427" y="1600200"/>
            <a:ext cx="3054096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8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加法カーネル＋交互作用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7427" y="2011680"/>
            <a:ext cx="3054096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additive_int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7427" y="2423160"/>
            <a:ext cx="3054096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カーネルに入れる（変量効果）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5988" y="2880360"/>
            <a:ext cx="3236976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+ τ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sm</a:t>
            </a:r>
            <a:r>
              <a:rPr sz="16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δ(s,s′)δ(m,m′)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7427" y="3749039"/>
            <a:ext cx="3054096" cy="12801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主効果も交互作用もカーネルの項。平均は定数だけ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5" y="1463040"/>
            <a:ext cx="3511296" cy="3657600"/>
          </a:xfrm>
          <a:prstGeom prst="roundRect">
            <a:avLst>
              <a:gd name="adj" fmla="val 2083"/>
            </a:avLst>
          </a:prstGeom>
          <a:solidFill>
            <a:srgbClr val="ECE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5" y="1600200"/>
            <a:ext cx="3054096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8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rPr>
              <a:t>混合＋交互作用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011680"/>
            <a:ext cx="3054096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6C6F7F"/>
                </a:solidFill>
                <a:latin typeface="Times New Roman"/>
                <a:ea typeface="Times New Roman"/>
                <a:cs typeface="Times New Roman"/>
              </a:rPr>
              <a:t>mixed_int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2423160"/>
            <a:ext cx="3054096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主効果は混合、交互作用はカーネル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880360"/>
            <a:ext cx="3236976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h = [1, c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]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 ,　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+ τ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6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 + τ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sm</a:t>
            </a:r>
            <a:r>
              <a:rPr sz="1600" b="0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600" b="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600" b="0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3749039"/>
            <a:ext cx="3054096" cy="12801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Mark 以外の主効果は効果コード（固定）、Mark の主効果と全ペアの交互作用はカーネル（変量）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49808" y="5522976"/>
            <a:ext cx="521207" cy="521207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4924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4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・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4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は効果コード（和が 0 になる 0・±1 の列）、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⊙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は列どうしの要素ごとの積。交互作用は平均に入れると係数が増え、カーネルに入れると 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が1つ増える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計算例と使い方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ハイパーパラメータの推定 ― τ も一緒に尤度で選ぶ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601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3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−log L(θ) = ½(y − Hβ̂)</a:t>
            </a:r>
            <a:r>
              <a:rPr sz="23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3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3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23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−1</a:t>
            </a:r>
            <a:r>
              <a:rPr sz="23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(y − Hβ̂) + ½ log|K</a:t>
            </a:r>
            <a:r>
              <a:rPr sz="23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23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| + (n/2) log 2π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651760"/>
          <a:ext cx="8229600" cy="2377440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2468880"/>
                <a:gridCol w="27432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ハイパーパラメータ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初期値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探す範囲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長さスケール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ℓ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説明変数の標準偏差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3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−3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〜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3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空間の大きさ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</a:t>
                      </a:r>
                      <a:r>
                        <a:rPr sz="13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std(y)/√2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3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−3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〜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3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×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std(y)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質的変数の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（項ごと）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 × std(y)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3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−4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〜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×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std(y)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ノイズ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</a:t>
                      </a:r>
                      <a:r>
                        <a:rPr sz="13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std(y)/√2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3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〜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×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std(y)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052560" y="2651760"/>
            <a:ext cx="2587752" cy="2377440"/>
          </a:xfrm>
          <a:prstGeom prst="roundRect">
            <a:avLst>
              <a:gd name="adj" fmla="val 3076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89720" y="27432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探し方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108960"/>
            <a:ext cx="2377440" cy="1874519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対数の値 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= (log 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, log 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2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, log 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2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…, log 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12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) を、上下限つきの L-BFGS で動かす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勾配：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∂K/∂ log τ</a:t>
            </a:r>
            <a:r>
              <a:rPr sz="12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 = 2τ</a:t>
            </a:r>
            <a:r>
              <a:rPr sz="12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200" b="0" baseline="3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2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（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200" b="0" baseline="-4000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は 0・1 の行列）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49808" y="5522976"/>
            <a:ext cx="521207" cy="521207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34924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β（平均）は一般化最小二乗で消去して、ハイパーパラメータだけを探す。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が下限（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4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−4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× 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std(y)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）に張り付いたら「その変数のずれは無い」と読める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計算例と使い方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計算例 ① ― 模擬データで推定したハイパーパラメータ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模擬データ（同梱の sample_alignment.csv）SIM01 (EXP01)・I最適 15 Shot（学習 60 点）・GPR matern52・説明変数 X,Y,半径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2" cy="3145536"/>
        </p:xfrm>
        <a:graphic>
          <a:graphicData uri="http://schemas.openxmlformats.org/drawingml/2006/table">
            <a:tbl>
              <a:tblPr firstRow="0" bandRow="0"/>
              <a:tblGrid>
                <a:gridCol w="3959352"/>
                <a:gridCol w="1783080"/>
                <a:gridCol w="1783080"/>
                <a:gridCol w="1783080"/>
                <a:gridCol w="1783080"/>
              </a:tblGrid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ハイパーパラメータ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X：加法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X：加法＋交互作用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Y：加法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Y：加法＋交互作用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長さスケール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ℓ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（半径で割った単位）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0.124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0.124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0.464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0.481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空間の大きさ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</a:t>
                      </a:r>
                      <a:r>
                        <a:rPr sz="13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[nm]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2.89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2.89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10.77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10.47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方向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[nm]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0.62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0.62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≈0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≈0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Mark 番号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[nm]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1.32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1.32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0.83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≈0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Scan×Mark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[nm]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—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≈0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—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1.34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BF1D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ノイズ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</a:t>
                      </a:r>
                      <a:r>
                        <a:rPr sz="13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[nm]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1.02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1.05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評価点の RMSE [nm]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2.01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2.01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2.86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2.97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74920"/>
            <a:ext cx="11091672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≈0：0.01 nm 未満（探す範囲の下限の近くまで小さくなった値）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49808" y="5568696"/>
            <a:ext cx="521207" cy="521207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394960"/>
            <a:ext cx="9994392" cy="8686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X：交互作用の無いデータなので 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4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sm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≈ 0。Y（加法＋交互作用）：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4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・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4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が ≈0 になり、代わりに 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4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sm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= 1.34 nm。組み合わせごとのずれ（8 通り）は主効果も表せるので、どちらに割り振るかは尤度しだい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計算例と使い方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計算例 ② ― 2点の共分散は、どの項でつながるか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基準の点：評価点の1つ（Scan 1・Mark 3、x = 10.0 mm, y = 142.0 mm）と、近くの4種類の点（加法カーネル＋交互作用、X 成分）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91672" cy="274320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1143000"/>
                <a:gridCol w="1325880"/>
                <a:gridCol w="1325880"/>
                <a:gridCol w="1325880"/>
                <a:gridCol w="1188720"/>
                <a:gridCol w="12161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相手の点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距離 [mm]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空間 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</a:t>
                      </a:r>
                      <a:r>
                        <a:rPr sz="1300" b="1" baseline="-4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</a:t>
                      </a:r>
                      <a:r>
                        <a:rPr sz="1300" b="1" baseline="3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ρ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1" baseline="-4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sz="1300" b="1" baseline="3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Mark 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300" b="1" baseline="-4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sz="1300" b="1" baseline="30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Scan×Mark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合計 [nm²]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同じ Shot・別の Mark（Scan 同じ）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20.0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4.03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0.39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4.42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別の Shot・同じ Mark・Scan 違う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22.0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3.56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1.75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5.30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別の Shot・同じ Mark・Scan 同じ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26.0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1.21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0.39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1.75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3.35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別の Shot・別の Mark・Scan 違う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2.0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8.28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8.28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（自分自身）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8.36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0.39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1.75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10.49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49808" y="5454396"/>
            <a:ext cx="521207" cy="521207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257800"/>
            <a:ext cx="9994392" cy="9144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同じ Mark 番号の点は、離れていても 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5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でつながる。Scan 方向が同じなら さらに </a:t>
            </a:r>
            <a:r>
              <a:rPr sz="15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500" b="1" baseline="-4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500" b="1" baseline="30000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5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。空間の項だけでは、離れた点どうしは ほぼ つながらない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計算例と使い方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計算例 ③ ― 1点の推定値の内訳と、推定した水準のずれ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41732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41732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β̂₀（平均）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417320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+0.35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508760"/>
            <a:ext cx="320040" cy="12344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508760"/>
            <a:ext cx="141732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86000" y="1572768"/>
            <a:ext cx="141732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空間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65960"/>
            <a:ext cx="1417320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600" b="1">
                <a:solidFill>
                  <a:srgbClr val="2A9D8F"/>
                </a:solidFill>
                <a:latin typeface="BIZ UDGothic"/>
                <a:ea typeface="BIZ UDGothic"/>
                <a:cs typeface="BIZ UDGothic"/>
              </a:rPr>
              <a:t>+4.55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508760"/>
            <a:ext cx="320040" cy="12344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59" y="1508760"/>
            <a:ext cx="141732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023359" y="1572768"/>
            <a:ext cx="141732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Scan のずれ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59" y="1965960"/>
            <a:ext cx="1417320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600" b="1">
                <a:solidFill>
                  <a:srgbClr val="E76F51"/>
                </a:solidFill>
                <a:latin typeface="BIZ UDGothic"/>
                <a:ea typeface="BIZ UDGothic"/>
                <a:cs typeface="BIZ UDGothic"/>
              </a:rPr>
              <a:t>+0.35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1508760"/>
            <a:ext cx="320040" cy="12344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19" y="1508760"/>
            <a:ext cx="141732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760719" y="1572768"/>
            <a:ext cx="141732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Mark のずれ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19" y="1965960"/>
            <a:ext cx="1417320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600" b="1">
                <a:solidFill>
                  <a:srgbClr val="8D6A9F"/>
                </a:solidFill>
                <a:latin typeface="BIZ UDGothic"/>
                <a:ea typeface="BIZ UDGothic"/>
                <a:cs typeface="BIZ UDGothic"/>
              </a:rPr>
              <a:t>-0.51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39" y="1508760"/>
            <a:ext cx="320040" cy="12344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508760"/>
            <a:ext cx="141732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98079" y="1572768"/>
            <a:ext cx="141732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Scan×Mark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965960"/>
            <a:ext cx="1417320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600" b="1">
                <a:solidFill>
                  <a:srgbClr val="9C7412"/>
                </a:solidFill>
                <a:latin typeface="BIZ UDGothic"/>
                <a:ea typeface="BIZ UDGothic"/>
                <a:cs typeface="BIZ UDGothic"/>
              </a:rPr>
              <a:t>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508760"/>
            <a:ext cx="320040" cy="12344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=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1508760"/>
            <a:ext cx="1783080" cy="1234440"/>
          </a:xfrm>
          <a:prstGeom prst="roundRect">
            <a:avLst>
              <a:gd name="adj" fmla="val 5925"/>
            </a:avLst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35440" y="1572768"/>
            <a:ext cx="178308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推定値 [nm]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965960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+4.74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34640"/>
            <a:ext cx="11091672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（この点の実測値は +5.63 nm。単位 nm、X 成分）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3337560"/>
          <a:ext cx="7342632" cy="1371600"/>
        </p:xfrm>
        <a:graphic>
          <a:graphicData uri="http://schemas.openxmlformats.org/drawingml/2006/table">
            <a:tbl>
              <a:tblPr firstRow="0" bandRow="0"/>
              <a:tblGrid>
                <a:gridCol w="3429000"/>
                <a:gridCol w="978408"/>
                <a:gridCol w="978408"/>
                <a:gridCol w="978408"/>
                <a:gridCol w="978408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Mark 番号のずれ [nm]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M4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加法カーネル（変量効果の予測 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û</a:t>
                      </a:r>
                      <a:r>
                        <a:rPr sz="13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0.00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-1.29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-0.51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+1.80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同時推定（固定効果の係数）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+0.01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-1.63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-0.60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+2.22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8366760" y="3337560"/>
          <a:ext cx="3273552" cy="137160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813816"/>
                <a:gridCol w="81381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方向のずれ [nm]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1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Scan 2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加法カーネル 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û</a:t>
                      </a:r>
                      <a:r>
                        <a:rPr sz="12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+0.35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-0.35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同時推定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+0.83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-0.83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749808" y="5340096"/>
            <a:ext cx="521207" cy="521207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074920"/>
            <a:ext cx="9994392" cy="10515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変量効果の予測は、固定効果の係数より 0 に近い（この例で Mark は約 8 割、Scan は約 4 割の大きさ）。符号と並びは同じ。</a:t>
            </a:r>
            <a:r>
              <a:rPr sz="1400" b="1">
                <a:solidFill>
                  <a:srgbClr val="22223B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 が小さい変数ほど強く縮むのが目安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計算例と使い方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計算例 ④ ― 質的変数の扱い方で、推定誤差はどう変わるか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19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7680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463040"/>
            <a:ext cx="3136392" cy="4572000"/>
          </a:xfrm>
          <a:prstGeom prst="roundRect">
            <a:avLst>
              <a:gd name="adj" fmla="val 2332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41080" y="1554480"/>
            <a:ext cx="2880360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920240"/>
            <a:ext cx="2880360" cy="4023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質的変数を使わないと、Scan・Mark のずれが残り、誤差が大きい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固定効果（同時推定）と変量効果（加法カーネル）は、どちらもずれを取り込める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交互作用の無いデータなので、＋交互作用では良くならない（推定する </a:t>
            </a:r>
            <a:r>
              <a:rPr sz="12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が増える分、少し悪くなることもある）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この例で 15 Shot の最小は「加法カーネル」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計算例と使い方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アプリでの場所 ― どの関数が、どの項を作るか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2" cy="3200400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3794760"/>
                <a:gridCol w="482803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役割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関数（+alignest/+models）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中身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4A4E6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扱い方の一覧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gprFactorModes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8通りの名前と画面の表示名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項（0・1 の行列）を作る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gprModeSetup（factorDesigns・component）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主効果は [水準が同じ]、交互作用は2つの行列の要素ごとの積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カーネルを計算する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gprKernel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空間のカーネル ＋ Σ 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2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× [同じ水準] の行列。勾配も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初期値・範囲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gprInitialParams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τ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は 0.2 × std(y) から、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200" b="0" baseline="3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−4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〜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× std(y) の範囲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尤度と勾配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gprObjective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β を消去した負の対数周辺尤度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予測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gprPredict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Hβ̂ + K</a:t>
                      </a:r>
                      <a:r>
                        <a:rPr sz="12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*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α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（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sz="1200" b="0" baseline="-40000">
                          <a:solidFill>
                            <a:srgbClr val="22223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*</a:t>
                      </a:r>
                      <a:r>
                        <a:rPr sz="1200" b="0">
                          <a:solidFill>
                            <a:srgbClr val="22223B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 に質的変数の項も入る）</a:t>
                      </a: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ADDE6"/>
                      </a:solidFill>
                      <a:prstDash val="solid"/>
                    </a:lnL>
                    <a:lnR w="9525" cap="flat" cmpd="sng" algn="ctr">
                      <a:solidFill>
                        <a:srgbClr val="DADDE6"/>
                      </a:solidFill>
                      <a:prstDash val="solid"/>
                    </a:lnR>
                    <a:lnT w="9525" cap="flat" cmpd="sng" algn="ctr">
                      <a:solidFill>
                        <a:srgbClr val="DADDE6"/>
                      </a:solidFill>
                      <a:prstDash val="solid"/>
                    </a:lnT>
                    <a:lnB w="9525" cap="flat" cmpd="sng" algn="ctr">
                      <a:solidFill>
                        <a:srgbClr val="DADD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846320"/>
            <a:ext cx="351129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4919472"/>
            <a:ext cx="3145536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3145536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「2. 評価の設定」の GPR の「質的変数の扱い」で、加法カーネル・加法カーネル＋交互作用を選ぶ（複数選ぶと比べる）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827" y="4846320"/>
            <a:ext cx="351129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1707" y="4919472"/>
            <a:ext cx="3145536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質的変数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707" y="5257800"/>
            <a:ext cx="3145536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使う変数は「質的変数」で選ぶ（X 成分・Y 成分で別にもできる）。Shot 行の奇偶・その他の列も同じ形の項になる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5" y="4846320"/>
            <a:ext cx="351129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11895" y="4919472"/>
            <a:ext cx="3145536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4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5" y="5257800"/>
            <a:ext cx="3145536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5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「Waferごと」の「ハイパーパラメータ」に tau_scan_X・tau_mark_X・tau_scan_mark_X（Y も）として出る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00" b="1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04　計算例と使い方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使い分けと注意点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効かない変数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054096" cy="11430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が下限へ小さくなり、自動で弱まる。ただし 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の数だけ計算が増える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827" y="146304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7427" y="1691640"/>
            <a:ext cx="548640" cy="54864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3227" y="169164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水準が1つ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7427" y="2377440"/>
            <a:ext cx="3054096" cy="11430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学習点で水準が1つしかない変数（Scan 方向が1種類など）は使わない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5" y="146304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7615" y="1691640"/>
            <a:ext cx="548640" cy="548640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5" y="169164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同じ分け方の変数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2377440"/>
            <a:ext cx="3054096" cy="11430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Scan 方向と Shot 行の奇偶が同じ分け方だと、同じ行列が2つ。どちらに割り振るか決まらない（予測は同じ）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9C7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6908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主効果と交互作用の重なり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4880"/>
            <a:ext cx="3054096" cy="11430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組み合わせごとのずれは主効果も表せる。</a:t>
            </a:r>
            <a:r>
              <a:rPr sz="1300" b="0">
                <a:solidFill>
                  <a:srgbClr val="4A4E69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 の割り振りが変わっても、予測は近い（計算例①の Y）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827" y="384048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7427" y="4069080"/>
            <a:ext cx="548640" cy="548640"/>
          </a:xfrm>
          <a:prstGeom prst="ellipse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3227" y="406908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学習に無い水準・組み合わせ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7427" y="4754880"/>
            <a:ext cx="3054096" cy="11430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その項は効かず、平均に戻る。交互作用は、組み合わせが学習 Shot にそろっていると効く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9015" y="384048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A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7615" y="406908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3415" y="406908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選び方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4754880"/>
            <a:ext cx="3054096" cy="11430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4A4E69"/>
                </a:solidFill>
                <a:latin typeface="BIZ UDGothic"/>
                <a:ea typeface="BIZ UDGothic"/>
                <a:cs typeface="BIZ UDGothic"/>
              </a:rPr>
              <a:t>結果一覧の RMSE・基準の手法との比較で、使わない・同時推定・加法カーネル（＋交互作用）を比べる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1091672" cy="7315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まとめと次のステップ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709928"/>
            <a:ext cx="502920" cy="50292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00200"/>
            <a:ext cx="5394960" cy="7315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加法カーネル = 空間のカーネル ＋ 変数ごとの </a:t>
            </a:r>
            <a:r>
              <a:rPr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7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7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（同じ水準なら </a:t>
            </a:r>
            <a:r>
              <a:rPr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7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7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）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79191"/>
            <a:ext cx="5394960" cy="7315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水準ごとのずれを変量効果として扱う。ずれは予測され、情報が少ないと 0 へ縮む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867911"/>
            <a:ext cx="502920" cy="502920"/>
          </a:xfrm>
          <a:prstGeom prst="ellipse">
            <a:avLst/>
          </a:prstGeom>
          <a:solidFill>
            <a:srgbClr val="8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58183"/>
            <a:ext cx="5394960" cy="7315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＋交互作用 = 全ペアの </a:t>
            </a:r>
            <a:r>
              <a:rPr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7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fg</a:t>
            </a:r>
            <a:r>
              <a:rPr sz="17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7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700" b="0" baseline="-4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7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（両方が同じなら </a:t>
            </a:r>
            <a:r>
              <a:rPr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700" b="0" baseline="30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7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）。3変数の積は入れない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946904"/>
            <a:ext cx="502920" cy="50292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837176"/>
            <a:ext cx="5394960" cy="7315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7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 は空間のハイパーパラメータと一緒に尤度で推定。主効果と交互作用でずれを分け合うことがあるので、</a:t>
            </a:r>
            <a:r>
              <a:rPr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700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 はまとめて読む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463040"/>
            <a:ext cx="4553712" cy="4572000"/>
          </a:xfrm>
          <a:prstGeom prst="roundRect">
            <a:avLst>
              <a:gd name="adj" fmla="val 1606"/>
            </a:avLst>
          </a:prstGeom>
          <a:solidFill>
            <a:srgbClr val="343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360920" y="1691640"/>
            <a:ext cx="594360" cy="5943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273552" cy="59436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次のステップ：実データで確かめる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0" y="2697480"/>
            <a:ext cx="384048" cy="384048"/>
          </a:xfrm>
          <a:prstGeom prst="ellipse">
            <a:avLst/>
          </a:prstGeom>
          <a:solidFill>
            <a:srgbClr val="A9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569464"/>
            <a:ext cx="341071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5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結果一覧で、使わない・同時推定・加法カーネル（＋交互作用）の RMSE を比べる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3538728"/>
            <a:ext cx="384048" cy="384048"/>
          </a:xfrm>
          <a:prstGeom prst="ellipse">
            <a:avLst/>
          </a:prstGeom>
          <a:solidFill>
            <a:srgbClr val="A9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410712"/>
            <a:ext cx="341071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5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Excel の tau_scan・tau_mark・tau_scan_mark を見て、効いている変数を確かめる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4379976"/>
            <a:ext cx="384048" cy="384048"/>
          </a:xfrm>
          <a:prstGeom prst="ellipse">
            <a:avLst/>
          </a:prstGeom>
          <a:solidFill>
            <a:srgbClr val="A9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251960"/>
            <a:ext cx="341071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50" b="0">
                <a:solidFill>
                  <a:srgbClr val="D9DBEA"/>
                </a:solidFill>
                <a:latin typeface="Times New Roman"/>
                <a:ea typeface="Times New Roman"/>
                <a:cs typeface="Times New Roman"/>
              </a:rPr>
              <a:t>τ</a:t>
            </a:r>
            <a:r>
              <a:rPr sz="1350" b="0" baseline="-40000">
                <a:solidFill>
                  <a:srgbClr val="D9DBEA"/>
                </a:solidFill>
                <a:latin typeface="Times New Roman"/>
                <a:ea typeface="Times New Roman"/>
                <a:cs typeface="Times New Roman"/>
              </a:rPr>
              <a:t>sm</a:t>
            </a:r>
            <a:r>
              <a:rPr sz="135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 が大きく RMSE も良くなれば、交互作用を残す</a:t>
            </a:r>
          </a:p>
        </p:txBody>
      </p:sp>
      <p:sp>
        <p:nvSpPr>
          <p:cNvPr id="20" name="Oval 19"/>
          <p:cNvSpPr/>
          <p:nvPr/>
        </p:nvSpPr>
        <p:spPr>
          <a:xfrm>
            <a:off x="7406640" y="5221224"/>
            <a:ext cx="384048" cy="384048"/>
          </a:xfrm>
          <a:prstGeom prst="ellipse">
            <a:avLst/>
          </a:prstGeom>
          <a:solidFill>
            <a:srgbClr val="A9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093208"/>
            <a:ext cx="341071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50" b="0">
                <a:solidFill>
                  <a:srgbClr val="D9DBEA"/>
                </a:solidFill>
                <a:latin typeface="BIZ UDGothic"/>
                <a:ea typeface="BIZ UDGothic"/>
                <a:cs typeface="BIZ UDGothic"/>
              </a:rPr>
              <a:t>効かない変数は外して、計算を軽くする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A9ACC6"/>
                </a:solidFill>
                <a:latin typeface="BIZ UDGothic"/>
                <a:ea typeface="BIZ UDGothic"/>
                <a:cs typeface="BIZ UD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800" b="1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加法カーネルと交互作用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73952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1000" b="0">
                <a:solidFill>
                  <a:srgbClr val="6C6F7F"/>
                </a:solidFill>
                <a:latin typeface="BIZ UDGothic"/>
                <a:ea typeface="BIZ UDGothic"/>
                <a:cs typeface="BIZ UDGothic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40233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22223B"/>
                </a:solidFill>
                <a:latin typeface="Arial"/>
                <a:ea typeface="Arial"/>
                <a:cs typeface="Arial"/>
              </a:rPr>
              <a:t>[1]  C. E. Rasmussen, C. K. I. Williams (2006). Gaussian Processes for Machine Learning. MIT Press.（4章：カーネルの和・積）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22223B"/>
                </a:solidFill>
                <a:latin typeface="Arial"/>
                <a:ea typeface="Arial"/>
                <a:cs typeface="Arial"/>
              </a:rPr>
              <a:t>[2]  P. Z. G. Qian, H. Wu, C. F. J. Wu (2008). Gaussian process models for computer experiments with qualitative and quantitative factors. Technometrics, 50(3), 383–396.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22223B"/>
                </a:solidFill>
                <a:latin typeface="Arial"/>
                <a:ea typeface="Arial"/>
                <a:cs typeface="Arial"/>
              </a:rPr>
              <a:t>[3]  O. Roustant, E. Padonou, Y. Deville, A. Clément, G. Perrin, J. Giorla, H. Wynn (2020). Group kernels for Gaussian process metamodels with categorical inputs. SIAM/ASA Journal on Uncertainty Quantification, 8(2), 775–806.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22223B"/>
                </a:solidFill>
                <a:latin typeface="Arial"/>
                <a:ea typeface="Arial"/>
                <a:cs typeface="Arial"/>
              </a:rPr>
              <a:t>[4]  G. K. Robinson (1991). That BLUP is a good thing: the estimation of random effects. Statistical Science, 6(1), 15–32.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22223B"/>
                </a:solidFill>
                <a:latin typeface="Arial"/>
                <a:ea typeface="Arial"/>
                <a:cs typeface="Arial"/>
              </a:rPr>
              <a:t>[5]  D. Duvenaud (2014). Automatic Model Construction with Gaussian Processes. PhD thesis, University of Cambridge.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22223B"/>
                </a:solidFill>
                <a:latin typeface="Arial"/>
                <a:ea typeface="Arial"/>
                <a:cs typeface="Arial"/>
              </a:rPr>
              <a:t>[6]  MathWorks. fitrgp（Gaussian process regression model）documentation. MATLAB R2022b.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1428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31520" y="5605272"/>
            <a:ext cx="493776" cy="493776"/>
          </a:xfrm>
          <a:prstGeom prst="ellipse">
            <a:avLst/>
          </a:prstGeom>
          <a:solidFill>
            <a:srgbClr val="4A4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532120"/>
            <a:ext cx="10085832" cy="64008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0">
                <a:solidFill>
                  <a:srgbClr val="22223B"/>
                </a:solidFill>
                <a:latin typeface="BIZ UDGothic"/>
                <a:ea typeface="BIZ UDGothic"/>
                <a:cs typeface="BIZ UDGothic"/>
              </a:rPr>
              <a:t>本資料の式は、アプリの実装（matlab_app/+alignest/+models の gprModeSetup・gprKernel・gprInitialParams・gprObjective）に合わせた。計算例は同梱の模擬データを MATLAB R2022b で計算した値。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加法カーネルと交互作用の解説</dc:title>
  <dc:subject>アプリの GPR の質的変数の扱い（加法カーネル・交互作用）の解説</dc:subject>
  <dc:creator>alignment-estimation-benchmark</dc:creator>
  <cp:lastModifiedBy>alignment-estimation-benchmark</cp:lastModifiedBy>
  <cp:revision>1</cp:revision>
  <dcterms:created xsi:type="dcterms:W3CDTF">2026-09-13T09:19:14Z</dcterms:created>
  <dcterms:modified xsi:type="dcterms:W3CDTF">2026-09-13T09:19:14Z</dcterms:modified>
</cp:coreProperties>
</file>