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bdc425ce28f4785" /><Relationship Type="http://schemas.openxmlformats.org/officeDocument/2006/relationships/extended-properties" Target="/docProps/app.xml" Id="R0a5b6dd898d74ad7" /><Relationship Type="http://schemas.openxmlformats.org/officeDocument/2006/relationships/officeDocument" Target="/ppt/presentation.xml" Id="R57dbb170bd4f4f1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3c9509c821948bf"/>
  </p:sldMasterIdLst>
  <p:notesMasterIdLst>
    <p:notesMasterId xmlns:r="http://schemas.openxmlformats.org/officeDocument/2006/relationships" r:id="R84a1f70e20f44758"/>
  </p:notesMasterIdLst>
  <p:sldIdLst>
    <p:sldId xmlns:r="http://schemas.openxmlformats.org/officeDocument/2006/relationships" id="256" r:id="Raf0ac0dcca1841ba"/>
    <p:sldId xmlns:r="http://schemas.openxmlformats.org/officeDocument/2006/relationships" id="257" r:id="R484fbe405ed2422d"/>
    <p:sldId xmlns:r="http://schemas.openxmlformats.org/officeDocument/2006/relationships" id="258" r:id="R0702708c61034914"/>
    <p:sldId xmlns:r="http://schemas.openxmlformats.org/officeDocument/2006/relationships" id="259" r:id="R775de4ef9136452a"/>
    <p:sldId xmlns:r="http://schemas.openxmlformats.org/officeDocument/2006/relationships" id="260" r:id="R246bbed4a0d84a47"/>
    <p:sldId xmlns:r="http://schemas.openxmlformats.org/officeDocument/2006/relationships" id="261" r:id="R23359f25be9641b8"/>
    <p:sldId xmlns:r="http://schemas.openxmlformats.org/officeDocument/2006/relationships" id="262" r:id="R65d17246452d4f48"/>
    <p:sldId xmlns:r="http://schemas.openxmlformats.org/officeDocument/2006/relationships" id="263" r:id="R2349c489d390426d"/>
    <p:sldId xmlns:r="http://schemas.openxmlformats.org/officeDocument/2006/relationships" id="264" r:id="R419d142d9ef24fe0"/>
    <p:sldId xmlns:r="http://schemas.openxmlformats.org/officeDocument/2006/relationships" id="265" r:id="R0eea3b0dfba949d6"/>
    <p:sldId xmlns:r="http://schemas.openxmlformats.org/officeDocument/2006/relationships" id="266" r:id="Rd88a160b855940d6"/>
    <p:sldId xmlns:r="http://schemas.openxmlformats.org/officeDocument/2006/relationships" id="267" r:id="Rfbdc3971711742cb"/>
    <p:sldId xmlns:r="http://schemas.openxmlformats.org/officeDocument/2006/relationships" id="268" r:id="R912ed79c71454b1e"/>
    <p:sldId xmlns:r="http://schemas.openxmlformats.org/officeDocument/2006/relationships" id="269" r:id="R030e42b107ac47a5"/>
    <p:sldId xmlns:r="http://schemas.openxmlformats.org/officeDocument/2006/relationships" id="270" r:id="Rfb17ad83eb1c49b8"/>
    <p:sldId xmlns:r="http://schemas.openxmlformats.org/officeDocument/2006/relationships" id="271" r:id="R64d695523768492f"/>
    <p:sldId xmlns:r="http://schemas.openxmlformats.org/officeDocument/2006/relationships" id="272" r:id="R9eb3b56c741e4100"/>
    <p:sldId xmlns:r="http://schemas.openxmlformats.org/officeDocument/2006/relationships" id="273" r:id="Rf393a724fd5e4b01"/>
    <p:sldId xmlns:r="http://schemas.openxmlformats.org/officeDocument/2006/relationships" id="274" r:id="R2151b577963f4ba5"/>
    <p:sldId xmlns:r="http://schemas.openxmlformats.org/officeDocument/2006/relationships" id="275" r:id="Rdfe03fcfdcbd4e87"/>
    <p:sldId xmlns:r="http://schemas.openxmlformats.org/officeDocument/2006/relationships" id="276" r:id="R1cff4d76772c4efa"/>
    <p:sldId xmlns:r="http://schemas.openxmlformats.org/officeDocument/2006/relationships" id="277" r:id="R42db6ab902ef41db"/>
    <p:sldId xmlns:r="http://schemas.openxmlformats.org/officeDocument/2006/relationships" id="278" r:id="Rda30c75a13264d2e"/>
    <p:sldId xmlns:r="http://schemas.openxmlformats.org/officeDocument/2006/relationships" id="279" r:id="R3a21180276394627"/>
    <p:sldId xmlns:r="http://schemas.openxmlformats.org/officeDocument/2006/relationships" id="280" r:id="R593929e58bd14ac5"/>
    <p:sldId xmlns:r="http://schemas.openxmlformats.org/officeDocument/2006/relationships" id="281" r:id="R4dc0d0cc2de2417c"/>
    <p:sldId xmlns:r="http://schemas.openxmlformats.org/officeDocument/2006/relationships" id="282" r:id="R94465e1d86964559"/>
    <p:sldId xmlns:r="http://schemas.openxmlformats.org/officeDocument/2006/relationships" id="283" r:id="R58e27720416b46ec"/>
    <p:sldId xmlns:r="http://schemas.openxmlformats.org/officeDocument/2006/relationships" id="284" r:id="R7434c8a8cc0b415d"/>
    <p:sldId xmlns:r="http://schemas.openxmlformats.org/officeDocument/2006/relationships" id="285" r:id="R524b3067b2b247b2"/>
    <p:sldId xmlns:r="http://schemas.openxmlformats.org/officeDocument/2006/relationships" id="286" r:id="Rd52a6c929b574383"/>
    <p:sldId xmlns:r="http://schemas.openxmlformats.org/officeDocument/2006/relationships" id="287" r:id="Reae7dafc49664098"/>
    <p:sldId xmlns:r="http://schemas.openxmlformats.org/officeDocument/2006/relationships" id="288" r:id="R96d4e509120c4db1"/>
    <p:sldId xmlns:r="http://schemas.openxmlformats.org/officeDocument/2006/relationships" id="289" r:id="R7104afab57c44473"/>
    <p:sldId xmlns:r="http://schemas.openxmlformats.org/officeDocument/2006/relationships" id="290" r:id="R81a50e80db0c4c6f"/>
    <p:sldId xmlns:r="http://schemas.openxmlformats.org/officeDocument/2006/relationships" id="291" r:id="R3fa05d6b080741e4"/>
  </p:sldIdLst>
  <p:sldSz cx="12192000" cy="6858000"/>
  <p:notesSz cx="6858000" cy="9144000"/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67c71173a4d4a45" /><Relationship Type="http://schemas.openxmlformats.org/officeDocument/2006/relationships/slideMaster" Target="/ppt/slideMasters/slideMaster1.xml" Id="Rd3c9509c821948bf" /><Relationship Type="http://schemas.openxmlformats.org/officeDocument/2006/relationships/notesMaster" Target="/ppt/notesMasters/notesMaster1.xml" Id="R84a1f70e20f44758" /><Relationship Type="http://schemas.openxmlformats.org/officeDocument/2006/relationships/presProps" Target="/ppt/presProps.xml" Id="Rb77ab237304b4c3c" /><Relationship Type="http://schemas.openxmlformats.org/officeDocument/2006/relationships/viewProps" Target="/ppt/viewProps.xml" Id="R2825ac0ccaa24ed2" /><Relationship Type="http://schemas.openxmlformats.org/officeDocument/2006/relationships/tableStyles" Target="/ppt/tableStyles.xml" Id="R8a8210874a734024" /><Relationship Type="http://schemas.openxmlformats.org/officeDocument/2006/relationships/slide" Target="/ppt/slides/slide1.xml" Id="Raf0ac0dcca1841ba" /><Relationship Type="http://schemas.openxmlformats.org/officeDocument/2006/relationships/slide" Target="/ppt/slides/slide2.xml" Id="R484fbe405ed2422d" /><Relationship Type="http://schemas.openxmlformats.org/officeDocument/2006/relationships/slide" Target="/ppt/slides/slide3.xml" Id="R0702708c61034914" /><Relationship Type="http://schemas.openxmlformats.org/officeDocument/2006/relationships/slide" Target="/ppt/slides/slide4.xml" Id="R775de4ef9136452a" /><Relationship Type="http://schemas.openxmlformats.org/officeDocument/2006/relationships/slide" Target="/ppt/slides/slide5.xml" Id="R246bbed4a0d84a47" /><Relationship Type="http://schemas.openxmlformats.org/officeDocument/2006/relationships/slide" Target="/ppt/slides/slide6.xml" Id="R23359f25be9641b8" /><Relationship Type="http://schemas.openxmlformats.org/officeDocument/2006/relationships/slide" Target="/ppt/slides/slide7.xml" Id="R65d17246452d4f48" /><Relationship Type="http://schemas.openxmlformats.org/officeDocument/2006/relationships/slide" Target="/ppt/slides/slide8.xml" Id="R2349c489d390426d" /><Relationship Type="http://schemas.openxmlformats.org/officeDocument/2006/relationships/slide" Target="/ppt/slides/slide9.xml" Id="R419d142d9ef24fe0" /><Relationship Type="http://schemas.openxmlformats.org/officeDocument/2006/relationships/slide" Target="/ppt/slides/slide10.xml" Id="R0eea3b0dfba949d6" /><Relationship Type="http://schemas.openxmlformats.org/officeDocument/2006/relationships/slide" Target="/ppt/slides/slide11.xml" Id="Rd88a160b855940d6" /><Relationship Type="http://schemas.openxmlformats.org/officeDocument/2006/relationships/slide" Target="/ppt/slides/slide12.xml" Id="Rfbdc3971711742cb" /><Relationship Type="http://schemas.openxmlformats.org/officeDocument/2006/relationships/slide" Target="/ppt/slides/slide13.xml" Id="R912ed79c71454b1e" /><Relationship Type="http://schemas.openxmlformats.org/officeDocument/2006/relationships/slide" Target="/ppt/slides/slide14.xml" Id="R030e42b107ac47a5" /><Relationship Type="http://schemas.openxmlformats.org/officeDocument/2006/relationships/slide" Target="/ppt/slides/slide15.xml" Id="Rfb17ad83eb1c49b8" /><Relationship Type="http://schemas.openxmlformats.org/officeDocument/2006/relationships/slide" Target="/ppt/slides/slide16.xml" Id="R64d695523768492f" /><Relationship Type="http://schemas.openxmlformats.org/officeDocument/2006/relationships/slide" Target="/ppt/slides/slide17.xml" Id="R9eb3b56c741e4100" /><Relationship Type="http://schemas.openxmlformats.org/officeDocument/2006/relationships/slide" Target="/ppt/slides/slide18.xml" Id="Rf393a724fd5e4b01" /><Relationship Type="http://schemas.openxmlformats.org/officeDocument/2006/relationships/slide" Target="/ppt/slides/slide19.xml" Id="R2151b577963f4ba5" /><Relationship Type="http://schemas.openxmlformats.org/officeDocument/2006/relationships/slide" Target="/ppt/slides/slide20.xml" Id="Rdfe03fcfdcbd4e87" /><Relationship Type="http://schemas.openxmlformats.org/officeDocument/2006/relationships/slide" Target="/ppt/slides/slide21.xml" Id="R1cff4d76772c4efa" /><Relationship Type="http://schemas.openxmlformats.org/officeDocument/2006/relationships/slide" Target="/ppt/slides/slide22.xml" Id="R42db6ab902ef41db" /><Relationship Type="http://schemas.openxmlformats.org/officeDocument/2006/relationships/slide" Target="/ppt/slides/slide23.xml" Id="Rda30c75a13264d2e" /><Relationship Type="http://schemas.openxmlformats.org/officeDocument/2006/relationships/slide" Target="/ppt/slides/slide24.xml" Id="R3a21180276394627" /><Relationship Type="http://schemas.openxmlformats.org/officeDocument/2006/relationships/slide" Target="/ppt/slides/slide25.xml" Id="R593929e58bd14ac5" /><Relationship Type="http://schemas.openxmlformats.org/officeDocument/2006/relationships/slide" Target="/ppt/slides/slide26.xml" Id="R4dc0d0cc2de2417c" /><Relationship Type="http://schemas.openxmlformats.org/officeDocument/2006/relationships/slide" Target="/ppt/slides/slide27.xml" Id="R94465e1d86964559" /><Relationship Type="http://schemas.openxmlformats.org/officeDocument/2006/relationships/slide" Target="/ppt/slides/slide28.xml" Id="R58e27720416b46ec" /><Relationship Type="http://schemas.openxmlformats.org/officeDocument/2006/relationships/slide" Target="/ppt/slides/slide29.xml" Id="R7434c8a8cc0b415d" /><Relationship Type="http://schemas.openxmlformats.org/officeDocument/2006/relationships/slide" Target="/ppt/slides/slide30.xml" Id="R524b3067b2b247b2" /><Relationship Type="http://schemas.openxmlformats.org/officeDocument/2006/relationships/slide" Target="/ppt/slides/slide31.xml" Id="Rd52a6c929b574383" /><Relationship Type="http://schemas.openxmlformats.org/officeDocument/2006/relationships/slide" Target="/ppt/slides/slide32.xml" Id="Reae7dafc49664098" /><Relationship Type="http://schemas.openxmlformats.org/officeDocument/2006/relationships/slide" Target="/ppt/slides/slide33.xml" Id="R96d4e509120c4db1" /><Relationship Type="http://schemas.openxmlformats.org/officeDocument/2006/relationships/slide" Target="/ppt/slides/slide34.xml" Id="R7104afab57c44473" /><Relationship Type="http://schemas.openxmlformats.org/officeDocument/2006/relationships/slide" Target="/ppt/slides/slide35.xml" Id="R81a50e80db0c4c6f" /><Relationship Type="http://schemas.openxmlformats.org/officeDocument/2006/relationships/slide" Target="/ppt/slides/slide36.xml" Id="R3fa05d6b080741e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e19f6e8cddf492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BIZ UD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BIZ UD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9da1e1eb0564864" /><Relationship Type="http://schemas.openxmlformats.org/officeDocument/2006/relationships/notesMaster" Target="/ppt/notesMasters/notesMaster1.xml" Id="Rfe3d5d353e0749d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fd4b9355d57413b" /><Relationship Type="http://schemas.openxmlformats.org/officeDocument/2006/relationships/notesMaster" Target="/ppt/notesMasters/notesMaster1.xml" Id="Rd23b3ce6b8cd44a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a3788a8386641af" /><Relationship Type="http://schemas.openxmlformats.org/officeDocument/2006/relationships/notesMaster" Target="/ppt/notesMasters/notesMaster1.xml" Id="R7c9c15639eb3454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03fede61ae34f28" /><Relationship Type="http://schemas.openxmlformats.org/officeDocument/2006/relationships/notesMaster" Target="/ppt/notesMasters/notesMaster1.xml" Id="Rc90f4bf74b67431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afbb5e0ad0c4bec" /><Relationship Type="http://schemas.openxmlformats.org/officeDocument/2006/relationships/notesMaster" Target="/ppt/notesMasters/notesMaster1.xml" Id="Rff5bd076055b409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d841ecd30a641f2" /><Relationship Type="http://schemas.openxmlformats.org/officeDocument/2006/relationships/notesMaster" Target="/ppt/notesMasters/notesMaster1.xml" Id="R793f08be853546d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89df0c8a0734d1a" /><Relationship Type="http://schemas.openxmlformats.org/officeDocument/2006/relationships/notesMaster" Target="/ppt/notesMasters/notesMaster1.xml" Id="R99fabf291ea0458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d5828ce2c5f4f04" /><Relationship Type="http://schemas.openxmlformats.org/officeDocument/2006/relationships/notesMaster" Target="/ppt/notesMasters/notesMaster1.xml" Id="Rcf9099bcf00f4dc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d76824d9a8a4eb8" /><Relationship Type="http://schemas.openxmlformats.org/officeDocument/2006/relationships/notesMaster" Target="/ppt/notesMasters/notesMaster1.xml" Id="Rb7e436beb142420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deed2c6106f4796" /><Relationship Type="http://schemas.openxmlformats.org/officeDocument/2006/relationships/notesMaster" Target="/ppt/notesMasters/notesMaster1.xml" Id="Ra0c67788704f4ed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99dff0c53e34831" /><Relationship Type="http://schemas.openxmlformats.org/officeDocument/2006/relationships/notesMaster" Target="/ppt/notesMasters/notesMaster1.xml" Id="R24ccb6d85fab4d3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8f4a66c78794b42" /><Relationship Type="http://schemas.openxmlformats.org/officeDocument/2006/relationships/notesMaster" Target="/ppt/notesMasters/notesMaster1.xml" Id="R1995e787c7f3407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8ea58d2078e4632" /><Relationship Type="http://schemas.openxmlformats.org/officeDocument/2006/relationships/notesMaster" Target="/ppt/notesMasters/notesMaster1.xml" Id="R9285ca65304146c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b28eb00dbf14f65" /><Relationship Type="http://schemas.openxmlformats.org/officeDocument/2006/relationships/notesMaster" Target="/ppt/notesMasters/notesMaster1.xml" Id="R05bccae88aed46b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43c7ed71e3b42b2" /><Relationship Type="http://schemas.openxmlformats.org/officeDocument/2006/relationships/notesMaster" Target="/ppt/notesMasters/notesMaster1.xml" Id="R4fef5f8895b94a7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ca3475b26cd46f6" /><Relationship Type="http://schemas.openxmlformats.org/officeDocument/2006/relationships/notesMaster" Target="/ppt/notesMasters/notesMaster1.xml" Id="R7bc0ec5eb66d499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41db4df77d74e4a" /><Relationship Type="http://schemas.openxmlformats.org/officeDocument/2006/relationships/notesMaster" Target="/ppt/notesMasters/notesMaster1.xml" Id="R70239eea7ee1453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b07e66c7cf64f32" /><Relationship Type="http://schemas.openxmlformats.org/officeDocument/2006/relationships/notesMaster" Target="/ppt/notesMasters/notesMaster1.xml" Id="R97311b038dbc4dc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3061f9626e8451f" /><Relationship Type="http://schemas.openxmlformats.org/officeDocument/2006/relationships/notesMaster" Target="/ppt/notesMasters/notesMaster1.xml" Id="R3820a587ffe44cc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a6f9b5cb05e4eb7" /><Relationship Type="http://schemas.openxmlformats.org/officeDocument/2006/relationships/notesMaster" Target="/ppt/notesMasters/notesMaster1.xml" Id="R3367496b2c6046a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5e9411c50d44f83" /><Relationship Type="http://schemas.openxmlformats.org/officeDocument/2006/relationships/notesMaster" Target="/ppt/notesMasters/notesMaster1.xml" Id="R8442d9f99a2c4e2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c32210b1a874d47" /><Relationship Type="http://schemas.openxmlformats.org/officeDocument/2006/relationships/notesMaster" Target="/ppt/notesMasters/notesMaster1.xml" Id="R24e2540b46ff49b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94fcfea1f724f83" /><Relationship Type="http://schemas.openxmlformats.org/officeDocument/2006/relationships/notesMaster" Target="/ppt/notesMasters/notesMaster1.xml" Id="Re41820df1bce4f59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ee665bb4bd843a0" /><Relationship Type="http://schemas.openxmlformats.org/officeDocument/2006/relationships/notesMaster" Target="/ppt/notesMasters/notesMaster1.xml" Id="Rcc8fa0ed950f4703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b5f2519264f14b55" /><Relationship Type="http://schemas.openxmlformats.org/officeDocument/2006/relationships/notesMaster" Target="/ppt/notesMasters/notesMaster1.xml" Id="R0c352d72fc6b468b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8bbd08b8d92d47d5" /><Relationship Type="http://schemas.openxmlformats.org/officeDocument/2006/relationships/notesMaster" Target="/ppt/notesMasters/notesMaster1.xml" Id="R47e7a7fd7cb74f71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63e71aac1ccf4069" /><Relationship Type="http://schemas.openxmlformats.org/officeDocument/2006/relationships/notesMaster" Target="/ppt/notesMasters/notesMaster1.xml" Id="R5138b80a212b4bcc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9cfaf387b34f45d6" /><Relationship Type="http://schemas.openxmlformats.org/officeDocument/2006/relationships/notesMaster" Target="/ppt/notesMasters/notesMaster1.xml" Id="Rc9a912d21832485a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723fd812948c46c0" /><Relationship Type="http://schemas.openxmlformats.org/officeDocument/2006/relationships/notesMaster" Target="/ppt/notesMasters/notesMaster1.xml" Id="R85a0786dc05e4a1c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38ef4b5f39c648b7" /><Relationship Type="http://schemas.openxmlformats.org/officeDocument/2006/relationships/notesMaster" Target="/ppt/notesMasters/notesMaster1.xml" Id="R85266a28965d4a12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787d5c8d889b4e05" /><Relationship Type="http://schemas.openxmlformats.org/officeDocument/2006/relationships/notesMaster" Target="/ppt/notesMasters/notesMaster1.xml" Id="Re042e3df9b0f4e37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abd5c1a0d49d4223" /><Relationship Type="http://schemas.openxmlformats.org/officeDocument/2006/relationships/notesMaster" Target="/ppt/notesMasters/notesMaster1.xml" Id="R012498025a5743e5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8562eee0bae842ae" /><Relationship Type="http://schemas.openxmlformats.org/officeDocument/2006/relationships/notesMaster" Target="/ppt/notesMasters/notesMaster1.xml" Id="R518278a1d9954b1f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88e1a979949748d7" /><Relationship Type="http://schemas.openxmlformats.org/officeDocument/2006/relationships/notesMaster" Target="/ppt/notesMasters/notesMaster1.xml" Id="Rbb085c136f244462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6d7c7b0da9f6408b" /><Relationship Type="http://schemas.openxmlformats.org/officeDocument/2006/relationships/notesMaster" Target="/ppt/notesMasters/notesMaster1.xml" Id="R0f94fb576bee429d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ef2642203e7941eb" /><Relationship Type="http://schemas.openxmlformats.org/officeDocument/2006/relationships/notesMaster" Target="/ppt/notesMasters/notesMaster1.xml" Id="Rdbc3dceb7762486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MATLAB版ユーザー手順書。画面はローカルの実アプリを同梱の模擬データで撮影。Windowsではウィンドウ枠やフォントが異なる場合があります。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対象：2026-10-22のローカル版。掲載画面は同梱の模擬データを使用。</a:t>
            </a:r>
            <a:endParaRPr/>
          </a:p>
          <a:p xmlns:a="http://schemas.openxmlformats.org/drawingml/2006/main">
            <a:r>
              <a:t>根拠：matlab_app/README.md、AlignmentEstimationApp.m、+alignest各計算処理。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対象：2026-10-22のローカル版。掲載画面は同梱の模擬データを使用。</a:t>
            </a:r>
            <a:endParaRPr/>
          </a:p>
          <a:p xmlns:a="http://schemas.openxmlformats.org/drawingml/2006/main">
            <a:r>
              <a:t>根拠：matlab_app/README.md、AlignmentEstimationApp.m、+alignest各計算処理。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対象：2026-10-22のローカル版。掲載画面は同梱の模擬データを使用。</a:t>
            </a:r>
            <a:endParaRPr/>
          </a:p>
          <a:p xmlns:a="http://schemas.openxmlformats.org/drawingml/2006/main">
            <a:r>
              <a:t>根拠：matlab_app/README.md、AlignmentEstimationApp.m、+alignest各計算処理。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対象：2026-10-22のローカル版。掲載画面は同梱の模擬データを使用。</a:t>
            </a:r>
            <a:endParaRPr/>
          </a:p>
          <a:p xmlns:a="http://schemas.openxmlformats.org/drawingml/2006/main">
            <a:r>
              <a:t>根拠：matlab_app/README.md、AlignmentEstimationApp.m、+alignest各計算処理。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対象：2026-10-22のローカル版。掲載画面は同梱の模擬データを使用。</a:t>
            </a:r>
            <a:endParaRPr/>
          </a:p>
          <a:p xmlns:a="http://schemas.openxmlformats.org/drawingml/2006/main">
            <a:r>
              <a:t>根拠：matlab_app/README.md、AlignmentEstimationApp.m、+alignest各計算処理。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対象：2026-10-22のローカル版。掲載画面は同梱の模擬データを使用。</a:t>
            </a:r>
            <a:endParaRPr/>
          </a:p>
          <a:p xmlns:a="http://schemas.openxmlformats.org/drawingml/2006/main">
            <a:r>
              <a:t>根拠：matlab_app/README.md、AlignmentEstimationApp.m、+alignest各計算処理。</a:t>
            </a:r>
            <a:endParaRPr/>
          </a:p>
          <a:p xmlns:a="http://schemas.openxmlformats.org/drawingml/2006/main">
            <a:r>
              <a:t>除外は重複の平均前。Sts列が未対応ならその列では判定せず通知。全行除外時は条件を見直します。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対象：2026-10-22のローカル版。掲載画面は同梱の模擬データを使用。</a:t>
            </a:r>
            <a:endParaRPr/>
          </a:p>
          <a:p xmlns:a="http://schemas.openxmlformats.org/drawingml/2006/main">
            <a:r>
              <a:t>根拠：matlab_app/README.md、AlignmentEstimationApp.m、+alignest各計算処理。</a:t>
            </a:r>
            <a:endParaRPr/>
          </a:p>
          <a:p xmlns:a="http://schemas.openxmlformats.org/drawingml/2006/main">
            <a:r>
              <a:t>shotNoの奇偶を使うのは、shotNoが露光順でScan方向が交互のとき。行奇偶はExcelの行番号とは異なります。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対象：2026-10-22のローカル版。掲載画面は同梱の模擬データを使用。</a:t>
            </a:r>
            <a:endParaRPr/>
          </a:p>
          <a:p xmlns:a="http://schemas.openxmlformats.org/drawingml/2006/main">
            <a:r>
              <a:t>根拠：matlab_app/README.md、AlignmentEstimationApp.m、+alignest各計算処理。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対象：2026-10-22のローカル版。掲載画面は同梱の模擬データを使用。</a:t>
            </a:r>
            <a:endParaRPr/>
          </a:p>
          <a:p xmlns:a="http://schemas.openxmlformats.org/drawingml/2006/main">
            <a:r>
              <a:t>根拠：matlab_app/README.md、AlignmentEstimationApp.m、+alignest各計算処理。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対象：2026-10-22のローカル版。掲載画面は同梱の模擬データを使用。</a:t>
            </a:r>
            <a:endParaRPr/>
          </a:p>
          <a:p xmlns:a="http://schemas.openxmlformats.org/drawingml/2006/main">
            <a:r>
              <a:t>根拠：matlab_app/README.md、AlignmentEstimationApp.m、+alignest各計算処理。</a:t>
            </a:r>
            <a:endParaRPr/>
          </a:p>
          <a:p xmlns:a="http://schemas.openxmlformats.org/drawingml/2006/main">
            <a:r>
              <a:t>平均と共分散は、同じShot・同じMarkの位置（座標）ごとに、選んだWaferの有効な計測値から求めます。値が1枚分しかない位置には楕円を描きません。楕円の色は灰色が相関なし、橙・紫になるほどX・Yのばらつきの相関が強いことを示します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対象：2026-10-22のローカル版。掲載画面は同梱の模擬データを使用。</a:t>
            </a:r>
            <a:endParaRPr/>
          </a:p>
          <a:p xmlns:a="http://schemas.openxmlformats.org/drawingml/2006/main">
            <a:r>
              <a:t>根拠：matlab_app/README.md、AlignmentEstimationApp.m、+alignest各計算処理。</a:t>
            </a:r>
            <a:endParaRPr/>
          </a:p>
          <a:p xmlns:a="http://schemas.openxmlformats.org/drawingml/2006/main">
            <a:r>
              <a:t>選んだWaferのすべてのShotを、Shot中心から見たMark座標（markXmm・markYmm）で重ね合わせます。楕円はShot間・Wafer間のばらつき（共分散）です。Scan方向で分けるとき、Wafer成分は分ける前にそのWaferのすべてのMarkで当てはめて除きます。Mark位置ごとの平均・σ・相関は左下の欄に出ます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対象：2026-10-22のローカル版。掲載画面は同梱の模擬データを使用。</a:t>
            </a:r>
            <a:endParaRPr/>
          </a:p>
          <a:p xmlns:a="http://schemas.openxmlformats.org/drawingml/2006/main">
            <a:r>
              <a:t>根拠：matlab_app/README.md、AlignmentEstimationApp.m、+alignest各計算処理。</a:t>
            </a:r>
            <a:endParaRPr/>
          </a:p>
          <a:p xmlns:a="http://schemas.openxmlformats.org/drawingml/2006/main">
            <a:r>
              <a:t>手動はshotNoを空白またはカンマ区切りで入力し、1行を1パターンとします。ランダムは回数と乱数の種を設定します。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対象：2026-10-22のローカル版。掲載画面は同梱の模擬データを使用。</a:t>
            </a:r>
            <a:endParaRPr/>
          </a:p>
          <a:p xmlns:a="http://schemas.openxmlformats.org/drawingml/2006/main">
            <a:r>
              <a:t>根拠：matlab_app/README.md、AlignmentEstimationApp.m、+alignest各計算処理。</a:t>
            </a:r>
            <a:endParaRPr/>
          </a:p>
          <a:p xmlns:a="http://schemas.openxmlformats.org/drawingml/2006/main">
            <a:r>
              <a:t>列名に shot を含む列をShot番号、prior または「優先」を含む列を優先度として読みます。見つからない場合は1列目・2列目を使います。学習Shot数が優先度1のShot数より少ない場合は、優先度1のShotをすべて使います。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対象：2026-10-22のローカル版。掲載画面は同梱の模擬データを使用。</a:t>
            </a:r>
            <a:endParaRPr/>
          </a:p>
          <a:p xmlns:a="http://schemas.openxmlformats.org/drawingml/2006/main">
            <a:r>
              <a:t>根拠：matlab_app/README.md、AlignmentEstimationApp.m、+alignest各計算処理。</a:t>
            </a:r>
            <a:endParaRPr/>
          </a:p>
          <a:p xmlns:a="http://schemas.openxmlformats.org/drawingml/2006/main">
            <a:r>
              <a:t>計測率は、計測値のあるShot（候補）に対する学習Shotの割合です。Waferごとに round(計測率/100 × 候補Shot数) のShotを使います。結果の列は「計測率 20%」、グラフの横軸は計測率[%]になります。手動の指定では使いません。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対象：2026-10-22のローカル版。掲載画面は同梱の模擬データを使用。</a:t>
            </a:r>
            <a:endParaRPr/>
          </a:p>
          <a:p xmlns:a="http://schemas.openxmlformats.org/drawingml/2006/main">
            <a:r>
              <a:t>根拠：matlab_app/README.md、AlignmentEstimationApp.m、+alignest各計算処理。</a:t>
            </a:r>
            <a:endParaRPr/>
          </a:p>
          <a:p xmlns:a="http://schemas.openxmlformats.org/drawingml/2006/main">
            <a:r>
              <a:t>拡張I最適計画：必ず計測するShotを先に入れ、交換法ではそのShotを外さずに、残りのShotだけでI基準を小さくします。必ず計測するShotが学習Shot数以上ならそれだけを使い、制約（同心円・4象限・Scan方向）とぶつかるときは違反が少ない組を使って記録に出します。I最適と制約つきランダムで使えます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対象：2026-10-22のローカル版。掲載画面は同梱の模擬データを使用。</a:t>
            </a:r>
            <a:endParaRPr/>
          </a:p>
          <a:p xmlns:a="http://schemas.openxmlformats.org/drawingml/2006/main">
            <a:r>
              <a:t>根拠：matlab_app/README.md、AlignmentEstimationApp.m、+alignest各計算処理。</a:t>
            </a:r>
            <a:endParaRPr/>
          </a:p>
          <a:p xmlns:a="http://schemas.openxmlformats.org/drawingml/2006/main">
            <a:r>
              <a:t>質的変数はGPR・GAM、Backfittingを選んだTPS・RBF・Krigingで使用。学習点で1水準しかない変数は効果を推定しません。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対象：2026-10-22のローカル版。掲載画面は同梱の模擬データを使用。</a:t>
            </a:r>
            <a:endParaRPr/>
          </a:p>
          <a:p xmlns:a="http://schemas.openxmlformats.org/drawingml/2006/main">
            <a:r>
              <a:t>根拠：matlab_app/README.md、AlignmentEstimationApp.m、+alignest各計算処理。</a:t>
            </a:r>
            <a:endParaRPr/>
          </a:p>
          <a:p xmlns:a="http://schemas.openxmlformats.org/drawingml/2006/main">
            <a:r>
              <a:t>GPRは上部でカーネルと質的変数の扱いを選択。matern・ardmaternではνを指定可能。GAMはスプラインまたはガウス過程回帰を選択できます。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対象：2026-10-22のローカル版。掲載画面は同梱の模擬データを使用。</a:t>
            </a:r>
            <a:endParaRPr/>
          </a:p>
          <a:p xmlns:a="http://schemas.openxmlformats.org/drawingml/2006/main">
            <a:r>
              <a:t>根拠：matlab_app/README.md、AlignmentEstimationApp.m、+alignest各計算処理。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対象：2026-10-22のローカル版。掲載画面は同梱の模擬データを使用。</a:t>
            </a:r>
            <a:endParaRPr/>
          </a:p>
          <a:p xmlns:a="http://schemas.openxmlformats.org/drawingml/2006/main">
            <a:r>
              <a:t>根拠：matlab_app/README.md、AlignmentEstimationApp.m、+alignest各計算処理。</a:t>
            </a:r>
            <a:endParaRPr/>
          </a:p>
          <a:p xmlns:a="http://schemas.openxmlformats.org/drawingml/2006/main">
            <a:r>
              <a:t>平均とσ（標本標準偏差）は、そのWafer・その学習Shotの組（計測マップ）の学習点からX・Y別に1回だけ求めます。除いたMarkは評価にも使いません。Overlay補正の評価では、学習Shotの補正量に実際の計測値を使います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対象：2026-10-22のローカル版。掲載画面は同梱の模擬データを使用。</a:t>
            </a:r>
            <a:endParaRPr/>
          </a:p>
          <a:p xmlns:a="http://schemas.openxmlformats.org/drawingml/2006/main">
            <a:r>
              <a:t>根拠：matlab_app/README.md、AlignmentEstimationApp.m、+alignest各計算処理。</a:t>
            </a:r>
            <a:endParaRPr/>
          </a:p>
          <a:p xmlns:a="http://schemas.openxmlformats.org/drawingml/2006/main">
            <a:r>
              <a:t>計測マップは評価と同じ作り方なので、同じ設定なら評価でも同じShotを使います。下の欄にShot数・計測率・I基準・D基準・制約の違反量・計測するshotNoが出ます。Excelの「計測マップ」シートはShotごとに1（計測する）・0（しない）、「学習パターン」シートは学習パターンごとの要約です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対象：2026-10-22のローカル版。掲載画面は同梱の模擬データを使用。</a:t>
            </a:r>
            <a:endParaRPr/>
          </a:p>
          <a:p xmlns:a="http://schemas.openxmlformats.org/drawingml/2006/main">
            <a:r>
              <a:t>根拠：matlab_app/README.md、AlignmentEstimationApp.m、+alignest各計算処理。</a:t>
            </a:r>
            <a:endParaRPr/>
          </a:p>
          <a:p xmlns:a="http://schemas.openxmlformats.org/drawingml/2006/main">
            <a:r>
              <a:t>画像は実際に評価を終えた状態です。計算時間はPC・データ・条件によって変わります。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対象：2026-10-22のローカル版。掲載画面は同梱の模擬データを使用。</a:t>
            </a:r>
            <a:endParaRPr/>
          </a:p>
          <a:p xmlns:a="http://schemas.openxmlformats.org/drawingml/2006/main">
            <a:r>
              <a:t>根拠：matlab_app/README.md、AlignmentEstimationApp.m、+alignest各計算処理。</a:t>
            </a:r>
            <a:endParaRPr/>
          </a:p>
          <a:p xmlns:a="http://schemas.openxmlformats.org/drawingml/2006/main">
            <a:r>
              <a:t>95%値は、95%のWaferがそれより良い値。誤差は95パーセント点、R²は5パーセント点です。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対象：2026-10-22のローカル版。掲載画面は同梱の模擬データを使用。</a:t>
            </a:r>
            <a:endParaRPr/>
          </a:p>
          <a:p xmlns:a="http://schemas.openxmlformats.org/drawingml/2006/main">
            <a:r>
              <a:t>根拠：matlab_app/README.md、AlignmentEstimationApp.m、+alignest各計算処理。</a:t>
            </a:r>
            <a:endParaRPr/>
          </a:p>
          <a:p xmlns:a="http://schemas.openxmlformats.org/drawingml/2006/main">
            <a:r>
              <a:t>図は「グラフを画像で保存…」で保存できます。±1σはWaferごとの値の標準偏差、95%区間は平均の区間（±1.96σ/√Wafer数）です。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対象：2026-10-22のローカル版。掲載画面は同梱の模擬データを使用。</a:t>
            </a:r>
            <a:endParaRPr/>
          </a:p>
          <a:p xmlns:a="http://schemas.openxmlformats.org/drawingml/2006/main">
            <a:r>
              <a:t>根拠：matlab_app/README.md、AlignmentEstimationApp.m、+alignest各計算処理。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対象：2026-10-22のローカル版。掲載画面は同梱の模擬データを使用。</a:t>
            </a:r>
            <a:endParaRPr/>
          </a:p>
          <a:p xmlns:a="http://schemas.openxmlformats.org/drawingml/2006/main">
            <a:r>
              <a:t>根拠：matlab_app/README.md、AlignmentEstimationApp.m、+alignest各計算処理。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対象：2026-10-22のローカル版。掲載画面は同梱の模擬データを使用。</a:t>
            </a:r>
            <a:endParaRPr/>
          </a:p>
          <a:p xmlns:a="http://schemas.openxmlformats.org/drawingml/2006/main">
            <a:r>
              <a:t>根拠：matlab_app/README.md、AlignmentEstimationApp.m、+alignest各計算処理。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対象：2026-10-22のローカル版。掲載画面は同梱の模擬データを使用。</a:t>
            </a:r>
            <a:endParaRPr/>
          </a:p>
          <a:p xmlns:a="http://schemas.openxmlformats.org/drawingml/2006/main">
            <a:r>
              <a:t>根拠：matlab_app/README.md、AlignmentEstimationApp.m、+alignest各計算処理。</a:t>
            </a:r>
            <a:endParaRPr/>
          </a:p>
          <a:p xmlns:a="http://schemas.openxmlformats.org/drawingml/2006/main">
            <a:r>
              <a:t>横軸が実測値、縦軸が推定値です。X・Yを別の図に描きます。評価点は学習に使わなかったShotの有効なMarkです。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対象：2026-10-22のローカル版。掲載画面は同梱の模擬データを使用。</a:t>
            </a:r>
            <a:endParaRPr/>
          </a:p>
          <a:p xmlns:a="http://schemas.openxmlformats.org/drawingml/2006/main">
            <a:r>
              <a:t>根拠：matlab_app/README.md、AlignmentEstimationApp.m、+alignest各計算処理。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対象：2026-10-22のローカル版。掲載画面は同梱の模擬データを使用。</a:t>
            </a:r>
            <a:endParaRPr/>
          </a:p>
          <a:p xmlns:a="http://schemas.openxmlformats.org/drawingml/2006/main">
            <a:r>
              <a:t>根拠：matlab_app/README.md、AlignmentEstimationApp.m、+alignest各計算処理。</a:t>
            </a:r>
            <a:endParaRPr/>
          </a:p>
          <a:p xmlns:a="http://schemas.openxmlformats.org/drawingml/2006/main">
            <a:r>
              <a:t>推定値での補正は学習Shotの計測値とそれ以外の推定値で補正量を求め、実際の計測値に当てます。Overlay残差の評価は全Markが対象です。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対象：2026-10-22のローカル版。掲載画面は同梱の模擬データを使用。</a:t>
            </a:r>
            <a:endParaRPr/>
          </a:p>
          <a:p xmlns:a="http://schemas.openxmlformats.org/drawingml/2006/main">
            <a:r>
              <a:t>根拠：matlab_app/README.md、AlignmentEstimationApp.m、+alignest各計算処理。</a:t>
            </a:r>
            <a:endParaRPr/>
          </a:p>
          <a:p xmlns:a="http://schemas.openxmlformats.org/drawingml/2006/main">
            <a:r>
              <a:t>Overlay補正の図でも、Waferの平均と楕円を同じ操作で表示できます。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対象：2026-10-22のローカル版。掲載画面は同梱の模擬データを使用。</a:t>
            </a:r>
            <a:endParaRPr/>
          </a:p>
          <a:p xmlns:a="http://schemas.openxmlformats.org/drawingml/2006/main">
            <a:r>
              <a:t>根拠：matlab_app/README.md、AlignmentEstimationApp.m、+alignest各計算処理。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対象：2026-10-22のローカル版。掲載画面は同梱の模擬データを使用。</a:t>
            </a:r>
            <a:endParaRPr/>
          </a:p>
          <a:p xmlns:a="http://schemas.openxmlformats.org/drawingml/2006/main">
            <a:r>
              <a:t>根拠：matlab_app/README.md、AlignmentEstimationApp.m、+alignest各計算処理。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対象：2026-10-22のローカル版。掲載画面は同梱の模擬データを使用。</a:t>
            </a:r>
            <a:endParaRPr/>
          </a:p>
          <a:p xmlns:a="http://schemas.openxmlformats.org/drawingml/2006/main">
            <a:r>
              <a:t>根拠：matlab_app/README.md、AlignmentEstimationApp.m、+alignest各計算処理。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対象：2026-10-22のローカル版。掲載画面は同梱の模擬データを使用。</a:t>
            </a:r>
            <a:endParaRPr/>
          </a:p>
          <a:p xmlns:a="http://schemas.openxmlformats.org/drawingml/2006/main">
            <a:r>
              <a:t>根拠：matlab_app/README.md、AlignmentEstimationApp.m、+alignest各計算処理。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画面例と操作名の根拠：matlab_app/AlignmentEstimationApp.m、README.md。設定JSONと結果Excelは別ファイルとして保存します。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a0ce90d12a480b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06fdea33a7847ff" /><Relationship Type="http://schemas.openxmlformats.org/officeDocument/2006/relationships/slideLayout" Target="/ppt/slideLayouts/slideLayout1.xml" Id="Reeb1cc4f57c844d1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eb1cc4f57c844d1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BIZ UD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BIZ UD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53507711d9436e" /><Relationship Type="http://schemas.openxmlformats.org/officeDocument/2006/relationships/image" Target="/ppt/media/image.png" Id="Rcfc9b9cdc4414eae" /><Relationship Type="http://schemas.openxmlformats.org/officeDocument/2006/relationships/notesSlide" Target="/ppt/notesSlides/notesSlide1.xml" Id="Rfe561574ffed4f2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e393bf2f314875" /><Relationship Type="http://schemas.openxmlformats.org/officeDocument/2006/relationships/image" Target="/ppt/media/image2.png" Id="R5393a575786e4694" /><Relationship Type="http://schemas.openxmlformats.org/officeDocument/2006/relationships/notesSlide" Target="/ppt/notesSlides/notesSlide2.xml" Id="R21af542953c444f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f54679c1be4375" /><Relationship Type="http://schemas.openxmlformats.org/officeDocument/2006/relationships/notesSlide" Target="/ppt/notesSlides/notesSlide3.xml" Id="Rbf1cfcd0e8704b3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97fbbf95104687" /><Relationship Type="http://schemas.openxmlformats.org/officeDocument/2006/relationships/notesSlide" Target="/ppt/notesSlides/notesSlide4.xml" Id="R6b7ce068f50b4c6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71d5bea4f54777" /><Relationship Type="http://schemas.openxmlformats.org/officeDocument/2006/relationships/image" Target="/ppt/media/image3.png" Id="R46f1a9a1d0814935" /><Relationship Type="http://schemas.openxmlformats.org/officeDocument/2006/relationships/notesSlide" Target="/ppt/notesSlides/notesSlide5.xml" Id="R1e914691871f45b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78f6447ec3473e" /><Relationship Type="http://schemas.openxmlformats.org/officeDocument/2006/relationships/image" Target="/ppt/media/image4.png" Id="R12225eac198248b2" /><Relationship Type="http://schemas.openxmlformats.org/officeDocument/2006/relationships/notesSlide" Target="/ppt/notesSlides/notesSlide6.xml" Id="R95e933a3d2864b2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13d64539524087" /><Relationship Type="http://schemas.openxmlformats.org/officeDocument/2006/relationships/image" Target="/ppt/media/image5.png" Id="Ra8a084bf15bf41c2" /><Relationship Type="http://schemas.openxmlformats.org/officeDocument/2006/relationships/image" Target="/ppt/media/image6.png" Id="R3d8104ceea394c78" /><Relationship Type="http://schemas.openxmlformats.org/officeDocument/2006/relationships/notesSlide" Target="/ppt/notesSlides/notesSlide7.xml" Id="R1c4a9a6589e741c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53bdd72cea471f" /><Relationship Type="http://schemas.openxmlformats.org/officeDocument/2006/relationships/image" Target="/ppt/media/image7.png" Id="R8ff21dc8bcb749ae" /><Relationship Type="http://schemas.openxmlformats.org/officeDocument/2006/relationships/image" Target="/ppt/media/image8.png" Id="Re02bc9fa4c1c41fb" /><Relationship Type="http://schemas.openxmlformats.org/officeDocument/2006/relationships/notesSlide" Target="/ppt/notesSlides/notesSlide8.xml" Id="R327339f6f595446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edc9d248d44160" /><Relationship Type="http://schemas.openxmlformats.org/officeDocument/2006/relationships/image" Target="/ppt/media/image9.png" Id="R50c6050d95934cf8" /><Relationship Type="http://schemas.openxmlformats.org/officeDocument/2006/relationships/notesSlide" Target="/ppt/notesSlides/notesSlide9.xml" Id="Rdfe8eb6469bb4b6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9d4dc7d95642ea" /><Relationship Type="http://schemas.openxmlformats.org/officeDocument/2006/relationships/image" Target="/ppt/media/image10.png" Id="R05836e224eb84580" /><Relationship Type="http://schemas.openxmlformats.org/officeDocument/2006/relationships/notesSlide" Target="/ppt/notesSlides/notesSlide10.xml" Id="R705984e1e7534e4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7c5d4ebd8942b0" /><Relationship Type="http://schemas.openxmlformats.org/officeDocument/2006/relationships/image" Target="/ppt/media/image11.png" Id="R35c3634b25704359" /><Relationship Type="http://schemas.openxmlformats.org/officeDocument/2006/relationships/notesSlide" Target="/ppt/notesSlides/notesSlide11.xml" Id="R795d5e7ff1b647d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059327b9394819" /><Relationship Type="http://schemas.openxmlformats.org/officeDocument/2006/relationships/image" Target="/ppt/media/image12.png" Id="Rbeae918c62714acc" /><Relationship Type="http://schemas.openxmlformats.org/officeDocument/2006/relationships/notesSlide" Target="/ppt/notesSlides/notesSlide12.xml" Id="R54cd3cf43288480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ebd6f89c5243e4" /><Relationship Type="http://schemas.openxmlformats.org/officeDocument/2006/relationships/image" Target="/ppt/media/image13.png" Id="R6c8250576d0d4d57" /><Relationship Type="http://schemas.openxmlformats.org/officeDocument/2006/relationships/notesSlide" Target="/ppt/notesSlides/notesSlide13.xml" Id="R7a895c9fec32411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945c9f03414469" /><Relationship Type="http://schemas.openxmlformats.org/officeDocument/2006/relationships/image" Target="/ppt/media/image14.png" Id="R068bbd7adc8a4df8" /><Relationship Type="http://schemas.openxmlformats.org/officeDocument/2006/relationships/notesSlide" Target="/ppt/notesSlides/notesSlide14.xml" Id="R1a82c629bad4433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82ccf708e74eaf" /><Relationship Type="http://schemas.openxmlformats.org/officeDocument/2006/relationships/image" Target="/ppt/media/image15.png" Id="R8285b84bd8f444c6" /><Relationship Type="http://schemas.openxmlformats.org/officeDocument/2006/relationships/notesSlide" Target="/ppt/notesSlides/notesSlide15.xml" Id="R2a0ee601cde742f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eaa0308ea64afa" /><Relationship Type="http://schemas.openxmlformats.org/officeDocument/2006/relationships/image" Target="/ppt/media/image16.png" Id="R6f1a2994c8da4f4a" /><Relationship Type="http://schemas.openxmlformats.org/officeDocument/2006/relationships/notesSlide" Target="/ppt/notesSlides/notesSlide16.xml" Id="R833f56e2d1d94a2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8b759320d94c47" /><Relationship Type="http://schemas.openxmlformats.org/officeDocument/2006/relationships/image" Target="/ppt/media/image17.png" Id="R51b5302032994425" /><Relationship Type="http://schemas.openxmlformats.org/officeDocument/2006/relationships/notesSlide" Target="/ppt/notesSlides/notesSlide17.xml" Id="R5febf4f93ec04e1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8f197158b44add" /><Relationship Type="http://schemas.openxmlformats.org/officeDocument/2006/relationships/image" Target="/ppt/media/image18.png" Id="R35787519acb642a4" /><Relationship Type="http://schemas.openxmlformats.org/officeDocument/2006/relationships/notesSlide" Target="/ppt/notesSlides/notesSlide18.xml" Id="Rd3c25f8bb1404de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60d70bb4bd4950" /><Relationship Type="http://schemas.openxmlformats.org/officeDocument/2006/relationships/image" Target="/ppt/media/image19.png" Id="R309520c6b5a74cde" /><Relationship Type="http://schemas.openxmlformats.org/officeDocument/2006/relationships/notesSlide" Target="/ppt/notesSlides/notesSlide19.xml" Id="R1b85157452a84e4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81277033b54a8d" /><Relationship Type="http://schemas.openxmlformats.org/officeDocument/2006/relationships/image" Target="/ppt/media/image20.png" Id="Rbf47c3c843474179" /><Relationship Type="http://schemas.openxmlformats.org/officeDocument/2006/relationships/notesSlide" Target="/ppt/notesSlides/notesSlide20.xml" Id="Rb0e763a3ebdc4ff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e0ca200c30499d" /><Relationship Type="http://schemas.openxmlformats.org/officeDocument/2006/relationships/image" Target="/ppt/media/image21.png" Id="R51ae38d808284659" /><Relationship Type="http://schemas.openxmlformats.org/officeDocument/2006/relationships/notesSlide" Target="/ppt/notesSlides/notesSlide21.xml" Id="R1572844705e04af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582bdb6c3c4a73" /><Relationship Type="http://schemas.openxmlformats.org/officeDocument/2006/relationships/image" Target="/ppt/media/image22.png" Id="Rb302447c7ad24540" /><Relationship Type="http://schemas.openxmlformats.org/officeDocument/2006/relationships/notesSlide" Target="/ppt/notesSlides/notesSlide22.xml" Id="R5a60d002ab234a3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919244b0c846fc" /><Relationship Type="http://schemas.openxmlformats.org/officeDocument/2006/relationships/image" Target="/ppt/media/image23.png" Id="Rc35ed617ea27408d" /><Relationship Type="http://schemas.openxmlformats.org/officeDocument/2006/relationships/notesSlide" Target="/ppt/notesSlides/notesSlide23.xml" Id="R9b25d46b56c54f7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6bf79c98344b64" /><Relationship Type="http://schemas.openxmlformats.org/officeDocument/2006/relationships/image" Target="/ppt/media/image24.png" Id="R924f59db7b684cb3" /><Relationship Type="http://schemas.openxmlformats.org/officeDocument/2006/relationships/notesSlide" Target="/ppt/notesSlides/notesSlide24.xml" Id="R6341e518b8e641c0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e72596aabc4fe4" /><Relationship Type="http://schemas.openxmlformats.org/officeDocument/2006/relationships/image" Target="/ppt/media/image25.png" Id="Rf9eff75b5dd34344" /><Relationship Type="http://schemas.openxmlformats.org/officeDocument/2006/relationships/notesSlide" Target="/ppt/notesSlides/notesSlide25.xml" Id="R0df246e92da44bf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cc109961d842c6" /><Relationship Type="http://schemas.openxmlformats.org/officeDocument/2006/relationships/image" Target="/ppt/media/image26.png" Id="R9246ca9151274911" /><Relationship Type="http://schemas.openxmlformats.org/officeDocument/2006/relationships/notesSlide" Target="/ppt/notesSlides/notesSlide26.xml" Id="Rca58eb89425048f6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80cc6953484425" /><Relationship Type="http://schemas.openxmlformats.org/officeDocument/2006/relationships/image" Target="/ppt/media/image27.png" Id="R27320ce6e9044068" /><Relationship Type="http://schemas.openxmlformats.org/officeDocument/2006/relationships/notesSlide" Target="/ppt/notesSlides/notesSlide27.xml" Id="R70b0298ddc9a4943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974626c6b748ff" /><Relationship Type="http://schemas.openxmlformats.org/officeDocument/2006/relationships/image" Target="/ppt/media/image28.png" Id="Rc61fa133c7074aa7" /><Relationship Type="http://schemas.openxmlformats.org/officeDocument/2006/relationships/notesSlide" Target="/ppt/notesSlides/notesSlide28.xml" Id="R82e7eb5066be4cc1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48e23122a941aa" /><Relationship Type="http://schemas.openxmlformats.org/officeDocument/2006/relationships/image" Target="/ppt/media/image29.png" Id="R63c1dc3bd1ba4d2c" /><Relationship Type="http://schemas.openxmlformats.org/officeDocument/2006/relationships/notesSlide" Target="/ppt/notesSlides/notesSlide29.xml" Id="Ra8ec18eeb3464734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fa05cf020a49e7" /><Relationship Type="http://schemas.openxmlformats.org/officeDocument/2006/relationships/image" Target="/ppt/media/image30.png" Id="R71f820d238854d37" /><Relationship Type="http://schemas.openxmlformats.org/officeDocument/2006/relationships/notesSlide" Target="/ppt/notesSlides/notesSlide30.xml" Id="R9735ff7cfd4c4c97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9efe05ff69474e" /><Relationship Type="http://schemas.openxmlformats.org/officeDocument/2006/relationships/image" Target="/ppt/media/image31.png" Id="R1041d1f7de2b4f5b" /><Relationship Type="http://schemas.openxmlformats.org/officeDocument/2006/relationships/notesSlide" Target="/ppt/notesSlides/notesSlide31.xml" Id="R24165019dbb4430c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1ba17f2449417b" /><Relationship Type="http://schemas.openxmlformats.org/officeDocument/2006/relationships/image" Target="/ppt/media/image32.png" Id="R5cadb1bf0ef1487a" /><Relationship Type="http://schemas.openxmlformats.org/officeDocument/2006/relationships/notesSlide" Target="/ppt/notesSlides/notesSlide32.xml" Id="Rdd43c85d06654c40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71c7b9818d4ca4" /><Relationship Type="http://schemas.openxmlformats.org/officeDocument/2006/relationships/notesSlide" Target="/ppt/notesSlides/notesSlide33.xml" Id="R741cf120547f4f07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d63867ac9e422b" /><Relationship Type="http://schemas.openxmlformats.org/officeDocument/2006/relationships/image" Target="/ppt/media/image33.png" Id="R4eee3e91c5d043d6" /><Relationship Type="http://schemas.openxmlformats.org/officeDocument/2006/relationships/notesSlide" Target="/ppt/notesSlides/notesSlide34.xml" Id="R63cbd3f5ffef41cb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17dfe427d24703" /><Relationship Type="http://schemas.openxmlformats.org/officeDocument/2006/relationships/notesSlide" Target="/ppt/notesSlides/notesSlide35.xml" Id="Rbc613ce239a04ebb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850bb92f6d498c" /><Relationship Type="http://schemas.openxmlformats.org/officeDocument/2006/relationships/notesSlide" Target="/ppt/notesSlides/notesSlide36.xml" Id="Reffc4f8e292c4e5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222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57F86F42-9A39-4605-AD03-32326BB30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822960"/>
            <a:ext cx="5943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A9ACC6"/>
                </a:solidFill>
                <a:latin typeface="BIZ UDGothic"/>
                <a:ea typeface="BIZ UDGothic"/>
                <a:cs typeface="BIZ UDGothic"/>
              </a:rPr>
              <a:t>ユーザー向け操作手順書</a:t>
            </a:r>
            <a:endParaRPr sz="14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A49C6249-8AC2-4E2E-84CD-A702D1AE7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762125"/>
            <a:ext cx="6096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360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360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360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360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360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360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360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360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360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360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 marL="0" indent="0">
              <a:buNone/>
              <a:defRPr sz="360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360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アライメント計測ツール</a:t>
            </a:r>
            <a:endParaRPr sz="46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279CC6F5-A4E7-4DBA-BC4E-9B9039672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286125"/>
            <a:ext cx="571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2000">
                <a:solidFill>
                  <a:srgbClr val="D9DBEA"/>
                </a:solidFill>
                <a:latin typeface="BIZ UDGothic"/>
                <a:ea typeface="BIZ UDGothic"/>
                <a:cs typeface="BIZ UDGothic"/>
              </a:rPr>
              <a:t>データの取り込みから</a:t>
            </a:r>
            <a:endParaRPr sz="2000"/>
          </a:p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2000">
                <a:solidFill>
                  <a:srgbClr val="D9DBEA"/>
                </a:solidFill>
                <a:latin typeface="BIZ UDGothic"/>
                <a:ea typeface="BIZ UDGothic"/>
                <a:cs typeface="BIZ UDGothic"/>
              </a:rPr>
              <a:t>手法比較・結果出力まで</a:t>
            </a:r>
            <a:endParaRPr sz="20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B8ED5B64-E5F3-4919-8144-8C29D2898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619750"/>
            <a:ext cx="609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A9ACC6"/>
                </a:solidFill>
                <a:latin typeface="BIZ UDGothic"/>
                <a:ea typeface="BIZ UDGothic"/>
                <a:cs typeface="BIZ UDGothic"/>
              </a:rPr>
              <a:t>2026年10月22日 ローカル版</a:t>
            </a:r>
            <a:endParaRPr sz="1200"/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A9ACC6"/>
                </a:solidFill>
                <a:latin typeface="BIZ UDGothic"/>
                <a:ea typeface="BIZ UDGothic"/>
                <a:cs typeface="BIZ UDGothic"/>
              </a:rPr>
              <a:t>画面は同梱の模擬データを使用</a:t>
            </a:r>
            <a:endParaRPr sz="1200"/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68224D-64D0-4EB2-B4D9-C5B99D4C73C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c9b9cdc4414eae"/>
          <a:stretch xmlns:a="http://schemas.openxmlformats.org/drawingml/2006/main"/>
        </p:blipFill>
        <p:spPr>
          <a:xfrm xmlns:a="http://schemas.openxmlformats.org/drawingml/2006/main">
            <a:off x="6953250" y="1905000"/>
            <a:ext cx="4572000" cy="2857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541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91D5CEDB-AE13-4917-9D3C-70A6EF18F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はじめに</a:t>
            </a:r>
            <a:endParaRPr sz="12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AA1B29C3-000F-4D2C-BB0C-C28FCA303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6928"/>
            <a:ext cx="11094415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 marL="0" indent="0">
              <a:buNone/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操作の全体像</a:t>
            </a:r>
            <a:endParaRPr sz="2800"/>
          </a:p>
        </p:txBody>
      </p:sp>
      <p:sp>
        <p:nvSpPr>
          <p:cNvPr id="35" name="Text 29">
            <a:extLst xmlns:a="http://schemas.openxmlformats.org/drawingml/2006/main">
              <a:ext uri="{FF2B5EF4-FFF2-40B4-BE49-F238E27FC236}">
                <a16:creationId xmlns:a16="http://schemas.microsoft.com/office/drawing/2014/main" id="{C9655AAC-34FA-4582-8DF0-8C33CE95B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73952"/>
            <a:ext cx="365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アライメント計測ツール　操作手順</a:t>
            </a:r>
            <a:endParaRPr sz="900"/>
          </a:p>
        </p:txBody>
      </p:sp>
      <p:sp>
        <p:nvSpPr>
          <p:cNvPr id="36" name="Text 30">
            <a:extLst xmlns:a="http://schemas.openxmlformats.org/drawingml/2006/main">
              <a:ext uri="{FF2B5EF4-FFF2-40B4-BE49-F238E27FC236}">
                <a16:creationId xmlns:a16="http://schemas.microsoft.com/office/drawing/2014/main" id="{8F531DCF-DA39-4BDD-97D7-1FBC6AE47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8655" y="6473952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2</a:t>
            </a:r>
            <a:endParaRPr sz="1000"/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3ECF434-003B-401F-A59C-27131B850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pPr>
            <a:r>
              <a: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rPr>
              <a:t>01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74FABC2-B58C-40CD-BC1A-3BA7253B7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619250"/>
            <a:ext cx="4810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起動とファイル選択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8D2E572-A185-4531-A44A-742DA34A2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009775"/>
            <a:ext cx="4810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MATLABからアプリを起動し、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ExcelまたはCSVを選びます。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6AAACAE-FCE5-4979-8820-49E6CF3F1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pPr>
            <a:r>
              <a: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rPr>
              <a:t>02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D98E9D8-B2C4-4AE3-A2AA-8DC8F2817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1619250"/>
            <a:ext cx="4810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取り込み条件の確認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FFB278A-C125-47F0-9AD4-6D663CF5F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009775"/>
            <a:ext cx="4810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列の対応、座標の単位、除外条件を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確認し、マップ・Shot重ね合わせで見ます。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0695933-5D1E-4BE9-A8D1-DADD7FF37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9562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pPr>
            <a:r>
              <a: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rPr>
              <a:t>03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EC6F037-ED17-4699-AF9C-E685B0863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095625"/>
            <a:ext cx="4810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評価条件の設定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86F1ED3-AB17-4015-91DC-0299E051C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486150"/>
            <a:ext cx="4810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学習Shotの選び方・数（計測率）・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必ず計測するShotと手法を決めます。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5407BC7-6D5B-46F0-99B6-989AF4E2C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09562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pPr>
            <a:r>
              <a: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rPr>
              <a:t>04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A9825FA-801C-4D7F-A214-13856E613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095625"/>
            <a:ext cx="4810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評価と結果の確認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28C86C4-C509-4897-A986-1862C675B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486150"/>
            <a:ext cx="4810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計測マップで学習Shotを確かめて評価し、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誤差の表・グラフ・マップを確認します。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D717845-8793-43EE-87E1-B3CB3D3A0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pPr>
            <a:r>
              <a: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rPr>
              <a:t>05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D61529D-440C-4E5C-B175-4337B19FC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572000"/>
            <a:ext cx="4810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設定と結果の保存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474335D-0BE2-407D-BFEC-62C4C97EA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962525"/>
            <a:ext cx="4810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設定JSONと結果Excelを保存します。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必要に応じて推定値や図も保存します。</a:t>
            </a:r>
          </a:p>
        </p:txBody>
      </p:sp>
      <p:pic>
        <p:nvPic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59EFAA1-3196-4BE8-940D-31951CD107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93a575786e4694"/>
          <a:stretch xmlns:a="http://schemas.openxmlformats.org/drawingml/2006/main"/>
        </p:blipFill>
        <p:spPr>
          <a:xfrm xmlns:a="http://schemas.openxmlformats.org/drawingml/2006/main">
            <a:off x="552450" y="5963900"/>
            <a:ext cx="11087100" cy="3118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7419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91D5CEDB-AE13-4917-9D3C-70A6EF18F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はじめに</a:t>
            </a:r>
            <a:endParaRPr sz="12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AA1B29C3-000F-4D2C-BB0C-C28FCA303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6928"/>
            <a:ext cx="11094415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 marL="0" indent="0">
              <a:buNone/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アプリの起動とサンプルデータ</a:t>
            </a:r>
            <a:endParaRPr sz="2800"/>
          </a:p>
        </p:txBody>
      </p:sp>
      <p:sp>
        <p:nvSpPr>
          <p:cNvPr id="35" name="Text 29">
            <a:extLst xmlns:a="http://schemas.openxmlformats.org/drawingml/2006/main">
              <a:ext uri="{FF2B5EF4-FFF2-40B4-BE49-F238E27FC236}">
                <a16:creationId xmlns:a16="http://schemas.microsoft.com/office/drawing/2014/main" id="{C9655AAC-34FA-4582-8DF0-8C33CE95B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73952"/>
            <a:ext cx="365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アライメント計測ツール　操作手順</a:t>
            </a:r>
            <a:endParaRPr sz="900"/>
          </a:p>
        </p:txBody>
      </p:sp>
      <p:sp>
        <p:nvSpPr>
          <p:cNvPr id="36" name="Text 30">
            <a:extLst xmlns:a="http://schemas.openxmlformats.org/drawingml/2006/main">
              <a:ext uri="{FF2B5EF4-FFF2-40B4-BE49-F238E27FC236}">
                <a16:creationId xmlns:a16="http://schemas.microsoft.com/office/drawing/2014/main" id="{8F531DCF-DA39-4BDD-97D7-1FBC6AE47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8655" y="6473952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3</a:t>
            </a:r>
            <a:endParaRPr sz="1000"/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4BF2FB0-FB39-4EB2-9493-0F58A474E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6687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pPr>
            <a:r>
              <a: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rPr>
              <a:t>01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386AA57-C3BF-4209-B1AE-4E753C9A8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666875"/>
            <a:ext cx="5667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MATLABを起動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E181DD8-DAFC-44FD-8874-A1A569966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057400"/>
            <a:ext cx="56673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アプリ一式の matlab_app フォルダを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「現在のフォルダー」にします。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7EB3533-B441-43C6-8AC9-C73DACA10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pPr>
            <a:r>
              <a: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rPr>
              <a:t>02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3014961-5F0E-471B-A1C0-4FDAD1D7E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143250"/>
            <a:ext cx="5667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起動コマンドを入力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E05EF4F-4BA8-4F4B-A4F2-FF67A67F2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533775"/>
            <a:ext cx="56673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コマンドウィンドウで次を実行します。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7C1D744-119D-498A-B85B-13F7B85BD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143375"/>
            <a:ext cx="600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950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950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950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950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950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950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950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950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950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pPr>
            <a:r>
              <a:rPr sz="1950" b="1">
                <a:solidFill>
                  <a:srgbClr val="2A9D8F"/>
                </a:solidFill>
                <a:latin typeface="BIZ UDGothic"/>
                <a:ea typeface="BIZ UDGothic"/>
                <a:cs typeface="BIZ UDGothic"/>
              </a:rPr>
              <a:t>runAlignmentEstimationApp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7F5C0BC-912C-4E75-9CD7-F2C201F8F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91125"/>
            <a:ext cx="647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80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80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80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80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80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80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80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80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80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80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試すファイル</a:t>
            </a:r>
          </a:p>
          <a:p xmlns:a="http://schemas.openxmlformats.org/drawingml/2006/main">
            <a:pPr>
              <a:defRPr sz="180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80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sample_data/sample_alignment.xlsx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4347CFC-C24E-456A-A531-CD22D8393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66875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95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95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95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95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95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95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95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95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95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95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必要な環境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A26529E-4077-4465-98BC-8D5F6274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38375"/>
            <a:ext cx="3667125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6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6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6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6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6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6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6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6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6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6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MATLAB R2022bで動作確認</a:t>
            </a:r>
          </a:p>
          <a:p xmlns:a="http://schemas.openxmlformats.org/drawingml/2006/main">
            <a:pPr>
              <a:defRPr sz="16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6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追加Toolbox・Excel本体は不要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6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Windowsの.exe版を使う場合は、</a:t>
            </a:r>
          </a:p>
          <a:p xmlns:a="http://schemas.openxmlformats.org/drawingml/2006/main">
            <a:pPr>
              <a:defRPr sz="16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6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作成時と同じ版のMATLAB Runtime</a:t>
            </a:r>
          </a:p>
          <a:p xmlns:a="http://schemas.openxmlformats.org/drawingml/2006/main">
            <a:pPr>
              <a:defRPr sz="16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6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が必要です。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00802B4-4512-45FC-A253-2C13BAF89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0"/>
            <a:ext cx="11087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55566C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350" b="0">
                <a:solidFill>
                  <a:srgbClr val="55566C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350" b="0">
                <a:solidFill>
                  <a:srgbClr val="55566C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350" b="0">
                <a:solidFill>
                  <a:srgbClr val="55566C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350" b="0">
                <a:solidFill>
                  <a:srgbClr val="55566C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350" b="0">
                <a:solidFill>
                  <a:srgbClr val="55566C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350" b="0">
                <a:solidFill>
                  <a:srgbClr val="55566C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350" b="0">
                <a:solidFill>
                  <a:srgbClr val="55566C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350" b="0">
                <a:solidFill>
                  <a:srgbClr val="55566C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350" b="0">
                <a:solidFill>
                  <a:srgbClr val="55566C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5566C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55566C"/>
                </a:solidFill>
                <a:latin typeface="BIZ UDGothic"/>
                <a:ea typeface="BIZ UDGothic"/>
                <a:cs typeface="BIZ UDGothic"/>
              </a:rPr>
              <a:t>画面の例はMac版です。操作名は同じで、外観はOSにより変わる場合があります。</a:t>
            </a:r>
          </a:p>
        </p:txBody>
      </p:sp>
    </p:spTree>
    <p:extLst>
      <p:ext uri="{BB962C8B-B14F-4D97-AF65-F5344CB8AC3E}">
        <p14:creationId xmlns:p14="http://schemas.microsoft.com/office/powerpoint/2010/main" val="18247419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91D5CEDB-AE13-4917-9D3C-70A6EF18F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01　データの準備</a:t>
            </a:r>
            <a:endParaRPr sz="12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AA1B29C3-000F-4D2C-BB0C-C28FCA303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6928"/>
            <a:ext cx="11094415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 marL="0" indent="0">
              <a:buNone/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入力ファイルの項目</a:t>
            </a:r>
            <a:endParaRPr sz="2800"/>
          </a:p>
        </p:txBody>
      </p:sp>
      <p:sp>
        <p:nvSpPr>
          <p:cNvPr id="35" name="Text 29">
            <a:extLst xmlns:a="http://schemas.openxmlformats.org/drawingml/2006/main">
              <a:ext uri="{FF2B5EF4-FFF2-40B4-BE49-F238E27FC236}">
                <a16:creationId xmlns:a16="http://schemas.microsoft.com/office/drawing/2014/main" id="{C9655AAC-34FA-4582-8DF0-8C33CE95B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73952"/>
            <a:ext cx="365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アライメント計測ツール　操作手順</a:t>
            </a:r>
            <a:endParaRPr sz="900"/>
          </a:p>
        </p:txBody>
      </p:sp>
      <p:sp>
        <p:nvSpPr>
          <p:cNvPr id="36" name="Text 30">
            <a:extLst xmlns:a="http://schemas.openxmlformats.org/drawingml/2006/main">
              <a:ext uri="{FF2B5EF4-FFF2-40B4-BE49-F238E27FC236}">
                <a16:creationId xmlns:a16="http://schemas.microsoft.com/office/drawing/2014/main" id="{8F531DCF-DA39-4BDD-97D7-1FBC6AE47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8655" y="6473952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4</a:t>
            </a:r>
            <a:endParaRPr sz="1000"/>
          </a:p>
        </p:txBody>
      </p:sp>
      <p:graphicFrame>
        <p:nvGraphicFrame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FE1C46A-2A1B-4175-ADF3-F6E1F4749055}"/>
              </a:ext>
            </a:extLst>
          </p:cNvPr>
          <p:cNvGraphicFramePr/>
          <p:nvPr/>
        </p:nvGraphicFramePr>
        <p:xfrm>
          <a:off xmlns:a="http://schemas.openxmlformats.org/drawingml/2006/main" x="552450" y="1571625"/>
          <a:ext xmlns:a="http://schemas.openxmlformats.org/drawingml/2006/main" cx="110871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00375"/>
                <a:gridCol w="6762750"/>
                <a:gridCol w="1323975"/>
              </a:tblGrid>
              <a:tr h="488156">
                <a:tc>
                  <a:txBody>
                    <a:bodyPr lIns="85725" tIns="85725" rIns="85725" bIns="85725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項目</a:t>
                      </a:r>
                    </a:p>
                  </a:txBody>
                  <a:tcPr marL="91440" marR="91440" marT="45720" marB="45720" anchor="ctr">
                    <a:lnL w="4763">
                      <a:solidFill>
                        <a:srgbClr val="DADDE6"/>
                      </a:solidFill>
                      <a:prstDash val="solid"/>
                    </a:lnL>
                    <a:lnR w="4763">
                      <a:solidFill>
                        <a:srgbClr val="DADDE6"/>
                      </a:solidFill>
                      <a:prstDash val="solid"/>
                    </a:lnR>
                    <a:lnT w="4763">
                      <a:solidFill>
                        <a:srgbClr val="DADDE6"/>
                      </a:solidFill>
                      <a:prstDash val="solid"/>
                    </a:lnT>
                    <a:lnB w="4763">
                      <a:solidFill>
                        <a:srgbClr val="DADDE6"/>
                      </a:solidFill>
                      <a:prstDash val="solid"/>
                    </a:lnB>
                    <a:solidFill>
                      <a:srgbClr val="22223B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意味・単位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ADDE6"/>
                      </a:solidFill>
                      <a:prstDash val="solid"/>
                    </a:lnR>
                    <a:lnT w="4763">
                      <a:solidFill>
                        <a:srgbClr val="DADDE6"/>
                      </a:solidFill>
                      <a:prstDash val="solid"/>
                    </a:lnT>
                    <a:lnB w="4763">
                      <a:solidFill>
                        <a:srgbClr val="DADDE6"/>
                      </a:solidFill>
                      <a:prstDash val="solid"/>
                    </a:lnB>
                    <a:solidFill>
                      <a:srgbClr val="22223B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指定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ADDE6"/>
                      </a:solidFill>
                      <a:prstDash val="solid"/>
                    </a:lnR>
                    <a:lnT w="4763">
                      <a:solidFill>
                        <a:srgbClr val="DADDE6"/>
                      </a:solidFill>
                      <a:prstDash val="solid"/>
                    </a:lnT>
                    <a:lnB w="4763">
                      <a:solidFill>
                        <a:srgbClr val="DADDE6"/>
                      </a:solidFill>
                      <a:prstDash val="solid"/>
                    </a:lnB>
                    <a:solidFill>
                      <a:srgbClr val="22223B"/>
                    </a:solidFill>
                  </a:tcPr>
                </a:tc>
              </a:tr>
              <a:tr h="488156">
                <a:tc>
                  <a:txBody>
                    <a:bodyPr lIns="85725" tIns="85725" rIns="85725" bIns="85725"/>
                    <a:lstStyle/>
                    <a:p>
                      <a:r>
                        <a:rPr sz="1425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Xmm・Ymm</a:t>
                      </a:r>
                    </a:p>
                  </a:txBody>
                  <a:tcPr marL="91440" marR="91440" marT="45720" marB="45720" anchor="ctr">
                    <a:lnL w="4763">
                      <a:solidFill>
                        <a:srgbClr val="DADDE6"/>
                      </a:solidFill>
                      <a:prstDash val="solid"/>
                    </a:lnL>
                    <a:lnR w="4763">
                      <a:solidFill>
                        <a:srgbClr val="DADDE6"/>
                      </a:solidFill>
                      <a:prstDash val="solid"/>
                    </a:lnR>
                    <a:lnB w="4763">
                      <a:solidFill>
                        <a:srgbClr val="DADDE6"/>
                      </a:solidFill>
                      <a:prstDash val="soli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425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Shot中心の絶対座標。入力単位を選択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ADDE6"/>
                      </a:solidFill>
                      <a:prstDash val="solid"/>
                    </a:lnR>
                    <a:lnB w="4763">
                      <a:solidFill>
                        <a:srgbClr val="DADDE6"/>
                      </a:solidFill>
                      <a:prstDash val="soli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425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必須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ADDE6"/>
                      </a:solidFill>
                      <a:prstDash val="solid"/>
                    </a:lnR>
                    <a:lnB w="4763">
                      <a:solidFill>
                        <a:srgbClr val="DADDE6"/>
                      </a:solidFill>
                      <a:prstDash val="solid"/>
                    </a:lnB>
                    <a:solidFill>
                      <a:srgbClr val="F3F4F8"/>
                    </a:solidFill>
                  </a:tcPr>
                </a:tc>
              </a:tr>
              <a:tr h="488156">
                <a:tc>
                  <a:txBody>
                    <a:bodyPr lIns="85725" tIns="85725" rIns="85725" bIns="85725"/>
                    <a:lstStyle/>
                    <a:p>
                      <a:r>
                        <a:rPr sz="1425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markXmm・markYmm</a:t>
                      </a:r>
                    </a:p>
                  </a:txBody>
                  <a:tcPr marL="91440" marR="91440" marT="45720" marB="45720" anchor="ctr">
                    <a:lnL w="4763">
                      <a:solidFill>
                        <a:srgbClr val="DADDE6"/>
                      </a:solidFill>
                      <a:prstDash val="solid"/>
                    </a:lnL>
                    <a:lnR w="4763">
                      <a:solidFill>
                        <a:srgbClr val="DADDE6"/>
                      </a:solidFill>
                      <a:prstDash val="solid"/>
                    </a:lnR>
                    <a:lnB w="4763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425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Shot中心からのMark相対座標。入力単位を選択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ADDE6"/>
                      </a:solidFill>
                      <a:prstDash val="solid"/>
                    </a:lnR>
                    <a:lnB w="4763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425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必須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ADDE6"/>
                      </a:solidFill>
                      <a:prstDash val="solid"/>
                    </a:lnR>
                    <a:lnB w="4763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8156">
                <a:tc>
                  <a:txBody>
                    <a:bodyPr lIns="85725" tIns="85725" rIns="85725" bIns="85725"/>
                    <a:lstStyle/>
                    <a:p>
                      <a:r>
                        <a:rPr sz="1425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measX・measY</a:t>
                      </a:r>
                    </a:p>
                  </a:txBody>
                  <a:tcPr marL="91440" marR="91440" marT="45720" marB="45720" anchor="ctr">
                    <a:lnL w="4763">
                      <a:solidFill>
                        <a:srgbClr val="DADDE6"/>
                      </a:solidFill>
                      <a:prstDash val="solid"/>
                    </a:lnL>
                    <a:lnR w="4763">
                      <a:solidFill>
                        <a:srgbClr val="DADDE6"/>
                      </a:solidFill>
                      <a:prstDash val="solid"/>
                    </a:lnR>
                    <a:lnB w="4763">
                      <a:solidFill>
                        <a:srgbClr val="DADDE6"/>
                      </a:solidFill>
                      <a:prstDash val="soli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425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X・Y方向の測定値 [nm]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ADDE6"/>
                      </a:solidFill>
                      <a:prstDash val="solid"/>
                    </a:lnR>
                    <a:lnB w="4763">
                      <a:solidFill>
                        <a:srgbClr val="DADDE6"/>
                      </a:solidFill>
                      <a:prstDash val="soli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425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必須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ADDE6"/>
                      </a:solidFill>
                      <a:prstDash val="solid"/>
                    </a:lnR>
                    <a:lnB w="4763">
                      <a:solidFill>
                        <a:srgbClr val="DADDE6"/>
                      </a:solidFill>
                      <a:prstDash val="solid"/>
                    </a:lnB>
                    <a:solidFill>
                      <a:srgbClr val="F3F4F8"/>
                    </a:solidFill>
                  </a:tcPr>
                </a:tc>
              </a:tr>
              <a:tr h="488156">
                <a:tc>
                  <a:txBody>
                    <a:bodyPr lIns="85725" tIns="85725" rIns="85725" bIns="85725"/>
                    <a:lstStyle/>
                    <a:p>
                      <a:r>
                        <a:rPr sz="1425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Wafer・DateTime</a:t>
                      </a:r>
                    </a:p>
                  </a:txBody>
                  <a:tcPr marL="91440" marR="91440" marT="45720" marB="45720" anchor="ctr">
                    <a:lnL w="4763">
                      <a:solidFill>
                        <a:srgbClr val="DADDE6"/>
                      </a:solidFill>
                      <a:prstDash val="solid"/>
                    </a:lnL>
                    <a:lnR w="4763">
                      <a:solidFill>
                        <a:srgbClr val="DADDE6"/>
                      </a:solidFill>
                      <a:prstDash val="solid"/>
                    </a:lnR>
                    <a:lnB w="4763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425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Wafer ID・測定日時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ADDE6"/>
                      </a:solidFill>
                      <a:prstDash val="solid"/>
                    </a:lnR>
                    <a:lnB w="4763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425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任意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ADDE6"/>
                      </a:solidFill>
                      <a:prstDash val="solid"/>
                    </a:lnR>
                    <a:lnB w="4763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8156">
                <a:tc>
                  <a:txBody>
                    <a:bodyPr lIns="85725" tIns="85725" rIns="85725" bIns="85725"/>
                    <a:lstStyle/>
                    <a:p>
                      <a:r>
                        <a:rPr sz="1425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shotNo・markNo・Direction</a:t>
                      </a:r>
                    </a:p>
                  </a:txBody>
                  <a:tcPr marL="91440" marR="91440" marT="45720" marB="45720" anchor="ctr">
                    <a:lnL w="4763">
                      <a:solidFill>
                        <a:srgbClr val="DADDE6"/>
                      </a:solidFill>
                      <a:prstDash val="solid"/>
                    </a:lnL>
                    <a:lnR w="4763">
                      <a:solidFill>
                        <a:srgbClr val="DADDE6"/>
                      </a:solidFill>
                      <a:prstDash val="solid"/>
                    </a:lnR>
                    <a:lnB w="4763">
                      <a:solidFill>
                        <a:srgbClr val="DADDE6"/>
                      </a:solidFill>
                      <a:prstDash val="soli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425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Shot番号・Mark番号・Scan方向（1または2）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ADDE6"/>
                      </a:solidFill>
                      <a:prstDash val="solid"/>
                    </a:lnR>
                    <a:lnB w="4763">
                      <a:solidFill>
                        <a:srgbClr val="DADDE6"/>
                      </a:solidFill>
                      <a:prstDash val="soli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425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任意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ADDE6"/>
                      </a:solidFill>
                      <a:prstDash val="solid"/>
                    </a:lnR>
                    <a:lnB w="4763">
                      <a:solidFill>
                        <a:srgbClr val="DADDE6"/>
                      </a:solidFill>
                      <a:prstDash val="solid"/>
                    </a:lnB>
                    <a:solidFill>
                      <a:srgbClr val="F3F4F8"/>
                    </a:solidFill>
                  </a:tcPr>
                </a:tc>
              </a:tr>
              <a:tr h="488156">
                <a:tc>
                  <a:txBody>
                    <a:bodyPr lIns="85725" tIns="85725" rIns="85725" bIns="85725"/>
                    <a:lstStyle/>
                    <a:p>
                      <a:r>
                        <a:rPr sz="1425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StsX・StsY</a:t>
                      </a:r>
                    </a:p>
                  </a:txBody>
                  <a:tcPr marL="91440" marR="91440" marT="45720" marB="45720" anchor="ctr">
                    <a:lnL w="4763">
                      <a:solidFill>
                        <a:srgbClr val="DADDE6"/>
                      </a:solidFill>
                      <a:prstDash val="solid"/>
                    </a:lnL>
                    <a:lnR w="4763">
                      <a:solidFill>
                        <a:srgbClr val="DADDE6"/>
                      </a:solidFill>
                      <a:prstDash val="solid"/>
                    </a:lnR>
                    <a:lnB w="4763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425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0は有効、−1は未測定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ADDE6"/>
                      </a:solidFill>
                      <a:prstDash val="solid"/>
                    </a:lnR>
                    <a:lnB w="4763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425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任意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ADDE6"/>
                      </a:solidFill>
                      <a:prstDash val="solid"/>
                    </a:lnR>
                    <a:lnB w="4763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8156">
                <a:tc>
                  <a:txBody>
                    <a:bodyPr lIns="85725" tIns="85725" rIns="85725" bIns="85725"/>
                    <a:lstStyle/>
                    <a:p>
                      <a:r>
                        <a:rPr sz="1425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Operation・EqpId・LotID</a:t>
                      </a:r>
                    </a:p>
                  </a:txBody>
                  <a:tcPr marL="91440" marR="91440" marT="45720" marB="45720" anchor="ctr">
                    <a:lnL w="4763">
                      <a:solidFill>
                        <a:srgbClr val="DADDE6"/>
                      </a:solidFill>
                      <a:prstDash val="solid"/>
                    </a:lnL>
                    <a:lnR w="4763">
                      <a:solidFill>
                        <a:srgbClr val="DADDE6"/>
                      </a:solidFill>
                      <a:prstDash val="solid"/>
                    </a:lnR>
                    <a:lnB w="4763">
                      <a:solidFill>
                        <a:srgbClr val="DADDE6"/>
                      </a:solidFill>
                      <a:prstDash val="soli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425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工程・装置・ロット。値が違えば別の計測単位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ADDE6"/>
                      </a:solidFill>
                      <a:prstDash val="solid"/>
                    </a:lnR>
                    <a:lnB w="4763">
                      <a:solidFill>
                        <a:srgbClr val="DADDE6"/>
                      </a:solidFill>
                      <a:prstDash val="soli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425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任意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ADDE6"/>
                      </a:solidFill>
                      <a:prstDash val="solid"/>
                    </a:lnR>
                    <a:lnB w="4763">
                      <a:solidFill>
                        <a:srgbClr val="DADDE6"/>
                      </a:solidFill>
                      <a:prstDash val="solid"/>
                    </a:lnB>
                    <a:solidFill>
                      <a:srgbClr val="F3F4F8"/>
                    </a:solidFill>
                  </a:tcPr>
                </a:tc>
              </a:tr>
            </a:tbl>
          </a:graphicData>
        </a:graphic>
      </p:graphicFrame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BE02A52-0ED8-4E8F-80EA-D68BA39B9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19750"/>
            <a:ext cx="110871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575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575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575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575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575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575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575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575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575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575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1行目を項目名にします。列名が異なる場合は画面で対応づけます。</a:t>
            </a:r>
          </a:p>
          <a:p xmlns:a="http://schemas.openxmlformats.org/drawingml/2006/main">
            <a:pPr>
              <a:defRPr sz="1575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575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標準項目に対応づけない列も、後で質的変数として選べます。</a:t>
            </a:r>
          </a:p>
        </p:txBody>
      </p:sp>
    </p:spTree>
    <p:extLst>
      <p:ext uri="{BB962C8B-B14F-4D97-AF65-F5344CB8AC3E}">
        <p14:creationId xmlns:p14="http://schemas.microsoft.com/office/powerpoint/2010/main" val="18247419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91D5CEDB-AE13-4917-9D3C-70A6EF18F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01　データの取り込み</a:t>
            </a:r>
            <a:endParaRPr sz="12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AA1B29C3-000F-4D2C-BB0C-C28FCA303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6928"/>
            <a:ext cx="11094415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 marL="0" indent="0">
              <a:buNone/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ファイルと列の対応</a:t>
            </a:r>
            <a:endParaRPr sz="2800"/>
          </a:p>
        </p:txBody>
      </p:sp>
      <p:sp>
        <p:nvSpPr>
          <p:cNvPr id="35" name="Text 29">
            <a:extLst xmlns:a="http://schemas.openxmlformats.org/drawingml/2006/main">
              <a:ext uri="{FF2B5EF4-FFF2-40B4-BE49-F238E27FC236}">
                <a16:creationId xmlns:a16="http://schemas.microsoft.com/office/drawing/2014/main" id="{C9655AAC-34FA-4582-8DF0-8C33CE95B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73952"/>
            <a:ext cx="365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アライメント計測ツール　操作手順</a:t>
            </a:r>
            <a:endParaRPr sz="900"/>
          </a:p>
        </p:txBody>
      </p:sp>
      <p:sp>
        <p:nvSpPr>
          <p:cNvPr id="36" name="Text 30">
            <a:extLst xmlns:a="http://schemas.openxmlformats.org/drawingml/2006/main">
              <a:ext uri="{FF2B5EF4-FFF2-40B4-BE49-F238E27FC236}">
                <a16:creationId xmlns:a16="http://schemas.microsoft.com/office/drawing/2014/main" id="{8F531DCF-DA39-4BDD-97D7-1FBC6AE47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8655" y="6473952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5</a:t>
            </a:r>
            <a:endParaRPr sz="1000"/>
          </a:p>
        </p:txBody>
      </p:sp>
      <p:pic>
        <p:nvPic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54AA3C7-BFFF-4671-8238-9FF0ED14D2D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f1a9a1d0814935"/>
          <a:stretch xmlns:a="http://schemas.openxmlformats.org/drawingml/2006/main"/>
        </p:blipFill>
        <p:spPr>
          <a:xfrm xmlns:a="http://schemas.openxmlformats.org/drawingml/2006/main">
            <a:off x="552450" y="1383506"/>
            <a:ext cx="7810500" cy="4881562"/>
          </a:xfrm>
          <a:prstGeom xmlns:a="http://schemas.openxmlformats.org/drawingml/2006/main" prst="rect">
            <a:avLst/>
          </a:prstGeom>
        </p:spPr>
      </p:pic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6A6745C-270E-4197-96BB-2660FAA89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189" y="2192298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13335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defPPr>
            <a:lvl1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1pPr>
            <a:lvl2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2pPr>
            <a:lvl3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3pPr>
            <a:lvl4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4pPr>
            <a:lvl5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5pPr>
            <a:lvl6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6pPr>
            <a:lvl7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7pPr>
            <a:lvl8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8pPr>
            <a:lvl9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1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96D1F74-8F52-41C6-9EF6-D311F3DEC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5009" y="3163729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13335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defPPr>
            <a:lvl1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1pPr>
            <a:lvl2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2pPr>
            <a:lvl3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3pPr>
            <a:lvl4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4pPr>
            <a:lvl5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5pPr>
            <a:lvl6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6pPr>
            <a:lvl7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7pPr>
            <a:lvl8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8pPr>
            <a:lvl9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89146E7-0105-4E68-A53B-F20705E4F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062" y="5819299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13335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defPPr>
            <a:lvl1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1pPr>
            <a:lvl2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2pPr>
            <a:lvl3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3pPr>
            <a:lvl4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4pPr>
            <a:lvl5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5pPr>
            <a:lvl6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6pPr>
            <a:lvl7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7pPr>
            <a:lvl8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8pPr>
            <a:lvl9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3810DCC-33E8-4A67-B7D9-539AF9B48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5240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pPr>
            <a:r>
              <a: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rPr>
              <a:t>01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87D5D52-86F4-4316-A3D7-274C7984C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524000"/>
            <a:ext cx="252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ファイルを選ぶ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38E4C5C-F544-4377-88A1-6AFCC1457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14525"/>
            <a:ext cx="2524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ExcelまたはCSVを選びます。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Excelは対象シートも確認します。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BA106B0-55C5-42C2-B95C-23FD0D486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0480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pPr>
            <a:r>
              <a: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rPr>
              <a:t>02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80FF53E-487B-4E5E-B4AB-DA759D2EA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48000"/>
            <a:ext cx="252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列の対応を確認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286143F-9105-4519-B7AD-B17786783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38525"/>
            <a:ext cx="2524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左の表の「ファイルの列」を確認。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必須項目が対応していることを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確かめます。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0C271CE-6E5C-4DA6-895D-A37A0CD24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5720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pPr>
            <a:r>
              <a: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rPr>
              <a:t>03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C862CAF-0077-4593-BA11-989C64845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572000"/>
            <a:ext cx="252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取り込みを実行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9645850-049F-4DA2-97E9-12B16B3CB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62525"/>
            <a:ext cx="2524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単位・除外条件も確認して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「この対応で読み込む」を押します。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2681722-2393-45AC-9F15-9397D7AE0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>
                <a:solidFill>
                  <a:srgbClr val="55566C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125" b="0">
                <a:solidFill>
                  <a:srgbClr val="55566C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125" b="0">
                <a:solidFill>
                  <a:srgbClr val="55566C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125" b="0">
                <a:solidFill>
                  <a:srgbClr val="55566C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125" b="0">
                <a:solidFill>
                  <a:srgbClr val="55566C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125" b="0">
                <a:solidFill>
                  <a:srgbClr val="55566C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125" b="0">
                <a:solidFill>
                  <a:srgbClr val="55566C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125" b="0">
                <a:solidFill>
                  <a:srgbClr val="55566C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125" b="0">
                <a:solidFill>
                  <a:srgbClr val="55566C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125" b="0">
                <a:solidFill>
                  <a:srgbClr val="55566C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5566C"/>
                </a:solidFill>
                <a:latin typeface="BIZ UDGothic"/>
                <a:ea typeface="BIZ UDGothic"/>
                <a:cs typeface="BIZ UDGothic"/>
              </a:defRPr>
            </a:pPr>
            <a:r>
              <a:rPr sz="1125" b="0">
                <a:solidFill>
                  <a:srgbClr val="55566C"/>
                </a:solidFill>
                <a:latin typeface="BIZ UDGothic"/>
                <a:ea typeface="BIZ UDGothic"/>
                <a:cs typeface="BIZ UDGothic"/>
              </a:rPr>
              <a:t>画面例は sample_alignment.xlsx（同梱の模擬データ）です。</a:t>
            </a:r>
          </a:p>
        </p:txBody>
      </p:sp>
    </p:spTree>
    <p:extLst>
      <p:ext uri="{BB962C8B-B14F-4D97-AF65-F5344CB8AC3E}">
        <p14:creationId xmlns:p14="http://schemas.microsoft.com/office/powerpoint/2010/main" val="18247419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91D5CEDB-AE13-4917-9D3C-70A6EF18F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01　データの取り込み</a:t>
            </a:r>
            <a:endParaRPr sz="12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AA1B29C3-000F-4D2C-BB0C-C28FCA303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6928"/>
            <a:ext cx="11094415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 marL="0" indent="0">
              <a:buNone/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座標の単位と変換後の値</a:t>
            </a:r>
            <a:endParaRPr sz="2800"/>
          </a:p>
        </p:txBody>
      </p:sp>
      <p:sp>
        <p:nvSpPr>
          <p:cNvPr id="35" name="Text 29">
            <a:extLst xmlns:a="http://schemas.openxmlformats.org/drawingml/2006/main">
              <a:ext uri="{FF2B5EF4-FFF2-40B4-BE49-F238E27FC236}">
                <a16:creationId xmlns:a16="http://schemas.microsoft.com/office/drawing/2014/main" id="{C9655AAC-34FA-4582-8DF0-8C33CE95B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73952"/>
            <a:ext cx="365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アライメント計測ツール　操作手順</a:t>
            </a:r>
            <a:endParaRPr sz="900"/>
          </a:p>
        </p:txBody>
      </p:sp>
      <p:sp>
        <p:nvSpPr>
          <p:cNvPr id="36" name="Text 30">
            <a:extLst xmlns:a="http://schemas.openxmlformats.org/drawingml/2006/main">
              <a:ext uri="{FF2B5EF4-FFF2-40B4-BE49-F238E27FC236}">
                <a16:creationId xmlns:a16="http://schemas.microsoft.com/office/drawing/2014/main" id="{8F531DCF-DA39-4BDD-97D7-1FBC6AE47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8655" y="6473952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6</a:t>
            </a:r>
            <a:endParaRPr sz="1000"/>
          </a:p>
        </p:txBody>
      </p:sp>
      <p:pic>
        <p:nvPic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14C8658-1CFA-472D-A439-8BF68B995EB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225eac198248b2"/>
          <a:stretch xmlns:a="http://schemas.openxmlformats.org/drawingml/2006/main"/>
        </p:blipFill>
        <p:spPr>
          <a:xfrm xmlns:a="http://schemas.openxmlformats.org/drawingml/2006/main">
            <a:off x="552450" y="2372320"/>
            <a:ext cx="7667625" cy="2875359"/>
          </a:xfrm>
          <a:prstGeom xmlns:a="http://schemas.openxmlformats.org/drawingml/2006/main" prst="rect">
            <a:avLst/>
          </a:prstGeom>
        </p:spPr>
      </p:pic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06AC644-D578-4D20-9824-A22AD5186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8470" y="3437037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13335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defPPr>
            <a:lvl1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1pPr>
            <a:lvl2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2pPr>
            <a:lvl3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3pPr>
            <a:lvl4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4pPr>
            <a:lvl5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5pPr>
            <a:lvl6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6pPr>
            <a:lvl7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7pPr>
            <a:lvl8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8pPr>
            <a:lvl9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1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17C5EF3-AA40-4B6D-8D3F-474056F44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4360" y="3111163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13335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defPPr>
            <a:lvl1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1pPr>
            <a:lvl2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2pPr>
            <a:lvl3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3pPr>
            <a:lvl4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4pPr>
            <a:lvl5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5pPr>
            <a:lvl6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6pPr>
            <a:lvl7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7pPr>
            <a:lvl8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8pPr>
            <a:lvl9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5CEE4E5-A7E8-4E65-8DEF-97302AC6F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6351" y="3638312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13335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defPPr>
            <a:lvl1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1pPr>
            <a:lvl2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2pPr>
            <a:lvl3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3pPr>
            <a:lvl4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4pPr>
            <a:lvl5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5pPr>
            <a:lvl6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6pPr>
            <a:lvl7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7pPr>
            <a:lvl8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8pPr>
            <a:lvl9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C0CF07E-8CAB-4819-9B4D-C05FF06AE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5240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pPr>
            <a:r>
              <a: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rPr>
              <a:t>01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E92AA55-B941-47FE-9D7B-E7E7F3369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524000"/>
            <a:ext cx="252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入力単位を選ぶ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1E2E63B-DEF0-46E8-858D-F34AD5513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14525"/>
            <a:ext cx="2524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Xmmなどの列ごとに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mm・µm・nm・mを選びます。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318A2F0-C232-4B11-AEFC-E698146E7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0480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pPr>
            <a:r>
              <a: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rPr>
              <a:t>02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D962262-9F52-42A0-A2D7-CAC07F7EE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48000"/>
            <a:ext cx="252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推定は補助に使う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1C0F33D-D275-498C-B26B-2A9FB985C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38525"/>
            <a:ext cx="2524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「値の大きさから単位を推定」は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候補を選ぶ補助です。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実際の入力単位を確認します。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AAAD5FB-23EB-45FE-B746-3AEB6AD0D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5720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pPr>
            <a:r>
              <a: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rPr>
              <a:t>03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B957249-933B-49CA-9C0B-BDABDA92D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572000"/>
            <a:ext cx="252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変換後を確認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281D9D0-DB26-4082-AB4D-F4369BB93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62525"/>
            <a:ext cx="2524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変換後の値はmmです。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measX・measYはnmのまま。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変更後は再取り込みします。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E7701D0-6D9E-499D-8420-1A5529460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>
                <a:solidFill>
                  <a:srgbClr val="55566C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125" b="0">
                <a:solidFill>
                  <a:srgbClr val="55566C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125" b="0">
                <a:solidFill>
                  <a:srgbClr val="55566C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125" b="0">
                <a:solidFill>
                  <a:srgbClr val="55566C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125" b="0">
                <a:solidFill>
                  <a:srgbClr val="55566C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125" b="0">
                <a:solidFill>
                  <a:srgbClr val="55566C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125" b="0">
                <a:solidFill>
                  <a:srgbClr val="55566C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125" b="0">
                <a:solidFill>
                  <a:srgbClr val="55566C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125" b="0">
                <a:solidFill>
                  <a:srgbClr val="55566C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125" b="0">
                <a:solidFill>
                  <a:srgbClr val="55566C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5566C"/>
                </a:solidFill>
                <a:latin typeface="BIZ UDGothic"/>
                <a:ea typeface="BIZ UDGothic"/>
                <a:cs typeface="BIZ UDGothic"/>
              </a:defRPr>
            </a:pPr>
            <a:r>
              <a:rPr sz="1125" b="0">
                <a:solidFill>
                  <a:srgbClr val="55566C"/>
                </a:solidFill>
                <a:latin typeface="BIZ UDGothic"/>
                <a:ea typeface="BIZ UDGothic"/>
                <a:cs typeface="BIZ UDGothic"/>
              </a:rPr>
              <a:t>列名がXmmでも、入力値がµmならµmを選びます。</a:t>
            </a:r>
          </a:p>
        </p:txBody>
      </p:sp>
    </p:spTree>
    <p:extLst>
      <p:ext uri="{BB962C8B-B14F-4D97-AF65-F5344CB8AC3E}">
        <p14:creationId xmlns:p14="http://schemas.microsoft.com/office/powerpoint/2010/main" val="182474196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91D5CEDB-AE13-4917-9D3C-70A6EF18F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01　データの取り込み</a:t>
            </a:r>
            <a:endParaRPr sz="12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AA1B29C3-000F-4D2C-BB0C-C28FCA303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6928"/>
            <a:ext cx="11094415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 marL="0" indent="0">
              <a:buNone/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ゼロ測定値・未測定行の除外</a:t>
            </a:r>
            <a:endParaRPr sz="2800"/>
          </a:p>
        </p:txBody>
      </p:sp>
      <p:sp>
        <p:nvSpPr>
          <p:cNvPr id="35" name="Text 29">
            <a:extLst xmlns:a="http://schemas.openxmlformats.org/drawingml/2006/main">
              <a:ext uri="{FF2B5EF4-FFF2-40B4-BE49-F238E27FC236}">
                <a16:creationId xmlns:a16="http://schemas.microsoft.com/office/drawing/2014/main" id="{C9655AAC-34FA-4582-8DF0-8C33CE95B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73952"/>
            <a:ext cx="365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アライメント計測ツール　操作手順</a:t>
            </a:r>
            <a:endParaRPr sz="900"/>
          </a:p>
        </p:txBody>
      </p:sp>
      <p:sp>
        <p:nvSpPr>
          <p:cNvPr id="36" name="Text 30">
            <a:extLst xmlns:a="http://schemas.openxmlformats.org/drawingml/2006/main">
              <a:ext uri="{FF2B5EF4-FFF2-40B4-BE49-F238E27FC236}">
                <a16:creationId xmlns:a16="http://schemas.microsoft.com/office/drawing/2014/main" id="{8F531DCF-DA39-4BDD-97D7-1FBC6AE47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8655" y="6473952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7</a:t>
            </a:r>
            <a:endParaRPr sz="1000"/>
          </a:p>
        </p:txBody>
      </p:sp>
      <p:pic>
        <p:nvPic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85ADB2B-E638-4772-84D4-1D0262EBAD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a084bf15bf41c2"/>
          <a:stretch xmlns:a="http://schemas.openxmlformats.org/drawingml/2006/main"/>
        </p:blipFill>
        <p:spPr>
          <a:xfrm xmlns:a="http://schemas.openxmlformats.org/drawingml/2006/main">
            <a:off x="552450" y="2296936"/>
            <a:ext cx="7667625" cy="454378"/>
          </a:xfrm>
          <a:prstGeom xmlns:a="http://schemas.openxmlformats.org/drawingml/2006/main" prst="rect">
            <a:avLst/>
          </a:prstGeom>
        </p:spPr>
      </p:pic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824FFE2-3860-4356-979E-72A14438A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376576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13335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defPPr>
            <a:lvl1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1pPr>
            <a:lvl2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2pPr>
            <a:lvl3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3pPr>
            <a:lvl4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4pPr>
            <a:lvl5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5pPr>
            <a:lvl6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6pPr>
            <a:lvl7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7pPr>
            <a:lvl8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8pPr>
            <a:lvl9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1</a:t>
            </a:r>
          </a:p>
        </p:txBody>
      </p:sp>
      <p:pic>
        <p:nvPic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22169F4-AACD-4DE8-8A6A-ACB41EA3492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8104ceea394c78"/>
          <a:stretch xmlns:a="http://schemas.openxmlformats.org/drawingml/2006/main"/>
        </p:blipFill>
        <p:spPr>
          <a:xfrm xmlns:a="http://schemas.openxmlformats.org/drawingml/2006/main">
            <a:off x="552450" y="4122354"/>
            <a:ext cx="7667625" cy="423041"/>
          </a:xfrm>
          <a:prstGeom xmlns:a="http://schemas.openxmlformats.org/drawingml/2006/main" prst="rect">
            <a:avLst/>
          </a:prstGeom>
        </p:spPr>
      </p:pic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34C3DA7-51BD-4131-A45C-16CDBB56E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18730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13335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defPPr>
            <a:lvl1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1pPr>
            <a:lvl2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2pPr>
            <a:lvl3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3pPr>
            <a:lvl4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4pPr>
            <a:lvl5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5pPr>
            <a:lvl6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6pPr>
            <a:lvl7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7pPr>
            <a:lvl8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8pPr>
            <a:lvl9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2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77E89D6-8862-4F43-B0B6-A9E816EB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5240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pPr>
            <a:r>
              <a: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rPr>
              <a:t>01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EC2C262-6BD1-4A57-8B08-8DF68983B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524000"/>
            <a:ext cx="252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X・Yが両方0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89E1E96-819C-4547-9D00-27DB67050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14525"/>
            <a:ext cx="2524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measXとmeasYがともに0の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行全体を除外します。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片方だけ0の行は残します。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6C5616A-388E-4197-B0CC-5ECE935CF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0480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pPr>
            <a:r>
              <a: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rPr>
              <a:t>02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271FA1A-A161-4810-8F18-CE30EDC86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48000"/>
            <a:ext cx="252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Stsのどちらかが−1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D4C59EC-38DC-405E-8691-E895FDF23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38525"/>
            <a:ext cx="2524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StsXまたはStsYが−1なら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行全体を除外します。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2つの条件は個別に選べます。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F61B433-D122-470C-A046-A8F01144D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>
                <a:solidFill>
                  <a:srgbClr val="55566C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125" b="0">
                <a:solidFill>
                  <a:srgbClr val="55566C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125" b="0">
                <a:solidFill>
                  <a:srgbClr val="55566C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125" b="0">
                <a:solidFill>
                  <a:srgbClr val="55566C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125" b="0">
                <a:solidFill>
                  <a:srgbClr val="55566C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125" b="0">
                <a:solidFill>
                  <a:srgbClr val="55566C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125" b="0">
                <a:solidFill>
                  <a:srgbClr val="55566C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125" b="0">
                <a:solidFill>
                  <a:srgbClr val="55566C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125" b="0">
                <a:solidFill>
                  <a:srgbClr val="55566C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125" b="0">
                <a:solidFill>
                  <a:srgbClr val="55566C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5566C"/>
                </a:solidFill>
                <a:latin typeface="BIZ UDGothic"/>
                <a:ea typeface="BIZ UDGothic"/>
                <a:cs typeface="BIZ UDGothic"/>
              </a:defRPr>
            </a:pPr>
            <a:r>
              <a:rPr sz="1125" b="0">
                <a:solidFill>
                  <a:srgbClr val="55566C"/>
                </a:solidFill>
                <a:latin typeface="BIZ UDGothic"/>
                <a:ea typeface="BIZ UDGothic"/>
                <a:cs typeface="BIZ UDGothic"/>
              </a:rPr>
              <a:t>初期値は両方オフ。オフでも無効な軸は解析から除きます。除外件数は取り込み結果で確認できます。</a:t>
            </a:r>
          </a:p>
        </p:txBody>
      </p:sp>
    </p:spTree>
    <p:extLst>
      <p:ext uri="{BB962C8B-B14F-4D97-AF65-F5344CB8AC3E}">
        <p14:creationId xmlns:p14="http://schemas.microsoft.com/office/powerpoint/2010/main" val="182474196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91D5CEDB-AE13-4917-9D3C-70A6EF18F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01　データの取り込み</a:t>
            </a:r>
            <a:endParaRPr sz="12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AA1B29C3-000F-4D2C-BB0C-C28FCA303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6928"/>
            <a:ext cx="11094415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 marL="0" indent="0">
              <a:buNone/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Scan方向がない行への値の付与</a:t>
            </a:r>
            <a:endParaRPr sz="2800"/>
          </a:p>
        </p:txBody>
      </p:sp>
      <p:sp>
        <p:nvSpPr>
          <p:cNvPr id="35" name="Text 29">
            <a:extLst xmlns:a="http://schemas.openxmlformats.org/drawingml/2006/main">
              <a:ext uri="{FF2B5EF4-FFF2-40B4-BE49-F238E27FC236}">
                <a16:creationId xmlns:a16="http://schemas.microsoft.com/office/drawing/2014/main" id="{C9655AAC-34FA-4582-8DF0-8C33CE95B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73952"/>
            <a:ext cx="365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アライメント計測ツール　操作手順</a:t>
            </a:r>
            <a:endParaRPr sz="900"/>
          </a:p>
        </p:txBody>
      </p:sp>
      <p:sp>
        <p:nvSpPr>
          <p:cNvPr id="36" name="Text 30">
            <a:extLst xmlns:a="http://schemas.openxmlformats.org/drawingml/2006/main">
              <a:ext uri="{FF2B5EF4-FFF2-40B4-BE49-F238E27FC236}">
                <a16:creationId xmlns:a16="http://schemas.microsoft.com/office/drawing/2014/main" id="{8F531DCF-DA39-4BDD-97D7-1FBC6AE47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8655" y="6473952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8</a:t>
            </a:r>
            <a:endParaRPr sz="1000"/>
          </a:p>
        </p:txBody>
      </p:sp>
      <p:pic>
        <p:nvPic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32F78A5-0C08-4C32-882F-AB058B1764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f21dc8bcb749ae"/>
          <a:stretch xmlns:a="http://schemas.openxmlformats.org/drawingml/2006/main"/>
        </p:blipFill>
        <p:spPr>
          <a:xfrm xmlns:a="http://schemas.openxmlformats.org/drawingml/2006/main">
            <a:off x="552450" y="2356918"/>
            <a:ext cx="7667625" cy="334414"/>
          </a:xfrm>
          <a:prstGeom xmlns:a="http://schemas.openxmlformats.org/drawingml/2006/main" prst="rect">
            <a:avLst/>
          </a:prstGeom>
        </p:spPr>
      </p:pic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06A474B-45FE-4C96-BFBC-568001EE0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382813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13335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defPPr>
            <a:lvl1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1pPr>
            <a:lvl2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2pPr>
            <a:lvl3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3pPr>
            <a:lvl4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4pPr>
            <a:lvl5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5pPr>
            <a:lvl6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6pPr>
            <a:lvl7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7pPr>
            <a:lvl8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8pPr>
            <a:lvl9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1</a:t>
            </a:r>
          </a:p>
        </p:txBody>
      </p:sp>
      <p:pic>
        <p:nvPic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1CDEB62-2554-4638-B169-DC1F71D31C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2bc9fa4c1c41fb"/>
          <a:stretch xmlns:a="http://schemas.openxmlformats.org/drawingml/2006/main"/>
        </p:blipFill>
        <p:spPr>
          <a:xfrm xmlns:a="http://schemas.openxmlformats.org/drawingml/2006/main">
            <a:off x="552450" y="4056254"/>
            <a:ext cx="7667625" cy="555242"/>
          </a:xfrm>
          <a:prstGeom xmlns:a="http://schemas.openxmlformats.org/drawingml/2006/main" prst="rect">
            <a:avLst/>
          </a:prstGeom>
        </p:spPr>
      </p:pic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33BC1B2-578A-471F-A56F-57CBC209B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18730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13335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defPPr>
            <a:lvl1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1pPr>
            <a:lvl2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2pPr>
            <a:lvl3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3pPr>
            <a:lvl4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4pPr>
            <a:lvl5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5pPr>
            <a:lvl6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6pPr>
            <a:lvl7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7pPr>
            <a:lvl8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8pPr>
            <a:lvl9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2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BDB6741-789F-4196-9645-D3910D7A0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5240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pPr>
            <a:r>
              <a: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rPr>
              <a:t>01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0AE79C0-E790-4560-9DF9-C0BFA2AA6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524000"/>
            <a:ext cx="252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装置の規則を選ぶ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8D9B027-DA98-4887-8BB4-392AFD73A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14525"/>
            <a:ext cx="2524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shotNoの奇偶・市松模様・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Shot行ごと・Shot列ごとから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実際の走査規則に合うものを選択。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719B839-961B-48FE-8A50-CE76BBB56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0480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pPr>
            <a:r>
              <a: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rPr>
              <a:t>02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792B20A-5689-48EA-BAC7-C94AF7E91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48000"/>
            <a:ext cx="252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必要なら1・2を反転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628D2D4-4284-4FC5-AA76-99846AECF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38525"/>
            <a:ext cx="2524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「付ける1と2を入れ替える」を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使い、取り込み後のShot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レイアウトでS1・S2を確認します。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5702B3C-A945-4AFA-9AC4-3B5E050F7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>
                <a:solidFill>
                  <a:srgbClr val="55566C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125" b="0">
                <a:solidFill>
                  <a:srgbClr val="55566C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125" b="0">
                <a:solidFill>
                  <a:srgbClr val="55566C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125" b="0">
                <a:solidFill>
                  <a:srgbClr val="55566C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125" b="0">
                <a:solidFill>
                  <a:srgbClr val="55566C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125" b="0">
                <a:solidFill>
                  <a:srgbClr val="55566C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125" b="0">
                <a:solidFill>
                  <a:srgbClr val="55566C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125" b="0">
                <a:solidFill>
                  <a:srgbClr val="55566C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125" b="0">
                <a:solidFill>
                  <a:srgbClr val="55566C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125" b="0">
                <a:solidFill>
                  <a:srgbClr val="55566C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5566C"/>
                </a:solidFill>
                <a:latin typeface="BIZ UDGothic"/>
                <a:ea typeface="BIZ UDGothic"/>
                <a:cs typeface="BIZ UDGothic"/>
              </a:defRPr>
            </a:pPr>
            <a:r>
              <a:rPr sz="1125" b="0">
                <a:solidFill>
                  <a:srgbClr val="55566C"/>
                </a:solidFill>
                <a:latin typeface="BIZ UDGothic"/>
                <a:ea typeface="BIZ UDGothic"/>
                <a:cs typeface="BIZ UDGothic"/>
              </a:rPr>
              <a:t>Directionに値がある行は、その値を使います。規則が不明な場合は「付けない」のままにします。</a:t>
            </a:r>
          </a:p>
        </p:txBody>
      </p:sp>
    </p:spTree>
    <p:extLst>
      <p:ext uri="{BB962C8B-B14F-4D97-AF65-F5344CB8AC3E}">
        <p14:creationId xmlns:p14="http://schemas.microsoft.com/office/powerpoint/2010/main" val="182474196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91D5CEDB-AE13-4917-9D3C-70A6EF18F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01　取り込み後の確認</a:t>
            </a:r>
            <a:endParaRPr sz="12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AA1B29C3-000F-4D2C-BB0C-C28FCA303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6928"/>
            <a:ext cx="11094415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 marL="0" indent="0">
              <a:buNone/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Waferマップで測定値を確認</a:t>
            </a:r>
            <a:endParaRPr sz="2800"/>
          </a:p>
        </p:txBody>
      </p:sp>
      <p:sp>
        <p:nvSpPr>
          <p:cNvPr id="35" name="Text 29">
            <a:extLst xmlns:a="http://schemas.openxmlformats.org/drawingml/2006/main">
              <a:ext uri="{FF2B5EF4-FFF2-40B4-BE49-F238E27FC236}">
                <a16:creationId xmlns:a16="http://schemas.microsoft.com/office/drawing/2014/main" id="{C9655AAC-34FA-4582-8DF0-8C33CE95B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73952"/>
            <a:ext cx="365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アライメント計測ツール　操作手順</a:t>
            </a:r>
            <a:endParaRPr sz="900"/>
          </a:p>
        </p:txBody>
      </p:sp>
      <p:sp>
        <p:nvSpPr>
          <p:cNvPr id="36" name="Text 30">
            <a:extLst xmlns:a="http://schemas.openxmlformats.org/drawingml/2006/main">
              <a:ext uri="{FF2B5EF4-FFF2-40B4-BE49-F238E27FC236}">
                <a16:creationId xmlns:a16="http://schemas.microsoft.com/office/drawing/2014/main" id="{8F531DCF-DA39-4BDD-97D7-1FBC6AE47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8655" y="6473952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9</a:t>
            </a:r>
            <a:endParaRPr sz="1000"/>
          </a:p>
        </p:txBody>
      </p:sp>
      <p:pic>
        <p:nvPic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8B90314-F15B-475D-8AAB-91BE47FDE8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c6050d95934cf8"/>
          <a:stretch xmlns:a="http://schemas.openxmlformats.org/drawingml/2006/main"/>
        </p:blipFill>
        <p:spPr>
          <a:xfrm xmlns:a="http://schemas.openxmlformats.org/drawingml/2006/main">
            <a:off x="552450" y="1383506"/>
            <a:ext cx="7810500" cy="4881562"/>
          </a:xfrm>
          <a:prstGeom xmlns:a="http://schemas.openxmlformats.org/drawingml/2006/main" prst="rect">
            <a:avLst/>
          </a:prstGeom>
        </p:spPr>
      </p:pic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009E305-2199-45E1-A252-3BA16B29C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122" y="2836664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13335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defPPr>
            <a:lvl1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1pPr>
            <a:lvl2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2pPr>
            <a:lvl3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3pPr>
            <a:lvl4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4pPr>
            <a:lvl5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5pPr>
            <a:lvl6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6pPr>
            <a:lvl7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7pPr>
            <a:lvl8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8pPr>
            <a:lvl9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1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6C1F9D9-BD6C-4AAE-9DC9-790D8A32A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3569" y="3017282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13335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defPPr>
            <a:lvl1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1pPr>
            <a:lvl2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2pPr>
            <a:lvl3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3pPr>
            <a:lvl4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4pPr>
            <a:lvl5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5pPr>
            <a:lvl6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6pPr>
            <a:lvl7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7pPr>
            <a:lvl8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8pPr>
            <a:lvl9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4351762-1D7D-4C1A-9D59-33C8CE963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417" y="3017282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13335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defPPr>
            <a:lvl1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1pPr>
            <a:lvl2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2pPr>
            <a:lvl3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3pPr>
            <a:lvl4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4pPr>
            <a:lvl5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5pPr>
            <a:lvl6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6pPr>
            <a:lvl7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7pPr>
            <a:lvl8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8pPr>
            <a:lvl9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EC4E42E-1863-43C1-B1F8-CC8E4522D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5240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pPr>
            <a:r>
              <a: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rPr>
              <a:t>01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907F7C9-E738-4449-ADB4-4EE956DFF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524000"/>
            <a:ext cx="252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計測値のタブ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1F22E0D-6EB6-4868-9EC4-2EDD573A5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14525"/>
            <a:ext cx="2524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「Wafer マップ（計測値）」を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開きます。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BA1DE53-EB68-438D-B2B3-81C9589ED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0480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pPr>
            <a:r>
              <a: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rPr>
              <a:t>02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E2877AA-3BAF-415E-AEF5-D0FD97FEA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48000"/>
            <a:ext cx="252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Waferを選ぶ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8F6E6AA-09FF-4959-B3FF-7692D87B8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38525"/>
            <a:ext cx="2524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矢印とX・Yの色分布を確認。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偏りや欠けが意図どおりか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確かめます。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F5A3E17-26DA-48D9-BA60-4B7EECE2D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5720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pPr>
            <a:r>
              <a: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rPr>
              <a:t>03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C3B0B64-35E8-4C5D-A868-733A1ECEF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572000"/>
            <a:ext cx="252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見え方を調整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F496172-07DA-461D-89FF-FB627D77F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62525"/>
            <a:ext cx="2524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点の大きさ・Shot枠を調整。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配置が不自然な場合は、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取り込み条件を確認します。</a:t>
            </a:r>
          </a:p>
        </p:txBody>
      </p:sp>
    </p:spTree>
    <p:extLst>
      <p:ext uri="{BB962C8B-B14F-4D97-AF65-F5344CB8AC3E}">
        <p14:creationId xmlns:p14="http://schemas.microsoft.com/office/powerpoint/2010/main" val="182474196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91D5CEDB-AE13-4917-9D3C-70A6EF18F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01　取り込み後の確認</a:t>
            </a:r>
            <a:endParaRPr sz="12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AA1B29C3-000F-4D2C-BB0C-C28FCA303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6928"/>
            <a:ext cx="11094415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 marL="0" indent="0">
              <a:buNone/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ShotレイアウトとMark番号</a:t>
            </a:r>
            <a:endParaRPr sz="2800"/>
          </a:p>
        </p:txBody>
      </p:sp>
      <p:sp>
        <p:nvSpPr>
          <p:cNvPr id="35" name="Text 29">
            <a:extLst xmlns:a="http://schemas.openxmlformats.org/drawingml/2006/main">
              <a:ext uri="{FF2B5EF4-FFF2-40B4-BE49-F238E27FC236}">
                <a16:creationId xmlns:a16="http://schemas.microsoft.com/office/drawing/2014/main" id="{C9655AAC-34FA-4582-8DF0-8C33CE95B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73952"/>
            <a:ext cx="365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アライメント計測ツール　操作手順</a:t>
            </a:r>
            <a:endParaRPr sz="900"/>
          </a:p>
        </p:txBody>
      </p:sp>
      <p:sp>
        <p:nvSpPr>
          <p:cNvPr id="36" name="Text 30">
            <a:extLst xmlns:a="http://schemas.openxmlformats.org/drawingml/2006/main">
              <a:ext uri="{FF2B5EF4-FFF2-40B4-BE49-F238E27FC236}">
                <a16:creationId xmlns:a16="http://schemas.microsoft.com/office/drawing/2014/main" id="{8F531DCF-DA39-4BDD-97D7-1FBC6AE47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8655" y="6473952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10</a:t>
            </a:r>
            <a:endParaRPr sz="1000"/>
          </a:p>
        </p:txBody>
      </p:sp>
      <p:pic>
        <p:nvPic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E966B72-30EB-4619-9EF1-EA680FE474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836e224eb84580"/>
          <a:stretch xmlns:a="http://schemas.openxmlformats.org/drawingml/2006/main"/>
        </p:blipFill>
        <p:spPr>
          <a:xfrm xmlns:a="http://schemas.openxmlformats.org/drawingml/2006/main">
            <a:off x="552450" y="1383506"/>
            <a:ext cx="7810500" cy="4881562"/>
          </a:xfrm>
          <a:prstGeom xmlns:a="http://schemas.openxmlformats.org/drawingml/2006/main" prst="rect">
            <a:avLst/>
          </a:prstGeom>
        </p:spPr>
      </p:pic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4178301-41F7-434A-962A-FC694E5A7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0067" y="2836664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13335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defPPr>
            <a:lvl1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1pPr>
            <a:lvl2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2pPr>
            <a:lvl3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3pPr>
            <a:lvl4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4pPr>
            <a:lvl5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5pPr>
            <a:lvl6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6pPr>
            <a:lvl7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7pPr>
            <a:lvl8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8pPr>
            <a:lvl9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1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BA4FE03-0BC2-453A-A3EE-EC4D8B672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1395" y="42767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13335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defPPr>
            <a:lvl1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1pPr>
            <a:lvl2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2pPr>
            <a:lvl3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3pPr>
            <a:lvl4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4pPr>
            <a:lvl5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5pPr>
            <a:lvl6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6pPr>
            <a:lvl7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7pPr>
            <a:lvl8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8pPr>
            <a:lvl9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508DD7B-99BC-477B-AB6D-AC5246490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2767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13335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defPPr>
            <a:lvl1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1pPr>
            <a:lvl2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2pPr>
            <a:lvl3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3pPr>
            <a:lvl4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4pPr>
            <a:lvl5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5pPr>
            <a:lvl6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6pPr>
            <a:lvl7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7pPr>
            <a:lvl8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8pPr>
            <a:lvl9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CF40123-C507-434A-8970-5BD465DE1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5240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pPr>
            <a:r>
              <a: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rPr>
              <a:t>01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137AEA7-0F63-49D3-A5F0-1E40705A7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524000"/>
            <a:ext cx="252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Shotレイアウト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C5017E3-770A-4AD2-BA45-C5A18EBDD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14525"/>
            <a:ext cx="2524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内側の「Shot レイアウト」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タブを開きます。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536A40F-6DAC-4318-820B-EB32DFCE3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0480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pPr>
            <a:r>
              <a: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rPr>
              <a:t>02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D209FC6-6752-493E-910E-A9A3E72FB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48000"/>
            <a:ext cx="252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Wafer上の配置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306F2A8-D255-463A-9884-C993FC80A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38525"/>
            <a:ext cx="2524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左でShot枠・shotNo・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Mark位置・Scan方向を確認。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6104CA0-C1A1-4494-B812-72E952C74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5720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pPr>
            <a:r>
              <a: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rPr>
              <a:t>03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473AC8E-85BE-4ECF-B81A-93A276DE9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572000"/>
            <a:ext cx="252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Shot内の配置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9572EAA-8E8C-4BE2-8C6B-5F8BF5C9B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62525"/>
            <a:ext cx="2524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右でMarkの相対位置と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markNoを確認します。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入力の座標定義と照合します。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0602150-BB47-43AB-AB2E-F9C446E83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>
                <a:solidFill>
                  <a:srgbClr val="55566C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125" b="0">
                <a:solidFill>
                  <a:srgbClr val="55566C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125" b="0">
                <a:solidFill>
                  <a:srgbClr val="55566C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125" b="0">
                <a:solidFill>
                  <a:srgbClr val="55566C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125" b="0">
                <a:solidFill>
                  <a:srgbClr val="55566C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125" b="0">
                <a:solidFill>
                  <a:srgbClr val="55566C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125" b="0">
                <a:solidFill>
                  <a:srgbClr val="55566C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125" b="0">
                <a:solidFill>
                  <a:srgbClr val="55566C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125" b="0">
                <a:solidFill>
                  <a:srgbClr val="55566C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125" b="0">
                <a:solidFill>
                  <a:srgbClr val="55566C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5566C"/>
                </a:solidFill>
                <a:latin typeface="BIZ UDGothic"/>
                <a:ea typeface="BIZ UDGothic"/>
                <a:cs typeface="BIZ UDGothic"/>
              </a:defRPr>
            </a:pPr>
            <a:r>
              <a:rPr sz="1125" b="0">
                <a:solidFill>
                  <a:srgbClr val="55566C"/>
                </a:solidFill>
                <a:latin typeface="BIZ UDGothic"/>
                <a:ea typeface="BIZ UDGothic"/>
                <a:cs typeface="BIZ UDGothic"/>
              </a:rPr>
              <a:t>Shotの枠の大きさは、入力座標から推定した値です。</a:t>
            </a:r>
          </a:p>
        </p:txBody>
      </p:sp>
    </p:spTree>
    <p:extLst>
      <p:ext uri="{BB962C8B-B14F-4D97-AF65-F5344CB8AC3E}">
        <p14:creationId xmlns:p14="http://schemas.microsoft.com/office/powerpoint/2010/main" val="182474196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91D5CEDB-AE13-4917-9D3C-70A6EF18F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01　取り込み後の確認</a:t>
            </a:r>
            <a:endParaRPr sz="12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AA1B29C3-000F-4D2C-BB0C-C28FCA303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6928"/>
            <a:ext cx="11094415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 marL="0" indent="0">
              <a:buNone/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複数Waferの平均と共分散楕円</a:t>
            </a:r>
            <a:endParaRPr sz="2800"/>
          </a:p>
        </p:txBody>
      </p:sp>
      <p:sp>
        <p:nvSpPr>
          <p:cNvPr id="35" name="Text 29">
            <a:extLst xmlns:a="http://schemas.openxmlformats.org/drawingml/2006/main">
              <a:ext uri="{FF2B5EF4-FFF2-40B4-BE49-F238E27FC236}">
                <a16:creationId xmlns:a16="http://schemas.microsoft.com/office/drawing/2014/main" id="{C9655AAC-34FA-4582-8DF0-8C33CE95B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73952"/>
            <a:ext cx="365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アライメント計測ツール　操作手順</a:t>
            </a:r>
            <a:endParaRPr sz="900"/>
          </a:p>
        </p:txBody>
      </p:sp>
      <p:sp>
        <p:nvSpPr>
          <p:cNvPr id="36" name="Text 30">
            <a:extLst xmlns:a="http://schemas.openxmlformats.org/drawingml/2006/main">
              <a:ext uri="{FF2B5EF4-FFF2-40B4-BE49-F238E27FC236}">
                <a16:creationId xmlns:a16="http://schemas.microsoft.com/office/drawing/2014/main" id="{8F531DCF-DA39-4BDD-97D7-1FBC6AE47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8655" y="6473952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11</a:t>
            </a:r>
            <a:endParaRPr sz="1000"/>
          </a:p>
        </p:txBody>
      </p:sp>
      <p:pic>
        <p:nvPic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3D92F4D-7D74-48F9-9226-FBE51077A8E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c3634b25704359"/>
          <a:stretch xmlns:a="http://schemas.openxmlformats.org/drawingml/2006/main"/>
        </p:blipFill>
        <p:spPr>
          <a:xfrm xmlns:a="http://schemas.openxmlformats.org/drawingml/2006/main">
            <a:off x="552450" y="1383506"/>
            <a:ext cx="7810500" cy="4881562"/>
          </a:xfrm>
          <a:prstGeom xmlns:a="http://schemas.openxmlformats.org/drawingml/2006/main" prst="rect">
            <a:avLst/>
          </a:prstGeom>
        </p:spPr>
      </p:pic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DDB781E-2EA0-4716-86F5-D7EB50298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3434" y="3075861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13335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defPPr>
            <a:lvl1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1pPr>
            <a:lvl2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2pPr>
            <a:lvl3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3pPr>
            <a:lvl4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4pPr>
            <a:lvl5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5pPr>
            <a:lvl6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6pPr>
            <a:lvl7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7pPr>
            <a:lvl8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8pPr>
            <a:lvl9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1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D6C7676-F087-43F0-9FFD-967EB4BAC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439" y="3075861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13335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defPPr>
            <a:lvl1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1pPr>
            <a:lvl2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2pPr>
            <a:lvl3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3pPr>
            <a:lvl4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4pPr>
            <a:lvl5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5pPr>
            <a:lvl6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6pPr>
            <a:lvl7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7pPr>
            <a:lvl8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8pPr>
            <a:lvl9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F5F73AD-F511-4C21-AD63-73EF44F2C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8966" y="335411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13335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defPPr>
            <a:lvl1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1pPr>
            <a:lvl2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2pPr>
            <a:lvl3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3pPr>
            <a:lvl4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4pPr>
            <a:lvl5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5pPr>
            <a:lvl6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6pPr>
            <a:lvl7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7pPr>
            <a:lvl8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8pPr>
            <a:lvl9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A59E850-146B-4BF9-9E9B-9245ACF8B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5240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pPr>
            <a:r>
              <a: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rPr>
              <a:t>01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48995F4-DB93-4E9F-80C3-3983BBE4A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524000"/>
            <a:ext cx="252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平均の対象を選ぶ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506A65A-B97F-43B7-949E-FD6F7B037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14525"/>
            <a:ext cx="2524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「平均：…」を選ぶと、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全Wafer・LotID・EqpId・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Operationごとに平均します。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63C1533-D987-46C3-9C09-D99E796A2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0480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pPr>
            <a:r>
              <a: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rPr>
              <a:t>02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CE7E666-302F-4F21-ADB9-55CDA7DEC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48000"/>
            <a:ext cx="252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楕円の大きさと色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E98D851-2F43-451C-BE4B-B0B01AE2F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38525"/>
            <a:ext cx="2524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1σ・2σ・3σから選択。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色はX・Yの相関係数の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絶対値|r|（右の目盛り）。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9500EFB-B4CF-48D3-B8D7-BDBDBB542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5720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pPr>
            <a:r>
              <a: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rPr>
              <a:t>03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D1933B0-AC80-4BE3-9DFD-BBC633605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572000"/>
            <a:ext cx="252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平均の矢印を見る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4E039E3-6E5F-4ADE-998E-53750D6CC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62525"/>
            <a:ext cx="2524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矢印は平均、楕円は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ばらつき。大きい楕円は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Waferごとの差が大きい所。</a:t>
            </a:r>
          </a:p>
        </p:txBody>
      </p:sp>
    </p:spTree>
    <p:extLst>
      <p:ext uri="{BB962C8B-B14F-4D97-AF65-F5344CB8AC3E}">
        <p14:creationId xmlns:p14="http://schemas.microsoft.com/office/powerpoint/2010/main" val="182474196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91D5CEDB-AE13-4917-9D3C-70A6EF18F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01　取り込み後の確認</a:t>
            </a:r>
            <a:endParaRPr sz="12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AA1B29C3-000F-4D2C-BB0C-C28FCA303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6928"/>
            <a:ext cx="11094415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 marL="0" indent="0">
              <a:buNone/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全Shotを重ねたShot内のベクトル場</a:t>
            </a:r>
            <a:endParaRPr sz="2800"/>
          </a:p>
        </p:txBody>
      </p:sp>
      <p:sp>
        <p:nvSpPr>
          <p:cNvPr id="35" name="Text 29">
            <a:extLst xmlns:a="http://schemas.openxmlformats.org/drawingml/2006/main">
              <a:ext uri="{FF2B5EF4-FFF2-40B4-BE49-F238E27FC236}">
                <a16:creationId xmlns:a16="http://schemas.microsoft.com/office/drawing/2014/main" id="{C9655AAC-34FA-4582-8DF0-8C33CE95B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73952"/>
            <a:ext cx="365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アライメント計測ツール　操作手順</a:t>
            </a:r>
            <a:endParaRPr sz="900"/>
          </a:p>
        </p:txBody>
      </p:sp>
      <p:sp>
        <p:nvSpPr>
          <p:cNvPr id="36" name="Text 30">
            <a:extLst xmlns:a="http://schemas.openxmlformats.org/drawingml/2006/main">
              <a:ext uri="{FF2B5EF4-FFF2-40B4-BE49-F238E27FC236}">
                <a16:creationId xmlns:a16="http://schemas.microsoft.com/office/drawing/2014/main" id="{8F531DCF-DA39-4BDD-97D7-1FBC6AE47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8655" y="6473952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12</a:t>
            </a:r>
            <a:endParaRPr sz="1000"/>
          </a:p>
        </p:txBody>
      </p:sp>
      <p:pic>
        <p:nvPic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6F7A6FB-2817-4D8D-87C2-289913DB7D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ae918c62714acc"/>
          <a:stretch xmlns:a="http://schemas.openxmlformats.org/drawingml/2006/main"/>
        </p:blipFill>
        <p:spPr>
          <a:xfrm xmlns:a="http://schemas.openxmlformats.org/drawingml/2006/main">
            <a:off x="552450" y="1383506"/>
            <a:ext cx="7810500" cy="4881562"/>
          </a:xfrm>
          <a:prstGeom xmlns:a="http://schemas.openxmlformats.org/drawingml/2006/main" prst="rect">
            <a:avLst/>
          </a:prstGeom>
        </p:spPr>
      </p:pic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E3C9DD1-F783-4515-9BEA-C5F9DDB6D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9686" y="333946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13335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defPPr>
            <a:lvl1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1pPr>
            <a:lvl2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2pPr>
            <a:lvl3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3pPr>
            <a:lvl4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4pPr>
            <a:lvl5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5pPr>
            <a:lvl6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6pPr>
            <a:lvl7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7pPr>
            <a:lvl8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8pPr>
            <a:lvl9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1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24B08B4-2B30-4F41-A922-66A60E992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3569" y="4437817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13335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defPPr>
            <a:lvl1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1pPr>
            <a:lvl2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2pPr>
            <a:lvl3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3pPr>
            <a:lvl4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4pPr>
            <a:lvl5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5pPr>
            <a:lvl6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6pPr>
            <a:lvl7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7pPr>
            <a:lvl8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8pPr>
            <a:lvl9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467847E-474A-4E54-984E-341D1F770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6853" y="3983831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13335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defPPr>
            <a:lvl1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1pPr>
            <a:lvl2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2pPr>
            <a:lvl3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3pPr>
            <a:lvl4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4pPr>
            <a:lvl5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5pPr>
            <a:lvl6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6pPr>
            <a:lvl7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7pPr>
            <a:lvl8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8pPr>
            <a:lvl9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1F539C6-4DE1-4BAE-A269-9BA7A30CB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5240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pPr>
            <a:r>
              <a: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rPr>
              <a:t>01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BB643F1-2F1B-442D-97D6-E174A29F4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524000"/>
            <a:ext cx="252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Waferと成分を選ぶ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94BEA2E-70E7-454F-AB01-3D2C8A38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14525"/>
            <a:ext cx="2524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重ねるWaferを選び、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必要ならWafer成分（1〜3次）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を除きます。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F0E70E0-5D95-4437-B368-5CE062934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0480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pPr>
            <a:r>
              <a: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rPr>
              <a:t>02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2CE1578-8BCA-4F8E-8AE7-97BA0F434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48000"/>
            <a:ext cx="252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Scan方向で分ける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B11096C-B3D1-4F0C-95F6-2619BAEAC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38525"/>
            <a:ext cx="2524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「Scan 方向で分けた図も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並べる」で、Scan 1・2の図を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同じ倍率で並べます。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D24ED3F-5649-4FCE-9A80-155881C8B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5720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pPr>
            <a:r>
              <a: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rPr>
              <a:t>03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7E16B26-EB04-4EE5-9737-788B76562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572000"/>
            <a:ext cx="252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平均と楕円を見る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753BCDF-7EC5-4E58-A184-224B515D9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62525"/>
            <a:ext cx="2524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濃い矢印は平均、楕円は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ばらつき。楕円の色は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X・Yの相関の強さ|r|です。</a:t>
            </a:r>
          </a:p>
        </p:txBody>
      </p:sp>
    </p:spTree>
    <p:extLst>
      <p:ext uri="{BB962C8B-B14F-4D97-AF65-F5344CB8AC3E}">
        <p14:creationId xmlns:p14="http://schemas.microsoft.com/office/powerpoint/2010/main" val="182474196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91D5CEDB-AE13-4917-9D3C-70A6EF18F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02　評価の設定</a:t>
            </a:r>
            <a:endParaRPr sz="12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AA1B29C3-000F-4D2C-BB0C-C28FCA303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6928"/>
            <a:ext cx="11094415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 marL="0" indent="0">
              <a:buNone/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学習Shotの選び方と数</a:t>
            </a:r>
            <a:endParaRPr sz="2800"/>
          </a:p>
        </p:txBody>
      </p:sp>
      <p:sp>
        <p:nvSpPr>
          <p:cNvPr id="35" name="Text 29">
            <a:extLst xmlns:a="http://schemas.openxmlformats.org/drawingml/2006/main">
              <a:ext uri="{FF2B5EF4-FFF2-40B4-BE49-F238E27FC236}">
                <a16:creationId xmlns:a16="http://schemas.microsoft.com/office/drawing/2014/main" id="{C9655AAC-34FA-4582-8DF0-8C33CE95B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73952"/>
            <a:ext cx="365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アライメント計測ツール　操作手順</a:t>
            </a:r>
            <a:endParaRPr sz="900"/>
          </a:p>
        </p:txBody>
      </p:sp>
      <p:sp>
        <p:nvSpPr>
          <p:cNvPr id="36" name="Text 30">
            <a:extLst xmlns:a="http://schemas.openxmlformats.org/drawingml/2006/main">
              <a:ext uri="{FF2B5EF4-FFF2-40B4-BE49-F238E27FC236}">
                <a16:creationId xmlns:a16="http://schemas.microsoft.com/office/drawing/2014/main" id="{8F531DCF-DA39-4BDD-97D7-1FBC6AE47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8655" y="6473952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13</a:t>
            </a:r>
            <a:endParaRPr sz="1000"/>
          </a:p>
        </p:txBody>
      </p:sp>
      <p:pic>
        <p:nvPic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C634EE2-A5BD-44E6-8DB3-A299ED5AD3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8250576d0d4d57"/>
          <a:stretch xmlns:a="http://schemas.openxmlformats.org/drawingml/2006/main"/>
        </p:blipFill>
        <p:spPr>
          <a:xfrm xmlns:a="http://schemas.openxmlformats.org/drawingml/2006/main">
            <a:off x="2579797" y="1428750"/>
            <a:ext cx="3612931" cy="4762500"/>
          </a:xfrm>
          <a:prstGeom xmlns:a="http://schemas.openxmlformats.org/drawingml/2006/main" prst="rect">
            <a:avLst/>
          </a:prstGeom>
        </p:spPr>
      </p:pic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CA214DA-BDA4-4B15-8B9F-883CFFEF3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4206" y="1563633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13335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defPPr>
            <a:lvl1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1pPr>
            <a:lvl2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2pPr>
            <a:lvl3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3pPr>
            <a:lvl4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4pPr>
            <a:lvl5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5pPr>
            <a:lvl6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6pPr>
            <a:lvl7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7pPr>
            <a:lvl8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8pPr>
            <a:lvl9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1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55596D9-7121-41D9-AAD7-F8B47F8D7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783" y="2007038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13335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defPPr>
            <a:lvl1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1pPr>
            <a:lvl2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2pPr>
            <a:lvl3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3pPr>
            <a:lvl4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4pPr>
            <a:lvl5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5pPr>
            <a:lvl6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6pPr>
            <a:lvl7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7pPr>
            <a:lvl8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8pPr>
            <a:lvl9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91507B9-5C76-4C04-BC9D-F274414FD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3257" y="551596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13335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defPPr>
            <a:lvl1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1pPr>
            <a:lvl2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2pPr>
            <a:lvl3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3pPr>
            <a:lvl4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4pPr>
            <a:lvl5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5pPr>
            <a:lvl6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6pPr>
            <a:lvl7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7pPr>
            <a:lvl8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8pPr>
            <a:lvl9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ED4A1CE-5B21-4E21-858B-C0A84CC59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5240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pPr>
            <a:r>
              <a: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rPr>
              <a:t>01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B3A52C4-FDBF-4164-A8EC-8D937CC7D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524000"/>
            <a:ext cx="252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選び方を決める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97BE3AD-46E0-4671-A392-1468E9BCB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14525"/>
            <a:ext cx="2524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I最適・ランダム・手動・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ファイルの優先順から選択。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まずはI最適で試せます。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8A8E1B9-89F7-45E4-8191-4CEE377B0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0480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pPr>
            <a:r>
              <a: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rPr>
              <a:t>02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B16A532-616D-40AC-ABA8-E1B62F9BF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48000"/>
            <a:ext cx="252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開始・終了・刻み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EBB9A28-2247-4F93-9461-39859847A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38525"/>
            <a:ext cx="2524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例は10・20・10で、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10 Shotと20 Shotを比較。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欄の下の並びを確認します。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EC66EB9-411A-41BD-ABE3-64205FC77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5720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pPr>
            <a:r>
              <a: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rPr>
              <a:t>03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FD90D9E-D24B-4AB7-B70E-5668F8EAE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572000"/>
            <a:ext cx="252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制約を確認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1C643CD-9783-4EE9-A38D-04B5EF1E3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62525"/>
            <a:ext cx="2524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同心円・4象限・Scan方向の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制約を確認。失敗する場合は、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Shot数や制約を見直します。</a:t>
            </a:r>
          </a:p>
        </p:txBody>
      </p:sp>
    </p:spTree>
    <p:extLst>
      <p:ext uri="{BB962C8B-B14F-4D97-AF65-F5344CB8AC3E}">
        <p14:creationId xmlns:p14="http://schemas.microsoft.com/office/powerpoint/2010/main" val="182474196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91D5CEDB-AE13-4917-9D3C-70A6EF18F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02　評価の設定</a:t>
            </a:r>
            <a:endParaRPr sz="12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AA1B29C3-000F-4D2C-BB0C-C28FCA303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6928"/>
            <a:ext cx="11094415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 marL="0" indent="0">
              <a:buNone/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優先順のファイルで学習Shotを指定</a:t>
            </a:r>
            <a:endParaRPr sz="2800"/>
          </a:p>
        </p:txBody>
      </p:sp>
      <p:sp>
        <p:nvSpPr>
          <p:cNvPr id="35" name="Text 29">
            <a:extLst xmlns:a="http://schemas.openxmlformats.org/drawingml/2006/main">
              <a:ext uri="{FF2B5EF4-FFF2-40B4-BE49-F238E27FC236}">
                <a16:creationId xmlns:a16="http://schemas.microsoft.com/office/drawing/2014/main" id="{C9655AAC-34FA-4582-8DF0-8C33CE95B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73952"/>
            <a:ext cx="365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アライメント計測ツール　操作手順</a:t>
            </a:r>
            <a:endParaRPr sz="900"/>
          </a:p>
        </p:txBody>
      </p:sp>
      <p:sp>
        <p:nvSpPr>
          <p:cNvPr id="36" name="Text 30">
            <a:extLst xmlns:a="http://schemas.openxmlformats.org/drawingml/2006/main">
              <a:ext uri="{FF2B5EF4-FFF2-40B4-BE49-F238E27FC236}">
                <a16:creationId xmlns:a16="http://schemas.microsoft.com/office/drawing/2014/main" id="{8F531DCF-DA39-4BDD-97D7-1FBC6AE47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8655" y="6473952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14</a:t>
            </a:r>
            <a:endParaRPr sz="1000"/>
          </a:p>
        </p:txBody>
      </p:sp>
      <p:pic>
        <p:nvPic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D975DAA-F3B9-4CBD-A3D2-F6FF113F6C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8bbd7adc8a4df8"/>
          <a:stretch xmlns:a="http://schemas.openxmlformats.org/drawingml/2006/main"/>
        </p:blipFill>
        <p:spPr>
          <a:xfrm xmlns:a="http://schemas.openxmlformats.org/drawingml/2006/main">
            <a:off x="2091919" y="1428750"/>
            <a:ext cx="4588686" cy="4762500"/>
          </a:xfrm>
          <a:prstGeom xmlns:a="http://schemas.openxmlformats.org/drawingml/2006/main" prst="rect">
            <a:avLst/>
          </a:prstGeom>
        </p:spPr>
      </p:pic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5DCF549-828D-4AC0-A88E-5B5B4AE7D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774" y="16360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13335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defPPr>
            <a:lvl1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1pPr>
            <a:lvl2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2pPr>
            <a:lvl3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3pPr>
            <a:lvl4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4pPr>
            <a:lvl5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5pPr>
            <a:lvl6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6pPr>
            <a:lvl7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7pPr>
            <a:lvl8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8pPr>
            <a:lvl9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1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8757863-8402-485B-86BE-C6D6E8678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0504" y="4424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13335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defPPr>
            <a:lvl1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1pPr>
            <a:lvl2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2pPr>
            <a:lvl3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3pPr>
            <a:lvl4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4pPr>
            <a:lvl5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5pPr>
            <a:lvl6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6pPr>
            <a:lvl7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7pPr>
            <a:lvl8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8pPr>
            <a:lvl9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43202DA-2163-4AF6-A082-15003E358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5321" y="4424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13335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defPPr>
            <a:lvl1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1pPr>
            <a:lvl2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2pPr>
            <a:lvl3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3pPr>
            <a:lvl4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4pPr>
            <a:lvl5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5pPr>
            <a:lvl6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6pPr>
            <a:lvl7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7pPr>
            <a:lvl8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8pPr>
            <a:lvl9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BCD561F-F1CB-4D21-ADA0-AD52A46B8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5240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pPr>
            <a:r>
              <a: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rPr>
              <a:t>01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D280E1C-0B52-434D-8231-9F2DCF953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524000"/>
            <a:ext cx="252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選び方を切り替え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8D2DEE6-BA33-4D8A-B2A8-AB092424D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14525"/>
            <a:ext cx="2524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「ファイルの優先順で指定」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を選択。ファイルを読み込む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と自動で切り替わります。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63DD5E8-3104-4362-AE98-42ABC65DA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0480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pPr>
            <a:r>
              <a: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rPr>
              <a:t>02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C6273A3-0712-4F63-B7D4-69F05FC46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48000"/>
            <a:ext cx="252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ファイルを読み込む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EB866CE-D5AB-48DF-8960-1507AEBAB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38525"/>
            <a:ext cx="2524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1列目にShot番号、2列目に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優先度のExcel・CSVを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読み込みます。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1546D1F-5A34-4EF8-9DCD-7FA6E4EC0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5720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pPr>
            <a:r>
              <a: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rPr>
              <a:t>03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960869B-F42E-46F6-8EB8-7E3FD0EEA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572000"/>
            <a:ext cx="252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内容を確認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95DB2C4-2E77-4F3B-BFB8-0F4804C54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62525"/>
            <a:ext cx="2524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優先度1は必ず計測、0は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計測しない、その他は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ファイルの順に追加します。</a:t>
            </a:r>
          </a:p>
        </p:txBody>
      </p:sp>
    </p:spTree>
    <p:extLst>
      <p:ext uri="{BB962C8B-B14F-4D97-AF65-F5344CB8AC3E}">
        <p14:creationId xmlns:p14="http://schemas.microsoft.com/office/powerpoint/2010/main" val="182474196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91D5CEDB-AE13-4917-9D3C-70A6EF18F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02　評価の設定</a:t>
            </a:r>
            <a:endParaRPr sz="12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AA1B29C3-000F-4D2C-BB0C-C28FCA303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6928"/>
            <a:ext cx="11094415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 marL="0" indent="0">
              <a:buNone/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計測率で学習Shot数をスイープ</a:t>
            </a:r>
            <a:endParaRPr sz="2800"/>
          </a:p>
        </p:txBody>
      </p:sp>
      <p:sp>
        <p:nvSpPr>
          <p:cNvPr id="35" name="Text 29">
            <a:extLst xmlns:a="http://schemas.openxmlformats.org/drawingml/2006/main">
              <a:ext uri="{FF2B5EF4-FFF2-40B4-BE49-F238E27FC236}">
                <a16:creationId xmlns:a16="http://schemas.microsoft.com/office/drawing/2014/main" id="{C9655AAC-34FA-4582-8DF0-8C33CE95B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73952"/>
            <a:ext cx="365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アライメント計測ツール　操作手順</a:t>
            </a:r>
            <a:endParaRPr sz="900"/>
          </a:p>
        </p:txBody>
      </p:sp>
      <p:sp>
        <p:nvSpPr>
          <p:cNvPr id="36" name="Text 30">
            <a:extLst xmlns:a="http://schemas.openxmlformats.org/drawingml/2006/main">
              <a:ext uri="{FF2B5EF4-FFF2-40B4-BE49-F238E27FC236}">
                <a16:creationId xmlns:a16="http://schemas.microsoft.com/office/drawing/2014/main" id="{8F531DCF-DA39-4BDD-97D7-1FBC6AE47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8655" y="6473952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15</a:t>
            </a:r>
            <a:endParaRPr sz="1000"/>
          </a:p>
        </p:txBody>
      </p:sp>
      <p:pic>
        <p:nvPic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59D87B2-F495-42B3-917A-7E3ED388FA1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85b84bd8f444c6"/>
          <a:stretch xmlns:a="http://schemas.openxmlformats.org/drawingml/2006/main"/>
        </p:blipFill>
        <p:spPr>
          <a:xfrm xmlns:a="http://schemas.openxmlformats.org/drawingml/2006/main">
            <a:off x="552450" y="1997652"/>
            <a:ext cx="7667625" cy="3624695"/>
          </a:xfrm>
          <a:prstGeom xmlns:a="http://schemas.openxmlformats.org/drawingml/2006/main" prst="rect">
            <a:avLst/>
          </a:prstGeom>
        </p:spPr>
      </p:pic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A5EC32A-C48B-4AFE-AEF1-E6780E21D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2611" y="2909888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13335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defPPr>
            <a:lvl1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1pPr>
            <a:lvl2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2pPr>
            <a:lvl3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3pPr>
            <a:lvl4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4pPr>
            <a:lvl5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5pPr>
            <a:lvl6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6pPr>
            <a:lvl7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7pPr>
            <a:lvl8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8pPr>
            <a:lvl9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1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F9E6BBA-D0FA-421A-8531-22DEBECB3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9978" y="3955473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13335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defPPr>
            <a:lvl1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1pPr>
            <a:lvl2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2pPr>
            <a:lvl3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3pPr>
            <a:lvl4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4pPr>
            <a:lvl5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5pPr>
            <a:lvl6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6pPr>
            <a:lvl7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7pPr>
            <a:lvl8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8pPr>
            <a:lvl9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13ABF8E-E7F7-40ED-9E09-361B0C3AD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7316" y="4594441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13335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defPPr>
            <a:lvl1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1pPr>
            <a:lvl2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2pPr>
            <a:lvl3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3pPr>
            <a:lvl4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4pPr>
            <a:lvl5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5pPr>
            <a:lvl6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6pPr>
            <a:lvl7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7pPr>
            <a:lvl8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8pPr>
            <a:lvl9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3343873-9936-425B-8547-A870D0354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5240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pPr>
            <a:r>
              <a: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rPr>
              <a:t>01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7E87080-6DA7-4DA9-A8C0-9BC391BB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524000"/>
            <a:ext cx="252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決め方を切り替え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572EB7F-A865-413B-B8FF-D859E74BF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14525"/>
            <a:ext cx="2524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「計測率 [%] で決める」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を選びます。Shot数の欄は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使われなくなります。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C7A4669-27F9-45E2-8662-02AF27F7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0480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pPr>
            <a:r>
              <a: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rPr>
              <a:t>02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A0D3663-41EA-4A21-A3FE-FAA1A14C7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48000"/>
            <a:ext cx="252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開始・終了・刻み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96D844A-71A4-488B-8B86-B1ADF12E7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38525"/>
            <a:ext cx="2524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例は20・40・10で、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20・30・40%を比較。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小数も入れられます。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252026D-E81F-4360-B111-AB5F0FBA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5720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pPr>
            <a:r>
              <a: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rPr>
              <a:t>03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857705A-FEB3-45C9-BFA9-7216F130A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572000"/>
            <a:ext cx="252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Shot数を確認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CE0D2AE-D8EE-4D8F-9325-B4EEF6466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62525"/>
            <a:ext cx="2524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欄の下に、最初のWaferで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何Shotになるかが出ます。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候補Shot数×計測率です。</a:t>
            </a:r>
          </a:p>
        </p:txBody>
      </p:sp>
    </p:spTree>
    <p:extLst>
      <p:ext uri="{BB962C8B-B14F-4D97-AF65-F5344CB8AC3E}">
        <p14:creationId xmlns:p14="http://schemas.microsoft.com/office/powerpoint/2010/main" val="182474196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91D5CEDB-AE13-4917-9D3C-70A6EF18F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02　評価の設定</a:t>
            </a:r>
            <a:endParaRPr sz="12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AA1B29C3-000F-4D2C-BB0C-C28FCA303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6928"/>
            <a:ext cx="11094415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 marL="0" indent="0">
              <a:buNone/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必ず計測するShotと最外周</a:t>
            </a:r>
            <a:endParaRPr sz="2800"/>
          </a:p>
        </p:txBody>
      </p:sp>
      <p:sp>
        <p:nvSpPr>
          <p:cNvPr id="35" name="Text 29">
            <a:extLst xmlns:a="http://schemas.openxmlformats.org/drawingml/2006/main">
              <a:ext uri="{FF2B5EF4-FFF2-40B4-BE49-F238E27FC236}">
                <a16:creationId xmlns:a16="http://schemas.microsoft.com/office/drawing/2014/main" id="{C9655AAC-34FA-4582-8DF0-8C33CE95B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73952"/>
            <a:ext cx="365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アライメント計測ツール　操作手順</a:t>
            </a:r>
            <a:endParaRPr sz="900"/>
          </a:p>
        </p:txBody>
      </p:sp>
      <p:sp>
        <p:nvSpPr>
          <p:cNvPr id="36" name="Text 30">
            <a:extLst xmlns:a="http://schemas.openxmlformats.org/drawingml/2006/main">
              <a:ext uri="{FF2B5EF4-FFF2-40B4-BE49-F238E27FC236}">
                <a16:creationId xmlns:a16="http://schemas.microsoft.com/office/drawing/2014/main" id="{8F531DCF-DA39-4BDD-97D7-1FBC6AE47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8655" y="6473952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16</a:t>
            </a:r>
            <a:endParaRPr sz="1000"/>
          </a:p>
        </p:txBody>
      </p:sp>
      <p:pic>
        <p:nvPic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069160E-5B10-4C7E-A217-F3135CA54AF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1a2994c8da4f4a"/>
          <a:stretch xmlns:a="http://schemas.openxmlformats.org/drawingml/2006/main"/>
        </p:blipFill>
        <p:spPr>
          <a:xfrm xmlns:a="http://schemas.openxmlformats.org/drawingml/2006/main">
            <a:off x="552450" y="2764415"/>
            <a:ext cx="7667625" cy="2091170"/>
          </a:xfrm>
          <a:prstGeom xmlns:a="http://schemas.openxmlformats.org/drawingml/2006/main" prst="rect">
            <a:avLst/>
          </a:prstGeom>
        </p:spPr>
      </p:pic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3466E2B-A83A-40D1-AE11-D804627F1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3793" y="3502386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13335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defPPr>
            <a:lvl1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1pPr>
            <a:lvl2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2pPr>
            <a:lvl3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3pPr>
            <a:lvl4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4pPr>
            <a:lvl5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5pPr>
            <a:lvl6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6pPr>
            <a:lvl7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7pPr>
            <a:lvl8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8pPr>
            <a:lvl9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1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BA14486-14A2-42D8-BFAF-BF61151C0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6285" y="3839297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13335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defPPr>
            <a:lvl1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1pPr>
            <a:lvl2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2pPr>
            <a:lvl3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3pPr>
            <a:lvl4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4pPr>
            <a:lvl5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5pPr>
            <a:lvl6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6pPr>
            <a:lvl7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7pPr>
            <a:lvl8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8pPr>
            <a:lvl9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6EA5E0E-B75D-4E9B-B0C2-3DD555AA7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7316" y="4396942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13335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defPPr>
            <a:lvl1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1pPr>
            <a:lvl2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2pPr>
            <a:lvl3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3pPr>
            <a:lvl4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4pPr>
            <a:lvl5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5pPr>
            <a:lvl6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6pPr>
            <a:lvl7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7pPr>
            <a:lvl8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8pPr>
            <a:lvl9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40EB68C-D286-4CDE-A802-2D5BDE117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5240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pPr>
            <a:r>
              <a: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rPr>
              <a:t>01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069F31E-341F-4C02-9623-B59DC9E36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524000"/>
            <a:ext cx="252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shotNoを指定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CD11A6F-7CE6-4EB0-A02F-EE41B3CA5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14525"/>
            <a:ext cx="2524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必ず計測するshotNoを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空白・カンマ区切りで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入力します。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25BF5BD-919B-4CD0-A144-A564CD801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0480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pPr>
            <a:r>
              <a: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rPr>
              <a:t>02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8B251FE-5C6B-407C-9F52-C779B4F8D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48000"/>
            <a:ext cx="252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最外周を一括指定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9EFF420-191A-4E79-BFFA-BF410763F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38525"/>
            <a:ext cx="2524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「最外周のShotをすべて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必ず計測する」をオン。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隣が欠けた外側のShot。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0E37E67-BFF3-411D-9EF0-09DE1D3F2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5720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pPr>
            <a:r>
              <a: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rPr>
              <a:t>03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1522926-EA84-4A52-AE74-425E4DE3A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572000"/>
            <a:ext cx="252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数を確認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2F5FF6A-605E-4467-9ABB-21C3F8F9E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62525"/>
            <a:ext cx="2524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必ず計測するShot数と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内訳が欄の下に出ます。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残りをI最適で選びます。</a:t>
            </a:r>
          </a:p>
        </p:txBody>
      </p:sp>
    </p:spTree>
    <p:extLst>
      <p:ext uri="{BB962C8B-B14F-4D97-AF65-F5344CB8AC3E}">
        <p14:creationId xmlns:p14="http://schemas.microsoft.com/office/powerpoint/2010/main" val="182474196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91D5CEDB-AE13-4917-9D3C-70A6EF18F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02　評価の設定</a:t>
            </a:r>
            <a:endParaRPr sz="12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AA1B29C3-000F-4D2C-BB0C-C28FCA303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6928"/>
            <a:ext cx="11094415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 marL="0" indent="0">
              <a:buNone/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推定に使う質的変数</a:t>
            </a:r>
            <a:endParaRPr sz="2800"/>
          </a:p>
        </p:txBody>
      </p:sp>
      <p:sp>
        <p:nvSpPr>
          <p:cNvPr id="35" name="Text 29">
            <a:extLst xmlns:a="http://schemas.openxmlformats.org/drawingml/2006/main">
              <a:ext uri="{FF2B5EF4-FFF2-40B4-BE49-F238E27FC236}">
                <a16:creationId xmlns:a16="http://schemas.microsoft.com/office/drawing/2014/main" id="{C9655AAC-34FA-4582-8DF0-8C33CE95B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73952"/>
            <a:ext cx="365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アライメント計測ツール　操作手順</a:t>
            </a:r>
            <a:endParaRPr sz="900"/>
          </a:p>
        </p:txBody>
      </p:sp>
      <p:sp>
        <p:nvSpPr>
          <p:cNvPr id="36" name="Text 30">
            <a:extLst xmlns:a="http://schemas.openxmlformats.org/drawingml/2006/main">
              <a:ext uri="{FF2B5EF4-FFF2-40B4-BE49-F238E27FC236}">
                <a16:creationId xmlns:a16="http://schemas.microsoft.com/office/drawing/2014/main" id="{8F531DCF-DA39-4BDD-97D7-1FBC6AE47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8655" y="6473952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17</a:t>
            </a:r>
            <a:endParaRPr sz="1000"/>
          </a:p>
        </p:txBody>
      </p:sp>
      <p:pic>
        <p:nvPic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B2379B7-25F1-431C-BDAE-CE7434CA4A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b5302032994425"/>
          <a:stretch xmlns:a="http://schemas.openxmlformats.org/drawingml/2006/main"/>
        </p:blipFill>
        <p:spPr>
          <a:xfrm xmlns:a="http://schemas.openxmlformats.org/drawingml/2006/main">
            <a:off x="552450" y="2553722"/>
            <a:ext cx="7667625" cy="2512555"/>
          </a:xfrm>
          <a:prstGeom xmlns:a="http://schemas.openxmlformats.org/drawingml/2006/main" prst="rect">
            <a:avLst/>
          </a:prstGeom>
        </p:spPr>
      </p:pic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015BFC4-0A81-4FBF-9F5C-D0BEBAC9B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4774" y="3823938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13335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defPPr>
            <a:lvl1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1pPr>
            <a:lvl2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2pPr>
            <a:lvl3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3pPr>
            <a:lvl4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4pPr>
            <a:lvl5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5pPr>
            <a:lvl6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6pPr>
            <a:lvl7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7pPr>
            <a:lvl8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8pPr>
            <a:lvl9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1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1912AFD-2691-4FA0-A5DE-FDB097321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846" y="4343777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13335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defPPr>
            <a:lvl1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1pPr>
            <a:lvl2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2pPr>
            <a:lvl3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3pPr>
            <a:lvl4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4pPr>
            <a:lvl5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5pPr>
            <a:lvl6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6pPr>
            <a:lvl7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7pPr>
            <a:lvl8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8pPr>
            <a:lvl9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4A4EF33-1228-4ABB-95B8-5807CAC47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1128" y="312215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13335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defPPr>
            <a:lvl1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1pPr>
            <a:lvl2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2pPr>
            <a:lvl3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3pPr>
            <a:lvl4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4pPr>
            <a:lvl5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5pPr>
            <a:lvl6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6pPr>
            <a:lvl7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7pPr>
            <a:lvl8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8pPr>
            <a:lvl9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E8255B1-9D80-42EC-A209-D41EBE051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5240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pPr>
            <a:r>
              <a: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rPr>
              <a:t>01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E9EEE92-069C-4F19-8C60-74AD106B0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524000"/>
            <a:ext cx="252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標準の質的変数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46E2F01-7BC6-4A31-8184-73D50D34A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14525"/>
            <a:ext cx="2524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Scan方向・Mark番号・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Shot行の奇数／偶数を選択。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行奇偶は上から数えます。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FEA88C6-CE5D-4CCE-8536-29A6F4B39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0480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pPr>
            <a:r>
              <a: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rPr>
              <a:t>02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9D7FE74-53CC-4F6E-A4B9-4CF7AE95C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48000"/>
            <a:ext cx="252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その他の列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A450CC1-CDDC-4A5B-AAFB-C52D9951E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38525"/>
            <a:ext cx="2524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取り込んだファイルの追加列も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選べます。複数選択は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Ctrl・Shiftを使います。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45455DD-2308-4D6B-9EC9-3C240C239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5720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pPr>
            <a:r>
              <a: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rPr>
              <a:t>03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872A900-5AC9-4AFC-A4B9-1165597F9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572000"/>
            <a:ext cx="252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説明変数の組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F431A5E-BF8E-4926-BB83-EC2423A4D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62525"/>
            <a:ext cx="2524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X,YまたはX,Y,半径を選択。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質的変数とは別の設定です。</a:t>
            </a:r>
          </a:p>
        </p:txBody>
      </p:sp>
    </p:spTree>
    <p:extLst>
      <p:ext uri="{BB962C8B-B14F-4D97-AF65-F5344CB8AC3E}">
        <p14:creationId xmlns:p14="http://schemas.microsoft.com/office/powerpoint/2010/main" val="182474196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91D5CEDB-AE13-4917-9D3C-70A6EF18F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02　評価の設定</a:t>
            </a:r>
            <a:endParaRPr sz="12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AA1B29C3-000F-4D2C-BB0C-C28FCA303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6928"/>
            <a:ext cx="11094415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 marL="0" indent="0">
              <a:buNone/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比較する手法とBackfitting</a:t>
            </a:r>
            <a:endParaRPr sz="2800"/>
          </a:p>
        </p:txBody>
      </p:sp>
      <p:sp>
        <p:nvSpPr>
          <p:cNvPr id="35" name="Text 29">
            <a:extLst xmlns:a="http://schemas.openxmlformats.org/drawingml/2006/main">
              <a:ext uri="{FF2B5EF4-FFF2-40B4-BE49-F238E27FC236}">
                <a16:creationId xmlns:a16="http://schemas.microsoft.com/office/drawing/2014/main" id="{C9655AAC-34FA-4582-8DF0-8C33CE95B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73952"/>
            <a:ext cx="365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アライメント計測ツール　操作手順</a:t>
            </a:r>
            <a:endParaRPr sz="900"/>
          </a:p>
        </p:txBody>
      </p:sp>
      <p:sp>
        <p:nvSpPr>
          <p:cNvPr id="36" name="Text 30">
            <a:extLst xmlns:a="http://schemas.openxmlformats.org/drawingml/2006/main">
              <a:ext uri="{FF2B5EF4-FFF2-40B4-BE49-F238E27FC236}">
                <a16:creationId xmlns:a16="http://schemas.microsoft.com/office/drawing/2014/main" id="{8F531DCF-DA39-4BDD-97D7-1FBC6AE47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8655" y="6473952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18</a:t>
            </a:r>
            <a:endParaRPr sz="1000"/>
          </a:p>
        </p:txBody>
      </p:sp>
      <p:pic>
        <p:nvPic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44B68A4-59CE-4483-B560-5DBA6458F2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787519acb642a4"/>
          <a:stretch xmlns:a="http://schemas.openxmlformats.org/drawingml/2006/main"/>
        </p:blipFill>
        <p:spPr>
          <a:xfrm xmlns:a="http://schemas.openxmlformats.org/drawingml/2006/main">
            <a:off x="552450" y="1990564"/>
            <a:ext cx="7667625" cy="3638873"/>
          </a:xfrm>
          <a:prstGeom xmlns:a="http://schemas.openxmlformats.org/drawingml/2006/main" prst="rect">
            <a:avLst/>
          </a:prstGeom>
        </p:spPr>
      </p:pic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164F391-235F-410B-ADB0-C4324436A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388" y="2983531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13335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defPPr>
            <a:lvl1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1pPr>
            <a:lvl2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2pPr>
            <a:lvl3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3pPr>
            <a:lvl4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4pPr>
            <a:lvl5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5pPr>
            <a:lvl6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6pPr>
            <a:lvl7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7pPr>
            <a:lvl8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8pPr>
            <a:lvl9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1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0AB5E2A-9CDC-4D37-B422-34F46AD97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846" y="2983531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13335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defPPr>
            <a:lvl1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1pPr>
            <a:lvl2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2pPr>
            <a:lvl3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3pPr>
            <a:lvl4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4pPr>
            <a:lvl5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5pPr>
            <a:lvl6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6pPr>
            <a:lvl7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7pPr>
            <a:lvl8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8pPr>
            <a:lvl9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02E96FD-E93E-4D28-9BE9-2E4D1D997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846" y="4551712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13335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defPPr>
            <a:lvl1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1pPr>
            <a:lvl2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2pPr>
            <a:lvl3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3pPr>
            <a:lvl4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4pPr>
            <a:lvl5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5pPr>
            <a:lvl6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6pPr>
            <a:lvl7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7pPr>
            <a:lvl8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8pPr>
            <a:lvl9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1268096-9B21-493C-B6FA-D313A398F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5240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pPr>
            <a:r>
              <a: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rPr>
              <a:t>01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4C437FF-9706-4948-8F59-2574A1158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524000"/>
            <a:ext cx="252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手法を追加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BD060E7-08A7-470B-8093-4F895C8D0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14525"/>
            <a:ext cx="2524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RBF・TPS・通常Kriging・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Universal Krigingなどを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チェックして追加します。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FF58D9B-903F-4C93-BE74-F04B1949E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0480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pPr>
            <a:r>
              <a: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rPr>
              <a:t>02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76B02D1-1C32-471C-8605-62E194874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48000"/>
            <a:ext cx="252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質的変数の扱い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F00C5A0-F8D3-4C2C-A8E6-7076F21E9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38525"/>
            <a:ext cx="2524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右の欄で「Backfitting」または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「なし・Backfittingを比較」を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選びます。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CEBD8AE-3971-4A65-B65B-1252C00CF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5720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pPr>
            <a:r>
              <a: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rPr>
              <a:t>03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6DC61DC-2849-4A24-AE82-338CBF2F5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572000"/>
            <a:ext cx="252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詳細は必要時に変更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98BC879-1404-464A-8EF8-9FDC5AA8A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62525"/>
            <a:ext cx="2524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Krigingはバリオグラム、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GAMは形状関数を選択。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まずは推奨設定で試します。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633A89E-5CA3-4E77-BB57-CD8B54A80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>
                <a:solidFill>
                  <a:srgbClr val="55566C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125" b="0">
                <a:solidFill>
                  <a:srgbClr val="55566C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125" b="0">
                <a:solidFill>
                  <a:srgbClr val="55566C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125" b="0">
                <a:solidFill>
                  <a:srgbClr val="55566C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125" b="0">
                <a:solidFill>
                  <a:srgbClr val="55566C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125" b="0">
                <a:solidFill>
                  <a:srgbClr val="55566C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125" b="0">
                <a:solidFill>
                  <a:srgbClr val="55566C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125" b="0">
                <a:solidFill>
                  <a:srgbClr val="55566C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125" b="0">
                <a:solidFill>
                  <a:srgbClr val="55566C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125" b="0">
                <a:solidFill>
                  <a:srgbClr val="55566C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5566C"/>
                </a:solidFill>
                <a:latin typeface="BIZ UDGothic"/>
                <a:ea typeface="BIZ UDGothic"/>
                <a:cs typeface="BIZ UDGothic"/>
              </a:defRPr>
            </a:pPr>
            <a:r>
              <a:rPr sz="1125" b="0">
                <a:solidFill>
                  <a:srgbClr val="55566C"/>
                </a:solidFill>
                <a:latin typeface="BIZ UDGothic"/>
                <a:ea typeface="BIZ UDGothic"/>
                <a:cs typeface="BIZ UDGothic"/>
              </a:rPr>
              <a:t>画面に見えない項目は、パネル内を下へスクロールすると表示されます。</a:t>
            </a:r>
          </a:p>
        </p:txBody>
      </p:sp>
    </p:spTree>
    <p:extLst>
      <p:ext uri="{BB962C8B-B14F-4D97-AF65-F5344CB8AC3E}">
        <p14:creationId xmlns:p14="http://schemas.microsoft.com/office/powerpoint/2010/main" val="182474196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91D5CEDB-AE13-4917-9D3C-70A6EF18F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02　評価の設定</a:t>
            </a:r>
            <a:endParaRPr sz="12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AA1B29C3-000F-4D2C-BB0C-C28FCA303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6928"/>
            <a:ext cx="11094415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 marL="0" indent="0">
              <a:buNone/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Overlay補正の評価条件</a:t>
            </a:r>
            <a:endParaRPr sz="2800"/>
          </a:p>
        </p:txBody>
      </p:sp>
      <p:sp>
        <p:nvSpPr>
          <p:cNvPr id="35" name="Text 29">
            <a:extLst xmlns:a="http://schemas.openxmlformats.org/drawingml/2006/main">
              <a:ext uri="{FF2B5EF4-FFF2-40B4-BE49-F238E27FC236}">
                <a16:creationId xmlns:a16="http://schemas.microsoft.com/office/drawing/2014/main" id="{C9655AAC-34FA-4582-8DF0-8C33CE95B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73952"/>
            <a:ext cx="365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アライメント計測ツール　操作手順</a:t>
            </a:r>
            <a:endParaRPr sz="900"/>
          </a:p>
        </p:txBody>
      </p:sp>
      <p:sp>
        <p:nvSpPr>
          <p:cNvPr id="36" name="Text 30">
            <a:extLst xmlns:a="http://schemas.openxmlformats.org/drawingml/2006/main">
              <a:ext uri="{FF2B5EF4-FFF2-40B4-BE49-F238E27FC236}">
                <a16:creationId xmlns:a16="http://schemas.microsoft.com/office/drawing/2014/main" id="{8F531DCF-DA39-4BDD-97D7-1FBC6AE47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8655" y="6473952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19</a:t>
            </a:r>
            <a:endParaRPr sz="1000"/>
          </a:p>
        </p:txBody>
      </p:sp>
      <p:pic>
        <p:nvPic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CEA815C-262F-472A-BF3A-CC819A33456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9520c6b5a74cde"/>
          <a:stretch xmlns:a="http://schemas.openxmlformats.org/drawingml/2006/main"/>
        </p:blipFill>
        <p:spPr>
          <a:xfrm xmlns:a="http://schemas.openxmlformats.org/drawingml/2006/main">
            <a:off x="552450" y="2677283"/>
            <a:ext cx="7667625" cy="2265435"/>
          </a:xfrm>
          <a:prstGeom xmlns:a="http://schemas.openxmlformats.org/drawingml/2006/main" prst="rect">
            <a:avLst/>
          </a:prstGeom>
        </p:spPr>
      </p:pic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0F123C1-A61F-46F2-AEA6-0FE61AFDC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6296" y="3577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13335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defPPr>
            <a:lvl1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1pPr>
            <a:lvl2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2pPr>
            <a:lvl3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3pPr>
            <a:lvl4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4pPr>
            <a:lvl5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5pPr>
            <a:lvl6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6pPr>
            <a:lvl7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7pPr>
            <a:lvl8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8pPr>
            <a:lvl9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1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C52117E-0C4E-4A92-A95F-C6A63A829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785" y="3577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13335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defPPr>
            <a:lvl1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1pPr>
            <a:lvl2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2pPr>
            <a:lvl3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3pPr>
            <a:lvl4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4pPr>
            <a:lvl5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5pPr>
            <a:lvl6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6pPr>
            <a:lvl7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7pPr>
            <a:lvl8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8pPr>
            <a:lvl9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C0FFCDD-2B49-4AE1-B93F-CA234EE1C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6296" y="4414368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13335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defPPr>
            <a:lvl1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1pPr>
            <a:lvl2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2pPr>
            <a:lvl3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3pPr>
            <a:lvl4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4pPr>
            <a:lvl5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5pPr>
            <a:lvl6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6pPr>
            <a:lvl7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7pPr>
            <a:lvl8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8pPr>
            <a:lvl9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C28186A-010D-431A-A529-ECE74C8E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5240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pPr>
            <a:r>
              <a: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rPr>
              <a:t>01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3981928-0A70-416B-B328-283141291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524000"/>
            <a:ext cx="252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Wafer成分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BEB400C-AA65-451B-BB93-6F668209B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14525"/>
            <a:ext cx="2524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Shot中心座標による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補正の次数を選びます。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7A733C5-7577-479D-9F5A-20E590862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0480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pPr>
            <a:r>
              <a: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rPr>
              <a:t>02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FDE319D-7DE3-4AC0-B508-242B01FFB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48000"/>
            <a:ext cx="252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Shot共通成分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5993537-070F-483E-AF81-390A94A88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38525"/>
            <a:ext cx="2524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全Shot共通のShot内補正。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1次またはメーカー別の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高次式を選択できます。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A98E81F-5CCB-4D2C-8CAB-EDA3DAA3E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5720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pPr>
            <a:r>
              <a: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rPr>
              <a:t>03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CDAAD53-00EA-4014-9057-5FB00819E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572000"/>
            <a:ext cx="252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Shotごとの成分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BAA304A-CAB5-4452-9BF9-35E6EF3FA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62525"/>
            <a:ext cx="2524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なし・並進・1次から選択。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すべて「なし」にすると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Overlayの評価を行いません。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668CF31-8BB8-44D0-8177-D66C1D4C1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>
                <a:solidFill>
                  <a:srgbClr val="55566C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125" b="0">
                <a:solidFill>
                  <a:srgbClr val="55566C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125" b="0">
                <a:solidFill>
                  <a:srgbClr val="55566C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125" b="0">
                <a:solidFill>
                  <a:srgbClr val="55566C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125" b="0">
                <a:solidFill>
                  <a:srgbClr val="55566C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125" b="0">
                <a:solidFill>
                  <a:srgbClr val="55566C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125" b="0">
                <a:solidFill>
                  <a:srgbClr val="55566C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125" b="0">
                <a:solidFill>
                  <a:srgbClr val="55566C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125" b="0">
                <a:solidFill>
                  <a:srgbClr val="55566C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125" b="0">
                <a:solidFill>
                  <a:srgbClr val="55566C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5566C"/>
                </a:solidFill>
                <a:latin typeface="BIZ UDGothic"/>
                <a:ea typeface="BIZ UDGothic"/>
                <a:cs typeface="BIZ UDGothic"/>
              </a:defRPr>
            </a:pPr>
            <a:r>
              <a:rPr sz="1125" b="0">
                <a:solidFill>
                  <a:srgbClr val="55566C"/>
                </a:solidFill>
                <a:latin typeface="BIZ UDGothic"/>
                <a:ea typeface="BIZ UDGothic"/>
                <a:cs typeface="BIZ UDGothic"/>
              </a:rPr>
              <a:t>初期設定はWafer 1次＋Shot共通1次です。使用する補正モデルに合わせて変更します。</a:t>
            </a:r>
          </a:p>
        </p:txBody>
      </p:sp>
    </p:spTree>
    <p:extLst>
      <p:ext uri="{BB962C8B-B14F-4D97-AF65-F5344CB8AC3E}">
        <p14:creationId xmlns:p14="http://schemas.microsoft.com/office/powerpoint/2010/main" val="182474196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91D5CEDB-AE13-4917-9D3C-70A6EF18F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02　評価の設定</a:t>
            </a:r>
            <a:endParaRPr sz="12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AA1B29C3-000F-4D2C-BB0C-C28FCA303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6928"/>
            <a:ext cx="11094415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 marL="0" indent="0">
              <a:buNone/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学習データの異常値を除く</a:t>
            </a:r>
            <a:endParaRPr sz="2800"/>
          </a:p>
        </p:txBody>
      </p:sp>
      <p:sp>
        <p:nvSpPr>
          <p:cNvPr id="35" name="Text 29">
            <a:extLst xmlns:a="http://schemas.openxmlformats.org/drawingml/2006/main">
              <a:ext uri="{FF2B5EF4-FFF2-40B4-BE49-F238E27FC236}">
                <a16:creationId xmlns:a16="http://schemas.microsoft.com/office/drawing/2014/main" id="{C9655AAC-34FA-4582-8DF0-8C33CE95B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73952"/>
            <a:ext cx="365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アライメント計測ツール　操作手順</a:t>
            </a:r>
            <a:endParaRPr sz="900"/>
          </a:p>
        </p:txBody>
      </p:sp>
      <p:sp>
        <p:nvSpPr>
          <p:cNvPr id="36" name="Text 30">
            <a:extLst xmlns:a="http://schemas.openxmlformats.org/drawingml/2006/main">
              <a:ext uri="{FF2B5EF4-FFF2-40B4-BE49-F238E27FC236}">
                <a16:creationId xmlns:a16="http://schemas.microsoft.com/office/drawing/2014/main" id="{8F531DCF-DA39-4BDD-97D7-1FBC6AE47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8655" y="6473952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20</a:t>
            </a:r>
            <a:endParaRPr sz="1000"/>
          </a:p>
        </p:txBody>
      </p:sp>
      <p:pic>
        <p:nvPic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99B6F79-6658-40E4-B09A-99183003CA9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47c3c843474179"/>
          <a:stretch xmlns:a="http://schemas.openxmlformats.org/drawingml/2006/main"/>
        </p:blipFill>
        <p:spPr>
          <a:xfrm xmlns:a="http://schemas.openxmlformats.org/drawingml/2006/main">
            <a:off x="552450" y="2793459"/>
            <a:ext cx="7667625" cy="2033082"/>
          </a:xfrm>
          <a:prstGeom xmlns:a="http://schemas.openxmlformats.org/drawingml/2006/main" prst="rect">
            <a:avLst/>
          </a:prstGeom>
        </p:spPr>
      </p:pic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CE3000A-0DEF-4DEF-B365-5760B14A3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747" y="4205251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13335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defPPr>
            <a:lvl1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1pPr>
            <a:lvl2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2pPr>
            <a:lvl3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3pPr>
            <a:lvl4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4pPr>
            <a:lvl5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5pPr>
            <a:lvl6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6pPr>
            <a:lvl7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7pPr>
            <a:lvl8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8pPr>
            <a:lvl9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1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A2A073F-AB4E-49E0-98BE-878A9CB14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727" y="4205251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13335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defPPr>
            <a:lvl1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1pPr>
            <a:lvl2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2pPr>
            <a:lvl3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3pPr>
            <a:lvl4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4pPr>
            <a:lvl5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5pPr>
            <a:lvl6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6pPr>
            <a:lvl7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7pPr>
            <a:lvl8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8pPr>
            <a:lvl9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B694B80-F79E-4E08-B896-5CC5B6D1C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4685" y="279952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13335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defPPr>
            <a:lvl1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1pPr>
            <a:lvl2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2pPr>
            <a:lvl3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3pPr>
            <a:lvl4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4pPr>
            <a:lvl5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5pPr>
            <a:lvl6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6pPr>
            <a:lvl7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7pPr>
            <a:lvl8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8pPr>
            <a:lvl9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A1A4CE3-8532-443F-9D68-C3AFE4F68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5240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pPr>
            <a:r>
              <a: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rPr>
              <a:t>01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2F91BDB-6561-4D05-8D9B-42B38BCB7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524000"/>
            <a:ext cx="252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除外をオン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7431674-82F2-4F8E-B44C-0C319FE9E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14525"/>
            <a:ext cx="2524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「学習データの異常値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（平均から nσ 超）を除いて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推定する」をオン。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4EC0C8D-B6DC-4A16-89D1-B1E6ACFBC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0480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pPr>
            <a:r>
              <a: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rPr>
              <a:t>02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30F48E9-E228-46A1-AD17-F3504E9A6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48000"/>
            <a:ext cx="252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nを決める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73B7B3A-AE5A-45CF-BBC3-B8C3A8EBC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38525"/>
            <a:ext cx="2524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「n =」に正の値を入力。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平均からn×σを超えて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離れたMarkを除きます。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38E888C-F5E2-45FD-9253-2D8EE17D0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5720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pPr>
            <a:r>
              <a: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rPr>
              <a:t>03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5D4ECE8-D953-490C-BD73-123508FD2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572000"/>
            <a:ext cx="252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判定のしかた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25365D5-F4B8-41B5-949E-ECBB67CFB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62525"/>
            <a:ext cx="2524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σはWafer・学習パターン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ごと。XかYの一方でも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外れたらX・Yとも除外。</a:t>
            </a:r>
          </a:p>
        </p:txBody>
      </p:sp>
    </p:spTree>
    <p:extLst>
      <p:ext uri="{BB962C8B-B14F-4D97-AF65-F5344CB8AC3E}">
        <p14:creationId xmlns:p14="http://schemas.microsoft.com/office/powerpoint/2010/main" val="182474196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91D5CEDB-AE13-4917-9D3C-70A6EF18F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03　評価の実行</a:t>
            </a:r>
            <a:endParaRPr sz="12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AA1B29C3-000F-4D2C-BB0C-C28FCA303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6928"/>
            <a:ext cx="11094415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 marL="0" indent="0">
              <a:buNone/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計測マップで学習Shotを確認</a:t>
            </a:r>
            <a:endParaRPr sz="2800"/>
          </a:p>
        </p:txBody>
      </p:sp>
      <p:sp>
        <p:nvSpPr>
          <p:cNvPr id="35" name="Text 29">
            <a:extLst xmlns:a="http://schemas.openxmlformats.org/drawingml/2006/main">
              <a:ext uri="{FF2B5EF4-FFF2-40B4-BE49-F238E27FC236}">
                <a16:creationId xmlns:a16="http://schemas.microsoft.com/office/drawing/2014/main" id="{C9655AAC-34FA-4582-8DF0-8C33CE95B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73952"/>
            <a:ext cx="365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アライメント計測ツール　操作手順</a:t>
            </a:r>
            <a:endParaRPr sz="900"/>
          </a:p>
        </p:txBody>
      </p:sp>
      <p:sp>
        <p:nvSpPr>
          <p:cNvPr id="36" name="Text 30">
            <a:extLst xmlns:a="http://schemas.openxmlformats.org/drawingml/2006/main">
              <a:ext uri="{FF2B5EF4-FFF2-40B4-BE49-F238E27FC236}">
                <a16:creationId xmlns:a16="http://schemas.microsoft.com/office/drawing/2014/main" id="{8F531DCF-DA39-4BDD-97D7-1FBC6AE47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8655" y="6473952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21</a:t>
            </a:r>
            <a:endParaRPr sz="1000"/>
          </a:p>
        </p:txBody>
      </p:sp>
      <p:pic>
        <p:nvPic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6C3B13B-ABC4-4E49-BBC5-F1EC567DC4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ae38d808284659"/>
          <a:stretch xmlns:a="http://schemas.openxmlformats.org/drawingml/2006/main"/>
        </p:blipFill>
        <p:spPr>
          <a:xfrm xmlns:a="http://schemas.openxmlformats.org/drawingml/2006/main">
            <a:off x="1703770" y="1428750"/>
            <a:ext cx="5364985" cy="4762500"/>
          </a:xfrm>
          <a:prstGeom xmlns:a="http://schemas.openxmlformats.org/drawingml/2006/main" prst="rect">
            <a:avLst/>
          </a:prstGeom>
        </p:spPr>
      </p:pic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862EF33-4383-4B0E-BE03-D3C05C8D8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185" y="1593773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13335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defPPr>
            <a:lvl1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1pPr>
            <a:lvl2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2pPr>
            <a:lvl3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3pPr>
            <a:lvl4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4pPr>
            <a:lvl5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5pPr>
            <a:lvl6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6pPr>
            <a:lvl7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7pPr>
            <a:lvl8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8pPr>
            <a:lvl9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1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F02578D-CE33-403E-BCBC-80495D77E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2709" y="3361063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13335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defPPr>
            <a:lvl1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1pPr>
            <a:lvl2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2pPr>
            <a:lvl3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3pPr>
            <a:lvl4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4pPr>
            <a:lvl5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5pPr>
            <a:lvl6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6pPr>
            <a:lvl7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7pPr>
            <a:lvl8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8pPr>
            <a:lvl9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F15B5D1-B15E-426B-A3CB-12552EE4D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9742" y="1783126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13335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defPPr>
            <a:lvl1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1pPr>
            <a:lvl2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2pPr>
            <a:lvl3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3pPr>
            <a:lvl4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4pPr>
            <a:lvl5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5pPr>
            <a:lvl6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6pPr>
            <a:lvl7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7pPr>
            <a:lvl8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8pPr>
            <a:lvl9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2AE497F-D9C7-4E6B-AC2A-D9B17876A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5240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pPr>
            <a:r>
              <a: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rPr>
              <a:t>01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2A7A4D8-6219-41B8-AEA0-22F7FD754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524000"/>
            <a:ext cx="252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対象を選ぶ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781BB95-EF0A-4E77-93CB-242F9C286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14525"/>
            <a:ext cx="2524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Waferと学習パターンを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選び「計測マップを作る」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を押します。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EA0258B-52A0-4FE8-885C-F07F38F3B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0480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pPr>
            <a:r>
              <a: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rPr>
              <a:t>02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F428E62-579C-4AB0-8CBC-B5591A614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48000"/>
            <a:ext cx="252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塗り分けを見る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13B6EB0-C176-473E-9B9F-533603F62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38525"/>
            <a:ext cx="2524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橙の太枠は必ず計測、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青は選んだShot、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白は計測しないShot。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B99873E-B85C-4A9E-811A-8064777F6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5720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pPr>
            <a:r>
              <a: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rPr>
              <a:t>03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A4D9238-FB03-4C2C-A911-EA5923A75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572000"/>
            <a:ext cx="252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保存・書き出し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FC3A323-1285-40EC-B20D-EBAC00A3B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62525"/>
            <a:ext cx="2524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画像で保存、または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全学習パターンの計測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ShotをExcelに書き出し。</a:t>
            </a:r>
          </a:p>
        </p:txBody>
      </p:sp>
    </p:spTree>
    <p:extLst>
      <p:ext uri="{BB962C8B-B14F-4D97-AF65-F5344CB8AC3E}">
        <p14:creationId xmlns:p14="http://schemas.microsoft.com/office/powerpoint/2010/main" val="182474196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91D5CEDB-AE13-4917-9D3C-70A6EF18F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03　評価の実行</a:t>
            </a:r>
            <a:endParaRPr sz="12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AA1B29C3-000F-4D2C-BB0C-C28FCA303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6928"/>
            <a:ext cx="11094415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 marL="0" indent="0">
              <a:buNone/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評価の開始と実行記録</a:t>
            </a:r>
            <a:endParaRPr sz="2800"/>
          </a:p>
        </p:txBody>
      </p:sp>
      <p:sp>
        <p:nvSpPr>
          <p:cNvPr id="35" name="Text 29">
            <a:extLst xmlns:a="http://schemas.openxmlformats.org/drawingml/2006/main">
              <a:ext uri="{FF2B5EF4-FFF2-40B4-BE49-F238E27FC236}">
                <a16:creationId xmlns:a16="http://schemas.microsoft.com/office/drawing/2014/main" id="{C9655AAC-34FA-4582-8DF0-8C33CE95B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73952"/>
            <a:ext cx="365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アライメント計測ツール　操作手順</a:t>
            </a:r>
            <a:endParaRPr sz="900"/>
          </a:p>
        </p:txBody>
      </p:sp>
      <p:sp>
        <p:nvSpPr>
          <p:cNvPr id="36" name="Text 30">
            <a:extLst xmlns:a="http://schemas.openxmlformats.org/drawingml/2006/main">
              <a:ext uri="{FF2B5EF4-FFF2-40B4-BE49-F238E27FC236}">
                <a16:creationId xmlns:a16="http://schemas.microsoft.com/office/drawing/2014/main" id="{8F531DCF-DA39-4BDD-97D7-1FBC6AE47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8655" y="6473952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22</a:t>
            </a:r>
            <a:endParaRPr sz="1000"/>
          </a:p>
        </p:txBody>
      </p:sp>
      <p:pic>
        <p:nvPic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702451D-A73D-4031-B407-456AFB74DC5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02447c7ad24540"/>
          <a:stretch xmlns:a="http://schemas.openxmlformats.org/drawingml/2006/main"/>
        </p:blipFill>
        <p:spPr>
          <a:xfrm xmlns:a="http://schemas.openxmlformats.org/drawingml/2006/main">
            <a:off x="552450" y="3222067"/>
            <a:ext cx="7667625" cy="1175866"/>
          </a:xfrm>
          <a:prstGeom xmlns:a="http://schemas.openxmlformats.org/drawingml/2006/main" prst="rect">
            <a:avLst/>
          </a:prstGeom>
        </p:spPr>
      </p:pic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CEA3BD0-E247-4FC5-B666-F070072C7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0189" y="3181806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13335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defPPr>
            <a:lvl1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1pPr>
            <a:lvl2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2pPr>
            <a:lvl3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3pPr>
            <a:lvl4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4pPr>
            <a:lvl5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5pPr>
            <a:lvl6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6pPr>
            <a:lvl7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7pPr>
            <a:lvl8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8pPr>
            <a:lvl9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1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212AB04-7720-41AB-9A9A-2821C8F87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5971" y="3348387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13335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defPPr>
            <a:lvl1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1pPr>
            <a:lvl2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2pPr>
            <a:lvl3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3pPr>
            <a:lvl4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4pPr>
            <a:lvl5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5pPr>
            <a:lvl6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6pPr>
            <a:lvl7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7pPr>
            <a:lvl8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8pPr>
            <a:lvl9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6C56B17-7C38-4802-A563-5C6F90D34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0357" y="393632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13335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defPPr>
            <a:lvl1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1pPr>
            <a:lvl2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2pPr>
            <a:lvl3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3pPr>
            <a:lvl4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4pPr>
            <a:lvl5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5pPr>
            <a:lvl6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6pPr>
            <a:lvl7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7pPr>
            <a:lvl8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8pPr>
            <a:lvl9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6A365EF-B528-4B33-A4F7-32B50AA25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5240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pPr>
            <a:r>
              <a: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rPr>
              <a:t>01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48F10A2-396D-40E0-9990-C31BE0676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524000"/>
            <a:ext cx="252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実行条件を確認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381DFDF-3402-4CE1-8683-834E84E9E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14525"/>
            <a:ext cx="2524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「3. 実行」を開き、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手法数・学習パターン数・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Wafer数を確認します。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5C629C0-BC0C-4077-96AA-67083547B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0480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pPr>
            <a:r>
              <a: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rPr>
              <a:t>02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7F2C4D6-7D40-45D0-8E4F-E80ACF1D4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48000"/>
            <a:ext cx="252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評価を始める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D4D3CB6-DCA0-4565-8512-6A120D4E2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38525"/>
            <a:ext cx="2524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実行中は進捗を表示。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停止した場合は、途中までの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結果を残します。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E99516B-193F-4BD9-B42A-683C9AD85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5720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pPr>
            <a:r>
              <a: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rPr>
              <a:t>03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0DEA5C0-D76F-424E-A95F-5EB8439EA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572000"/>
            <a:ext cx="252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完了と注意を確認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618597A-D299-4D07-AE5E-4C8594EDA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62525"/>
            <a:ext cx="2524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完了後は記録を確認します。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推定不可や未収束の場合は、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原因と評価条件を確認します。</a:t>
            </a:r>
          </a:p>
        </p:txBody>
      </p:sp>
    </p:spTree>
    <p:extLst>
      <p:ext uri="{BB962C8B-B14F-4D97-AF65-F5344CB8AC3E}">
        <p14:creationId xmlns:p14="http://schemas.microsoft.com/office/powerpoint/2010/main" val="182474196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91D5CEDB-AE13-4917-9D3C-70A6EF18F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04　結果の確認</a:t>
            </a:r>
            <a:endParaRPr sz="12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AA1B29C3-000F-4D2C-BB0C-C28FCA303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6928"/>
            <a:ext cx="11094415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 marL="0" indent="0">
              <a:buNone/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手法ごとの誤差とWafer間の集計</a:t>
            </a:r>
            <a:endParaRPr sz="2800"/>
          </a:p>
        </p:txBody>
      </p:sp>
      <p:sp>
        <p:nvSpPr>
          <p:cNvPr id="35" name="Text 29">
            <a:extLst xmlns:a="http://schemas.openxmlformats.org/drawingml/2006/main">
              <a:ext uri="{FF2B5EF4-FFF2-40B4-BE49-F238E27FC236}">
                <a16:creationId xmlns:a16="http://schemas.microsoft.com/office/drawing/2014/main" id="{C9655AAC-34FA-4582-8DF0-8C33CE95B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73952"/>
            <a:ext cx="365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アライメント計測ツール　操作手順</a:t>
            </a:r>
            <a:endParaRPr sz="900"/>
          </a:p>
        </p:txBody>
      </p:sp>
      <p:sp>
        <p:nvSpPr>
          <p:cNvPr id="36" name="Text 30">
            <a:extLst xmlns:a="http://schemas.openxmlformats.org/drawingml/2006/main">
              <a:ext uri="{FF2B5EF4-FFF2-40B4-BE49-F238E27FC236}">
                <a16:creationId xmlns:a16="http://schemas.microsoft.com/office/drawing/2014/main" id="{8F531DCF-DA39-4BDD-97D7-1FBC6AE47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8655" y="6473952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23</a:t>
            </a:r>
            <a:endParaRPr sz="1000"/>
          </a:p>
        </p:txBody>
      </p:sp>
      <p:pic>
        <p:nvPic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3EC1BF2-B688-46F1-B456-D11DE3C6D6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5ed617ea27408d"/>
          <a:stretch xmlns:a="http://schemas.openxmlformats.org/drawingml/2006/main"/>
        </p:blipFill>
        <p:spPr>
          <a:xfrm xmlns:a="http://schemas.openxmlformats.org/drawingml/2006/main">
            <a:off x="552450" y="1996153"/>
            <a:ext cx="7667625" cy="3627694"/>
          </a:xfrm>
          <a:prstGeom xmlns:a="http://schemas.openxmlformats.org/drawingml/2006/main" prst="rect">
            <a:avLst/>
          </a:prstGeom>
        </p:spPr>
      </p:pic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9FD6A78-A93B-4514-A556-33BFE291A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290" y="2283286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13335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defPPr>
            <a:lvl1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1pPr>
            <a:lvl2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2pPr>
            <a:lvl3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3pPr>
            <a:lvl4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4pPr>
            <a:lvl5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5pPr>
            <a:lvl6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6pPr>
            <a:lvl7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7pPr>
            <a:lvl8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8pPr>
            <a:lvl9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1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95AEC22-29D3-4A90-8B00-E1EDA83EA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8388" y="2283286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13335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defPPr>
            <a:lvl1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1pPr>
            <a:lvl2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2pPr>
            <a:lvl3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3pPr>
            <a:lvl4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4pPr>
            <a:lvl5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5pPr>
            <a:lvl6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6pPr>
            <a:lvl7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7pPr>
            <a:lvl8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8pPr>
            <a:lvl9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DB16A2C-971C-4EDC-8383-F1ED6F46A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1381" y="351175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13335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defPPr>
            <a:lvl1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1pPr>
            <a:lvl2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2pPr>
            <a:lvl3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3pPr>
            <a:lvl4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4pPr>
            <a:lvl5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5pPr>
            <a:lvl6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6pPr>
            <a:lvl7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7pPr>
            <a:lvl8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8pPr>
            <a:lvl9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ACF43E9-EC3E-4B97-8A85-5FCA5693F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5240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pPr>
            <a:r>
              <a: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rPr>
              <a:t>01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0D53170-A0C2-42C4-8EE4-B9983E743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524000"/>
            <a:ext cx="252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指標を選ぶ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5B66BD7-2593-4302-87E5-ECB10D1E3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14525"/>
            <a:ext cx="2524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RMSE・MAEは小さいほど良好。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R²・調整済みR²は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大きいほど良好です。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8B38BF9-06F8-4B96-9AA0-943E72903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0480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pPr>
            <a:r>
              <a: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rPr>
              <a:t>02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694A02A-8C3A-4F8D-883F-DD6628A1E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48000"/>
            <a:ext cx="252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集計を選ぶ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42834DE-666B-40A4-B47B-B5EE7F1EA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38525"/>
            <a:ext cx="2524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平均・中央値・ワースト値・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95%値でWafer間の結果を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確認します。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919D2D8-119F-4286-9E3D-C5082C3CC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5720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pPr>
            <a:r>
              <a: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rPr>
              <a:t>03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4189C9C-3DEC-4747-B873-2C8B569F1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572000"/>
            <a:ext cx="252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同じ列で比較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F48A591-E203-4DA3-9AEA-919C33843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62525"/>
            <a:ext cx="2524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各列の最良に★が付きます。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学習Shot数をそろえた列で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手法を比べます。</a:t>
            </a:r>
          </a:p>
        </p:txBody>
      </p:sp>
    </p:spTree>
    <p:extLst>
      <p:ext uri="{BB962C8B-B14F-4D97-AF65-F5344CB8AC3E}">
        <p14:creationId xmlns:p14="http://schemas.microsoft.com/office/powerpoint/2010/main" val="182474196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91D5CEDB-AE13-4917-9D3C-70A6EF18F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04　結果の確認</a:t>
            </a:r>
            <a:endParaRPr sz="12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AA1B29C3-000F-4D2C-BB0C-C28FCA303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6928"/>
            <a:ext cx="11094415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 marL="0" indent="0">
              <a:buNone/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学習Shot数と誤差の関係</a:t>
            </a:r>
            <a:endParaRPr sz="2800"/>
          </a:p>
        </p:txBody>
      </p:sp>
      <p:sp>
        <p:nvSpPr>
          <p:cNvPr id="35" name="Text 29">
            <a:extLst xmlns:a="http://schemas.openxmlformats.org/drawingml/2006/main">
              <a:ext uri="{FF2B5EF4-FFF2-40B4-BE49-F238E27FC236}">
                <a16:creationId xmlns:a16="http://schemas.microsoft.com/office/drawing/2014/main" id="{C9655AAC-34FA-4582-8DF0-8C33CE95B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73952"/>
            <a:ext cx="365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アライメント計測ツール　操作手順</a:t>
            </a:r>
            <a:endParaRPr sz="900"/>
          </a:p>
        </p:txBody>
      </p:sp>
      <p:sp>
        <p:nvSpPr>
          <p:cNvPr id="36" name="Text 30">
            <a:extLst xmlns:a="http://schemas.openxmlformats.org/drawingml/2006/main">
              <a:ext uri="{FF2B5EF4-FFF2-40B4-BE49-F238E27FC236}">
                <a16:creationId xmlns:a16="http://schemas.microsoft.com/office/drawing/2014/main" id="{8F531DCF-DA39-4BDD-97D7-1FBC6AE47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8655" y="6473952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24</a:t>
            </a:r>
            <a:endParaRPr sz="1000"/>
          </a:p>
        </p:txBody>
      </p:sp>
      <p:pic>
        <p:nvPic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DCDFA07-1A3D-4D1A-B6BE-D706C843D0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4f59db7b684cb3"/>
          <a:stretch xmlns:a="http://schemas.openxmlformats.org/drawingml/2006/main"/>
        </p:blipFill>
        <p:spPr>
          <a:xfrm xmlns:a="http://schemas.openxmlformats.org/drawingml/2006/main">
            <a:off x="552450" y="1383506"/>
            <a:ext cx="7810500" cy="4881562"/>
          </a:xfrm>
          <a:prstGeom xmlns:a="http://schemas.openxmlformats.org/drawingml/2006/main" prst="rect">
            <a:avLst/>
          </a:prstGeom>
        </p:spPr>
      </p:pic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A76DC7E-17BE-4DC8-9418-A93760AFD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6463" y="20263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13335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defPPr>
            <a:lvl1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1pPr>
            <a:lvl2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2pPr>
            <a:lvl3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3pPr>
            <a:lvl4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4pPr>
            <a:lvl5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5pPr>
            <a:lvl6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6pPr>
            <a:lvl7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7pPr>
            <a:lvl8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8pPr>
            <a:lvl9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1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2B78C8D-19E9-4E23-BAB3-8C56B7B12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3288" y="27146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13335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defPPr>
            <a:lvl1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1pPr>
            <a:lvl2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2pPr>
            <a:lvl3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3pPr>
            <a:lvl4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4pPr>
            <a:lvl5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5pPr>
            <a:lvl6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6pPr>
            <a:lvl7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7pPr>
            <a:lvl8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8pPr>
            <a:lvl9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A27C707-3B33-4BED-AC2F-981DD9FB0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6194" y="2006798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13335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defPPr>
            <a:lvl1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1pPr>
            <a:lvl2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2pPr>
            <a:lvl3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3pPr>
            <a:lvl4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4pPr>
            <a:lvl5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5pPr>
            <a:lvl6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6pPr>
            <a:lvl7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7pPr>
            <a:lvl8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8pPr>
            <a:lvl9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BCDC664-17A1-48E1-BE9C-546A12D54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5240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pPr>
            <a:r>
              <a: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rPr>
              <a:t>01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AF84D2D-0291-4B56-9870-CD201CC9C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524000"/>
            <a:ext cx="252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横軸を選ぶ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6FAF81D-D0E4-4EDA-B591-F2BCC52FF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14525"/>
            <a:ext cx="2524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「学習 Shot 数」を選びます。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Shot数を増やしたときの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誤差の変化を確認します。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C5BDB04-FD76-4877-8E20-2BFA41CD0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0480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pPr>
            <a:r>
              <a: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rPr>
              <a:t>02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FED4637-D90C-4CD9-8BB9-11823FE5A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48000"/>
            <a:ext cx="252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手法を絞る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D6ABFEB-C1C0-466F-9294-F514DA677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38525"/>
            <a:ext cx="2524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右の一覧から表示する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手法を選びます。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複数選択して比較できます。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FF77B54-61B6-495E-A4DE-B7F3E4B99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5720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pPr>
            <a:r>
              <a: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rPr>
              <a:t>03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ED8F1F2-7BCC-41D6-A37F-816F2BCD5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572000"/>
            <a:ext cx="252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エラーバー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3290FB1-562B-4396-AA81-D9E15883D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62525"/>
            <a:ext cx="2524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±1σ（Wafer間）または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95%区間を選ぶと、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ばらつきを重ねて描きます。</a:t>
            </a:r>
          </a:p>
        </p:txBody>
      </p:sp>
    </p:spTree>
    <p:extLst>
      <p:ext uri="{BB962C8B-B14F-4D97-AF65-F5344CB8AC3E}">
        <p14:creationId xmlns:p14="http://schemas.microsoft.com/office/powerpoint/2010/main" val="182474196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91D5CEDB-AE13-4917-9D3C-70A6EF18F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04　結果の確認</a:t>
            </a:r>
            <a:endParaRPr sz="12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AA1B29C3-000F-4D2C-BB0C-C28FCA303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6928"/>
            <a:ext cx="11094415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 marL="0" indent="0">
              <a:buNone/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I基準・D基準と推定誤差</a:t>
            </a:r>
            <a:endParaRPr sz="2800"/>
          </a:p>
        </p:txBody>
      </p:sp>
      <p:sp>
        <p:nvSpPr>
          <p:cNvPr id="35" name="Text 29">
            <a:extLst xmlns:a="http://schemas.openxmlformats.org/drawingml/2006/main">
              <a:ext uri="{FF2B5EF4-FFF2-40B4-BE49-F238E27FC236}">
                <a16:creationId xmlns:a16="http://schemas.microsoft.com/office/drawing/2014/main" id="{C9655AAC-34FA-4582-8DF0-8C33CE95B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73952"/>
            <a:ext cx="365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アライメント計測ツール　操作手順</a:t>
            </a:r>
            <a:endParaRPr sz="900"/>
          </a:p>
        </p:txBody>
      </p:sp>
      <p:sp>
        <p:nvSpPr>
          <p:cNvPr id="36" name="Text 30">
            <a:extLst xmlns:a="http://schemas.openxmlformats.org/drawingml/2006/main">
              <a:ext uri="{FF2B5EF4-FFF2-40B4-BE49-F238E27FC236}">
                <a16:creationId xmlns:a16="http://schemas.microsoft.com/office/drawing/2014/main" id="{8F531DCF-DA39-4BDD-97D7-1FBC6AE47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8655" y="6473952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25</a:t>
            </a:r>
            <a:endParaRPr sz="1000"/>
          </a:p>
        </p:txBody>
      </p:sp>
      <p:pic>
        <p:nvPic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E135C66-AD16-43D4-945F-90549DE4F97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eff75b5dd34344"/>
          <a:stretch xmlns:a="http://schemas.openxmlformats.org/drawingml/2006/main"/>
        </p:blipFill>
        <p:spPr>
          <a:xfrm xmlns:a="http://schemas.openxmlformats.org/drawingml/2006/main">
            <a:off x="552450" y="1383506"/>
            <a:ext cx="7810500" cy="4881562"/>
          </a:xfrm>
          <a:prstGeom xmlns:a="http://schemas.openxmlformats.org/drawingml/2006/main" prst="rect">
            <a:avLst/>
          </a:prstGeom>
        </p:spPr>
      </p:pic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952753A-27BF-41F5-97EB-D9E7AB8DC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6133" y="20263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13335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defPPr>
            <a:lvl1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1pPr>
            <a:lvl2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2pPr>
            <a:lvl3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3pPr>
            <a:lvl4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4pPr>
            <a:lvl5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5pPr>
            <a:lvl6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6pPr>
            <a:lvl7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7pPr>
            <a:lvl8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8pPr>
            <a:lvl9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1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2FD126A-E51E-428C-A31D-32CE9B143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3578" y="201168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13335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defPPr>
            <a:lvl1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1pPr>
            <a:lvl2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2pPr>
            <a:lvl3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3pPr>
            <a:lvl4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4pPr>
            <a:lvl5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5pPr>
            <a:lvl6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6pPr>
            <a:lvl7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7pPr>
            <a:lvl8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8pPr>
            <a:lvl9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B3853A2-3079-4FE6-ADB5-1358E7CC1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6328" y="4081463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13335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defPPr>
            <a:lvl1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1pPr>
            <a:lvl2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2pPr>
            <a:lvl3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3pPr>
            <a:lvl4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4pPr>
            <a:lvl5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5pPr>
            <a:lvl6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6pPr>
            <a:lvl7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7pPr>
            <a:lvl8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8pPr>
            <a:lvl9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B9171BB-74A7-4B16-B9A6-231C18B9A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5240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pPr>
            <a:r>
              <a: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rPr>
              <a:t>01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8FD1D14-4C52-4680-AEAD-D5E1C3D4B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524000"/>
            <a:ext cx="252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I基準・D基準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05C9C02-F65C-427F-AAD0-95A639AE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14525"/>
            <a:ext cx="2524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グラフの横軸を切り替えると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2つの図が並びます。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A7C3818-6500-4C44-AD66-4C84D3252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0480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pPr>
            <a:r>
              <a: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rPr>
              <a:t>02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29952A4-AA69-4376-8263-FD80F5C56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48000"/>
            <a:ext cx="252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Waferの点も確認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656702C-B282-4422-8A8B-8D36C2A43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38525"/>
            <a:ext cx="2524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「Wafer ごとの点も描く」で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個別Waferのばらつきを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重ねて確認できます。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C02D735-F174-4AC8-B797-1F5783CE9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5720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pPr>
            <a:r>
              <a: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rPr>
              <a:t>03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4BC4339-2E93-4A26-8FA6-6CAB3C615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572000"/>
            <a:ext cx="252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計画と誤差を照合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BA8A350-08FE-4B63-89AB-8F17265EE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62525"/>
            <a:ext cx="2524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I・D基準は小さいほど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良い計画です。実際の誤差も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合わせて確認します。</a:t>
            </a:r>
          </a:p>
        </p:txBody>
      </p:sp>
    </p:spTree>
    <p:extLst>
      <p:ext uri="{BB962C8B-B14F-4D97-AF65-F5344CB8AC3E}">
        <p14:creationId xmlns:p14="http://schemas.microsoft.com/office/powerpoint/2010/main" val="182474196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91D5CEDB-AE13-4917-9D3C-70A6EF18F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04　結果の確認</a:t>
            </a:r>
            <a:endParaRPr sz="12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AA1B29C3-000F-4D2C-BB0C-C28FCA303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6928"/>
            <a:ext cx="11094415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 marL="0" indent="0">
              <a:buNone/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基準の手法との比較</a:t>
            </a:r>
            <a:endParaRPr sz="2800"/>
          </a:p>
        </p:txBody>
      </p:sp>
      <p:sp>
        <p:nvSpPr>
          <p:cNvPr id="35" name="Text 29">
            <a:extLst xmlns:a="http://schemas.openxmlformats.org/drawingml/2006/main">
              <a:ext uri="{FF2B5EF4-FFF2-40B4-BE49-F238E27FC236}">
                <a16:creationId xmlns:a16="http://schemas.microsoft.com/office/drawing/2014/main" id="{C9655AAC-34FA-4582-8DF0-8C33CE95B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73952"/>
            <a:ext cx="365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アライメント計測ツール　操作手順</a:t>
            </a:r>
            <a:endParaRPr sz="900"/>
          </a:p>
        </p:txBody>
      </p:sp>
      <p:sp>
        <p:nvSpPr>
          <p:cNvPr id="36" name="Text 30">
            <a:extLst xmlns:a="http://schemas.openxmlformats.org/drawingml/2006/main">
              <a:ext uri="{FF2B5EF4-FFF2-40B4-BE49-F238E27FC236}">
                <a16:creationId xmlns:a16="http://schemas.microsoft.com/office/drawing/2014/main" id="{8F531DCF-DA39-4BDD-97D7-1FBC6AE47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8655" y="6473952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26</a:t>
            </a:r>
            <a:endParaRPr sz="1000"/>
          </a:p>
        </p:txBody>
      </p:sp>
      <p:pic>
        <p:nvPic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2435E32-24DA-49AD-A983-F15C3D30D67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46ca9151274911"/>
          <a:stretch xmlns:a="http://schemas.openxmlformats.org/drawingml/2006/main"/>
        </p:blipFill>
        <p:spPr>
          <a:xfrm xmlns:a="http://schemas.openxmlformats.org/drawingml/2006/main">
            <a:off x="552450" y="1950315"/>
            <a:ext cx="7667625" cy="3719370"/>
          </a:xfrm>
          <a:prstGeom xmlns:a="http://schemas.openxmlformats.org/drawingml/2006/main" prst="rect">
            <a:avLst/>
          </a:prstGeom>
        </p:spPr>
      </p:pic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BE82933-F7FD-4029-BE62-145067CD8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5397" y="2120237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13335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defPPr>
            <a:lvl1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1pPr>
            <a:lvl2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2pPr>
            <a:lvl3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3pPr>
            <a:lvl4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4pPr>
            <a:lvl5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5pPr>
            <a:lvl6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6pPr>
            <a:lvl7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7pPr>
            <a:lvl8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8pPr>
            <a:lvl9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1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19080F3-1071-4639-8D0E-78D6808FB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6006" y="2314788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13335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defPPr>
            <a:lvl1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1pPr>
            <a:lvl2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2pPr>
            <a:lvl3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3pPr>
            <a:lvl4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4pPr>
            <a:lvl5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5pPr>
            <a:lvl6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6pPr>
            <a:lvl7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7pPr>
            <a:lvl8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8pPr>
            <a:lvl9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FCC034F-9BDC-4458-A3FA-5E45CBB51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7060" y="2932776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13335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defPPr>
            <a:lvl1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1pPr>
            <a:lvl2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2pPr>
            <a:lvl3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3pPr>
            <a:lvl4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4pPr>
            <a:lvl5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5pPr>
            <a:lvl6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6pPr>
            <a:lvl7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7pPr>
            <a:lvl8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8pPr>
            <a:lvl9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3A97A4D-52DA-4BFF-9100-A169217DB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5240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pPr>
            <a:r>
              <a: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rPr>
              <a:t>01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D849648-55B7-4351-B0E2-E65F15666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524000"/>
            <a:ext cx="252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基準の手法を指定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E3DE168-094A-41AF-97AF-02BF6DDAC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14525"/>
            <a:ext cx="2524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上の欄で比較相手を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選びます。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207D131-E0C2-40AF-9E7E-DBF66136E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0480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pPr>
            <a:r>
              <a: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rPr>
              <a:t>02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051A6AD-635D-4885-A1FE-3AB7A2F4A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48000"/>
            <a:ext cx="252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比較タブを開く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307E0FE-1423-4302-B02B-E118A8955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38525"/>
            <a:ext cx="2524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「基準の手法との比較」で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同じWafer・学習パターンの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差を確認します。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B8344A4-AB1B-4E69-8A07-328C14B9A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5720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pPr>
            <a:r>
              <a: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rPr>
              <a:t>03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688F654-627C-4ACD-8EDB-595564EA1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572000"/>
            <a:ext cx="252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差とばらつきを確認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A7A8A85-43D8-41A0-B820-1EE65FC53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62525"/>
            <a:ext cx="2524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95%区間と、基準より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良かったWaferの割合も見ます。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画面の差の向きの説明を確認。</a:t>
            </a:r>
          </a:p>
        </p:txBody>
      </p:sp>
    </p:spTree>
    <p:extLst>
      <p:ext uri="{BB962C8B-B14F-4D97-AF65-F5344CB8AC3E}">
        <p14:creationId xmlns:p14="http://schemas.microsoft.com/office/powerpoint/2010/main" val="182474196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91D5CEDB-AE13-4917-9D3C-70A6EF18F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04　結果の確認</a:t>
            </a:r>
            <a:endParaRPr sz="12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AA1B29C3-000F-4D2C-BB0C-C28FCA303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6928"/>
            <a:ext cx="11094415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 marL="0" indent="0">
              <a:buNone/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推定値と誤差の分布</a:t>
            </a:r>
            <a:endParaRPr sz="2800"/>
          </a:p>
        </p:txBody>
      </p:sp>
      <p:sp>
        <p:nvSpPr>
          <p:cNvPr id="35" name="Text 29">
            <a:extLst xmlns:a="http://schemas.openxmlformats.org/drawingml/2006/main">
              <a:ext uri="{FF2B5EF4-FFF2-40B4-BE49-F238E27FC236}">
                <a16:creationId xmlns:a16="http://schemas.microsoft.com/office/drawing/2014/main" id="{C9655AAC-34FA-4582-8DF0-8C33CE95B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73952"/>
            <a:ext cx="365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アライメント計測ツール　操作手順</a:t>
            </a:r>
            <a:endParaRPr sz="900"/>
          </a:p>
        </p:txBody>
      </p:sp>
      <p:sp>
        <p:nvSpPr>
          <p:cNvPr id="36" name="Text 30">
            <a:extLst xmlns:a="http://schemas.openxmlformats.org/drawingml/2006/main">
              <a:ext uri="{FF2B5EF4-FFF2-40B4-BE49-F238E27FC236}">
                <a16:creationId xmlns:a16="http://schemas.microsoft.com/office/drawing/2014/main" id="{8F531DCF-DA39-4BDD-97D7-1FBC6AE47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8655" y="6473952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27</a:t>
            </a:r>
            <a:endParaRPr sz="1000"/>
          </a:p>
        </p:txBody>
      </p:sp>
      <p:pic>
        <p:nvPic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14F36B5-8C51-41D7-908F-F8988A42262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320ce6e9044068"/>
          <a:stretch xmlns:a="http://schemas.openxmlformats.org/drawingml/2006/main"/>
        </p:blipFill>
        <p:spPr>
          <a:xfrm xmlns:a="http://schemas.openxmlformats.org/drawingml/2006/main">
            <a:off x="552450" y="1383506"/>
            <a:ext cx="7810500" cy="4881562"/>
          </a:xfrm>
          <a:prstGeom xmlns:a="http://schemas.openxmlformats.org/drawingml/2006/main" prst="rect">
            <a:avLst/>
          </a:prstGeom>
        </p:spPr>
      </p:pic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DE3D9B4-A215-49A5-81A2-CD865BCF5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128838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13335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defPPr>
            <a:lvl1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1pPr>
            <a:lvl2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2pPr>
            <a:lvl3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3pPr>
            <a:lvl4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4pPr>
            <a:lvl5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5pPr>
            <a:lvl6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6pPr>
            <a:lvl7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7pPr>
            <a:lvl8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8pPr>
            <a:lvl9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1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47648F3-E0A8-4FC6-AE22-30E0055FF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255" y="2143482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13335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defPPr>
            <a:lvl1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1pPr>
            <a:lvl2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2pPr>
            <a:lvl3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3pPr>
            <a:lvl4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4pPr>
            <a:lvl5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5pPr>
            <a:lvl6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6pPr>
            <a:lvl7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7pPr>
            <a:lvl8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8pPr>
            <a:lvl9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F71F113-ADAC-4F14-9115-71229274C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9881" y="42767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13335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defPPr>
            <a:lvl1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1pPr>
            <a:lvl2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2pPr>
            <a:lvl3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3pPr>
            <a:lvl4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4pPr>
            <a:lvl5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5pPr>
            <a:lvl6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6pPr>
            <a:lvl7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7pPr>
            <a:lvl8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8pPr>
            <a:lvl9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C0F27DB-008D-47D9-8945-1E9224C6C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5240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pPr>
            <a:r>
              <a: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rPr>
              <a:t>01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3C48F42-9D1E-4A02-9731-23561019F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524000"/>
            <a:ext cx="252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分析対象を選ぶ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D24794A-B64B-4C0C-96AA-E4335C03E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14525"/>
            <a:ext cx="2524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手法・学習パターン・Waferを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選びます。Waferはすべて、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または1枚に絞れます。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D13DBD7-073B-45F6-88E7-72486EDCE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0480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pPr>
            <a:r>
              <a: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rPr>
              <a:t>02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3A11A60-C6DA-493A-BCEE-B6C7554F2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48000"/>
            <a:ext cx="252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分析する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A2BB641-567E-483B-8130-02E27F12E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38525"/>
            <a:ext cx="2524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残差のヒストグラムと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検定結果を表示します。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残差＝計測値−推定値です。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1C58344-68DF-45BE-AA70-02D9302C3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5720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pPr>
            <a:r>
              <a: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rPr>
              <a:t>03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FF414B5-BE07-47B3-826F-655F2D686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572000"/>
            <a:ext cx="252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形と偏りを確認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9EDE8D0-95BF-4EBE-A8D5-0A37481BB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62525"/>
            <a:ext cx="2524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正規性検定とANOVAを確認。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p値だけで判断せず、分布や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水準ごとの平均差も見ます。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F2AAE03-B1F9-4EEF-8693-EDAAF8384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>
                <a:solidFill>
                  <a:srgbClr val="55566C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125" b="0">
                <a:solidFill>
                  <a:srgbClr val="55566C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125" b="0">
                <a:solidFill>
                  <a:srgbClr val="55566C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125" b="0">
                <a:solidFill>
                  <a:srgbClr val="55566C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125" b="0">
                <a:solidFill>
                  <a:srgbClr val="55566C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125" b="0">
                <a:solidFill>
                  <a:srgbClr val="55566C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125" b="0">
                <a:solidFill>
                  <a:srgbClr val="55566C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125" b="0">
                <a:solidFill>
                  <a:srgbClr val="55566C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125" b="0">
                <a:solidFill>
                  <a:srgbClr val="55566C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125" b="0">
                <a:solidFill>
                  <a:srgbClr val="55566C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5566C"/>
                </a:solidFill>
                <a:latin typeface="BIZ UDGothic"/>
                <a:ea typeface="BIZ UDGothic"/>
                <a:cs typeface="BIZ UDGothic"/>
              </a:defRPr>
            </a:pPr>
            <a:r>
              <a:rPr sz="1125" b="0">
                <a:solidFill>
                  <a:srgbClr val="55566C"/>
                </a:solidFill>
                <a:latin typeface="BIZ UDGothic"/>
                <a:ea typeface="BIZ UDGothic"/>
                <a:cs typeface="BIZ UDGothic"/>
              </a:rPr>
              <a:t>評価点は、学習に使わなかったShotの有効なMarkです。</a:t>
            </a:r>
          </a:p>
        </p:txBody>
      </p:sp>
    </p:spTree>
    <p:extLst>
      <p:ext uri="{BB962C8B-B14F-4D97-AF65-F5344CB8AC3E}">
        <p14:creationId xmlns:p14="http://schemas.microsoft.com/office/powerpoint/2010/main" val="182474196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91D5CEDB-AE13-4917-9D3C-70A6EF18F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04　結果の確認</a:t>
            </a:r>
            <a:endParaRPr sz="12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AA1B29C3-000F-4D2C-BB0C-C28FCA303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6928"/>
            <a:ext cx="11094415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 marL="0" indent="0">
              <a:buNone/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推定値と実測値の散布図</a:t>
            </a:r>
            <a:endParaRPr sz="2800"/>
          </a:p>
        </p:txBody>
      </p:sp>
      <p:sp>
        <p:nvSpPr>
          <p:cNvPr id="35" name="Text 29">
            <a:extLst xmlns:a="http://schemas.openxmlformats.org/drawingml/2006/main">
              <a:ext uri="{FF2B5EF4-FFF2-40B4-BE49-F238E27FC236}">
                <a16:creationId xmlns:a16="http://schemas.microsoft.com/office/drawing/2014/main" id="{C9655AAC-34FA-4582-8DF0-8C33CE95B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73952"/>
            <a:ext cx="365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アライメント計測ツール　操作手順</a:t>
            </a:r>
            <a:endParaRPr sz="900"/>
          </a:p>
        </p:txBody>
      </p:sp>
      <p:sp>
        <p:nvSpPr>
          <p:cNvPr id="36" name="Text 30">
            <a:extLst xmlns:a="http://schemas.openxmlformats.org/drawingml/2006/main">
              <a:ext uri="{FF2B5EF4-FFF2-40B4-BE49-F238E27FC236}">
                <a16:creationId xmlns:a16="http://schemas.microsoft.com/office/drawing/2014/main" id="{8F531DCF-DA39-4BDD-97D7-1FBC6AE47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8655" y="6473952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28</a:t>
            </a:r>
            <a:endParaRPr sz="1000"/>
          </a:p>
        </p:txBody>
      </p:sp>
      <p:pic>
        <p:nvPic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779CB22-194F-4601-BC67-956F78D757B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1fa133c7074aa7"/>
          <a:stretch xmlns:a="http://schemas.openxmlformats.org/drawingml/2006/main"/>
        </p:blipFill>
        <p:spPr>
          <a:xfrm xmlns:a="http://schemas.openxmlformats.org/drawingml/2006/main">
            <a:off x="552450" y="1383506"/>
            <a:ext cx="7810500" cy="4881562"/>
          </a:xfrm>
          <a:prstGeom xmlns:a="http://schemas.openxmlformats.org/drawingml/2006/main" prst="rect">
            <a:avLst/>
          </a:prstGeom>
        </p:spPr>
      </p:pic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CB16F4C-A435-4957-B2CE-73ECD92CC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6194" y="2148364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13335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defPPr>
            <a:lvl1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1pPr>
            <a:lvl2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2pPr>
            <a:lvl3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3pPr>
            <a:lvl4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4pPr>
            <a:lvl5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5pPr>
            <a:lvl6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6pPr>
            <a:lvl7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7pPr>
            <a:lvl8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8pPr>
            <a:lvl9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1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3747465-3976-4AC6-9462-3B0911797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6181" y="2148364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13335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defPPr>
            <a:lvl1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1pPr>
            <a:lvl2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2pPr>
            <a:lvl3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3pPr>
            <a:lvl4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4pPr>
            <a:lvl5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5pPr>
            <a:lvl6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6pPr>
            <a:lvl7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7pPr>
            <a:lvl8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8pPr>
            <a:lvl9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8FB7905-7865-4F9B-8686-0011B4EF9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781" y="27146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13335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defPPr>
            <a:lvl1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1pPr>
            <a:lvl2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2pPr>
            <a:lvl3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3pPr>
            <a:lvl4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4pPr>
            <a:lvl5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5pPr>
            <a:lvl6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6pPr>
            <a:lvl7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7pPr>
            <a:lvl8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8pPr>
            <a:lvl9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5F2F17E-CC50-4435-A264-8C9A1A018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5240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pPr>
            <a:r>
              <a: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rPr>
              <a:t>01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048F434-44F1-4518-867C-7157B1B86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524000"/>
            <a:ext cx="252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対象を選ぶ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DF78C43-BF07-4C1C-AE7B-3701070E3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14525"/>
            <a:ext cx="2524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「散布図」で手法・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学習パターン・Waferを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選びます。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7CA10F1-A54B-4D63-9191-5AF3A389E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0480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pPr>
            <a:r>
              <a: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rPr>
              <a:t>02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EFC59F3-77DF-4BDB-A293-807748D92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48000"/>
            <a:ext cx="252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色分けを選ぶ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7CC8F74-49B6-48D6-9393-9F9E59DA4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38525"/>
            <a:ext cx="2524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LotID・EqpId・Operation・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Scan・Mark・その他の列で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色分けできます。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51DC782-090F-4475-9458-1C126E9A5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5720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pPr>
            <a:r>
              <a: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rPr>
              <a:t>03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52CF230-A02D-45E3-8E2B-0CC2E1D0C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572000"/>
            <a:ext cx="252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傾きと偏りを確認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D62A5A9-2A94-48B4-B0DC-1A4F4D6E2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62525"/>
            <a:ext cx="2524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対角線から外れる点や、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色ごとの偏りを確認。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傾きと決定係数も出ます。</a:t>
            </a:r>
          </a:p>
        </p:txBody>
      </p:sp>
    </p:spTree>
    <p:extLst>
      <p:ext uri="{BB962C8B-B14F-4D97-AF65-F5344CB8AC3E}">
        <p14:creationId xmlns:p14="http://schemas.microsoft.com/office/powerpoint/2010/main" val="182474196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91D5CEDB-AE13-4917-9D3C-70A6EF18F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05　Waferごとの確認</a:t>
            </a:r>
            <a:endParaRPr sz="12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AA1B29C3-000F-4D2C-BB0C-C28FCA303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6928"/>
            <a:ext cx="11094415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 marL="0" indent="0">
              <a:buNone/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計測値・推定値・残差のマップ</a:t>
            </a:r>
            <a:endParaRPr sz="2800"/>
          </a:p>
        </p:txBody>
      </p:sp>
      <p:sp>
        <p:nvSpPr>
          <p:cNvPr id="35" name="Text 29">
            <a:extLst xmlns:a="http://schemas.openxmlformats.org/drawingml/2006/main">
              <a:ext uri="{FF2B5EF4-FFF2-40B4-BE49-F238E27FC236}">
                <a16:creationId xmlns:a16="http://schemas.microsoft.com/office/drawing/2014/main" id="{C9655AAC-34FA-4582-8DF0-8C33CE95B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73952"/>
            <a:ext cx="365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アライメント計測ツール　操作手順</a:t>
            </a:r>
            <a:endParaRPr sz="900"/>
          </a:p>
        </p:txBody>
      </p:sp>
      <p:sp>
        <p:nvSpPr>
          <p:cNvPr id="36" name="Text 30">
            <a:extLst xmlns:a="http://schemas.openxmlformats.org/drawingml/2006/main">
              <a:ext uri="{FF2B5EF4-FFF2-40B4-BE49-F238E27FC236}">
                <a16:creationId xmlns:a16="http://schemas.microsoft.com/office/drawing/2014/main" id="{8F531DCF-DA39-4BDD-97D7-1FBC6AE47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8655" y="6473952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29</a:t>
            </a:r>
            <a:endParaRPr sz="1000"/>
          </a:p>
        </p:txBody>
      </p:sp>
      <p:pic>
        <p:nvPic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FA69EFE-A19A-4F10-AF26-17DB6D8C40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c1dc3bd1ba4d2c"/>
          <a:stretch xmlns:a="http://schemas.openxmlformats.org/drawingml/2006/main"/>
        </p:blipFill>
        <p:spPr>
          <a:xfrm xmlns:a="http://schemas.openxmlformats.org/drawingml/2006/main">
            <a:off x="552450" y="1383506"/>
            <a:ext cx="7810500" cy="4881562"/>
          </a:xfrm>
          <a:prstGeom xmlns:a="http://schemas.openxmlformats.org/drawingml/2006/main" prst="rect">
            <a:avLst/>
          </a:prstGeom>
        </p:spPr>
      </p:pic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360BE82-8696-4D34-A29D-F7FFB166F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4753" y="176272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13335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defPPr>
            <a:lvl1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1pPr>
            <a:lvl2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2pPr>
            <a:lvl3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3pPr>
            <a:lvl4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4pPr>
            <a:lvl5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5pPr>
            <a:lvl6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6pPr>
            <a:lvl7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7pPr>
            <a:lvl8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8pPr>
            <a:lvl9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1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7D8CE28-77DF-4481-A4F9-4A47B8E95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7109" y="176272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13335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defPPr>
            <a:lvl1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1pPr>
            <a:lvl2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2pPr>
            <a:lvl3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3pPr>
            <a:lvl4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4pPr>
            <a:lvl5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5pPr>
            <a:lvl6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6pPr>
            <a:lvl7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7pPr>
            <a:lvl8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8pPr>
            <a:lvl9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8422A97-CB14-4F3E-8E0B-C5ACDB44F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7366" y="176272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13335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defPPr>
            <a:lvl1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1pPr>
            <a:lvl2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2pPr>
            <a:lvl3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3pPr>
            <a:lvl4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4pPr>
            <a:lvl5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5pPr>
            <a:lvl6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6pPr>
            <a:lvl7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7pPr>
            <a:lvl8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8pPr>
            <a:lvl9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FADFD44-604E-417E-B1CF-44CE7DC50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5240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pPr>
            <a:r>
              <a: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rPr>
              <a:t>01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C250C8A-42F4-475A-85E8-3865E4401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524000"/>
            <a:ext cx="252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対象を選ぶ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9FD8C12-2B12-4EE4-A4EB-093885749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14525"/>
            <a:ext cx="2524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Wafer・学習パターン・手法を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選びます。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DFD2C7D-065D-4CE8-A5E6-60C912480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0480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pPr>
            <a:r>
              <a: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rPr>
              <a:t>02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9E952CF-BCD3-42EB-8837-C7711ACD9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48000"/>
            <a:ext cx="252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表示を切り替える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BD314BF-44A8-44D6-B7E7-DCD6300A9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38525"/>
            <a:ext cx="2524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ベクトル、Xの色、Yの色を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切り替え、残差が大きい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位置を確認します。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5A33538-D807-4B4E-9B23-77B20BC4E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5720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pPr>
            <a:r>
              <a: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rPr>
              <a:t>03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576D359-DD48-40EE-8866-061114E7A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572000"/>
            <a:ext cx="252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見え方と保存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BEC9077-5F00-4F5F-965D-CE5CD50CE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62525"/>
            <a:ext cx="2524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点の大きさ・矢印の倍率・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Shot枠を調整し、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「図を画像で保存…」で保存。</a:t>
            </a:r>
          </a:p>
        </p:txBody>
      </p:sp>
    </p:spTree>
    <p:extLst>
      <p:ext uri="{BB962C8B-B14F-4D97-AF65-F5344CB8AC3E}">
        <p14:creationId xmlns:p14="http://schemas.microsoft.com/office/powerpoint/2010/main" val="182474196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91D5CEDB-AE13-4917-9D3C-70A6EF18F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05　Waferごとの確認</a:t>
            </a:r>
            <a:endParaRPr sz="12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AA1B29C3-000F-4D2C-BB0C-C28FCA303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6928"/>
            <a:ext cx="11094415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 marL="0" indent="0">
              <a:buNone/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Overlay補正後の残差と変化</a:t>
            </a:r>
            <a:endParaRPr sz="2800"/>
          </a:p>
        </p:txBody>
      </p:sp>
      <p:sp>
        <p:nvSpPr>
          <p:cNvPr id="35" name="Text 29">
            <a:extLst xmlns:a="http://schemas.openxmlformats.org/drawingml/2006/main">
              <a:ext uri="{FF2B5EF4-FFF2-40B4-BE49-F238E27FC236}">
                <a16:creationId xmlns:a16="http://schemas.microsoft.com/office/drawing/2014/main" id="{C9655AAC-34FA-4582-8DF0-8C33CE95B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73952"/>
            <a:ext cx="365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アライメント計測ツール　操作手順</a:t>
            </a:r>
            <a:endParaRPr sz="900"/>
          </a:p>
        </p:txBody>
      </p:sp>
      <p:sp>
        <p:nvSpPr>
          <p:cNvPr id="36" name="Text 30">
            <a:extLst xmlns:a="http://schemas.openxmlformats.org/drawingml/2006/main">
              <a:ext uri="{FF2B5EF4-FFF2-40B4-BE49-F238E27FC236}">
                <a16:creationId xmlns:a16="http://schemas.microsoft.com/office/drawing/2014/main" id="{8F531DCF-DA39-4BDD-97D7-1FBC6AE47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8655" y="6473952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30</a:t>
            </a:r>
            <a:endParaRPr sz="1000"/>
          </a:p>
        </p:txBody>
      </p:sp>
      <p:pic>
        <p:nvPic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AF75E18-7F03-4506-AFE6-A474BBE8492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f820d238854d37"/>
          <a:stretch xmlns:a="http://schemas.openxmlformats.org/drawingml/2006/main"/>
        </p:blipFill>
        <p:spPr>
          <a:xfrm xmlns:a="http://schemas.openxmlformats.org/drawingml/2006/main">
            <a:off x="552450" y="1383506"/>
            <a:ext cx="7810500" cy="4881562"/>
          </a:xfrm>
          <a:prstGeom xmlns:a="http://schemas.openxmlformats.org/drawingml/2006/main" prst="rect">
            <a:avLst/>
          </a:prstGeom>
        </p:spPr>
      </p:pic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A9FF59B-8DBC-46B3-8089-AF4A6F21D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1981" y="176272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13335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defPPr>
            <a:lvl1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1pPr>
            <a:lvl2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2pPr>
            <a:lvl3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3pPr>
            <a:lvl4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4pPr>
            <a:lvl5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5pPr>
            <a:lvl6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6pPr>
            <a:lvl7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7pPr>
            <a:lvl8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8pPr>
            <a:lvl9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1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945488C-085B-44BF-9B1A-BEA0CD22C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9881" y="3983831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13335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defPPr>
            <a:lvl1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1pPr>
            <a:lvl2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2pPr>
            <a:lvl3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3pPr>
            <a:lvl4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4pPr>
            <a:lvl5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5pPr>
            <a:lvl6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6pPr>
            <a:lvl7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7pPr>
            <a:lvl8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8pPr>
            <a:lvl9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0D33A8A-B6F7-4F6E-BA3A-7AC5CE247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4606" y="3983831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13335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defPPr>
            <a:lvl1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1pPr>
            <a:lvl2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2pPr>
            <a:lvl3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3pPr>
            <a:lvl4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4pPr>
            <a:lvl5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5pPr>
            <a:lvl6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6pPr>
            <a:lvl7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7pPr>
            <a:lvl8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8pPr>
            <a:lvl9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5C10FD8-B630-4A67-9828-F9317B703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5240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pPr>
            <a:r>
              <a: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rPr>
              <a:t>01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47E7EA7-124A-46E4-BAF4-BF0B35171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524000"/>
            <a:ext cx="252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図の内容を切り替え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020B74C-A37C-44DB-98E5-2FE4AB833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14525"/>
            <a:ext cx="2524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「Overlay 補正」を選択。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評価設定で補正モデルを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有効にしたときに使えます。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06A1CB5-224D-42B8-89C8-C16631820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0480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pPr>
            <a:r>
              <a: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rPr>
              <a:t>02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A03D492-90E9-45C9-9B3A-9A4EE1BB0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48000"/>
            <a:ext cx="252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2つの残差を比較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838CDC6-B7E8-4887-92CA-DB68C3E3F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38525"/>
            <a:ext cx="2524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実測値で補正した残差と、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推定値で補正した残差を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確認します。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1B2B06D-F2A8-4D76-9FAA-F6EDAC3BE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5720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pPr>
            <a:r>
              <a: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rPr>
              <a:t>03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D713136-374C-4A48-BDCF-F6D9B176D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572000"/>
            <a:ext cx="252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推定による変化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FE4AA5C-7A33-4F34-A39B-E4F789394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62525"/>
            <a:ext cx="2524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右の図と下部の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|平均|＋3σを確認し、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推定に伴う変化を見ます。</a:t>
            </a:r>
          </a:p>
        </p:txBody>
      </p:sp>
    </p:spTree>
    <p:extLst>
      <p:ext uri="{BB962C8B-B14F-4D97-AF65-F5344CB8AC3E}">
        <p14:creationId xmlns:p14="http://schemas.microsoft.com/office/powerpoint/2010/main" val="182474196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91D5CEDB-AE13-4917-9D3C-70A6EF18F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05　Waferごとの確認</a:t>
            </a:r>
            <a:endParaRPr sz="12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AA1B29C3-000F-4D2C-BB0C-C28FCA303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6928"/>
            <a:ext cx="11094415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 marL="0" indent="0">
              <a:buNone/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複数Waferの平均の推定・残差</a:t>
            </a:r>
            <a:endParaRPr sz="2800"/>
          </a:p>
        </p:txBody>
      </p:sp>
      <p:sp>
        <p:nvSpPr>
          <p:cNvPr id="35" name="Text 29">
            <a:extLst xmlns:a="http://schemas.openxmlformats.org/drawingml/2006/main">
              <a:ext uri="{FF2B5EF4-FFF2-40B4-BE49-F238E27FC236}">
                <a16:creationId xmlns:a16="http://schemas.microsoft.com/office/drawing/2014/main" id="{C9655AAC-34FA-4582-8DF0-8C33CE95B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73952"/>
            <a:ext cx="365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アライメント計測ツール　操作手順</a:t>
            </a:r>
            <a:endParaRPr sz="900"/>
          </a:p>
        </p:txBody>
      </p:sp>
      <p:sp>
        <p:nvSpPr>
          <p:cNvPr id="36" name="Text 30">
            <a:extLst xmlns:a="http://schemas.openxmlformats.org/drawingml/2006/main">
              <a:ext uri="{FF2B5EF4-FFF2-40B4-BE49-F238E27FC236}">
                <a16:creationId xmlns:a16="http://schemas.microsoft.com/office/drawing/2014/main" id="{8F531DCF-DA39-4BDD-97D7-1FBC6AE47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8655" y="6473952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31</a:t>
            </a:r>
            <a:endParaRPr sz="1000"/>
          </a:p>
        </p:txBody>
      </p:sp>
      <p:pic>
        <p:nvPic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EAE9580-8882-4ADC-84A9-C5621EFD1C7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41d1f7de2b4f5b"/>
          <a:stretch xmlns:a="http://schemas.openxmlformats.org/drawingml/2006/main"/>
        </p:blipFill>
        <p:spPr>
          <a:xfrm xmlns:a="http://schemas.openxmlformats.org/drawingml/2006/main">
            <a:off x="552450" y="1383506"/>
            <a:ext cx="7810500" cy="4881562"/>
          </a:xfrm>
          <a:prstGeom xmlns:a="http://schemas.openxmlformats.org/drawingml/2006/main" prst="rect">
            <a:avLst/>
          </a:prstGeom>
        </p:spPr>
      </p:pic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F558CBE-8ED8-40BD-817C-B49C6FC4C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519" y="155769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13335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defPPr>
            <a:lvl1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1pPr>
            <a:lvl2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2pPr>
            <a:lvl3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3pPr>
            <a:lvl4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4pPr>
            <a:lvl5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5pPr>
            <a:lvl6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6pPr>
            <a:lvl7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7pPr>
            <a:lvl8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8pPr>
            <a:lvl9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1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5E45C07-7408-436A-A2E4-82C6EE1DD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7077" y="1543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13335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defPPr>
            <a:lvl1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1pPr>
            <a:lvl2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2pPr>
            <a:lvl3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3pPr>
            <a:lvl4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4pPr>
            <a:lvl5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5pPr>
            <a:lvl6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6pPr>
            <a:lvl7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7pPr>
            <a:lvl8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8pPr>
            <a:lvl9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0614646-ECBE-4BC2-99AB-982BCCAD5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2567" y="2612112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13335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defPPr>
            <a:lvl1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1pPr>
            <a:lvl2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2pPr>
            <a:lvl3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3pPr>
            <a:lvl4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4pPr>
            <a:lvl5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5pPr>
            <a:lvl6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6pPr>
            <a:lvl7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7pPr>
            <a:lvl8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8pPr>
            <a:lvl9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5094326-8D44-49D8-A83B-B4E6FB904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5240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pPr>
            <a:r>
              <a: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rPr>
              <a:t>01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6969555-F75F-4293-959A-D38D3AD97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524000"/>
            <a:ext cx="252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平均の対象を選ぶ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29FB325-2CF5-4279-B2FA-F6630F725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14525"/>
            <a:ext cx="2524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Waferの欄で「平均：…」を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選択。計測値・推定値・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残差をWaferで平均します。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042A5AB-7A5A-4E42-9015-9C865A582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0480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pPr>
            <a:r>
              <a: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rPr>
              <a:t>02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6956311-6295-48B6-A4A0-2563321F4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48000"/>
            <a:ext cx="252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楕円を表示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B5FB6EE-C682-4F4F-8D2D-EAA836CF6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38525"/>
            <a:ext cx="2524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楕円の大きさを選ぶと、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Wafer間のばらつきを重ね、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相関の強さ|r|で色分け。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7E14E24-69C6-4793-BEE2-E0C44986B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5720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pPr>
            <a:r>
              <a: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rPr>
              <a:t>03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32FE23B-8BB3-43C0-9410-B0B0B6666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572000"/>
            <a:ext cx="252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残差を比べる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0597568-E991-4E40-8480-299891753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62525"/>
            <a:ext cx="2524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平均の残差が大きい位置は、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どのWaferでも推定が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外れやすい位置です。</a:t>
            </a:r>
          </a:p>
        </p:txBody>
      </p:sp>
    </p:spTree>
    <p:extLst>
      <p:ext uri="{BB962C8B-B14F-4D97-AF65-F5344CB8AC3E}">
        <p14:creationId xmlns:p14="http://schemas.microsoft.com/office/powerpoint/2010/main" val="1824741968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91D5CEDB-AE13-4917-9D3C-70A6EF18F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05　Waferごとの確認</a:t>
            </a:r>
            <a:endParaRPr sz="12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AA1B29C3-000F-4D2C-BB0C-C28FCA303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6928"/>
            <a:ext cx="11094415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 marL="0" indent="0">
              <a:buNone/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学習から除いた異常値の確認</a:t>
            </a:r>
            <a:endParaRPr sz="2800"/>
          </a:p>
        </p:txBody>
      </p:sp>
      <p:sp>
        <p:nvSpPr>
          <p:cNvPr id="35" name="Text 29">
            <a:extLst xmlns:a="http://schemas.openxmlformats.org/drawingml/2006/main">
              <a:ext uri="{FF2B5EF4-FFF2-40B4-BE49-F238E27FC236}">
                <a16:creationId xmlns:a16="http://schemas.microsoft.com/office/drawing/2014/main" id="{C9655AAC-34FA-4582-8DF0-8C33CE95B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73952"/>
            <a:ext cx="365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アライメント計測ツール　操作手順</a:t>
            </a:r>
            <a:endParaRPr sz="900"/>
          </a:p>
        </p:txBody>
      </p:sp>
      <p:sp>
        <p:nvSpPr>
          <p:cNvPr id="36" name="Text 30">
            <a:extLst xmlns:a="http://schemas.openxmlformats.org/drawingml/2006/main">
              <a:ext uri="{FF2B5EF4-FFF2-40B4-BE49-F238E27FC236}">
                <a16:creationId xmlns:a16="http://schemas.microsoft.com/office/drawing/2014/main" id="{8F531DCF-DA39-4BDD-97D7-1FBC6AE47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8655" y="6473952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32</a:t>
            </a:r>
            <a:endParaRPr sz="1000"/>
          </a:p>
        </p:txBody>
      </p:sp>
      <p:pic>
        <p:nvPic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1862C73-38D3-4BCE-8FD8-6321032B4A3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adb1bf0ef1487a"/>
          <a:stretch xmlns:a="http://schemas.openxmlformats.org/drawingml/2006/main"/>
        </p:blipFill>
        <p:spPr>
          <a:xfrm xmlns:a="http://schemas.openxmlformats.org/drawingml/2006/main">
            <a:off x="552450" y="1383506"/>
            <a:ext cx="7810500" cy="4881562"/>
          </a:xfrm>
          <a:prstGeom xmlns:a="http://schemas.openxmlformats.org/drawingml/2006/main" prst="rect">
            <a:avLst/>
          </a:prstGeom>
        </p:spPr>
      </p:pic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7DB296D-60CA-4D10-9D57-143583211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09888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13335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defPPr>
            <a:lvl1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1pPr>
            <a:lvl2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2pPr>
            <a:lvl3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3pPr>
            <a:lvl4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4pPr>
            <a:lvl5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5pPr>
            <a:lvl6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6pPr>
            <a:lvl7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7pPr>
            <a:lvl8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8pPr>
            <a:lvl9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1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BE1A481-6E82-40E7-9061-5F1C35642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5131" y="605849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13335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defPPr>
            <a:lvl1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1pPr>
            <a:lvl2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2pPr>
            <a:lvl3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3pPr>
            <a:lvl4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4pPr>
            <a:lvl5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5pPr>
            <a:lvl6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6pPr>
            <a:lvl7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7pPr>
            <a:lvl8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8pPr>
            <a:lvl9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2AA4535-A3F6-4E24-A951-5EA9453E2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0016" y="5179814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13335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defPPr>
            <a:lvl1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1pPr>
            <a:lvl2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2pPr>
            <a:lvl3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3pPr>
            <a:lvl4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4pPr>
            <a:lvl5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5pPr>
            <a:lvl6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6pPr>
            <a:lvl7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7pPr>
            <a:lvl8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8pPr>
            <a:lvl9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C583B84-45F7-4055-B406-E7790B068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5240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pPr>
            <a:r>
              <a: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rPr>
              <a:t>01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0BB6D34-6DC5-4F8A-A794-4C7B7B5CA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524000"/>
            <a:ext cx="252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×印を見る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A86C4E4-4910-4737-BC20-62996EE76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14525"/>
            <a:ext cx="2524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学習から除いた異常値の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Markが×で描かれます。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赤い×が目印です。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91955C4-950C-4AFA-A80C-77726F6E0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0480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pPr>
            <a:r>
              <a: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rPr>
              <a:t>02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04A34CC-B260-40F8-A682-5BA9CA2DC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48000"/>
            <a:ext cx="252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数を確認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66227F1-7F8A-4723-BB5D-7E74F706E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38525"/>
            <a:ext cx="2524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下の説明に、除いた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Markの数とnσが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出ます。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DB40EFF-A834-4389-BD99-97BA35CD5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5720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pPr>
            <a:r>
              <a: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rPr>
              <a:t>03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9DE552D-FC99-49EA-A4CD-5B5D6BFD2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572000"/>
            <a:ext cx="252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Excelで確認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C1E446C-C8BF-4304-9E3A-EA6565E3A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62525"/>
            <a:ext cx="2524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評価結果Excelの「Wafer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ごと」の「学習から除いた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異常値の数」に出ます。</a:t>
            </a:r>
          </a:p>
        </p:txBody>
      </p:sp>
    </p:spTree>
    <p:extLst>
      <p:ext uri="{BB962C8B-B14F-4D97-AF65-F5344CB8AC3E}">
        <p14:creationId xmlns:p14="http://schemas.microsoft.com/office/powerpoint/2010/main" val="1824741968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91D5CEDB-AE13-4917-9D3C-70A6EF18F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06　保存と再利用</a:t>
            </a:r>
            <a:endParaRPr sz="12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AA1B29C3-000F-4D2C-BB0C-C28FCA303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6928"/>
            <a:ext cx="11094415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 marL="0" indent="0">
              <a:buNone/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評価結果と推定値のExcel出力</a:t>
            </a:r>
            <a:endParaRPr sz="2800"/>
          </a:p>
        </p:txBody>
      </p:sp>
      <p:sp>
        <p:nvSpPr>
          <p:cNvPr id="35" name="Text 29">
            <a:extLst xmlns:a="http://schemas.openxmlformats.org/drawingml/2006/main">
              <a:ext uri="{FF2B5EF4-FFF2-40B4-BE49-F238E27FC236}">
                <a16:creationId xmlns:a16="http://schemas.microsoft.com/office/drawing/2014/main" id="{C9655AAC-34FA-4582-8DF0-8C33CE95B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73952"/>
            <a:ext cx="365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アライメント計測ツール　操作手順</a:t>
            </a:r>
            <a:endParaRPr sz="900"/>
          </a:p>
        </p:txBody>
      </p:sp>
      <p:sp>
        <p:nvSpPr>
          <p:cNvPr id="36" name="Text 30">
            <a:extLst xmlns:a="http://schemas.openxmlformats.org/drawingml/2006/main">
              <a:ext uri="{FF2B5EF4-FFF2-40B4-BE49-F238E27FC236}">
                <a16:creationId xmlns:a16="http://schemas.microsoft.com/office/drawing/2014/main" id="{8F531DCF-DA39-4BDD-97D7-1FBC6AE47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8655" y="6473952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33</a:t>
            </a:r>
            <a:endParaRPr sz="1000"/>
          </a:p>
        </p:txBody>
      </p:sp>
      <p:graphicFrame>
        <p:nvGraphicFrame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CC62A40-5039-421C-BE9A-CA0B5DC99588}"/>
              </a:ext>
            </a:extLst>
          </p:cNvPr>
          <p:cNvGraphicFramePr/>
          <p:nvPr/>
        </p:nvGraphicFramePr>
        <p:xfrm>
          <a:off xmlns:a="http://schemas.openxmlformats.org/drawingml/2006/main" x="552450" y="1571625"/>
          <a:ext xmlns:a="http://schemas.openxmlformats.org/drawingml/2006/main" cx="110871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4095750"/>
                <a:gridCol w="4991100"/>
              </a:tblGrid>
              <a:tr h="857250">
                <a:tc>
                  <a:txBody>
                    <a:bodyPr lIns="85725" tIns="85725" rIns="85725" bIns="85725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保存する内容</a:t>
                      </a:r>
                    </a:p>
                  </a:txBody>
                  <a:tcPr marL="91440" marR="91440" marT="45720" marB="45720" anchor="ctr">
                    <a:lnL w="4763">
                      <a:solidFill>
                        <a:srgbClr val="DADDE6"/>
                      </a:solidFill>
                      <a:prstDash val="solid"/>
                    </a:lnL>
                    <a:lnR w="4763">
                      <a:solidFill>
                        <a:srgbClr val="DADDE6"/>
                      </a:solidFill>
                      <a:prstDash val="solid"/>
                    </a:lnR>
                    <a:lnT w="4763">
                      <a:solidFill>
                        <a:srgbClr val="DADDE6"/>
                      </a:solidFill>
                      <a:prstDash val="solid"/>
                    </a:lnT>
                    <a:lnB w="4763">
                      <a:solidFill>
                        <a:srgbClr val="DADDE6"/>
                      </a:solidFill>
                      <a:prstDash val="solid"/>
                    </a:lnB>
                    <a:solidFill>
                      <a:srgbClr val="22223B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操作する場所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ADDE6"/>
                      </a:solidFill>
                      <a:prstDash val="solid"/>
                    </a:lnR>
                    <a:lnT w="4763">
                      <a:solidFill>
                        <a:srgbClr val="DADDE6"/>
                      </a:solidFill>
                      <a:prstDash val="solid"/>
                    </a:lnT>
                    <a:lnB w="4763">
                      <a:solidFill>
                        <a:srgbClr val="DADDE6"/>
                      </a:solidFill>
                      <a:prstDash val="solid"/>
                    </a:lnB>
                    <a:solidFill>
                      <a:srgbClr val="22223B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主な内容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ADDE6"/>
                      </a:solidFill>
                      <a:prstDash val="solid"/>
                    </a:lnR>
                    <a:lnT w="4763">
                      <a:solidFill>
                        <a:srgbClr val="DADDE6"/>
                      </a:solidFill>
                      <a:prstDash val="solid"/>
                    </a:lnT>
                    <a:lnB w="4763">
                      <a:solidFill>
                        <a:srgbClr val="DADDE6"/>
                      </a:solidFill>
                      <a:prstDash val="solid"/>
                    </a:lnB>
                    <a:solidFill>
                      <a:srgbClr val="22223B"/>
                    </a:solidFill>
                  </a:tcPr>
                </a:tc>
              </a:tr>
              <a:tr h="857250">
                <a:tc>
                  <a:txBody>
                    <a:bodyPr lIns="85725" tIns="85725" rIns="85725" bIns="85725"/>
                    <a:lstStyle/>
                    <a:p>
                      <a:r>
                        <a:rPr sz="1425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評価結果</a:t>
                      </a:r>
                    </a:p>
                  </a:txBody>
                  <a:tcPr marL="91440" marR="91440" marT="45720" marB="45720" anchor="ctr">
                    <a:lnL w="4763">
                      <a:solidFill>
                        <a:srgbClr val="DADDE6"/>
                      </a:solidFill>
                      <a:prstDash val="solid"/>
                    </a:lnL>
                    <a:lnR w="4763">
                      <a:solidFill>
                        <a:srgbClr val="DADDE6"/>
                      </a:solidFill>
                      <a:prstDash val="solid"/>
                    </a:lnR>
                    <a:lnB w="4763">
                      <a:solidFill>
                        <a:srgbClr val="DADDE6"/>
                      </a:solidFill>
                      <a:prstDash val="soli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425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結果一覧の上部</a:t>
                      </a:r>
                    </a:p>
                    <a:p>
                      <a:r>
                        <a:rPr sz="1425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「結果を Excel に書き出す…」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ADDE6"/>
                      </a:solidFill>
                      <a:prstDash val="solid"/>
                    </a:lnR>
                    <a:lnB w="4763">
                      <a:solidFill>
                        <a:srgbClr val="DADDE6"/>
                      </a:solidFill>
                      <a:prstDash val="soli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425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集計、Waferごとの指標、学習Shot、</a:t>
                      </a:r>
                    </a:p>
                    <a:p>
                      <a:r>
                        <a:rPr sz="1425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設定、注意事項。Overlayの指標も含む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ADDE6"/>
                      </a:solidFill>
                      <a:prstDash val="solid"/>
                    </a:lnR>
                    <a:lnB w="4763">
                      <a:solidFill>
                        <a:srgbClr val="DADDE6"/>
                      </a:solidFill>
                      <a:prstDash val="solid"/>
                    </a:lnB>
                    <a:solidFill>
                      <a:srgbClr val="F3F4F8"/>
                    </a:solidFill>
                  </a:tcPr>
                </a:tc>
              </a:tr>
              <a:tr h="857250">
                <a:tc>
                  <a:txBody>
                    <a:bodyPr lIns="85725" tIns="85725" rIns="85725" bIns="85725"/>
                    <a:lstStyle/>
                    <a:p>
                      <a:r>
                        <a:rPr sz="1425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推定値</a:t>
                      </a:r>
                    </a:p>
                  </a:txBody>
                  <a:tcPr marL="91440" marR="91440" marT="45720" marB="45720" anchor="ctr">
                    <a:lnL w="4763">
                      <a:solidFill>
                        <a:srgbClr val="DADDE6"/>
                      </a:solidFill>
                      <a:prstDash val="solid"/>
                    </a:lnL>
                    <a:lnR w="4763">
                      <a:solidFill>
                        <a:srgbClr val="DADDE6"/>
                      </a:solidFill>
                      <a:prstDash val="solid"/>
                    </a:lnR>
                    <a:lnB w="4763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425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「推定値と誤差の分布」</a:t>
                      </a:r>
                    </a:p>
                    <a:p>
                      <a:r>
                        <a:rPr sz="1425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「推定値を Excel に書き出す…」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ADDE6"/>
                      </a:solidFill>
                      <a:prstDash val="solid"/>
                    </a:lnR>
                    <a:lnB w="4763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425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評価点の計測値・推定値・残差、</a:t>
                      </a:r>
                    </a:p>
                    <a:p>
                      <a:r>
                        <a:rPr sz="1425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正規性検定、ANOVA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ADDE6"/>
                      </a:solidFill>
                      <a:prstDash val="solid"/>
                    </a:lnR>
                    <a:lnB w="4763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 lIns="85725" tIns="85725" rIns="85725" bIns="85725"/>
                    <a:lstStyle/>
                    <a:p>
                      <a:r>
                        <a:rPr sz="1425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Overlay残差</a:t>
                      </a:r>
                    </a:p>
                  </a:txBody>
                  <a:tcPr marL="91440" marR="91440" marT="45720" marB="45720" anchor="ctr">
                    <a:lnL w="4763">
                      <a:solidFill>
                        <a:srgbClr val="DADDE6"/>
                      </a:solidFill>
                      <a:prstDash val="solid"/>
                    </a:lnL>
                    <a:lnR w="4763">
                      <a:solidFill>
                        <a:srgbClr val="DADDE6"/>
                      </a:solidFill>
                      <a:prstDash val="solid"/>
                    </a:lnR>
                    <a:lnB w="4763">
                      <a:solidFill>
                        <a:srgbClr val="DADDE6"/>
                      </a:solidFill>
                      <a:prstDash val="soli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425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推定値Excelに追加</a:t>
                      </a:r>
                    </a:p>
                    <a:p>
                      <a:r>
                        <a:rPr sz="1425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（補正を評価した場合）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ADDE6"/>
                      </a:solidFill>
                      <a:prstDash val="solid"/>
                    </a:lnR>
                    <a:lnB w="4763">
                      <a:solidFill>
                        <a:srgbClr val="DADDE6"/>
                      </a:solidFill>
                      <a:prstDash val="soli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425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全Markの補正残差・推定による変化、</a:t>
                      </a:r>
                    </a:p>
                    <a:p>
                      <a:r>
                        <a:rPr sz="1425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学習／評価Shotの区分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ADDE6"/>
                      </a:solidFill>
                      <a:prstDash val="solid"/>
                    </a:lnR>
                    <a:lnB w="4763">
                      <a:solidFill>
                        <a:srgbClr val="DADDE6"/>
                      </a:solidFill>
                      <a:prstDash val="solid"/>
                    </a:lnB>
                    <a:solidFill>
                      <a:srgbClr val="F3F4F8"/>
                    </a:solidFill>
                  </a:tcPr>
                </a:tc>
              </a:tr>
            </a:tbl>
          </a:graphicData>
        </a:graphic>
      </p:graphicFrame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2D2DC6A-2B94-4FCA-AB3E-DFCC2CA24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19750"/>
            <a:ext cx="110871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575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575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575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575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575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575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575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575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575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575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推定値の書き出しは「選択中の対象」か「すべて」を指定します。</a:t>
            </a:r>
          </a:p>
          <a:p xmlns:a="http://schemas.openxmlformats.org/drawingml/2006/main">
            <a:pPr>
              <a:defRPr sz="1575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575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すべての出力は再計算するため時間がかかります。同名のExcelを開いている場合は閉じてください。</a:t>
            </a:r>
          </a:p>
        </p:txBody>
      </p:sp>
    </p:spTree>
    <p:extLst>
      <p:ext uri="{BB962C8B-B14F-4D97-AF65-F5344CB8AC3E}">
        <p14:creationId xmlns:p14="http://schemas.microsoft.com/office/powerpoint/2010/main" val="1824741968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91D5CEDB-AE13-4917-9D3C-70A6EF18F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06　保存と再利用</a:t>
            </a:r>
            <a:endParaRPr sz="12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AA1B29C3-000F-4D2C-BB0C-C28FCA303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6928"/>
            <a:ext cx="11094415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 marL="0" indent="0">
              <a:buNone/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設定の保存と再読み込み</a:t>
            </a:r>
            <a:endParaRPr sz="2800"/>
          </a:p>
        </p:txBody>
      </p:sp>
      <p:sp>
        <p:nvSpPr>
          <p:cNvPr id="35" name="Text 29">
            <a:extLst xmlns:a="http://schemas.openxmlformats.org/drawingml/2006/main">
              <a:ext uri="{FF2B5EF4-FFF2-40B4-BE49-F238E27FC236}">
                <a16:creationId xmlns:a16="http://schemas.microsoft.com/office/drawing/2014/main" id="{C9655AAC-34FA-4582-8DF0-8C33CE95B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73952"/>
            <a:ext cx="365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アライメント計測ツール　操作手順</a:t>
            </a:r>
            <a:endParaRPr sz="900"/>
          </a:p>
        </p:txBody>
      </p:sp>
      <p:sp>
        <p:nvSpPr>
          <p:cNvPr id="36" name="Text 30">
            <a:extLst xmlns:a="http://schemas.openxmlformats.org/drawingml/2006/main">
              <a:ext uri="{FF2B5EF4-FFF2-40B4-BE49-F238E27FC236}">
                <a16:creationId xmlns:a16="http://schemas.microsoft.com/office/drawing/2014/main" id="{8F531DCF-DA39-4BDD-97D7-1FBC6AE47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8655" y="6473952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34</a:t>
            </a:r>
            <a:endParaRPr sz="1000"/>
          </a:p>
        </p:txBody>
      </p:sp>
      <p:pic>
        <p:nvPic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9AF3045-12DC-42E4-9FCB-60DE4F1E74C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ee3e91c5d043d6"/>
          <a:stretch xmlns:a="http://schemas.openxmlformats.org/drawingml/2006/main"/>
        </p:blipFill>
        <p:spPr>
          <a:xfrm xmlns:a="http://schemas.openxmlformats.org/drawingml/2006/main">
            <a:off x="552450" y="3342462"/>
            <a:ext cx="7667625" cy="935076"/>
          </a:xfrm>
          <a:prstGeom xmlns:a="http://schemas.openxmlformats.org/drawingml/2006/main" prst="rect">
            <a:avLst/>
          </a:prstGeom>
        </p:spPr>
      </p:pic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C6A751C-7EC2-4886-8A41-2B5F381B3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684" y="3639247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13335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defPPr>
            <a:lvl1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1pPr>
            <a:lvl2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2pPr>
            <a:lvl3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3pPr>
            <a:lvl4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4pPr>
            <a:lvl5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5pPr>
            <a:lvl6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6pPr>
            <a:lvl7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7pPr>
            <a:lvl8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8pPr>
            <a:lvl9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1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B165EA5-9912-494A-A2CD-8E47E6D16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2390" y="3639247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13335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defPPr>
            <a:lvl1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1pPr>
            <a:lvl2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2pPr>
            <a:lvl3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3pPr>
            <a:lvl4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4pPr>
            <a:lvl5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5pPr>
            <a:lvl6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6pPr>
            <a:lvl7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7pPr>
            <a:lvl8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8pPr>
            <a:lvl9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6FEC6E7-C3BC-41E0-83A0-8A37839D5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0603" y="3639247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13335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defPPr>
            <a:lvl1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1pPr>
            <a:lvl2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2pPr>
            <a:lvl3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3pPr>
            <a:lvl4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4pPr>
            <a:lvl5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5pPr>
            <a:lvl6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6pPr>
            <a:lvl7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7pPr>
            <a:lvl8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8pPr>
            <a:lvl9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4234178-A96D-4178-BD64-4BB672655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5240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pPr>
            <a:r>
              <a: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rPr>
              <a:t>01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9012C83-8729-4B3C-B785-70F6615BF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524000"/>
            <a:ext cx="252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設定を保存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19BA1B7-173F-49A1-AF96-0DCAA412A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14525"/>
            <a:ext cx="2524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「設定を保存…」でJSONを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保存します。入力条件や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評価条件を再利用できます。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F2B3A1E-C9F7-47ED-A497-B76E514B8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0480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pPr>
            <a:r>
              <a: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rPr>
              <a:t>02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5B31265-A322-40A7-90F5-C8F2E2A95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48000"/>
            <a:ext cx="252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設定を読み込む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238536D-08B9-4159-AD8E-2E90983A5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38525"/>
            <a:ext cx="2524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別の評価でも同じJSONを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読み込んで条件を戻せます。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実行前に内容を確認します。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87EC879-20A1-4240-92E4-89CEAE57D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5720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pPr>
            <a:r>
              <a:rPr sz="1875" b="1">
                <a:solidFill>
                  <a:srgbClr val="2A9D8F"/>
                </a:solidFill>
                <a:latin typeface="BIZ UDGothic"/>
                <a:ea typeface="BIZ UDGothic"/>
                <a:cs typeface="BIZ UDGothic"/>
              </a:rPr>
              <a:t>03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4B29481-A495-4DEE-8578-CB2A57027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572000"/>
            <a:ext cx="252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575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初期設定に戻す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84FDF4D-2DF6-46DF-9555-12D62F2E7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62525"/>
            <a:ext cx="2524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初期値に戻したいときに使用。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取り込み条件が変わったら</a:t>
            </a:r>
          </a:p>
          <a:p xmlns:a="http://schemas.openxmlformats.org/drawingml/2006/main">
            <a:pPr>
              <a:def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再取り込みが必要です。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DBE897E-CA20-469D-B88B-8E4AF6CB2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>
                <a:solidFill>
                  <a:srgbClr val="55566C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125" b="0">
                <a:solidFill>
                  <a:srgbClr val="55566C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125" b="0">
                <a:solidFill>
                  <a:srgbClr val="55566C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125" b="0">
                <a:solidFill>
                  <a:srgbClr val="55566C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125" b="0">
                <a:solidFill>
                  <a:srgbClr val="55566C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125" b="0">
                <a:solidFill>
                  <a:srgbClr val="55566C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125" b="0">
                <a:solidFill>
                  <a:srgbClr val="55566C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125" b="0">
                <a:solidFill>
                  <a:srgbClr val="55566C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125" b="0">
                <a:solidFill>
                  <a:srgbClr val="55566C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125" b="0">
                <a:solidFill>
                  <a:srgbClr val="55566C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5566C"/>
                </a:solidFill>
                <a:latin typeface="BIZ UDGothic"/>
                <a:ea typeface="BIZ UDGothic"/>
                <a:cs typeface="BIZ UDGothic"/>
              </a:defRPr>
            </a:pPr>
            <a:r>
              <a:rPr sz="1125" b="0">
                <a:solidFill>
                  <a:srgbClr val="55566C"/>
                </a:solidFill>
                <a:latin typeface="BIZ UDGothic"/>
                <a:ea typeface="BIZ UDGothic"/>
                <a:cs typeface="BIZ UDGothic"/>
              </a:rPr>
              <a:t>結果Excelと設定JSONは別に保存します。設定を戻しても、過去の計算結果は自動復元されません。</a:t>
            </a:r>
          </a:p>
        </p:txBody>
      </p:sp>
    </p:spTree>
    <p:extLst>
      <p:ext uri="{BB962C8B-B14F-4D97-AF65-F5344CB8AC3E}">
        <p14:creationId xmlns:p14="http://schemas.microsoft.com/office/powerpoint/2010/main" val="1824741968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91D5CEDB-AE13-4917-9D3C-70A6EF18F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困ったとき</a:t>
            </a:r>
            <a:endParaRPr sz="12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AA1B29C3-000F-4D2C-BB0C-C28FCA303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6928"/>
            <a:ext cx="11094415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 marL="0" indent="0">
              <a:buNone/>
              <a:def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主なメッセージと対処</a:t>
            </a:r>
            <a:endParaRPr sz="2800"/>
          </a:p>
        </p:txBody>
      </p:sp>
      <p:sp>
        <p:nvSpPr>
          <p:cNvPr id="35" name="Text 29">
            <a:extLst xmlns:a="http://schemas.openxmlformats.org/drawingml/2006/main">
              <a:ext uri="{FF2B5EF4-FFF2-40B4-BE49-F238E27FC236}">
                <a16:creationId xmlns:a16="http://schemas.microsoft.com/office/drawing/2014/main" id="{C9655AAC-34FA-4582-8DF0-8C33CE95B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73952"/>
            <a:ext cx="365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アライメント計測ツール　操作手順</a:t>
            </a:r>
            <a:endParaRPr sz="900"/>
          </a:p>
        </p:txBody>
      </p:sp>
      <p:sp>
        <p:nvSpPr>
          <p:cNvPr id="36" name="Text 30">
            <a:extLst xmlns:a="http://schemas.openxmlformats.org/drawingml/2006/main">
              <a:ext uri="{FF2B5EF4-FFF2-40B4-BE49-F238E27FC236}">
                <a16:creationId xmlns:a16="http://schemas.microsoft.com/office/drawing/2014/main" id="{8F531DCF-DA39-4BDD-97D7-1FBC6AE47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8655" y="6473952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35</a:t>
            </a:r>
            <a:endParaRPr sz="1000"/>
          </a:p>
        </p:txBody>
      </p:sp>
      <p:graphicFrame>
        <p:nvGraphicFrame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F4D9F84-F0DF-4362-B225-FBFFFB407E36}"/>
              </a:ext>
            </a:extLst>
          </p:cNvPr>
          <p:cNvGraphicFramePr/>
          <p:nvPr/>
        </p:nvGraphicFramePr>
        <p:xfrm>
          <a:off xmlns:a="http://schemas.openxmlformats.org/drawingml/2006/main" x="552450" y="1571625"/>
          <a:ext xmlns:a="http://schemas.openxmlformats.org/drawingml/2006/main" cx="110871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6896100"/>
              </a:tblGrid>
              <a:tr h="423333">
                <a:tc>
                  <a:txBody>
                    <a:bodyPr lIns="85725" tIns="85725" rIns="85725" bIns="85725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状況</a:t>
                      </a:r>
                    </a:p>
                  </a:txBody>
                  <a:tcPr marL="91440" marR="91440" marT="45720" marB="45720" anchor="ctr">
                    <a:lnL w="4763">
                      <a:solidFill>
                        <a:srgbClr val="DADDE6"/>
                      </a:solidFill>
                      <a:prstDash val="solid"/>
                    </a:lnL>
                    <a:lnR w="4763">
                      <a:solidFill>
                        <a:srgbClr val="DADDE6"/>
                      </a:solidFill>
                      <a:prstDash val="solid"/>
                    </a:lnR>
                    <a:lnT w="4763">
                      <a:solidFill>
                        <a:srgbClr val="DADDE6"/>
                      </a:solidFill>
                      <a:prstDash val="solid"/>
                    </a:lnT>
                    <a:lnB w="4763">
                      <a:solidFill>
                        <a:srgbClr val="DADDE6"/>
                      </a:solidFill>
                      <a:prstDash val="solid"/>
                    </a:lnB>
                    <a:solidFill>
                      <a:srgbClr val="22223B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確認すること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ADDE6"/>
                      </a:solidFill>
                      <a:prstDash val="solid"/>
                    </a:lnR>
                    <a:lnT w="4763">
                      <a:solidFill>
                        <a:srgbClr val="DADDE6"/>
                      </a:solidFill>
                      <a:prstDash val="solid"/>
                    </a:lnT>
                    <a:lnB w="4763">
                      <a:solidFill>
                        <a:srgbClr val="DADDE6"/>
                      </a:solidFill>
                      <a:prstDash val="solid"/>
                    </a:lnB>
                    <a:solidFill>
                      <a:srgbClr val="22223B"/>
                    </a:solidFill>
                  </a:tcPr>
                </a:tc>
              </a:tr>
              <a:tr h="423333">
                <a:tc>
                  <a:txBody>
                    <a:bodyPr lIns="85725" tIns="85725" rIns="85725" bIns="85725"/>
                    <a:lstStyle/>
                    <a:p>
                      <a:r>
                        <a:rPr sz="1425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解析できる行がない</a:t>
                      </a:r>
                    </a:p>
                  </a:txBody>
                  <a:tcPr marL="91440" marR="91440" marT="45720" marB="45720" anchor="ctr">
                    <a:lnL w="4763">
                      <a:solidFill>
                        <a:srgbClr val="DADDE6"/>
                      </a:solidFill>
                      <a:prstDash val="solid"/>
                    </a:lnL>
                    <a:lnR w="4763">
                      <a:solidFill>
                        <a:srgbClr val="DADDE6"/>
                      </a:solidFill>
                      <a:prstDash val="solid"/>
                    </a:lnR>
                    <a:lnB w="4763">
                      <a:solidFill>
                        <a:srgbClr val="DADDE6"/>
                      </a:solidFill>
                      <a:prstDash val="soli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425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列の対応、座標の単位、有効半径、行の除外条件を確認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ADDE6"/>
                      </a:solidFill>
                      <a:prstDash val="solid"/>
                    </a:lnR>
                    <a:lnB w="4763">
                      <a:solidFill>
                        <a:srgbClr val="DADDE6"/>
                      </a:solidFill>
                      <a:prstDash val="solid"/>
                    </a:lnB>
                    <a:solidFill>
                      <a:srgbClr val="F3F4F8"/>
                    </a:solidFill>
                  </a:tcPr>
                </a:tc>
              </a:tr>
              <a:tr h="423333">
                <a:tc>
                  <a:txBody>
                    <a:bodyPr lIns="85725" tIns="85725" rIns="85725" bIns="85725"/>
                    <a:lstStyle/>
                    <a:p>
                      <a:r>
                        <a:rPr sz="1425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設定変更後に実行できない</a:t>
                      </a:r>
                    </a:p>
                  </a:txBody>
                  <a:tcPr marL="91440" marR="91440" marT="45720" marB="45720" anchor="ctr">
                    <a:lnL w="4763">
                      <a:solidFill>
                        <a:srgbClr val="DADDE6"/>
                      </a:solidFill>
                      <a:prstDash val="solid"/>
                    </a:lnL>
                    <a:lnR w="4763">
                      <a:solidFill>
                        <a:srgbClr val="DADDE6"/>
                      </a:solidFill>
                      <a:prstDash val="solid"/>
                    </a:lnR>
                    <a:lnB w="4763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425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「1. データの読み込み」で「この対応で読み込む」を押す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ADDE6"/>
                      </a:solidFill>
                      <a:prstDash val="solid"/>
                    </a:lnR>
                    <a:lnB w="4763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3333">
                <a:tc>
                  <a:txBody>
                    <a:bodyPr lIns="85725" tIns="85725" rIns="85725" bIns="85725"/>
                    <a:lstStyle/>
                    <a:p>
                      <a:r>
                        <a:rPr sz="1425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学習Shotが不足・制約を満たせない</a:t>
                      </a:r>
                    </a:p>
                  </a:txBody>
                  <a:tcPr marL="91440" marR="91440" marT="45720" marB="45720" anchor="ctr">
                    <a:lnL w="4763">
                      <a:solidFill>
                        <a:srgbClr val="DADDE6"/>
                      </a:solidFill>
                      <a:prstDash val="solid"/>
                    </a:lnL>
                    <a:lnR w="4763">
                      <a:solidFill>
                        <a:srgbClr val="DADDE6"/>
                      </a:solidFill>
                      <a:prstDash val="solid"/>
                    </a:lnR>
                    <a:lnB w="4763">
                      <a:solidFill>
                        <a:srgbClr val="DADDE6"/>
                      </a:solidFill>
                      <a:prstDash val="soli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425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Shot数、同心円・4象限・Scan方向の制約を確認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ADDE6"/>
                      </a:solidFill>
                      <a:prstDash val="solid"/>
                    </a:lnR>
                    <a:lnB w="4763">
                      <a:solidFill>
                        <a:srgbClr val="DADDE6"/>
                      </a:solidFill>
                      <a:prstDash val="solid"/>
                    </a:lnB>
                    <a:solidFill>
                      <a:srgbClr val="F3F4F8"/>
                    </a:solidFill>
                  </a:tcPr>
                </a:tc>
              </a:tr>
              <a:tr h="423333">
                <a:tc>
                  <a:txBody>
                    <a:bodyPr lIns="85725" tIns="85725" rIns="85725" bIns="85725"/>
                    <a:lstStyle/>
                    <a:p>
                      <a:r>
                        <a:rPr sz="1425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必ず計測するShotと制約がぶつかる</a:t>
                      </a:r>
                    </a:p>
                  </a:txBody>
                  <a:tcPr marL="91440" marR="91440" marT="45720" marB="45720" anchor="ctr">
                    <a:lnL w="4763">
                      <a:solidFill>
                        <a:srgbClr val="DADDE6"/>
                      </a:solidFill>
                      <a:prstDash val="solid"/>
                    </a:lnL>
                    <a:lnR w="4763">
                      <a:solidFill>
                        <a:srgbClr val="DADDE6"/>
                      </a:solidFill>
                      <a:prstDash val="solid"/>
                    </a:lnR>
                    <a:lnB w="4763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425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必ず計測するShotを減らすか、制約・許容幅を見直す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ADDE6"/>
                      </a:solidFill>
                      <a:prstDash val="solid"/>
                    </a:lnR>
                    <a:lnB w="4763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3333">
                <a:tc>
                  <a:txBody>
                    <a:bodyPr lIns="85725" tIns="85725" rIns="85725" bIns="85725"/>
                    <a:lstStyle/>
                    <a:p>
                      <a:r>
                        <a:rPr sz="1425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優先順のファイルを読み込めない</a:t>
                      </a:r>
                    </a:p>
                  </a:txBody>
                  <a:tcPr marL="91440" marR="91440" marT="45720" marB="45720" anchor="ctr">
                    <a:lnL w="4763">
                      <a:solidFill>
                        <a:srgbClr val="DADDE6"/>
                      </a:solidFill>
                      <a:prstDash val="solid"/>
                    </a:lnL>
                    <a:lnR w="4763">
                      <a:solidFill>
                        <a:srgbClr val="DADDE6"/>
                      </a:solidFill>
                      <a:prstDash val="solid"/>
                    </a:lnR>
                    <a:lnB w="4763">
                      <a:solidFill>
                        <a:srgbClr val="DADDE6"/>
                      </a:solidFill>
                      <a:prstDash val="soli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425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Shot番号の列（整数）と優先度（0以上）を確認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ADDE6"/>
                      </a:solidFill>
                      <a:prstDash val="solid"/>
                    </a:lnR>
                    <a:lnB w="4763">
                      <a:solidFill>
                        <a:srgbClr val="DADDE6"/>
                      </a:solidFill>
                      <a:prstDash val="solid"/>
                    </a:lnB>
                    <a:solidFill>
                      <a:srgbClr val="F3F4F8"/>
                    </a:solidFill>
                  </a:tcPr>
                </a:tc>
              </a:tr>
              <a:tr h="423333">
                <a:tc>
                  <a:txBody>
                    <a:bodyPr lIns="85725" tIns="85725" rIns="85725" bIns="85725"/>
                    <a:lstStyle/>
                    <a:p>
                      <a:r>
                        <a:rPr sz="1425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推定できない・収束しない</a:t>
                      </a:r>
                    </a:p>
                  </a:txBody>
                  <a:tcPr marL="91440" marR="91440" marT="45720" marB="45720" anchor="ctr">
                    <a:lnL w="4763">
                      <a:solidFill>
                        <a:srgbClr val="DADDE6"/>
                      </a:solidFill>
                      <a:prstDash val="solid"/>
                    </a:lnL>
                    <a:lnR w="4763">
                      <a:solidFill>
                        <a:srgbClr val="DADDE6"/>
                      </a:solidFill>
                      <a:prstDash val="solid"/>
                    </a:lnR>
                    <a:lnB w="4763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425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「3. 実行」の記録を確認。手法や学習Shot数を見直す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ADDE6"/>
                      </a:solidFill>
                      <a:prstDash val="solid"/>
                    </a:lnR>
                    <a:lnB w="4763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3333">
                <a:tc>
                  <a:txBody>
                    <a:bodyPr lIns="85725" tIns="85725" rIns="85725" bIns="85725"/>
                    <a:lstStyle/>
                    <a:p>
                      <a:r>
                        <a:rPr sz="1425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選んだ質的変数がデータにない</a:t>
                      </a:r>
                    </a:p>
                  </a:txBody>
                  <a:tcPr marL="91440" marR="91440" marT="45720" marB="45720" anchor="ctr">
                    <a:lnL w="4763">
                      <a:solidFill>
                        <a:srgbClr val="DADDE6"/>
                      </a:solidFill>
                      <a:prstDash val="solid"/>
                    </a:lnL>
                    <a:lnR w="4763">
                      <a:solidFill>
                        <a:srgbClr val="DADDE6"/>
                      </a:solidFill>
                      <a:prstDash val="solid"/>
                    </a:lnR>
                    <a:lnB w="4763">
                      <a:solidFill>
                        <a:srgbClr val="DADDE6"/>
                      </a:solidFill>
                      <a:prstDash val="soli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425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取り込みファイルと、その他の列の選択を確認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ADDE6"/>
                      </a:solidFill>
                      <a:prstDash val="solid"/>
                    </a:lnR>
                    <a:lnB w="4763">
                      <a:solidFill>
                        <a:srgbClr val="DADDE6"/>
                      </a:solidFill>
                      <a:prstDash val="solid"/>
                    </a:lnB>
                    <a:solidFill>
                      <a:srgbClr val="F3F4F8"/>
                    </a:solidFill>
                  </a:tcPr>
                </a:tc>
              </a:tr>
              <a:tr h="423333">
                <a:tc>
                  <a:txBody>
                    <a:bodyPr lIns="85725" tIns="85725" rIns="85725" bIns="85725"/>
                    <a:lstStyle/>
                    <a:p>
                      <a:r>
                        <a:rPr sz="1425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Excelに書き出せない</a:t>
                      </a:r>
                    </a:p>
                  </a:txBody>
                  <a:tcPr marL="91440" marR="91440" marT="45720" marB="45720" anchor="ctr">
                    <a:lnL w="4763">
                      <a:solidFill>
                        <a:srgbClr val="DADDE6"/>
                      </a:solidFill>
                      <a:prstDash val="solid"/>
                    </a:lnL>
                    <a:lnR w="4763">
                      <a:solidFill>
                        <a:srgbClr val="DADDE6"/>
                      </a:solidFill>
                      <a:prstDash val="solid"/>
                    </a:lnR>
                    <a:lnB w="4763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425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同名ファイルをExcelで閉じ、保存先への書き込みを確認</a:t>
                      </a:r>
                    </a:p>
                  </a:txBody>
                  <a:tcPr marL="91440" marR="91440" marT="45720" marB="45720" anchor="ctr">
                    <a:lnR w="4763">
                      <a:solidFill>
                        <a:srgbClr val="DADDE6"/>
                      </a:solidFill>
                      <a:prstDash val="solid"/>
                    </a:lnR>
                    <a:lnB w="4763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84CA37D-EC03-4E20-BB8C-C100A8D6B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19750"/>
            <a:ext cx="110871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575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575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575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575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575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575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575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575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575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2223B"/>
                </a:solidFill>
                <a:latin typeface="BIZ UDGothic"/>
                <a:ea typeface="BIZ UDGothic"/>
                <a:cs typeface="BIZ UDGothic"/>
              </a:defRPr>
            </a:pPr>
            <a:r>
              <a:rPr sz="1575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迷ったときは、同梱の模擬データ＋推奨の組み合わせで動作を確認し、条件を1つずつ変更します。</a:t>
            </a:r>
          </a:p>
        </p:txBody>
      </p:sp>
    </p:spTree>
    <p:extLst>
      <p:ext uri="{BB962C8B-B14F-4D97-AF65-F5344CB8AC3E}">
        <p14:creationId xmlns:p14="http://schemas.microsoft.com/office/powerpoint/2010/main" val="1824741968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2222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931CA302-4372-4A31-85E2-721AB1353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02920"/>
            <a:ext cx="11094415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操作を終える前の確認</a:t>
            </a:r>
            <a:endParaRPr sz="3200"/>
          </a:p>
        </p:txBody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086C7F3D-BEFF-4CB5-A570-A3604A019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73952"/>
            <a:ext cx="365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A9ACC6"/>
                </a:solidFill>
                <a:latin typeface="BIZ UDGothic"/>
                <a:ea typeface="BIZ UDGothic"/>
                <a:cs typeface="BIZ UDGothic"/>
              </a:rPr>
              <a:t>アライメント計測ツール　操作手順</a:t>
            </a:r>
            <a:endParaRPr sz="900"/>
          </a:p>
        </p:txBody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EA688FA3-03B4-419C-AA10-B4D0259C2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8655" y="6473952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A9ACC6"/>
                </a:solidFill>
                <a:latin typeface="BIZ UDGothic"/>
                <a:ea typeface="BIZ UDGothic"/>
                <a:cs typeface="BIZ UDGothic"/>
              </a:rPr>
              <a:t>36</a:t>
            </a:r>
            <a:endParaRPr sz="1000"/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DA661CE-532B-4E2D-BB61-90CC36EC3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66875"/>
            <a:ext cx="400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1">
                <a:solidFill>
                  <a:srgbClr val="E76F51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2400" b="1">
                <a:solidFill>
                  <a:srgbClr val="E76F51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2400" b="1">
                <a:solidFill>
                  <a:srgbClr val="E76F51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2400" b="1">
                <a:solidFill>
                  <a:srgbClr val="E76F51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2400" b="1">
                <a:solidFill>
                  <a:srgbClr val="E76F51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2400" b="1">
                <a:solidFill>
                  <a:srgbClr val="E76F51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2400" b="1">
                <a:solidFill>
                  <a:srgbClr val="E76F51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2400" b="1">
                <a:solidFill>
                  <a:srgbClr val="E76F51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2400" b="1">
                <a:solidFill>
                  <a:srgbClr val="E76F51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2400" b="1">
                <a:solidFill>
                  <a:srgbClr val="E76F51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E76F51"/>
                </a:solidFill>
                <a:latin typeface="BIZ UDGothic"/>
                <a:ea typeface="BIZ UDGothic"/>
                <a:cs typeface="BIZ UDGothic"/>
              </a:defRPr>
            </a:pPr>
            <a:r>
              <a:rPr sz="2400" b="1">
                <a:solidFill>
                  <a:srgbClr val="E76F51"/>
                </a:solidFill>
                <a:latin typeface="BIZ UDGothic"/>
                <a:ea typeface="BIZ UDGothic"/>
                <a:cs typeface="BIZ UDGothic"/>
              </a:rPr>
              <a:t>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80AB76F-7CB3-4157-978F-BCCAA41F2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66875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2025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2025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2025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2025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2025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2025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2025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2025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2025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2025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入力条件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F292097-2E71-4FB0-BB4B-771902167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685925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D9DBEA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725" b="0">
                <a:solidFill>
                  <a:srgbClr val="D9DBEA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725" b="0">
                <a:solidFill>
                  <a:srgbClr val="D9DBEA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725" b="0">
                <a:solidFill>
                  <a:srgbClr val="D9DBEA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725" b="0">
                <a:solidFill>
                  <a:srgbClr val="D9DBEA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725" b="0">
                <a:solidFill>
                  <a:srgbClr val="D9DBEA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725" b="0">
                <a:solidFill>
                  <a:srgbClr val="D9DBEA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725" b="0">
                <a:solidFill>
                  <a:srgbClr val="D9DBEA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725" b="0">
                <a:solidFill>
                  <a:srgbClr val="D9DBEA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725" b="0">
                <a:solidFill>
                  <a:srgbClr val="D9DBEA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D9DBEA"/>
                </a:solidFill>
                <a:latin typeface="BIZ UDGothic"/>
                <a:ea typeface="BIZ UDGothic"/>
                <a:cs typeface="BIZ UDGothic"/>
              </a:defRPr>
            </a:pPr>
            <a:r>
              <a:rPr sz="1725" b="0">
                <a:solidFill>
                  <a:srgbClr val="D9DBEA"/>
                </a:solidFill>
                <a:latin typeface="BIZ UDGothic"/>
                <a:ea typeface="BIZ UDGothic"/>
                <a:cs typeface="BIZ UDGothic"/>
              </a:rPr>
              <a:t>列・単位・行の除外条件を確認し、変更後は再取り込み。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DF00061-1031-4FA3-9A5E-614370F73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05100"/>
            <a:ext cx="400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2400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2400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2400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2400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2400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2400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2400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2400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2400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A9D8F"/>
                </a:solidFill>
                <a:latin typeface="BIZ UDGothic"/>
                <a:ea typeface="BIZ UDGothic"/>
                <a:cs typeface="BIZ UDGothic"/>
              </a:defRPr>
            </a:pPr>
            <a:r>
              <a:rPr sz="2400" b="1">
                <a:solidFill>
                  <a:srgbClr val="2A9D8F"/>
                </a:solidFill>
                <a:latin typeface="BIZ UDGothic"/>
                <a:ea typeface="BIZ UDGothic"/>
                <a:cs typeface="BIZ UDGothic"/>
              </a:rPr>
              <a:t>2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52FFC80-DC23-49B2-A849-FE7F29752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0510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2025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2025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2025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2025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2025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2025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2025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2025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2025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2025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評価条件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CB8A78B-E21C-4599-A5D8-FDE85B2E0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724150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D9DBEA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725" b="0">
                <a:solidFill>
                  <a:srgbClr val="D9DBEA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725" b="0">
                <a:solidFill>
                  <a:srgbClr val="D9DBEA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725" b="0">
                <a:solidFill>
                  <a:srgbClr val="D9DBEA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725" b="0">
                <a:solidFill>
                  <a:srgbClr val="D9DBEA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725" b="0">
                <a:solidFill>
                  <a:srgbClr val="D9DBEA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725" b="0">
                <a:solidFill>
                  <a:srgbClr val="D9DBEA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725" b="0">
                <a:solidFill>
                  <a:srgbClr val="D9DBEA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725" b="0">
                <a:solidFill>
                  <a:srgbClr val="D9DBEA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725" b="0">
                <a:solidFill>
                  <a:srgbClr val="D9DBEA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D9DBEA"/>
                </a:solidFill>
                <a:latin typeface="BIZ UDGothic"/>
                <a:ea typeface="BIZ UDGothic"/>
                <a:cs typeface="BIZ UDGothic"/>
              </a:defRPr>
            </a:pPr>
            <a:r>
              <a:rPr sz="1725" b="0">
                <a:solidFill>
                  <a:srgbClr val="D9DBEA"/>
                </a:solidFill>
                <a:latin typeface="BIZ UDGothic"/>
                <a:ea typeface="BIZ UDGothic"/>
                <a:cs typeface="BIZ UDGothic"/>
              </a:rPr>
              <a:t>学習Shotの選び方・数、手法、質的変数、補正モデルを確認。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B1AC7CE-F9E0-48CF-AF25-1AE86BBE3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43325"/>
            <a:ext cx="400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1">
                <a:solidFill>
                  <a:srgbClr val="8D6A9F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2400" b="1">
                <a:solidFill>
                  <a:srgbClr val="8D6A9F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2400" b="1">
                <a:solidFill>
                  <a:srgbClr val="8D6A9F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2400" b="1">
                <a:solidFill>
                  <a:srgbClr val="8D6A9F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2400" b="1">
                <a:solidFill>
                  <a:srgbClr val="8D6A9F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2400" b="1">
                <a:solidFill>
                  <a:srgbClr val="8D6A9F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2400" b="1">
                <a:solidFill>
                  <a:srgbClr val="8D6A9F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2400" b="1">
                <a:solidFill>
                  <a:srgbClr val="8D6A9F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2400" b="1">
                <a:solidFill>
                  <a:srgbClr val="8D6A9F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2400" b="1">
                <a:solidFill>
                  <a:srgbClr val="8D6A9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8D6A9F"/>
                </a:solidFill>
                <a:latin typeface="BIZ UDGothic"/>
                <a:ea typeface="BIZ UDGothic"/>
                <a:cs typeface="BIZ UDGothic"/>
              </a:defRPr>
            </a:pPr>
            <a:r>
              <a:rPr sz="2400" b="1">
                <a:solidFill>
                  <a:srgbClr val="8D6A9F"/>
                </a:solidFill>
                <a:latin typeface="BIZ UDGothic"/>
                <a:ea typeface="BIZ UDGothic"/>
                <a:cs typeface="BIZ UDGothic"/>
              </a:rPr>
              <a:t>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DC3FC54-20C3-477F-AB1F-0A378D270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43325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2025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2025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2025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2025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2025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2025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2025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2025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2025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2025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結果の確認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46B4614-F3C4-4980-B4AC-DC0968DD3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762375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D9DBEA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725" b="0">
                <a:solidFill>
                  <a:srgbClr val="D9DBEA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725" b="0">
                <a:solidFill>
                  <a:srgbClr val="D9DBEA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725" b="0">
                <a:solidFill>
                  <a:srgbClr val="D9DBEA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725" b="0">
                <a:solidFill>
                  <a:srgbClr val="D9DBEA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725" b="0">
                <a:solidFill>
                  <a:srgbClr val="D9DBEA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725" b="0">
                <a:solidFill>
                  <a:srgbClr val="D9DBEA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725" b="0">
                <a:solidFill>
                  <a:srgbClr val="D9DBEA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725" b="0">
                <a:solidFill>
                  <a:srgbClr val="D9DBEA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725" b="0">
                <a:solidFill>
                  <a:srgbClr val="D9DBEA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D9DBEA"/>
                </a:solidFill>
                <a:latin typeface="BIZ UDGothic"/>
                <a:ea typeface="BIZ UDGothic"/>
                <a:cs typeface="BIZ UDGothic"/>
              </a:defRPr>
            </a:pPr>
            <a:r>
              <a:rPr sz="1725" b="0">
                <a:solidFill>
                  <a:srgbClr val="D9DBEA"/>
                </a:solidFill>
                <a:latin typeface="BIZ UDGothic"/>
                <a:ea typeface="BIZ UDGothic"/>
                <a:cs typeface="BIZ UDGothic"/>
              </a:rPr>
              <a:t>実行記録、誤差の表・散布図、Waferごと・平均の残差を確認。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E0E1F83-C73D-48DB-B8AF-A019F4F97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81550"/>
            <a:ext cx="400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1">
                <a:solidFill>
                  <a:srgbClr val="E9C46A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2400" b="1">
                <a:solidFill>
                  <a:srgbClr val="E9C46A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2400" b="1">
                <a:solidFill>
                  <a:srgbClr val="E9C46A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2400" b="1">
                <a:solidFill>
                  <a:srgbClr val="E9C46A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2400" b="1">
                <a:solidFill>
                  <a:srgbClr val="E9C46A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2400" b="1">
                <a:solidFill>
                  <a:srgbClr val="E9C46A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2400" b="1">
                <a:solidFill>
                  <a:srgbClr val="E9C46A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2400" b="1">
                <a:solidFill>
                  <a:srgbClr val="E9C46A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2400" b="1">
                <a:solidFill>
                  <a:srgbClr val="E9C46A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2400" b="1">
                <a:solidFill>
                  <a:srgbClr val="E9C46A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E9C46A"/>
                </a:solidFill>
                <a:latin typeface="BIZ UDGothic"/>
                <a:ea typeface="BIZ UDGothic"/>
                <a:cs typeface="BIZ UDGothic"/>
              </a:defRPr>
            </a:pPr>
            <a:r>
              <a:rPr sz="2400" b="1">
                <a:solidFill>
                  <a:srgbClr val="E9C46A"/>
                </a:solidFill>
                <a:latin typeface="BIZ UDGothic"/>
                <a:ea typeface="BIZ UDGothic"/>
                <a:cs typeface="BIZ UDGothic"/>
              </a:rPr>
              <a:t>4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A09B663-CCD6-48DB-8002-58533E810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8155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2025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2025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2025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2025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2025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2025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2025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2025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2025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2025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保存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DACC64A-9B82-45FF-8C13-3CFC23BFF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800600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D9DBEA"/>
                </a:solidFill>
                <a:latin typeface="BIZ UDGothic"/>
                <a:ea typeface="BIZ UDGothic"/>
                <a:cs typeface="BIZ UDGothic"/>
              </a:defRPr>
            </a:defPPr>
            <a:lvl1pPr>
              <a:defRPr sz="1725" b="0">
                <a:solidFill>
                  <a:srgbClr val="D9DBEA"/>
                </a:solidFill>
                <a:latin typeface="BIZ UDGothic"/>
                <a:ea typeface="BIZ UDGothic"/>
                <a:cs typeface="BIZ UDGothic"/>
              </a:defRPr>
            </a:lvl1pPr>
            <a:lvl2pPr>
              <a:defRPr sz="1725" b="0">
                <a:solidFill>
                  <a:srgbClr val="D9DBEA"/>
                </a:solidFill>
                <a:latin typeface="BIZ UDGothic"/>
                <a:ea typeface="BIZ UDGothic"/>
                <a:cs typeface="BIZ UDGothic"/>
              </a:defRPr>
            </a:lvl2pPr>
            <a:lvl3pPr>
              <a:defRPr sz="1725" b="0">
                <a:solidFill>
                  <a:srgbClr val="D9DBEA"/>
                </a:solidFill>
                <a:latin typeface="BIZ UDGothic"/>
                <a:ea typeface="BIZ UDGothic"/>
                <a:cs typeface="BIZ UDGothic"/>
              </a:defRPr>
            </a:lvl3pPr>
            <a:lvl4pPr>
              <a:defRPr sz="1725" b="0">
                <a:solidFill>
                  <a:srgbClr val="D9DBEA"/>
                </a:solidFill>
                <a:latin typeface="BIZ UDGothic"/>
                <a:ea typeface="BIZ UDGothic"/>
                <a:cs typeface="BIZ UDGothic"/>
              </a:defRPr>
            </a:lvl4pPr>
            <a:lvl5pPr>
              <a:defRPr sz="1725" b="0">
                <a:solidFill>
                  <a:srgbClr val="D9DBEA"/>
                </a:solidFill>
                <a:latin typeface="BIZ UDGothic"/>
                <a:ea typeface="BIZ UDGothic"/>
                <a:cs typeface="BIZ UDGothic"/>
              </a:defRPr>
            </a:lvl5pPr>
            <a:lvl6pPr>
              <a:defRPr sz="1725" b="0">
                <a:solidFill>
                  <a:srgbClr val="D9DBEA"/>
                </a:solidFill>
                <a:latin typeface="BIZ UDGothic"/>
                <a:ea typeface="BIZ UDGothic"/>
                <a:cs typeface="BIZ UDGothic"/>
              </a:defRPr>
            </a:lvl6pPr>
            <a:lvl7pPr>
              <a:defRPr sz="1725" b="0">
                <a:solidFill>
                  <a:srgbClr val="D9DBEA"/>
                </a:solidFill>
                <a:latin typeface="BIZ UDGothic"/>
                <a:ea typeface="BIZ UDGothic"/>
                <a:cs typeface="BIZ UDGothic"/>
              </a:defRPr>
            </a:lvl7pPr>
            <a:lvl8pPr>
              <a:defRPr sz="1725" b="0">
                <a:solidFill>
                  <a:srgbClr val="D9DBEA"/>
                </a:solidFill>
                <a:latin typeface="BIZ UDGothic"/>
                <a:ea typeface="BIZ UDGothic"/>
                <a:cs typeface="BIZ UDGothic"/>
              </a:defRPr>
            </a:lvl8pPr>
            <a:lvl9pPr>
              <a:defRPr sz="1725" b="0">
                <a:solidFill>
                  <a:srgbClr val="D9DBEA"/>
                </a:solidFill>
                <a:latin typeface="BIZ UDGothic"/>
                <a:ea typeface="BIZ UDGothic"/>
                <a:cs typeface="BIZ UDGothi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D9DBEA"/>
                </a:solidFill>
                <a:latin typeface="BIZ UDGothic"/>
                <a:ea typeface="BIZ UDGothic"/>
                <a:cs typeface="BIZ UDGothic"/>
              </a:defRPr>
            </a:pPr>
            <a:r>
              <a:rPr sz="1725" b="0">
                <a:solidFill>
                  <a:srgbClr val="D9DBEA"/>
                </a:solidFill>
                <a:latin typeface="BIZ UDGothic"/>
                <a:ea typeface="BIZ UDGothic"/>
                <a:cs typeface="BIZ UDGothic"/>
              </a:rPr>
              <a:t>設定JSON、評価結果Excel、必要な推定値・図を保存。</a:t>
            </a:r>
          </a:p>
        </p:txBody>
      </p:sp>
    </p:spTree>
    <p:extLst>
      <p:ext uri="{BB962C8B-B14F-4D97-AF65-F5344CB8AC3E}">
        <p14:creationId xmlns:p14="http://schemas.microsoft.com/office/powerpoint/2010/main" val="106655934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BIZ UD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BIZ UD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2026-10-21T16:53:18.0580000Z</dcterms:created>
  <dcterms:modified xsi:type="dcterms:W3CDTF">2026-10-21T16:53:18.0580000Z</dcterms:modified>
</coreProperties>
</file>