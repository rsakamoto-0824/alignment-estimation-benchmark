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a5f952b08544d5" /><Relationship Type="http://schemas.openxmlformats.org/officeDocument/2006/relationships/extended-properties" Target="/docProps/app.xml" Id="R1782dd6b10844312" /><Relationship Type="http://schemas.openxmlformats.org/officeDocument/2006/relationships/officeDocument" Target="/ppt/presentation.xml" Id="R30a5d74c1fb643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d216aa0d7c4e21"/>
  </p:sldMasterIdLst>
  <p:notesMasterIdLst>
    <p:notesMasterId xmlns:r="http://schemas.openxmlformats.org/officeDocument/2006/relationships" r:id="Rafd19bee77a54127"/>
  </p:notesMasterIdLst>
  <p:sldIdLst>
    <p:sldId xmlns:r="http://schemas.openxmlformats.org/officeDocument/2006/relationships" id="256" r:id="R6a77169587dd4ad6"/>
    <p:sldId xmlns:r="http://schemas.openxmlformats.org/officeDocument/2006/relationships" id="257" r:id="R75629bc00ad14b6b"/>
    <p:sldId xmlns:r="http://schemas.openxmlformats.org/officeDocument/2006/relationships" id="258" r:id="R0f5415cf8236483e"/>
    <p:sldId xmlns:r="http://schemas.openxmlformats.org/officeDocument/2006/relationships" id="259" r:id="R2c8dc03e32504fb0"/>
    <p:sldId xmlns:r="http://schemas.openxmlformats.org/officeDocument/2006/relationships" id="260" r:id="R39a7ecb684de4e72"/>
    <p:sldId xmlns:r="http://schemas.openxmlformats.org/officeDocument/2006/relationships" id="261" r:id="R7cb9a67b66344dbe"/>
    <p:sldId xmlns:r="http://schemas.openxmlformats.org/officeDocument/2006/relationships" id="262" r:id="R7799dc038251425a"/>
    <p:sldId xmlns:r="http://schemas.openxmlformats.org/officeDocument/2006/relationships" id="263" r:id="R9160b1e451914d6c"/>
    <p:sldId xmlns:r="http://schemas.openxmlformats.org/officeDocument/2006/relationships" id="264" r:id="Rde63c7e62f744d87"/>
    <p:sldId xmlns:r="http://schemas.openxmlformats.org/officeDocument/2006/relationships" id="265" r:id="R73efd2adf06a46c0"/>
    <p:sldId xmlns:r="http://schemas.openxmlformats.org/officeDocument/2006/relationships" id="266" r:id="R2fd2316fccec45a0"/>
    <p:sldId xmlns:r="http://schemas.openxmlformats.org/officeDocument/2006/relationships" id="267" r:id="Red51e889c1ad417e"/>
    <p:sldId xmlns:r="http://schemas.openxmlformats.org/officeDocument/2006/relationships" id="268" r:id="R1cdd4cef477d4f54"/>
    <p:sldId xmlns:r="http://schemas.openxmlformats.org/officeDocument/2006/relationships" id="269" r:id="R2dcf76fed4d84adb"/>
    <p:sldId xmlns:r="http://schemas.openxmlformats.org/officeDocument/2006/relationships" id="270" r:id="Rc79f333b96b54521"/>
    <p:sldId xmlns:r="http://schemas.openxmlformats.org/officeDocument/2006/relationships" id="271" r:id="Rc9eb540139aa4eb4"/>
    <p:sldId xmlns:r="http://schemas.openxmlformats.org/officeDocument/2006/relationships" id="272" r:id="R2b004c7929f1466a"/>
    <p:sldId xmlns:r="http://schemas.openxmlformats.org/officeDocument/2006/relationships" id="273" r:id="R906f885a7f944271"/>
    <p:sldId xmlns:r="http://schemas.openxmlformats.org/officeDocument/2006/relationships" id="274" r:id="R3f42514b4d334ed1"/>
    <p:sldId xmlns:r="http://schemas.openxmlformats.org/officeDocument/2006/relationships" id="275" r:id="Ra193ca1e5e0e464f"/>
    <p:sldId xmlns:r="http://schemas.openxmlformats.org/officeDocument/2006/relationships" id="276" r:id="R93947bb2f28a4351"/>
    <p:sldId xmlns:r="http://schemas.openxmlformats.org/officeDocument/2006/relationships" id="277" r:id="R3302b9feb455498c"/>
    <p:sldId xmlns:r="http://schemas.openxmlformats.org/officeDocument/2006/relationships" id="278" r:id="Rc4394801a61b470c"/>
    <p:sldId xmlns:r="http://schemas.openxmlformats.org/officeDocument/2006/relationships" id="279" r:id="Rcafc0cdb06964d2e"/>
    <p:sldId xmlns:r="http://schemas.openxmlformats.org/officeDocument/2006/relationships" id="280" r:id="R31a516aa7eb54bbe"/>
    <p:sldId xmlns:r="http://schemas.openxmlformats.org/officeDocument/2006/relationships" id="281" r:id="Rd88a5e48b21c402a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e3db10301946c1" /><Relationship Type="http://schemas.openxmlformats.org/officeDocument/2006/relationships/slideMaster" Target="/ppt/slideMasters/slideMaster1.xml" Id="Rbfd216aa0d7c4e21" /><Relationship Type="http://schemas.openxmlformats.org/officeDocument/2006/relationships/notesMaster" Target="/ppt/notesMasters/notesMaster1.xml" Id="Rafd19bee77a54127" /><Relationship Type="http://schemas.openxmlformats.org/officeDocument/2006/relationships/presProps" Target="/ppt/presProps.xml" Id="Rf03f29a1d44f4c4b" /><Relationship Type="http://schemas.openxmlformats.org/officeDocument/2006/relationships/viewProps" Target="/ppt/viewProps.xml" Id="Rdbbcc7e5901d481f" /><Relationship Type="http://schemas.openxmlformats.org/officeDocument/2006/relationships/tableStyles" Target="/ppt/tableStyles.xml" Id="Rcd7d46e75fa04880" /><Relationship Type="http://schemas.openxmlformats.org/officeDocument/2006/relationships/slide" Target="/ppt/slides/slide1.xml" Id="R6a77169587dd4ad6" /><Relationship Type="http://schemas.openxmlformats.org/officeDocument/2006/relationships/slide" Target="/ppt/slides/slide2.xml" Id="R75629bc00ad14b6b" /><Relationship Type="http://schemas.openxmlformats.org/officeDocument/2006/relationships/slide" Target="/ppt/slides/slide3.xml" Id="R0f5415cf8236483e" /><Relationship Type="http://schemas.openxmlformats.org/officeDocument/2006/relationships/slide" Target="/ppt/slides/slide4.xml" Id="R2c8dc03e32504fb0" /><Relationship Type="http://schemas.openxmlformats.org/officeDocument/2006/relationships/slide" Target="/ppt/slides/slide5.xml" Id="R39a7ecb684de4e72" /><Relationship Type="http://schemas.openxmlformats.org/officeDocument/2006/relationships/slide" Target="/ppt/slides/slide6.xml" Id="R7cb9a67b66344dbe" /><Relationship Type="http://schemas.openxmlformats.org/officeDocument/2006/relationships/slide" Target="/ppt/slides/slide7.xml" Id="R7799dc038251425a" /><Relationship Type="http://schemas.openxmlformats.org/officeDocument/2006/relationships/slide" Target="/ppt/slides/slide8.xml" Id="R9160b1e451914d6c" /><Relationship Type="http://schemas.openxmlformats.org/officeDocument/2006/relationships/slide" Target="/ppt/slides/slide9.xml" Id="Rde63c7e62f744d87" /><Relationship Type="http://schemas.openxmlformats.org/officeDocument/2006/relationships/slide" Target="/ppt/slides/slide10.xml" Id="R73efd2adf06a46c0" /><Relationship Type="http://schemas.openxmlformats.org/officeDocument/2006/relationships/slide" Target="/ppt/slides/slide11.xml" Id="R2fd2316fccec45a0" /><Relationship Type="http://schemas.openxmlformats.org/officeDocument/2006/relationships/slide" Target="/ppt/slides/slide12.xml" Id="Red51e889c1ad417e" /><Relationship Type="http://schemas.openxmlformats.org/officeDocument/2006/relationships/slide" Target="/ppt/slides/slide13.xml" Id="R1cdd4cef477d4f54" /><Relationship Type="http://schemas.openxmlformats.org/officeDocument/2006/relationships/slide" Target="/ppt/slides/slide14.xml" Id="R2dcf76fed4d84adb" /><Relationship Type="http://schemas.openxmlformats.org/officeDocument/2006/relationships/slide" Target="/ppt/slides/slide15.xml" Id="Rc79f333b96b54521" /><Relationship Type="http://schemas.openxmlformats.org/officeDocument/2006/relationships/slide" Target="/ppt/slides/slide16.xml" Id="Rc9eb540139aa4eb4" /><Relationship Type="http://schemas.openxmlformats.org/officeDocument/2006/relationships/slide" Target="/ppt/slides/slide17.xml" Id="R2b004c7929f1466a" /><Relationship Type="http://schemas.openxmlformats.org/officeDocument/2006/relationships/slide" Target="/ppt/slides/slide18.xml" Id="R906f885a7f944271" /><Relationship Type="http://schemas.openxmlformats.org/officeDocument/2006/relationships/slide" Target="/ppt/slides/slide19.xml" Id="R3f42514b4d334ed1" /><Relationship Type="http://schemas.openxmlformats.org/officeDocument/2006/relationships/slide" Target="/ppt/slides/slide20.xml" Id="Ra193ca1e5e0e464f" /><Relationship Type="http://schemas.openxmlformats.org/officeDocument/2006/relationships/slide" Target="/ppt/slides/slide21.xml" Id="R93947bb2f28a4351" /><Relationship Type="http://schemas.openxmlformats.org/officeDocument/2006/relationships/slide" Target="/ppt/slides/slide22.xml" Id="R3302b9feb455498c" /><Relationship Type="http://schemas.openxmlformats.org/officeDocument/2006/relationships/slide" Target="/ppt/slides/slide23.xml" Id="Rc4394801a61b470c" /><Relationship Type="http://schemas.openxmlformats.org/officeDocument/2006/relationships/slide" Target="/ppt/slides/slide24.xml" Id="Rcafc0cdb06964d2e" /><Relationship Type="http://schemas.openxmlformats.org/officeDocument/2006/relationships/slide" Target="/ppt/slides/slide25.xml" Id="R31a516aa7eb54bbe" /><Relationship Type="http://schemas.openxmlformats.org/officeDocument/2006/relationships/slide" Target="/ppt/slides/slide26.xml" Id="Rd88a5e48b21c40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3e83334e5f45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4d1156f4614343" /><Relationship Type="http://schemas.openxmlformats.org/officeDocument/2006/relationships/notesMaster" Target="/ppt/notesMasters/notesMaster1.xml" Id="Ra8df0aa4ca3642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e4401e71e04b19" /><Relationship Type="http://schemas.openxmlformats.org/officeDocument/2006/relationships/notesMaster" Target="/ppt/notesMasters/notesMaster1.xml" Id="R5c59274dc00c43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8eb944a14c451a" /><Relationship Type="http://schemas.openxmlformats.org/officeDocument/2006/relationships/notesMaster" Target="/ppt/notesMasters/notesMaster1.xml" Id="R11eca98bd72f4a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052038c1ea48ac" /><Relationship Type="http://schemas.openxmlformats.org/officeDocument/2006/relationships/notesMaster" Target="/ppt/notesMasters/notesMaster1.xml" Id="R21147336e3b74d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af77b8b88544cb" /><Relationship Type="http://schemas.openxmlformats.org/officeDocument/2006/relationships/notesMaster" Target="/ppt/notesMasters/notesMaster1.xml" Id="Reab4731fe30042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c8ab9c591d4eef" /><Relationship Type="http://schemas.openxmlformats.org/officeDocument/2006/relationships/notesMaster" Target="/ppt/notesMasters/notesMaster1.xml" Id="Rc718ec059e184f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b4ad88fc4041b0" /><Relationship Type="http://schemas.openxmlformats.org/officeDocument/2006/relationships/notesMaster" Target="/ppt/notesMasters/notesMaster1.xml" Id="Rbeb9e1e1fa5441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b8903fe96cd44e8" /><Relationship Type="http://schemas.openxmlformats.org/officeDocument/2006/relationships/notesMaster" Target="/ppt/notesMasters/notesMaster1.xml" Id="Re47ec7d8e1b846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24e0324d324667" /><Relationship Type="http://schemas.openxmlformats.org/officeDocument/2006/relationships/notesMaster" Target="/ppt/notesMasters/notesMaster1.xml" Id="Rc25d9c59bdc34c5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567e3e4d684b8e" /><Relationship Type="http://schemas.openxmlformats.org/officeDocument/2006/relationships/notesMaster" Target="/ppt/notesMasters/notesMaster1.xml" Id="R8098feb5105644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3bf724fe4bb41b8" /><Relationship Type="http://schemas.openxmlformats.org/officeDocument/2006/relationships/notesMaster" Target="/ppt/notesMasters/notesMaster1.xml" Id="R6454f5b843cc4ef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60eeec2c244e62" /><Relationship Type="http://schemas.openxmlformats.org/officeDocument/2006/relationships/notesMaster" Target="/ppt/notesMasters/notesMaster1.xml" Id="Rf80aafe8cd36439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732ddb0688a4a5b" /><Relationship Type="http://schemas.openxmlformats.org/officeDocument/2006/relationships/notesMaster" Target="/ppt/notesMasters/notesMaster1.xml" Id="R858dbaefa3cb41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e0dca302f0749a0" /><Relationship Type="http://schemas.openxmlformats.org/officeDocument/2006/relationships/notesMaster" Target="/ppt/notesMasters/notesMaster1.xml" Id="Raed64971997a4ed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385b77f966843c9" /><Relationship Type="http://schemas.openxmlformats.org/officeDocument/2006/relationships/notesMaster" Target="/ppt/notesMasters/notesMaster1.xml" Id="Rf1b9f5a474414e8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c119b7a03584cd4" /><Relationship Type="http://schemas.openxmlformats.org/officeDocument/2006/relationships/notesMaster" Target="/ppt/notesMasters/notesMaster1.xml" Id="R7bfb22187c254bf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9f77a438e5c47ad" /><Relationship Type="http://schemas.openxmlformats.org/officeDocument/2006/relationships/notesMaster" Target="/ppt/notesMasters/notesMaster1.xml" Id="R88dd9affd63c458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c73e90010784d7c" /><Relationship Type="http://schemas.openxmlformats.org/officeDocument/2006/relationships/notesMaster" Target="/ppt/notesMasters/notesMaster1.xml" Id="R1b2ae355766d4e2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e9e5e8539b341fc" /><Relationship Type="http://schemas.openxmlformats.org/officeDocument/2006/relationships/notesMaster" Target="/ppt/notesMasters/notesMaster1.xml" Id="Rfdaa4c92a6ae42f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a446e4a4ae8424e" /><Relationship Type="http://schemas.openxmlformats.org/officeDocument/2006/relationships/notesMaster" Target="/ppt/notesMasters/notesMaster1.xml" Id="Rf357c708a0aa41c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49d5d30798a4ef4" /><Relationship Type="http://schemas.openxmlformats.org/officeDocument/2006/relationships/notesMaster" Target="/ppt/notesMasters/notesMaster1.xml" Id="Rb8d79a2d9a00452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eeaef9e536446f7" /><Relationship Type="http://schemas.openxmlformats.org/officeDocument/2006/relationships/notesMaster" Target="/ppt/notesMasters/notesMaster1.xml" Id="R5f5def52d4e34d1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f78244b186c43ad" /><Relationship Type="http://schemas.openxmlformats.org/officeDocument/2006/relationships/notesMaster" Target="/ppt/notesMasters/notesMaster1.xml" Id="Rc1f0c533f11c416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a0c706bece1489b" /><Relationship Type="http://schemas.openxmlformats.org/officeDocument/2006/relationships/notesMaster" Target="/ppt/notesMasters/notesMaster1.xml" Id="R2c22a00a4f7245c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44a5ea6d7824a78" /><Relationship Type="http://schemas.openxmlformats.org/officeDocument/2006/relationships/notesMaster" Target="/ppt/notesMasters/notesMaster1.xml" Id="Rb024bd1ada604cb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7dbf337d2714806" /><Relationship Type="http://schemas.openxmlformats.org/officeDocument/2006/relationships/notesMaster" Target="/ppt/notesMasters/notesMaster1.xml" Id="Rf7ef83791baf46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MATLAB版ユーザー手順書。画面はローカルの実アプリを同梱の模擬データで撮影。Windowsではウィンドウ枠やフォントが異なる場合があります。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  <a:p xmlns:a="http://schemas.openxmlformats.org/drawingml/2006/main">
            <a:r>
              <a:t>除外は重複の平均前。Sts列が未対応ならその列では判定せず通知。全行除外時は条件を見直します。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  <a:p xmlns:a="http://schemas.openxmlformats.org/drawingml/2006/main">
            <a:r>
              <a:t>shotNoの奇偶を使うのは、shotNoが露光順でScan方向が交互のとき。行奇偶はExcelの行番号とは異なります。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  <a:p xmlns:a="http://schemas.openxmlformats.org/drawingml/2006/main">
            <a:r>
              <a:t>手動はshotNoを空白またはカンマ区切りで入力し、1行を1パターンとします。ランダムは回数と乱数の種を設定します。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  <a:p xmlns:a="http://schemas.openxmlformats.org/drawingml/2006/main">
            <a:r>
              <a:t>質的変数はGPR・GAM、Backfittingを選んだTPS・RBF・Krigingで使用。学習点で1水準しかない変数は効果を推定しません。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  <a:p xmlns:a="http://schemas.openxmlformats.org/drawingml/2006/main">
            <a:r>
              <a:t>GPRは上部でカーネルと質的変数の扱いを選択。matern・ardmaternではνを指定可能。GAMはスプラインまたはガウス過程回帰を選択できます。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  <a:p xmlns:a="http://schemas.openxmlformats.org/drawingml/2006/main">
            <a:r>
              <a:t>画像は実際に評価を終えた状態です。計算時間はPC・データ・条件によって変わります。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  <a:p xmlns:a="http://schemas.openxmlformats.org/drawingml/2006/main">
            <a:r>
              <a:t>95%値は、95%のWaferがそれより良い値。誤差は95パーセント点、R²は5パーセント点です。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  <a:p xmlns:a="http://schemas.openxmlformats.org/drawingml/2006/main">
            <a:r>
              <a:t>推定値での補正は学習Shotの計測値とそれ以外の推定値で補正量を求め、実際の計測値に当てます。Overlay残差の評価は全Markが対象です。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対象：2026-10-21のローカル版。掲載画面は同梱の模擬データを使用。</a:t>
            </a:r>
            <a:endParaRPr/>
          </a:p>
          <a:p xmlns:a="http://schemas.openxmlformats.org/drawingml/2006/main">
            <a:r>
              <a:t>根拠：matlab_app/README.md、AlignmentEstimationApp.m、+alignest各計算処理。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画面例と操作名の根拠：matlab_app/AlignmentEstimationApp.m、README.md。設定JSONと結果Excelは別ファイルとして保存します。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cb905b4849497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7efa2dc92341c9" /><Relationship Type="http://schemas.openxmlformats.org/officeDocument/2006/relationships/slideLayout" Target="/ppt/slideLayouts/slideLayout1.xml" Id="R8091e07216074bb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91e07216074bb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9a0022fa8430b" /><Relationship Type="http://schemas.openxmlformats.org/officeDocument/2006/relationships/image" Target="/ppt/media/image.png" Id="R74739a8a31724c54" /><Relationship Type="http://schemas.openxmlformats.org/officeDocument/2006/relationships/notesSlide" Target="/ppt/notesSlides/notesSlide1.xml" Id="R856e16cd0d5944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e8a08754e94464" /><Relationship Type="http://schemas.openxmlformats.org/officeDocument/2006/relationships/image" Target="/ppt/media/image2.png" Id="R789c2f37922c45f5" /><Relationship Type="http://schemas.openxmlformats.org/officeDocument/2006/relationships/notesSlide" Target="/ppt/notesSlides/notesSlide2.xml" Id="Rea3db7a0584343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cb56e50091476f" /><Relationship Type="http://schemas.openxmlformats.org/officeDocument/2006/relationships/notesSlide" Target="/ppt/notesSlides/notesSlide3.xml" Id="R7689283c5e6f47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7e3e6b88f4c00" /><Relationship Type="http://schemas.openxmlformats.org/officeDocument/2006/relationships/notesSlide" Target="/ppt/notesSlides/notesSlide4.xml" Id="R0a74888792d549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fd217d7464c53" /><Relationship Type="http://schemas.openxmlformats.org/officeDocument/2006/relationships/image" Target="/ppt/media/image3.png" Id="R661230dca7c94121" /><Relationship Type="http://schemas.openxmlformats.org/officeDocument/2006/relationships/notesSlide" Target="/ppt/notesSlides/notesSlide5.xml" Id="Rd62efe0e7ec445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542cc09984fe3" /><Relationship Type="http://schemas.openxmlformats.org/officeDocument/2006/relationships/image" Target="/ppt/media/image4.png" Id="Rf4ad9f0dd2ec41c7" /><Relationship Type="http://schemas.openxmlformats.org/officeDocument/2006/relationships/notesSlide" Target="/ppt/notesSlides/notesSlide6.xml" Id="R964ca174b4f542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6e00400be41f2" /><Relationship Type="http://schemas.openxmlformats.org/officeDocument/2006/relationships/image" Target="/ppt/media/image5.png" Id="Rad1fc5224fc14395" /><Relationship Type="http://schemas.openxmlformats.org/officeDocument/2006/relationships/image" Target="/ppt/media/image6.png" Id="Rd90e99b87e944393" /><Relationship Type="http://schemas.openxmlformats.org/officeDocument/2006/relationships/notesSlide" Target="/ppt/notesSlides/notesSlide7.xml" Id="R7bfd098a4fb34b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76082fe58451d" /><Relationship Type="http://schemas.openxmlformats.org/officeDocument/2006/relationships/image" Target="/ppt/media/image7.png" Id="Ra634a8d307c34131" /><Relationship Type="http://schemas.openxmlformats.org/officeDocument/2006/relationships/image" Target="/ppt/media/image8.png" Id="R3482cb3903b64091" /><Relationship Type="http://schemas.openxmlformats.org/officeDocument/2006/relationships/notesSlide" Target="/ppt/notesSlides/notesSlide8.xml" Id="R5ad807430a6344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8f594fef464c2f" /><Relationship Type="http://schemas.openxmlformats.org/officeDocument/2006/relationships/image" Target="/ppt/media/image9.png" Id="Rf936eeb33b7c4b58" /><Relationship Type="http://schemas.openxmlformats.org/officeDocument/2006/relationships/notesSlide" Target="/ppt/notesSlides/notesSlide9.xml" Id="Rdb6852c21869484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4b1c1648144ca" /><Relationship Type="http://schemas.openxmlformats.org/officeDocument/2006/relationships/image" Target="/ppt/media/image10.png" Id="R378f89bad3774c55" /><Relationship Type="http://schemas.openxmlformats.org/officeDocument/2006/relationships/notesSlide" Target="/ppt/notesSlides/notesSlide10.xml" Id="Re3fa162d9b024f2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2a9f6058d2413b" /><Relationship Type="http://schemas.openxmlformats.org/officeDocument/2006/relationships/image" Target="/ppt/media/image11.png" Id="R675b9e80fa154993" /><Relationship Type="http://schemas.openxmlformats.org/officeDocument/2006/relationships/notesSlide" Target="/ppt/notesSlides/notesSlide11.xml" Id="R23169d4f152b4fa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42511b74e6429c" /><Relationship Type="http://schemas.openxmlformats.org/officeDocument/2006/relationships/image" Target="/ppt/media/image12.png" Id="R2c382391c47345a4" /><Relationship Type="http://schemas.openxmlformats.org/officeDocument/2006/relationships/notesSlide" Target="/ppt/notesSlides/notesSlide12.xml" Id="Rd255d11904464dc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e016ec9de48b9" /><Relationship Type="http://schemas.openxmlformats.org/officeDocument/2006/relationships/image" Target="/ppt/media/image13.png" Id="R40f8ebc723df46fa" /><Relationship Type="http://schemas.openxmlformats.org/officeDocument/2006/relationships/notesSlide" Target="/ppt/notesSlides/notesSlide13.xml" Id="R281e83f65f0b422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ea81f1863648cd" /><Relationship Type="http://schemas.openxmlformats.org/officeDocument/2006/relationships/image" Target="/ppt/media/image14.png" Id="R46b6e9adaf594062" /><Relationship Type="http://schemas.openxmlformats.org/officeDocument/2006/relationships/notesSlide" Target="/ppt/notesSlides/notesSlide14.xml" Id="Rd4d2d94e214e4e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2602c17d147fb" /><Relationship Type="http://schemas.openxmlformats.org/officeDocument/2006/relationships/image" Target="/ppt/media/image15.png" Id="R737a6b0ecb8c41e3" /><Relationship Type="http://schemas.openxmlformats.org/officeDocument/2006/relationships/notesSlide" Target="/ppt/notesSlides/notesSlide15.xml" Id="R35966cf499df46d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126ef8f7e74f11" /><Relationship Type="http://schemas.openxmlformats.org/officeDocument/2006/relationships/image" Target="/ppt/media/image16.png" Id="R6e357b3e6cfb4216" /><Relationship Type="http://schemas.openxmlformats.org/officeDocument/2006/relationships/notesSlide" Target="/ppt/notesSlides/notesSlide16.xml" Id="R9009e2c4dc404c1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1897c912d4ca4" /><Relationship Type="http://schemas.openxmlformats.org/officeDocument/2006/relationships/image" Target="/ppt/media/image17.png" Id="Rbfca6323293440f8" /><Relationship Type="http://schemas.openxmlformats.org/officeDocument/2006/relationships/notesSlide" Target="/ppt/notesSlides/notesSlide17.xml" Id="R7934a7790d13482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5bac66fed3464d" /><Relationship Type="http://schemas.openxmlformats.org/officeDocument/2006/relationships/image" Target="/ppt/media/image18.png" Id="R67f805c33cd1491e" /><Relationship Type="http://schemas.openxmlformats.org/officeDocument/2006/relationships/notesSlide" Target="/ppt/notesSlides/notesSlide18.xml" Id="Re4548b875660492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e665b3b7b4cfb" /><Relationship Type="http://schemas.openxmlformats.org/officeDocument/2006/relationships/image" Target="/ppt/media/image19.png" Id="R4189c2e419c643e6" /><Relationship Type="http://schemas.openxmlformats.org/officeDocument/2006/relationships/notesSlide" Target="/ppt/notesSlides/notesSlide19.xml" Id="R360956856a4f462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f2cdc9fefc4aed" /><Relationship Type="http://schemas.openxmlformats.org/officeDocument/2006/relationships/image" Target="/ppt/media/image20.png" Id="Raa08dc1298f4408f" /><Relationship Type="http://schemas.openxmlformats.org/officeDocument/2006/relationships/notesSlide" Target="/ppt/notesSlides/notesSlide20.xml" Id="Rc34d4ce81dbf48d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2f653bbca74890" /><Relationship Type="http://schemas.openxmlformats.org/officeDocument/2006/relationships/image" Target="/ppt/media/image21.png" Id="Ra6d23b2d4964426e" /><Relationship Type="http://schemas.openxmlformats.org/officeDocument/2006/relationships/notesSlide" Target="/ppt/notesSlides/notesSlide21.xml" Id="R053c7b9f5e1a4f2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91d6e18472476d" /><Relationship Type="http://schemas.openxmlformats.org/officeDocument/2006/relationships/image" Target="/ppt/media/image22.png" Id="Rb90b99a115784747" /><Relationship Type="http://schemas.openxmlformats.org/officeDocument/2006/relationships/notesSlide" Target="/ppt/notesSlides/notesSlide22.xml" Id="R9a164d44c2e5478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82f307f1b485a" /><Relationship Type="http://schemas.openxmlformats.org/officeDocument/2006/relationships/notesSlide" Target="/ppt/notesSlides/notesSlide23.xml" Id="Rc7e255f9c2e8451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7d3b0fbe34f43" /><Relationship Type="http://schemas.openxmlformats.org/officeDocument/2006/relationships/image" Target="/ppt/media/image23.png" Id="R1530e36c200649aa" /><Relationship Type="http://schemas.openxmlformats.org/officeDocument/2006/relationships/notesSlide" Target="/ppt/notesSlides/notesSlide24.xml" Id="Re064e2a7859d474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1d14afe2a4f23" /><Relationship Type="http://schemas.openxmlformats.org/officeDocument/2006/relationships/notesSlide" Target="/ppt/notesSlides/notesSlide25.xml" Id="R47e9f849b0d5407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8543efde2416f" /><Relationship Type="http://schemas.openxmlformats.org/officeDocument/2006/relationships/notesSlide" Target="/ppt/notesSlides/notesSlide26.xml" Id="R977c4954bff749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222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35B8596-AF25-414B-8809-6A033775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822960"/>
            <a:ext cx="5943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ユーザー向け操作手順書</a:t>
            </a:r>
            <a:endParaRPr sz="14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F7696E8-F9F4-486F-8E08-7831F4FA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62125"/>
            <a:ext cx="6096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3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アライメント計測ツール</a:t>
            </a:r>
            <a:endParaRPr sz="46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8668D1D-7871-4146-AA17-56B740CE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86125"/>
            <a:ext cx="571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200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データの取り込みから</a:t>
            </a:r>
            <a:endParaRPr sz="20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200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手法比較・結果出力まで</a:t>
            </a:r>
            <a:endParaRPr sz="20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9F12A6A-F3ED-4C16-9DE0-6596AD43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19750"/>
            <a:ext cx="609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2026年10月21日 ローカル版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画面は同梱の模擬データを使用</a:t>
            </a:r>
            <a:endParaRPr sz="1200"/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39C0A-EC9F-4918-BDF1-D04C819BA6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39a8a31724c54"/>
          <a:stretch xmlns:a="http://schemas.openxmlformats.org/drawingml/2006/main"/>
        </p:blipFill>
        <p:spPr>
          <a:xfrm xmlns:a="http://schemas.openxmlformats.org/drawingml/2006/main">
            <a:off x="6953250" y="1905000"/>
            <a:ext cx="4572000" cy="2857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7793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はじめに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操作の全体像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  <a:endParaRPr sz="1000"/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7EDFE6-4F3C-438E-82CD-F7B0925D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2B8C83-E56B-47D5-85F3-00302034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619250"/>
            <a:ext cx="4810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起動とファイル選択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B94B29-A7F4-492E-9AB7-2CA862F0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009775"/>
            <a:ext cx="4810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MATLABからアプリを起動し、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ExcelまたはCSVを選びます。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46898C-AED2-4E77-93F7-1F4E1099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1925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48349F8-4565-4B05-8DF3-83EF5A64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619250"/>
            <a:ext cx="4810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取り込み条件の確認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C9652E-78AD-46E3-9050-A2303F25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009775"/>
            <a:ext cx="4810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列の対応、座標の単位、除外条件を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確認して取り込みます。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CFC08FE-33F5-49F9-96E7-188E350E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C168B5-5B4B-44B8-85ED-DE3970E1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095625"/>
            <a:ext cx="4810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評価条件の設定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3E086E-E272-4FB9-A850-324EB3D1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486150"/>
            <a:ext cx="4810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学習Shotの選び方・数と、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比較する手法を決めます。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3ADDDB4-9F02-48AF-B330-7860FD9F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9562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33F4C-8050-4088-9126-C230E66D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095625"/>
            <a:ext cx="4810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評価と結果の確認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967B0C1-9716-4F82-8A5E-8AC2ECA5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486150"/>
            <a:ext cx="4810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実行記録、誤差の表、グラフ、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Waferごとのマップを確認します。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4AD00D-A814-4F8C-8208-5AC265E4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4B8190-5E55-4F64-9FD3-04058EC8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572000"/>
            <a:ext cx="4810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設定と結果の保存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C7A858E-3588-4FC9-A296-78AEF8C2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962525"/>
            <a:ext cx="4810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設定JSONと結果Excelを保存します。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必要に応じて推定値や図も保存します。</a:t>
            </a:r>
          </a:p>
        </p:txBody>
      </p:sp>
      <p:pic>
        <p:nvPic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7CF9DCB-2E76-4C6A-9A49-4EC229A90E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c2f37922c45f5"/>
          <a:stretch xmlns:a="http://schemas.openxmlformats.org/drawingml/2006/main"/>
        </p:blipFill>
        <p:spPr>
          <a:xfrm xmlns:a="http://schemas.openxmlformats.org/drawingml/2006/main">
            <a:off x="552450" y="5963900"/>
            <a:ext cx="11087100" cy="311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はじめに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アプリの起動とサンプルデータ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  <a:endParaRPr sz="1000"/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FE3F0B-E012-4A5D-A56F-293D9E96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66875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AE3F55-2E79-43D4-A54F-13402E2F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666875"/>
            <a:ext cx="566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MATLABを起動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D5B799-4C65-4E9A-AAC7-593BCB57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057400"/>
            <a:ext cx="56673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アプリ一式の matlab_app フォルダを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「現在のフォルダー」にします。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484DA5-ED60-4244-A8B4-0D9A5D06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3840F2-0920-4FD5-97E1-36CB82D8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143250"/>
            <a:ext cx="566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起動コマンドを入力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5FC312-6677-427E-A296-BDD50657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533775"/>
            <a:ext cx="56673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コマンドウィンドウで次を実行します。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6A1F284-0609-47E3-97DB-A75E26B4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143375"/>
            <a:ext cx="600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95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runAlignmentEstimationApp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6644560-AE10-4168-89F6-BBFCCB94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91125"/>
            <a:ext cx="647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試すファイル</a:t>
            </a:r>
          </a:p>
          <a:p xmlns:a="http://schemas.openxmlformats.org/drawingml/2006/main">
            <a:pPr>
              <a:def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8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sample_data/sample_alignment.xlsx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5CE525-C062-4702-8058-FA8C1082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66875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9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必要な環境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551FB69-5B13-4FC1-9A47-B04D09E5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38375"/>
            <a:ext cx="3667125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MATLAB R2022bで動作確認</a:t>
            </a:r>
          </a:p>
          <a:p xmlns:a="http://schemas.openxmlformats.org/drawingml/2006/main">
            <a: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追加Toolbox・Excel本体は不要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Windowsの.exe版を使う場合は、</a:t>
            </a:r>
          </a:p>
          <a:p xmlns:a="http://schemas.openxmlformats.org/drawingml/2006/main">
            <a: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作成時と同じ版のMATLAB Runtime</a:t>
            </a:r>
          </a:p>
          <a:p xmlns:a="http://schemas.openxmlformats.org/drawingml/2006/main">
            <a:pPr>
              <a:def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6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が必要です。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E317E65-843E-45B6-A36B-B378BFCF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0"/>
            <a:ext cx="11087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55566C"/>
                </a:solidFill>
                <a:latin typeface="BIZ UDGothic"/>
                <a:ea typeface="BIZ UDGothic"/>
                <a:cs typeface="BIZ UDGothic"/>
              </a:rPr>
              <a:t>画面の例はMac版です。操作名は同じで、外観はOSにより変わる場合があります。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データの準備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入力ファイルの項目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  <a:endParaRPr sz="1000"/>
          </a:p>
        </p:txBody>
      </p:sp>
      <p:graphicFrame>
        <p:nvGraphicFrame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F2B100-378E-4BA0-A786-1580941DA9EA}"/>
              </a:ext>
            </a:extLst>
          </p:cNvPr>
          <p:cNvGraphicFramePr/>
          <p:nvPr/>
        </p:nvGraphicFramePr>
        <p:xfrm>
          <a:off xmlns:a="http://schemas.openxmlformats.org/drawingml/2006/main" x="552450" y="1571625"/>
          <a:ext xmlns:a="http://schemas.openxmlformats.org/drawingml/2006/main" cx="110871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6762750"/>
                <a:gridCol w="1323975"/>
              </a:tblGrid>
              <a:tr h="488156">
                <a:tc>
                  <a:txBody>
                    <a:bodyPr lIns="85725" tIns="85725" rIns="85725" bIns="85725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T w="4763">
                      <a:solidFill>
                        <a:srgbClr val="DADDE6"/>
                      </a:solidFill>
                      <a:prstDash val="solid"/>
                    </a:lnT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22223B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意味・単位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T w="4763">
                      <a:solidFill>
                        <a:srgbClr val="DADDE6"/>
                      </a:solidFill>
                      <a:prstDash val="solid"/>
                    </a:lnT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22223B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指定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T w="4763">
                      <a:solidFill>
                        <a:srgbClr val="DADDE6"/>
                      </a:solidFill>
                      <a:prstDash val="solid"/>
                    </a:lnT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22223B"/>
                    </a:solidFill>
                  </a:tcPr>
                </a:tc>
              </a:tr>
              <a:tr h="488156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Xmm・Ymm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Shot中心の絶対座標。入力単位を選択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必須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</a:tr>
              <a:tr h="488156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markXmm・markYmm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Shot中心からのMark相対座標。入力単位を選択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必須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8156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measX・measY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X・Y方向の測定値 [nm]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必須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</a:tr>
              <a:tr h="488156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Wafer・DateTime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 ID・測定日時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任意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8156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shotNo・markNo・Direction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Shot番号・Mark番号・Scan方向（1または2）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任意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</a:tr>
              <a:tr h="488156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StsX・StsY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0は有効、−1は未測定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任意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8156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Operation・EqpId・LotID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工程・装置・ロット。値が違えば別の計測単位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任意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</a:tr>
            </a:tbl>
          </a:graphicData>
        </a:graphic>
      </p:graphicFrame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BD9679-A758-46D3-9FEE-90C3055A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11087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1行目を項目名にします。列名が異なる場合は画面で対応づけます。</a:t>
            </a:r>
          </a:p>
          <a:p xmlns:a="http://schemas.openxmlformats.org/drawingml/2006/main">
            <a: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標準項目に対応づけない列も、後で質的変数として選べます。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データの取り込み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ファイルと列の対応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8D809A-A7F2-46FB-A3D6-9401194480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1230dca7c94121"/>
          <a:stretch xmlns:a="http://schemas.openxmlformats.org/drawingml/2006/main"/>
        </p:blipFill>
        <p:spPr>
          <a:xfrm xmlns:a="http://schemas.openxmlformats.org/drawingml/2006/main">
            <a:off x="552450" y="1383506"/>
            <a:ext cx="7810500" cy="4881562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C0CF44-A289-4718-ACE4-6681F1E9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189" y="2192298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297EDD7-353F-41A7-8A95-0D9D37F6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5009" y="3163729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3C44BD4-4CBC-495B-820F-0DB6EFA0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062" y="5819299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81114A-E8C1-4904-A458-AE749891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116692-2EA6-4D41-9AE6-D70D222D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ファイルを選ぶ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089C57-EC94-41A5-9C08-08A9A0EA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ExcelまたはCSVを選びます。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Excelは対象シートも確認します。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3E2436-93B1-4FDE-B09F-8D8B1776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CA56D5-3A82-4001-82D6-FCC5A8CC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列の対応を確認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C4B9414-EA2B-4D52-BCB6-F5B5E31B6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左の表の「ファイルの列」を確認。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必須項目が対応していることを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確かめます。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24DADC-A85A-4B54-ABEE-25D60C77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027CA9F-BBF0-406E-B100-8BD09EB9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取り込みを実行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4FECAEE-D54E-4828-A2CD-908373E0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単位・除外条件も確認して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「この対応で読み込む」を押します。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B3EDD1B-3B6F-4446-9388-046A88CF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pPr>
            <a:r>
              <a: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rPr>
              <a:t>画面例は sample_alignment.xlsx（同梱の模擬データ）です。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データの取り込み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座標の単位と変換後の値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1F28FE-E755-43BD-9A8B-B03DB3C11E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d9f0dd2ec41c7"/>
          <a:stretch xmlns:a="http://schemas.openxmlformats.org/drawingml/2006/main"/>
        </p:blipFill>
        <p:spPr>
          <a:xfrm xmlns:a="http://schemas.openxmlformats.org/drawingml/2006/main">
            <a:off x="552450" y="2372320"/>
            <a:ext cx="7667625" cy="2875359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107A89-F8A8-4DF5-91D6-43523E46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470" y="3437037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880477-0EF2-45DE-8D8B-B2D219CF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360" y="3111163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1C8BB3-EDBF-4BD4-9F15-58C29079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6351" y="3638312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CAAE4-33C5-40E2-A0B9-16FC9685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8F2A4A-6A7D-4FE4-AEE7-09AFBF82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入力単位を選ぶ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D93883-4A71-46BE-BF07-2FFB4D94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Xmmなどの列ごとに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mm・µm・nm・mを選びます。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08004C7-530A-44B8-85DA-57AF8F1F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2547CF-5611-42D5-91F9-43BF0C30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推定は補助に使う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EC5E66-2E76-4EBF-8757-FC2B058A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「値の大きさから単位を推定」は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候補を選ぶ補助です。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実際の入力単位を確認します。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9A5C9E-8741-4D15-AC10-9A756A28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53EB74C-24FF-4EF2-9A89-DDAFEF94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変換後を確認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96A9FF8-55CD-42EA-AB94-FA757435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変換後の値はmmです。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measX・measYはnmのまま。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変更後は再取り込みします。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507908-4F70-474C-B2FB-373F8C80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pPr>
            <a:r>
              <a: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rPr>
              <a:t>列名がXmmでも、入力値がµmならµmを選びます。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データの取り込み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ゼロ測定値・未測定行の除外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9A86D8-A028-4694-AE5B-01EC83CA00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fc5224fc14395"/>
          <a:stretch xmlns:a="http://schemas.openxmlformats.org/drawingml/2006/main"/>
        </p:blipFill>
        <p:spPr>
          <a:xfrm xmlns:a="http://schemas.openxmlformats.org/drawingml/2006/main">
            <a:off x="552450" y="2296936"/>
            <a:ext cx="7667625" cy="454378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8C9925-0638-46A9-B1D8-01686956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376576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DA6D1F-5D7D-4754-AE35-9A2313626E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0e99b87e944393"/>
          <a:stretch xmlns:a="http://schemas.openxmlformats.org/drawingml/2006/main"/>
        </p:blipFill>
        <p:spPr>
          <a:xfrm xmlns:a="http://schemas.openxmlformats.org/drawingml/2006/main">
            <a:off x="552450" y="4122354"/>
            <a:ext cx="7667625" cy="423041"/>
          </a:xfrm>
          <a:prstGeom xmlns:a="http://schemas.openxmlformats.org/drawingml/2006/main" prst="rect">
            <a:avLst/>
          </a:prstGeom>
        </p:spPr>
      </p:pic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DB080D-35D2-4138-A044-F7DCFB08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18730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351D118-B203-47A0-B46D-8C7C9C0C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1D4323E-2449-4B6B-A4D3-DA18999E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X・Yが両方0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3F17D24-C747-4418-A420-0396A1E9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measXとmeasYがともに0の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行全体を除外します。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片方だけ0の行は残します。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1A9E75A-537C-48E5-AC6B-45ECE93C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3891B0E-5650-4101-9000-242EABDF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Stsのどちらかが−1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AA149DB-D86E-40EC-9F56-197C2438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StsXまたはStsYが−1なら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行全体を除外します。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2つの条件は個別に選べます。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6FFFBB-B970-4B84-A71D-8D1D1842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pPr>
            <a:r>
              <a: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rPr>
              <a:t>初期値は両方オフ。オフでも無効な軸は解析から除きます。除外件数は取り込み結果で確認できます。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データの取り込み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Scan方向がない行への値の付与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46E2DA-441C-4F88-B3C8-7CFA2671DD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34a8d307c34131"/>
          <a:stretch xmlns:a="http://schemas.openxmlformats.org/drawingml/2006/main"/>
        </p:blipFill>
        <p:spPr>
          <a:xfrm xmlns:a="http://schemas.openxmlformats.org/drawingml/2006/main">
            <a:off x="552450" y="2356918"/>
            <a:ext cx="7667625" cy="334414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10956E-E0FE-4F1C-8783-F5BABF132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382813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E76ABB-02A6-4862-B7DB-724E9ADC5C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82cb3903b64091"/>
          <a:stretch xmlns:a="http://schemas.openxmlformats.org/drawingml/2006/main"/>
        </p:blipFill>
        <p:spPr>
          <a:xfrm xmlns:a="http://schemas.openxmlformats.org/drawingml/2006/main">
            <a:off x="552450" y="4056254"/>
            <a:ext cx="7667625" cy="555242"/>
          </a:xfrm>
          <a:prstGeom xmlns:a="http://schemas.openxmlformats.org/drawingml/2006/main" prst="rect">
            <a:avLst/>
          </a:prstGeom>
        </p:spPr>
      </p:pic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985E9D5-EF05-4C8D-B23F-42795C33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18730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3ABA99-5928-4422-A2E1-D38AD9F7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A41CA8-E40C-425F-80D0-0B0944A0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装置の規則を選ぶ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9308B3F-9C21-442D-B950-400802A0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shotNoの奇偶・市松模様・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Shot行ごと・Shot列ごとから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実際の走査規則に合うものを選択。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7CDDA27-A717-494F-96A8-FE1EF5E5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6FEE546-400F-40CD-86E6-AC4919EC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必要なら1・2を反転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3BDF1C4-D72E-46E8-A9B7-95FF65EF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「付ける1と2を入れ替える」を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使い、取り込み後のShot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レイアウトでS1・S2を確認します。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CFF0247-84F2-4A54-A77B-3ACC57E9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pPr>
            <a:r>
              <a: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rPr>
              <a:t>Directionに値がある行は、その値を使います。規則が不明な場合は「付けない」のままにします。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取り込み後の確認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Waferマップで測定値を確認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50CA22-4AD1-43D3-89A9-E4FED4A2BF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36eeb33b7c4b58"/>
          <a:stretch xmlns:a="http://schemas.openxmlformats.org/drawingml/2006/main"/>
        </p:blipFill>
        <p:spPr>
          <a:xfrm xmlns:a="http://schemas.openxmlformats.org/drawingml/2006/main">
            <a:off x="552450" y="1383506"/>
            <a:ext cx="7810500" cy="4881562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F47B6C-2B9A-4FB5-8FAA-88DAB894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122" y="2836664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D17368-2D4D-4B4F-843B-F647547A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3569" y="3017282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788C362-C96E-46D4-AA88-13DF41E5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417" y="3017282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7097F8-1AA0-4B08-8B62-B01C8581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2A9B3F-E9CA-46A4-B0B4-0B544BAF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計測値のタブ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F1CD92-2F7C-46ED-AA09-FA8BEF01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「Wafer マップ（計測値）」を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開きます。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93E580-B7A5-4E6C-8474-4CAC19AB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A25ECF8-76E1-48BE-9F22-6D0B5629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Waferを選ぶ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5945D77-F63D-4E53-9B07-A44B12DF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矢印とX・Yの色分布を確認。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偏りや欠けが意図どおりか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確かめます。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215B402-9ED9-472D-9D75-ECF9AC28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21F10A7-7087-4458-ACA1-BB010C42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見え方を調整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993822-E294-46AA-B02F-D4039D45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点の大きさ・Shot枠を調整。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配置が不自然な場合は、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取り込み条件を確認します。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取り込み後の確認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ShotレイアウトとMark番号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997A2E-5CD0-4876-9C8C-05D9D788AE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8f89bad3774c55"/>
          <a:stretch xmlns:a="http://schemas.openxmlformats.org/drawingml/2006/main"/>
        </p:blipFill>
        <p:spPr>
          <a:xfrm xmlns:a="http://schemas.openxmlformats.org/drawingml/2006/main">
            <a:off x="552450" y="1383506"/>
            <a:ext cx="7810500" cy="4881562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32C9E3-C0FC-4F68-AB5D-2C579845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067" y="2836664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E30C1B-2BFC-4EB1-8BE2-53E1C37A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1395" y="4276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52AF06D-1775-4BB7-8326-BDA0F6C2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276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5CC425-BBD8-46A4-B896-017A29A1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4923D3-8673-47E5-B329-5E7BD742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Shotレイアウト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1FC1AE-65F4-418E-BABB-3A0A5BDA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内側の「Shot レイアウト」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タブを開きます。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4F8B10-01E1-45FC-B5A2-523D3DC4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46333A-2023-479E-A537-3EA9993F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Wafer上の配置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20A4A57-658F-4D0B-9205-BE06F72DA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左でShot枠・shotNo・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Mark位置・Scan方向を確認。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EBF7FA0-B3F9-4805-BBB8-2DABBB93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A8852A-D8B8-4BE5-B800-DDC80635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Shot内の配置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297A9FC-A27F-47F0-8D4E-EC1C016A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右でMarkの相対位置と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markNoを確認します。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入力の座標定義と照合します。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3E48D85-FF00-43A9-9E31-2E84ACC4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pPr>
            <a:r>
              <a: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rPr>
              <a:t>Shotの枠の大きさは、入力座標から推定した値です。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評価の設定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学習Shotの選び方と数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AD0149-2818-44A5-BB2B-5471DA46ED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b9e80fa154993"/>
          <a:stretch xmlns:a="http://schemas.openxmlformats.org/drawingml/2006/main"/>
        </p:blipFill>
        <p:spPr>
          <a:xfrm xmlns:a="http://schemas.openxmlformats.org/drawingml/2006/main">
            <a:off x="2091919" y="1428750"/>
            <a:ext cx="4588686" cy="476250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3858FC-AE87-4B02-91D2-6A962522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774" y="16360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AF2E00-51AF-4843-9906-93CBCD68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058" y="2213137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8E29B3-20DC-4372-99CB-728AD4D3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0869" y="4660436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36C49E-2EE6-460A-B367-E7E85C38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76D395-5715-48DB-B121-B77AD1F7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選び方を決める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1419BE4-66C2-42F1-99EF-8A388A26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I最適、制約つきランダム、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手動指定から選びます。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まずはI最適で試せます。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4B229C0-4061-4E1B-9D85-1CA8605A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213333-9B58-4976-858F-C8CE453D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開始・終了・刻み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062407-9425-42F2-88AE-6193737E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例は10・20・10で、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10 Shotと20 Shotを比較。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欄の下の並びを確認します。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D54BB9B-406D-4E0F-B6AD-59144815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99C1E3-EAF7-4993-AA8D-63C617BE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制約を確認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191141F-36B4-4D86-A798-89D210CD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同心円・4象限・Scan方向の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制約を確認。失敗する場合は、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Shot数や制約を見直します。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評価の設定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推定に使う質的変数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FA74C16-FEC4-48CD-BD31-F2185752FA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382391c47345a4"/>
          <a:stretch xmlns:a="http://schemas.openxmlformats.org/drawingml/2006/main"/>
        </p:blipFill>
        <p:spPr>
          <a:xfrm xmlns:a="http://schemas.openxmlformats.org/drawingml/2006/main">
            <a:off x="552450" y="2553722"/>
            <a:ext cx="7667625" cy="2512555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C3EDAE-E941-4BFF-8C19-44A3901C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774" y="3823938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FCA5EE-9D3D-4751-BC02-9AC12C20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846" y="4343777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AE33393-E0E4-426E-92EE-23237967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1128" y="312215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B54E67-5B15-4012-BBF0-84F255ED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022138-9ED4-4064-8686-7D690D9F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標準の質的変数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4B5998-96AA-41A9-891F-BB8C7B42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Scan方向・Mark番号・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Shot行の奇数／偶数を選択。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行奇偶は上から数えます。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E155E1-27C5-4398-A080-FA2C383D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C29747-EEBE-4B4E-8E92-1CD8A515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その他の列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D53CD0-EFB2-4F16-917B-B1957E93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取り込んだファイルの追加列も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選べます。複数選択は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Ctrl・Shiftを使います。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673C78-8B02-45AE-8867-F9130308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9A28F75-2FD1-4788-9A5B-A334FFE4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説明変数の組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7CC0B0D-0D91-41DE-9DB3-AB59AA24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X,YまたはX,Y,半径を選択。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質的変数とは別の設定です。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評価の設定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比較する手法とBackfitting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A6C334-88DB-4F1B-AB31-3479F82B90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8ebc723df46fa"/>
          <a:stretch xmlns:a="http://schemas.openxmlformats.org/drawingml/2006/main"/>
        </p:blipFill>
        <p:spPr>
          <a:xfrm xmlns:a="http://schemas.openxmlformats.org/drawingml/2006/main">
            <a:off x="552450" y="1990564"/>
            <a:ext cx="7667625" cy="3638873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59AE03-365D-43D0-A888-C6330BA2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388" y="2983531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5DADB8-1E7E-4225-A37F-D732FD45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846" y="2983531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BBF8BF-89DC-487A-8B89-57F72A8E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846" y="4551712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CD4231-1405-40F4-9421-546F6A34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17DA020-EB2B-4F2D-B18F-4EC0AFB0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手法を追加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9F9C84-97C2-48F5-B57F-C80192DE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RBF・TPS・通常Kriging・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Universal Krigingなどを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チェックして追加します。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A8C000-4684-403B-954B-910E3461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C12018C-DBF5-4F0E-B6BB-DD1445D2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質的変数の扱い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8796B6C-315D-4A11-96DC-A08B559C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右の欄で「Backfitting」または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「なし・Backfittingを比較」を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選びます。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AF5470-1AC8-461D-A74E-E37F63E2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69B208B-B92D-452F-9604-41A18879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詳細は必要時に変更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B0AAB5A-AF65-4049-9CB4-E211A671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Krigingはバリオグラム、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GAMは形状関数を選択。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まずは推奨設定で試します。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3845B72-C57D-4970-8CED-E574E1EB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pPr>
            <a:r>
              <a: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rPr>
              <a:t>画面に見えない項目は、パネル内を下へスクロールすると表示されます。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評価の設定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Overlay補正の評価条件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C6715A-DF5F-4A34-A88F-BC2100522C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b6e9adaf594062"/>
          <a:stretch xmlns:a="http://schemas.openxmlformats.org/drawingml/2006/main"/>
        </p:blipFill>
        <p:spPr>
          <a:xfrm xmlns:a="http://schemas.openxmlformats.org/drawingml/2006/main">
            <a:off x="552450" y="1893094"/>
            <a:ext cx="7667625" cy="3833813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35C9CF-1555-43FE-90B6-F794CD37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6296" y="4420177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7646EE-7467-410A-9C22-58B111AE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785" y="4420177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7945D7-DC93-4BFD-81D7-82106435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6296" y="525664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C273756-4EB5-477E-A4EA-D2FAE8C3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F457E4-2FF5-4FCD-8C4A-944E7113A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Wafer成分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478F96F-1747-4305-8C6A-773D92DE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Shot中心座標による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補正の次数を選びます。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3DFE95-76FA-4552-8044-A3FBFF9C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AD813B-7909-4105-8A1C-B6E3EF39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Shot共通成分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FEE2938-6C14-44F0-94EC-D9F59CA3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全Shot共通のShot内補正。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1次またはメーカー別の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高次式を選択できます。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8AE313-60BC-450D-AF34-69661EBD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C44093E-0D85-4026-AC3F-FCD14FA2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Shotごとの成分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8190E8C-0E18-4494-B009-DDC99FA5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なし・並進・1次から選択。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すべて「なし」にすると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Overlayの評価を行いません。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F6174F-1C5F-4303-A1B2-722DCE72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pPr>
            <a:r>
              <a: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rPr>
              <a:t>初期設定はWafer 1次＋Shot共通1次です。使用する補正モデルに合わせて変更します。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評価の実行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評価の開始と実行記録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F7DFEC-3AF5-408B-BCEC-B94F108700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7a6b0ecb8c41e3"/>
          <a:stretch xmlns:a="http://schemas.openxmlformats.org/drawingml/2006/main"/>
        </p:blipFill>
        <p:spPr>
          <a:xfrm xmlns:a="http://schemas.openxmlformats.org/drawingml/2006/main">
            <a:off x="552450" y="3222067"/>
            <a:ext cx="7667625" cy="1175866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56A528-DBD7-45DB-962D-71892DED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0189" y="3181806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8D0444-3FA4-4F01-92E7-43016B28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5971" y="3348387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DCFABD-64BC-44BB-BCC4-6AC9222D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0357" y="393632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9263331-EA7E-4D1E-B377-8A61110A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F18E5D-3F27-40FC-B05D-24AE3E68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実行条件を確認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9832FB5-0D6F-41EB-8A00-84CD7E14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「3. 実行」を開き、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手法数・学習パターン数・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Wafer数を確認します。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2D57DDE-1DB5-4CD6-83F5-35BB1799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7F35FF-6D1E-4D3B-B503-8FB796CA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評価を始める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CB50858-C297-4AA4-80DA-F24F479B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実行中は進捗を表示。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停止した場合は、途中までの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結果を残します。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02E9ED-2AB4-4F92-BCB4-3DD21743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75C6104-B890-4FDE-80A8-3CA2ABC2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完了と注意を確認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5CC9062-AC1D-4486-B39A-AA09FC08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完了後は記録を確認します。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推定不可や未収束の場合は、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原因と評価条件を確認します。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結果の確認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手法ごとの誤差とWafer間の集計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24B4AB-B2AA-49DF-8C92-038CD3F9F0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57b3e6cfb4216"/>
          <a:stretch xmlns:a="http://schemas.openxmlformats.org/drawingml/2006/main"/>
        </p:blipFill>
        <p:spPr>
          <a:xfrm xmlns:a="http://schemas.openxmlformats.org/drawingml/2006/main">
            <a:off x="552450" y="1996153"/>
            <a:ext cx="7667625" cy="3627694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D26466-7721-4FCC-9966-88F4CB35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290" y="2283286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6FD17D2-D746-4F47-8129-17615495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8388" y="2283286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E05807-9213-49DA-A2E6-9DF24511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1381" y="351175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98C7ED2-4A15-41BE-B657-CF6F3551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57E4D0-A608-4EA0-879A-7329F933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指標を選ぶ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50800D8-8263-41F5-A2E8-F90B5C1D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RMSE・MAEは小さいほど良好。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R²・調整済みR²は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大きいほど良好です。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92F96B-01C0-4970-A4C1-026E9C46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2460BB-9E73-4FAE-B79C-C105775B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集計を選ぶ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6D7E70B-7094-4892-AAEE-AD34A204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平均・中央値・ワースト値・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95%値でWafer間の結果を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確認します。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2A68BE7-A3B6-40F2-9957-63BAD7FA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A316D19-1C84-4CEF-9BFE-AD3F79A1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同じ列で比較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F22D59B-8F05-41E8-AE74-E3B45078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各列の最良に★が付きます。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学習Shot数をそろえた列で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手法を比べます。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結果の確認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学習Shot数と誤差の関係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DD7712-5660-4074-858A-523CE1FFED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ca6323293440f8"/>
          <a:stretch xmlns:a="http://schemas.openxmlformats.org/drawingml/2006/main"/>
        </p:blipFill>
        <p:spPr>
          <a:xfrm xmlns:a="http://schemas.openxmlformats.org/drawingml/2006/main">
            <a:off x="552450" y="1383506"/>
            <a:ext cx="7810500" cy="4881562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E67D80-BC13-45F1-B017-F6E50F14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463" y="20263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916B95-6571-4732-8831-A47D3631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7146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3C2615-8424-4E6E-90D1-DB2F1902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0919" y="1679734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0E6A51-091F-4FA9-8916-FAD6A1CF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B710789-499E-4588-86D5-72E29051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横軸を選ぶ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44006D7-DB3B-4EA1-A37E-44794490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「学習 Shot 数」を選びます。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Shot数を増やしたときの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誤差の変化を確認します。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3C29C1-B050-4583-8E8A-AC523367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4AE458C-ECF8-4BC4-B1DA-C8C9872F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手法を絞る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72F6CEA-5B1F-4818-B0A5-BE147A93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右の一覧から表示する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手法を選びます。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複数選択して比較できます。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97A9B4D-9273-4A3C-BFB8-ECDE4F29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730F16-6CFA-425A-A9A2-1D4C3DD2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図を保存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89D112E-3B92-42BB-8238-2F35483F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必要な表示に整えて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「グラフを画像で保存…」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から保存します。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結果の確認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I基準・D基準と推定誤差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18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618A39-5FCA-4095-86AF-C20F5917DB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805c33cd1491e"/>
          <a:stretch xmlns:a="http://schemas.openxmlformats.org/drawingml/2006/main"/>
        </p:blipFill>
        <p:spPr>
          <a:xfrm xmlns:a="http://schemas.openxmlformats.org/drawingml/2006/main">
            <a:off x="552450" y="1383506"/>
            <a:ext cx="7810500" cy="4881562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F186B9-9727-4D46-AF4C-57C46710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133" y="20263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3EB4A9-E32F-4DEE-8A7D-FFF3483A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3578" y="201168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4C4F755-1A42-42F7-BF8A-D20EDAA3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328" y="4081463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AD5F383-04A7-42D3-A0F8-B98C21AF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BC49B8-A82B-436E-BDD1-2A65450E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I基準・D基準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EDB55EF-CC17-47E0-BFF6-161231AB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グラフの横軸を切り替えると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2つの図が並びます。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0CE0DC9-9549-4161-A86A-2055B94C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7061D35-A7D8-455A-A961-BB1CEC52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Waferの点も確認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88A0C9A-CB44-4F05-9F70-8A970422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「Wafer ごとの点も描く」で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個別Waferのばらつきを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重ねて確認できます。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EF1A856-BE76-4785-9B0D-B85C051D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75D028D-2075-4690-96FC-ACD4D00A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計画と誤差を照合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871F5CD-CC0F-4D33-A782-71CC4748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I・D基準は小さいほど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良い計画です。実際の誤差も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合わせて確認します。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結果の確認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基準の手法との比較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19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CDFF20-2EBD-43D8-9150-995435A909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89c2e419c643e6"/>
          <a:stretch xmlns:a="http://schemas.openxmlformats.org/drawingml/2006/main"/>
        </p:blipFill>
        <p:spPr>
          <a:xfrm xmlns:a="http://schemas.openxmlformats.org/drawingml/2006/main">
            <a:off x="552450" y="1950315"/>
            <a:ext cx="7667625" cy="371937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471D72-4CE1-462A-B975-5E22FC62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5397" y="2120237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EF5B19-B0C2-4226-BC32-1242764F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06" y="2314788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069DC84-D6F3-4C33-8340-075609EC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7060" y="2932776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6B0962-F56E-457C-8A10-04DE9B62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2B5346-6AC4-4F2E-90C8-059A1C51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基準の手法を指定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8D75356-EB36-46C9-A4B0-179FA874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上の欄で比較相手を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選びます。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85681E6-6E6D-4B00-939D-0D590F33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46C69EE-5329-4C8B-B23A-0561312F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比較タブを開く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131996C-9DA2-48D4-812A-C783AE64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「基準の手法との比較」で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同じWafer・学習パターンの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差を確認します。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AAABA8-64F4-4425-B7D2-6737DAA3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AC763B6-8AA9-4F91-BCBE-1F3953E4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差とばらつきを確認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A716918-CE45-4515-9B04-1BCD8419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95%区間と、基準より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良かったWaferの割合も見ます。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画面の差の向きの説明を確認。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結果の確認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推定値と誤差の分布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20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B104B1-7EBD-4E2E-ACF1-5F7243B9F6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08dc1298f4408f"/>
          <a:stretch xmlns:a="http://schemas.openxmlformats.org/drawingml/2006/main"/>
        </p:blipFill>
        <p:spPr>
          <a:xfrm xmlns:a="http://schemas.openxmlformats.org/drawingml/2006/main">
            <a:off x="552450" y="1383506"/>
            <a:ext cx="7810500" cy="4881562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91EDC3-090B-4119-A781-683797D4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128838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A5BD41-AA0A-4B4B-9198-F9AB989F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255" y="2143482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4612CF1-9F6A-4182-8125-1F5D3E6C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881" y="4276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A6D560-071B-4E3D-AF56-ACAB8AC2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DE07F2-8A1B-4046-A18C-98071DEF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分析対象を選ぶ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18979F1-C5EE-44FD-A841-443A31C0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手法・学習パターン・Waferを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選びます。Waferはすべて、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または1枚に絞れます。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03011F-0C19-41AA-AAB2-D3EB0999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34AC5E-C117-4BE1-BC9D-6C651EA5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分析する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7089A7-B34E-4458-8968-A62DF5AB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残差のヒストグラムと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検定結果を表示します。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残差＝計測値−推定値です。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1538B2E-C1EE-4FF7-9D53-6444243F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4E994F5-FD54-4F15-BADF-BCA14161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形と偏りを確認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EA288D6-D6D1-43BA-A31B-14453FF7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正規性検定とANOVAを確認。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p値だけで判断せず、分布や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水準ごとの平均差も見ます。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42BE5CB-D431-4BAE-BE97-B1611F46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pPr>
            <a:r>
              <a: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rPr>
              <a:t>評価点は、学習に使わなかったShotの有効なMarkです。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05　Waferごとの確認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計測値・推定値・残差のマップ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21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30073C-CB00-4F78-8519-BA25E4751C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d23b2d4964426e"/>
          <a:stretch xmlns:a="http://schemas.openxmlformats.org/drawingml/2006/main"/>
        </p:blipFill>
        <p:spPr>
          <a:xfrm xmlns:a="http://schemas.openxmlformats.org/drawingml/2006/main">
            <a:off x="552450" y="1383506"/>
            <a:ext cx="7810500" cy="4881562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ACFB6E-1B32-4411-8878-C251067F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753" y="176272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E498C3-6855-48DC-B12E-5D8F93A3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7109" y="176272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9C005D5-203A-45F8-94A8-1922FE77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366" y="176272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B33FDC-25E3-4E9C-8674-9A913F52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5D65D37-7A64-4527-B673-C36D9274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対象を選ぶ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E9BA91F-E772-4633-86BE-5C2E9AD9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Wafer・学習パターン・手法を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選びます。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B43FE83-B36C-44B5-A406-CE31EBED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3F2933B-6031-46EB-A581-3BE26926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表示を切り替える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9B43640-427D-4C49-AD09-C79AD404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ベクトル、Xの色、Yの色を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切り替え、残差が大きい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位置を確認します。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8019170-D35A-4BE0-BEFD-0E0E9726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6A65ADB-B654-4D16-B439-E3E538AF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見え方と保存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B4DDF88-AD25-410F-9805-7F1FE9D4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点の大きさ・矢印の倍率・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Shot枠を調整し、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「図を画像で保存…」で保存。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05　Waferごとの確認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Overlay補正後の残差と変化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22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8EABC0-37EE-472A-9E00-762A7A773D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0b99a115784747"/>
          <a:stretch xmlns:a="http://schemas.openxmlformats.org/drawingml/2006/main"/>
        </p:blipFill>
        <p:spPr>
          <a:xfrm xmlns:a="http://schemas.openxmlformats.org/drawingml/2006/main">
            <a:off x="552450" y="1383506"/>
            <a:ext cx="7810500" cy="4881562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C549FE-0AAE-43F9-8755-959D140D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981" y="176272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A21EE2-22AB-4946-9373-642FFFFC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881" y="3983831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CC4C4F-3BD0-4FC8-BD7A-5693A66A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606" y="3983831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0312E3-37BE-4723-80E1-F7BD9C71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B74FF8-08EC-4458-A20C-F3B8B8D6E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図の内容を切り替え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F97788-DE1C-4D37-9B91-5EB7C5CB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「Overlay 補正」を選択。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評価設定で補正モデルを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有効にしたときに使えます。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CB77B91-E1D4-4523-8223-0D4F9FE3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A392B6-C599-47CF-B96D-B6D0B2BD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2つの残差を比較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80405F-1E89-45D0-B906-4F513857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実測値で補正した残差と、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推定値で補正した残差を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確認します。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2F3E4B1-4869-496C-AF01-ED01F749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7A9755-F248-4D02-9E94-B4999E9F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推定による変化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3A83AF-AD56-4983-A828-54499E0D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右の図と下部の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|平均|＋3σを確認し、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推定に伴う変化を見ます。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06　保存と再利用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評価結果と推定値のExcel出力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23</a:t>
            </a:r>
            <a:endParaRPr sz="1000"/>
          </a:p>
        </p:txBody>
      </p:sp>
      <p:graphicFrame>
        <p:nvGraphicFrame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20B194-FBAF-4AD4-9CFF-C8A6C4B20A82}"/>
              </a:ext>
            </a:extLst>
          </p:cNvPr>
          <p:cNvGraphicFramePr/>
          <p:nvPr/>
        </p:nvGraphicFramePr>
        <p:xfrm>
          <a:off xmlns:a="http://schemas.openxmlformats.org/drawingml/2006/main" x="552450" y="1571625"/>
          <a:ext xmlns:a="http://schemas.openxmlformats.org/drawingml/2006/main" cx="110871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95750"/>
                <a:gridCol w="4991100"/>
              </a:tblGrid>
              <a:tr h="857250">
                <a:tc>
                  <a:txBody>
                    <a:bodyPr lIns="85725" tIns="85725" rIns="85725" bIns="85725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保存する内容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T w="4763">
                      <a:solidFill>
                        <a:srgbClr val="DADDE6"/>
                      </a:solidFill>
                      <a:prstDash val="solid"/>
                    </a:lnT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22223B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操作する場所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T w="4763">
                      <a:solidFill>
                        <a:srgbClr val="DADDE6"/>
                      </a:solidFill>
                      <a:prstDash val="solid"/>
                    </a:lnT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22223B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主な内容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T w="4763">
                      <a:solidFill>
                        <a:srgbClr val="DADDE6"/>
                      </a:solidFill>
                      <a:prstDash val="solid"/>
                    </a:lnT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22223B"/>
                    </a:solidFill>
                  </a:tcPr>
                </a:tc>
              </a:tr>
              <a:tr h="857250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評価結果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結果一覧の上部</a:t>
                      </a:r>
                    </a:p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「結果を Excel に書き出す…」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集計、Waferごとの指標、学習Shot、</a:t>
                      </a:r>
                    </a:p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設定、注意事項。Overlayの指標も含む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</a:tr>
              <a:tr h="857250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推定値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「推定値と誤差の分布」</a:t>
                      </a:r>
                    </a:p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「推定値を Excel に書き出す…」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評価点の計測値・推定値・残差、</a:t>
                      </a:r>
                    </a:p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正規性検定、ANOVA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Overlay残差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推定値Excelに追加</a:t>
                      </a:r>
                    </a:p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（補正を評価した場合）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全Markの補正残差・推定による変化、</a:t>
                      </a:r>
                    </a:p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学習／評価Shotの区分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</a:tr>
            </a:tbl>
          </a:graphicData>
        </a:graphic>
      </p:graphicFrame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74495D-FF34-4313-9602-9D11EFEA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11087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推定値の書き出しは「選択中の対象」か「すべて」を指定します。</a:t>
            </a:r>
          </a:p>
          <a:p xmlns:a="http://schemas.openxmlformats.org/drawingml/2006/main">
            <a: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すべての出力は再計算するため時間がかかります。同名のExcelを開いている場合は閉じてください。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06　保存と再利用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設定の保存と再読み込み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24</a:t>
            </a:r>
            <a:endParaRPr sz="1000"/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BBABE8-D6CD-478E-9A96-1169A15D87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30e36c200649aa"/>
          <a:stretch xmlns:a="http://schemas.openxmlformats.org/drawingml/2006/main"/>
        </p:blipFill>
        <p:spPr>
          <a:xfrm xmlns:a="http://schemas.openxmlformats.org/drawingml/2006/main">
            <a:off x="552450" y="3342462"/>
            <a:ext cx="7667625" cy="935076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20E158-3B66-4A6D-ACF6-026DFD31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684" y="3639247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E803F1-3BA6-4A31-9A2E-D8BD0912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390" y="3639247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5A3F11-DCB7-4BD0-AA3E-D026EDA6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0603" y="3639247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333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31D483-A0D7-43BC-AE5A-D7D8ED33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524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F0661FF-1F61-45BA-9493-37D4BA69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24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設定を保存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98F7B5-FA8B-440C-9E1D-FB7EC78B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14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「設定を保存…」でJSONを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保存します。入力条件や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評価条件を再利用できます。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8C0EA9-E887-4402-8B3B-A33C5E64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048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2D78F3-8784-41C1-BD77-5D4A25A5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設定を読み込む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6B4A85-7872-479A-97AB-BC9D001D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38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別の評価でも同じJSONを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読み込んで条件を戻せます。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実行前に内容を確認します。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BF7F70-CE83-4D11-8948-CF39644A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57200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1875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B5576D-6D69-445B-A09C-1EA9D022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初期設定に戻す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9002459-CE51-40F7-9D28-4960A928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62525"/>
            <a:ext cx="2524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初期値に戻したいときに使用。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取り込み条件が変わったら</a:t>
            </a:r>
          </a:p>
          <a:p xmlns:a="http://schemas.openxmlformats.org/drawingml/2006/main">
            <a:pPr>
              <a:def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35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再取り込みが必要です。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C680D96-78FD-4A2C-A07D-B3C69F36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defRPr>
            </a:pPr>
            <a:r>
              <a:rPr sz="1125" b="0">
                <a:solidFill>
                  <a:srgbClr val="55566C"/>
                </a:solidFill>
                <a:latin typeface="BIZ UDGothic"/>
                <a:ea typeface="BIZ UDGothic"/>
                <a:cs typeface="BIZ UDGothic"/>
              </a:rPr>
              <a:t>結果Excelと設定JSONは別に保存します。設定を戻しても、過去の計算結果は自動復元されません。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3E5E1E4-FA4A-44EC-BFC4-780F7B2F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困ったとき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2325505-352E-4A5D-A072-824DB8A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 marL="0" indent="0">
              <a:buNone/>
              <a:def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主なメッセージと対処</a:t>
            </a:r>
            <a:endParaRPr sz="28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9292E6ED-E3B0-4F9D-AF67-586354F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4A8F0F3B-1FA9-4C82-AD7E-B9082470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25</a:t>
            </a:r>
            <a:endParaRPr sz="1000"/>
          </a:p>
        </p:txBody>
      </p:sp>
      <p:graphicFrame>
        <p:nvGraphicFrame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685A329-F23E-437A-BD1B-B87AF4316A2E}"/>
              </a:ext>
            </a:extLst>
          </p:cNvPr>
          <p:cNvGraphicFramePr/>
          <p:nvPr/>
        </p:nvGraphicFramePr>
        <p:xfrm>
          <a:off xmlns:a="http://schemas.openxmlformats.org/drawingml/2006/main" x="552450" y="1571625"/>
          <a:ext xmlns:a="http://schemas.openxmlformats.org/drawingml/2006/main" cx="110871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6896100"/>
              </a:tblGrid>
              <a:tr h="571500">
                <a:tc>
                  <a:txBody>
                    <a:bodyPr lIns="85725" tIns="85725" rIns="85725" bIns="85725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状況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T w="4763">
                      <a:solidFill>
                        <a:srgbClr val="DADDE6"/>
                      </a:solidFill>
                      <a:prstDash val="solid"/>
                    </a:lnT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22223B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確認すること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T w="4763">
                      <a:solidFill>
                        <a:srgbClr val="DADDE6"/>
                      </a:solidFill>
                      <a:prstDash val="solid"/>
                    </a:lnT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22223B"/>
                    </a:solidFill>
                  </a:tcPr>
                </a:tc>
              </a:tr>
              <a:tr h="571500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解析できる行がない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列の対応、座標の単位、有効半径、行の除外条件を確認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</a:tr>
              <a:tr h="571500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設定変更後に実行できない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「1. データの読み込み」で「この対応で読み込む」を押す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学習Shotが不足・制約を満たせない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Shot数、同心円・4象限・Scan方向の制約を確認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</a:tr>
              <a:tr h="571500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推定できない・収束しない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「3. 実行」の記録を確認。手法や学習Shot数を見直す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選んだ質的変数がデータにない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取り込みファイルと、その他の列の選択を確認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3F4F8"/>
                    </a:solidFill>
                  </a:tcPr>
                </a:tc>
              </a:tr>
              <a:tr h="571500"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Excelに書き出せない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ADDE6"/>
                      </a:solidFill>
                      <a:prstDash val="solid"/>
                    </a:lnL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1425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同名ファイルをExcelで閉じ、保存先への書き込みを確認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ADDE6"/>
                      </a:solidFill>
                      <a:prstDash val="solid"/>
                    </a:lnR>
                    <a:lnB w="4763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D61ED8-0B5D-45D9-BDF0-60486C74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11087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defRPr>
            </a:pPr>
            <a:r>
              <a:rPr sz="1575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迷ったときは、同梱の模擬データ＋推奨の組み合わせで動作を確認し、条件を1つずつ変更します。</a:t>
            </a:r>
          </a:p>
        </p:txBody>
      </p:sp>
    </p:spTree>
    <p:extLst>
      <p:ext uri="{BB962C8B-B14F-4D97-AF65-F5344CB8AC3E}">
        <p14:creationId xmlns:p14="http://schemas.microsoft.com/office/powerpoint/2010/main" val="1738430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2222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3A0D1AEC-CEDE-422D-8D4C-40BAAA51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2920"/>
            <a:ext cx="11094415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操作を終える前の確認</a:t>
            </a:r>
            <a:endParaRPr sz="32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0D60170E-A8EF-452F-842C-F7FA4531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アライメント計測ツール　操作手順</a:t>
            </a:r>
            <a:endParaRPr sz="9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9889CA8B-49B2-472D-A6B0-19A41AAC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655" y="6473952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26</a:t>
            </a:r>
            <a:endParaRPr sz="1000"/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19CA80-B0C1-4DA1-AC0D-2E1C1C56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400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defRPr>
            </a:pPr>
            <a:r>
              <a:rPr sz="24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98E564-3AF6-429C-A80C-BE8976E8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6687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入力条件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1BAA5F-9B2A-4C90-9573-B138453B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685925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pPr>
            <a:r>
              <a: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列・単位・行の除外条件を確認し、変更後は再取り込み。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345FCA-DED8-44C8-9AE9-A17CA395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05100"/>
            <a:ext cx="400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defRPr>
            </a:pPr>
            <a:r>
              <a:rPr sz="24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3A118A-828D-4DA7-8CF2-4630EC37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051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評価条件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ED717D-42AE-4887-8792-D70A7F0C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24150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pPr>
            <a:r>
              <a: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学習Shot数、手法、質的変数、補正モデルを確認。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816284-F1C7-4E77-AA77-BCB66076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43325"/>
            <a:ext cx="400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defRPr>
            </a:pPr>
            <a:r>
              <a:rPr sz="24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BEDAA9-CBC1-4860-BE59-5C845F37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4332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結果の確認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12832B5-CEA8-43E5-A153-3A30CECD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62375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pPr>
            <a:r>
              <a: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実行記録、誤差の表、Waferごとの残差を確認。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47259AA-682A-487E-BFE4-EFDC05AA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81550"/>
            <a:ext cx="400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defRPr>
            </a:pPr>
            <a:r>
              <a:rPr sz="2400" b="1">
                <a:solidFill>
                  <a:srgbClr val="E9C46A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A33021-94F2-451A-AECA-1A3EAFFB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815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defRPr>
            </a:pPr>
            <a:r>
              <a:rPr sz="2025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保存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904A105-7F50-4B2B-AD2E-944B2557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800600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defPPr>
            <a:lvl1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1pPr>
            <a:lvl2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2pPr>
            <a:lvl3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3pPr>
            <a:lvl4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4pPr>
            <a:lvl5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5pPr>
            <a:lvl6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6pPr>
            <a:lvl7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7pPr>
            <a:lvl8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8pPr>
            <a:lvl9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defRPr>
            </a:pPr>
            <a:r>
              <a:rPr sz="1725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設定JSON、評価結果Excel、必要な推定値・図を保存。</a:t>
            </a:r>
          </a:p>
        </p:txBody>
      </p:sp>
    </p:spTree>
    <p:extLst>
      <p:ext uri="{BB962C8B-B14F-4D97-AF65-F5344CB8AC3E}">
        <p14:creationId xmlns:p14="http://schemas.microsoft.com/office/powerpoint/2010/main" val="209670327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2026-10-21T13:36:35.8910000Z</dcterms:created>
  <dcterms:modified xsi:type="dcterms:W3CDTF">2026-10-21T13:36:35.8910000Z</dcterms:modified>
</coreProperties>
</file>